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48A7-53F9-189B-9917-245662979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39D5B-2294-4A6D-E5D5-AE4042B12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C5F69-4EBD-8696-5CDA-687B96718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BA52-5AD8-4481-9CA3-F233EC1BD5B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E7CD5-9E9C-DC37-FE30-11E3EE729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AE5E9-F02C-7ECA-9F14-23C7BFD4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50AEF-7728-4F9E-9E6D-CA25F875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479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A116-DC0E-13B0-2E61-98103F16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183F1-9121-83ED-5291-D6F7709AE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CC707-69E6-7AF4-5BA7-445F4FBE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BA52-5AD8-4481-9CA3-F233EC1BD5B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A9DA2-CC04-E720-1AC8-CEA91EE3D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35079-474D-CDE5-E963-23975299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50AEF-7728-4F9E-9E6D-CA25F875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57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BFB0-04EE-ADEE-5BD3-65E320DF5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929D4-95D3-B90D-6415-41DE74F7B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681AE-0DDB-977E-001A-5A234D1F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BA52-5AD8-4481-9CA3-F233EC1BD5B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C1938-5623-8E59-7724-FEB554E0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6A8A0-5FD2-3724-42CB-C459C8865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50AEF-7728-4F9E-9E6D-CA25F875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892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79ACF-50E7-43EC-C92D-854B8B4D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A4103-718D-CACD-B8D2-E256005B8E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73013-B375-BB0F-5E56-2A8E14A42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88719-8C37-BA59-E12F-F44D9B55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BA52-5AD8-4481-9CA3-F233EC1BD5B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EC437-48F8-F1AE-B2C3-427394F9D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253F3-01E2-2EF7-ECA1-1F48D9FFB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50AEF-7728-4F9E-9E6D-CA25F875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602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30AF6-6E63-F529-674A-128B2A596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29B65-4350-6D33-ED5E-48AB82BA7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D13F-70B7-4F85-5EDF-A4D9BEA6E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A1323-C64E-3AAA-B477-18100837B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8AFAC-63F1-2271-5ADB-A0E75319E7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BCD76-F43C-B40E-B1D6-8A547A548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BA52-5AD8-4481-9CA3-F233EC1BD5B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D1A2F8-0ADE-F0C2-7F9C-87515544A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0B260E-3F88-DEBC-DD38-8F261CAD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50AEF-7728-4F9E-9E6D-CA25F875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678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69BAC-CE9A-0117-D846-D400C200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26962A-45A5-C19E-C857-326BCB74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BA52-5AD8-4481-9CA3-F233EC1BD5B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3F80E0-7795-10BC-35AF-2804A3F88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4F159-1CA9-3D27-DE82-27D58995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50AEF-7728-4F9E-9E6D-CA25F875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410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25CB1E-9903-E2E9-60B1-6E8647A6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BA52-5AD8-4481-9CA3-F233EC1BD5B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422DC5-F834-DD74-F25E-FF58823D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99BAA-23F6-EBCE-1A95-F5A3A736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50AEF-7728-4F9E-9E6D-CA25F875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9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8943B-D40B-F7F1-3135-0D7B304D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C4AB8-39A2-892A-D619-0DC730945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26B7C-863D-D280-9AA3-FAB2C9780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1D21A-F105-5D56-6948-A493FB91F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BA52-5AD8-4481-9CA3-F233EC1BD5B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82CA5-F14C-B77D-8E65-B84BE9A61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3AD88-9845-379A-159A-159B83DC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50AEF-7728-4F9E-9E6D-CA25F875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042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28A3-BF6E-35EA-A5AE-80DDEEAA9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288DF8-8F85-881B-D9FD-5BE185440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E41DF-01C2-94C3-8EFE-7187DB6A4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266D9-C2F9-DFCB-4CFD-91F73CF1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BA52-5AD8-4481-9CA3-F233EC1BD5B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2626A-9DF1-398E-A203-26CDF7EF8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DEFD4-8859-6D5E-A5A0-1BF1D179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50AEF-7728-4F9E-9E6D-CA25F875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561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DF0F-4411-C026-5F07-E21F8B34A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5A8B9-0331-A67A-E796-5C95874B0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2FA1E-8DC4-6E23-33EC-686308B64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BA52-5AD8-4481-9CA3-F233EC1BD5B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DD7AE-EFD4-BC06-5807-4752EEE1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C6EBB-D18A-D761-3FB0-F08879F2B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50AEF-7728-4F9E-9E6D-CA25F875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644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5D3A8C-0886-70F4-549C-23C0FB237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746C4-ACBD-7964-41CF-813633807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7004C-9428-C098-75C3-92843C547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BA52-5AD8-4481-9CA3-F233EC1BD5B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BBF4E-82DB-59FD-D106-D0CF63C0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819DB-4C73-8991-B499-1B4765A1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50AEF-7728-4F9E-9E6D-CA25F875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37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30172C-C11B-AE1B-EF4C-DA3675E9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DCEEE-B710-2DC5-93FB-133B36D65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02D82-E5BD-BC53-3DF4-69B25FC23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3BA52-5AD8-4481-9CA3-F233EC1BD5B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FF4C1-BE38-B39F-B604-A0B8184D96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A66A2-6A99-8B30-5A48-3B0BF17AA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50AEF-7728-4F9E-9E6D-CA25F875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79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nodejs.org/en/download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835D49-2DC3-2D48-874B-79E747FA7A9A}"/>
              </a:ext>
            </a:extLst>
          </p:cNvPr>
          <p:cNvSpPr txBox="1"/>
          <p:nvPr/>
        </p:nvSpPr>
        <p:spPr>
          <a:xfrm>
            <a:off x="279400" y="643468"/>
            <a:ext cx="10617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TypeScript is typed JavaScript. TypeScript adds types to JavaScript to help you speed up the development by catching errors before you even run the JavaScript code.</a:t>
            </a:r>
          </a:p>
          <a:p>
            <a:pPr indent="0" algn="l">
              <a:buNone/>
            </a:pPr>
            <a:endParaRPr lang="en-IN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TypeScript is an open-source programming language that builds on top of JavaScript. It works on any web browser, any OS, and any environment that JavaScript runs.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E5F98-4DB5-B951-3E22-247F302BC772}"/>
              </a:ext>
            </a:extLst>
          </p:cNvPr>
          <p:cNvSpPr txBox="1"/>
          <p:nvPr/>
        </p:nvSpPr>
        <p:spPr>
          <a:xfrm>
            <a:off x="3987800" y="0"/>
            <a:ext cx="2108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2800" b="0" i="0" dirty="0">
                <a:solidFill>
                  <a:schemeClr val="tx1"/>
                </a:solidFill>
                <a:effectLst/>
                <a:latin typeface="+mn-lt"/>
              </a:rPr>
              <a:t>TypeScript</a:t>
            </a:r>
            <a:endParaRPr lang="en-IN" sz="2800" b="0" i="0" dirty="0">
              <a:solidFill>
                <a:srgbClr val="374151"/>
              </a:solidFill>
              <a:effectLst/>
              <a:latin typeface="-apple-syste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CAFF2-2086-EFCE-C4F7-58E72A1D2DEB}"/>
              </a:ext>
            </a:extLst>
          </p:cNvPr>
          <p:cNvSpPr txBox="1"/>
          <p:nvPr/>
        </p:nvSpPr>
        <p:spPr>
          <a:xfrm>
            <a:off x="279400" y="2539870"/>
            <a:ext cx="7848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TypeScript files use the 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IN" sz="20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ts</a:t>
            </a:r>
            <a:r>
              <a:rPr lang="en-IN" sz="1400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extension rather than the 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IN" sz="20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js</a:t>
            </a:r>
            <a:r>
              <a:rPr lang="en-IN" sz="1400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extension of JavaScript files</a:t>
            </a:r>
            <a:r>
              <a:rPr lang="en-IN" sz="14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518979-0C3E-BBE8-77B7-56B5AB6BF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20" y="3599391"/>
            <a:ext cx="5762625" cy="1809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99AE75-B7DE-FBF9-8A84-5941FA9FD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317" y="3232255"/>
            <a:ext cx="3009900" cy="3009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BC5C149-6DC7-7550-D197-6B61F1359246}"/>
              </a:ext>
            </a:extLst>
          </p:cNvPr>
          <p:cNvSpPr txBox="1"/>
          <p:nvPr/>
        </p:nvSpPr>
        <p:spPr>
          <a:xfrm>
            <a:off x="8483599" y="2539870"/>
            <a:ext cx="3547534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TypeScript builds on top of JavaScript. </a:t>
            </a:r>
            <a:endParaRPr lang="en-IN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E94A1F-987F-C0A6-B36B-374A8A7CDF8D}"/>
              </a:ext>
            </a:extLst>
          </p:cNvPr>
          <p:cNvSpPr txBox="1"/>
          <p:nvPr/>
        </p:nvSpPr>
        <p:spPr>
          <a:xfrm>
            <a:off x="129645" y="546838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TypeScript is a superset of JavaScript.</a:t>
            </a:r>
          </a:p>
          <a:p>
            <a:r>
              <a:rPr lang="en-US" dirty="0"/>
              <a:t>TypeScript adds type to the JavaScript and helps you avoid potential bugs that occur at runtime.</a:t>
            </a:r>
          </a:p>
          <a:p>
            <a:r>
              <a:rPr lang="en-US" dirty="0"/>
              <a:t>TypeScript also implements the future features of JavaScript.</a:t>
            </a:r>
          </a:p>
        </p:txBody>
      </p:sp>
    </p:spTree>
    <p:extLst>
      <p:ext uri="{BB962C8B-B14F-4D97-AF65-F5344CB8AC3E}">
        <p14:creationId xmlns:p14="http://schemas.microsoft.com/office/powerpoint/2010/main" val="95709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334678-4474-D76D-DE91-B58A31634233}"/>
              </a:ext>
            </a:extLst>
          </p:cNvPr>
          <p:cNvSpPr txBox="1"/>
          <p:nvPr/>
        </p:nvSpPr>
        <p:spPr>
          <a:xfrm>
            <a:off x="550333" y="187867"/>
            <a:ext cx="19134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Install Node.js</a:t>
            </a:r>
            <a:endParaRPr lang="en-IN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43080-69E6-9C5F-EE17-5F9CAF35294A}"/>
              </a:ext>
            </a:extLst>
          </p:cNvPr>
          <p:cNvSpPr txBox="1"/>
          <p:nvPr/>
        </p:nvSpPr>
        <p:spPr>
          <a:xfrm>
            <a:off x="110067" y="631335"/>
            <a:ext cx="3725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Go to the 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  <a:hlinkClick r:id="rId2"/>
              </a:rPr>
              <a:t>Node.js download page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sz="1343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EAC421-7505-6246-9C6B-42197907CC66}"/>
              </a:ext>
            </a:extLst>
          </p:cNvPr>
          <p:cNvSpPr txBox="1"/>
          <p:nvPr/>
        </p:nvSpPr>
        <p:spPr>
          <a:xfrm>
            <a:off x="465667" y="1060926"/>
            <a:ext cx="27347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Install TypeScript compiler</a:t>
            </a:r>
            <a:endParaRPr lang="en-IN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B30477-CD90-46A5-769E-1E67B9A17E7B}"/>
              </a:ext>
            </a:extLst>
          </p:cNvPr>
          <p:cNvSpPr txBox="1"/>
          <p:nvPr/>
        </p:nvSpPr>
        <p:spPr>
          <a:xfrm>
            <a:off x="347134" y="1512141"/>
            <a:ext cx="4301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npm</a:t>
            </a:r>
            <a:r>
              <a:rPr lang="en-IN" dirty="0"/>
              <a:t> </a:t>
            </a:r>
            <a:r>
              <a:rPr lang="en-IN" sz="1400" dirty="0">
                <a:solidFill>
                  <a:srgbClr val="A626A4"/>
                </a:solidFill>
                <a:latin typeface="ui-monospace"/>
              </a:rPr>
              <a:t>install</a:t>
            </a:r>
            <a:r>
              <a:rPr lang="en-IN" dirty="0"/>
              <a:t> -g typescript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03CB8B-28D2-0EB3-3360-85A66B7C570A}"/>
              </a:ext>
            </a:extLst>
          </p:cNvPr>
          <p:cNvSpPr txBox="1"/>
          <p:nvPr/>
        </p:nvSpPr>
        <p:spPr>
          <a:xfrm>
            <a:off x="110067" y="1941732"/>
            <a:ext cx="120142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If you’re on Windows and get the following error:</a:t>
            </a:r>
          </a:p>
          <a:p>
            <a:pPr marL="0" marR="0" indent="0" algn="l">
              <a:buNone/>
            </a:pP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</a:t>
            </a:r>
            <a:r>
              <a:rPr lang="en-IN" b="0" i="0" dirty="0" err="1">
                <a:solidFill>
                  <a:srgbClr val="50A14F"/>
                </a:solidFill>
                <a:effectLst/>
                <a:latin typeface="ui-monospace"/>
              </a:rPr>
              <a:t>tsc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is not recognized as an internal or external </a:t>
            </a: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command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operable program or batch file.</a:t>
            </a:r>
            <a:endParaRPr lang="en-IN" sz="2000" dirty="0">
              <a:solidFill>
                <a:srgbClr val="383A42"/>
              </a:solidFill>
              <a:latin typeface="Courier New" panose="02070309020205020404" pitchFamily="49" charset="0"/>
            </a:endParaRPr>
          </a:p>
          <a:p>
            <a:pPr marL="0" marR="0" indent="0" algn="l">
              <a:buNone/>
            </a:pPr>
            <a:endParaRPr lang="en-IN" sz="20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… then you should add the following</a:t>
            </a:r>
          </a:p>
          <a:p>
            <a:pPr indent="0" algn="l">
              <a:buNone/>
            </a:pPr>
            <a:endParaRPr lang="en-IN" sz="2000" dirty="0">
              <a:solidFill>
                <a:srgbClr val="212529"/>
              </a:solidFill>
              <a:latin typeface="-apple-system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 path 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C:\Users\&lt;user&gt;\AppData\Roaming\npm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to the 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PATH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variable. Notice that you should change the 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&lt;user&gt;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to your Windows user.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B21501-7935-2E78-BB57-A22B332A9982}"/>
              </a:ext>
            </a:extLst>
          </p:cNvPr>
          <p:cNvSpPr txBox="1"/>
          <p:nvPr/>
        </p:nvSpPr>
        <p:spPr>
          <a:xfrm>
            <a:off x="110067" y="4527055"/>
            <a:ext cx="575733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If you want to run TypeScript code directly on 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Node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.js without precompiling, you can use the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tsx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module.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To install the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tsx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module globally, run the following command from the Terminal on macOS and Linux or Command Prompt on Windows:</a:t>
            </a:r>
          </a:p>
          <a:p>
            <a:pPr indent="0" algn="l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>
              <a:buNone/>
            </a:pPr>
            <a:r>
              <a:rPr lang="en-IN" sz="1400" b="0" i="0" dirty="0" err="1">
                <a:solidFill>
                  <a:srgbClr val="383A42"/>
                </a:solidFill>
                <a:effectLst/>
                <a:latin typeface="ui-monospace"/>
              </a:rPr>
              <a:t>npm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 </a:t>
            </a:r>
            <a:r>
              <a:rPr lang="en-IN" sz="1400" b="0" i="0" dirty="0">
                <a:solidFill>
                  <a:srgbClr val="A626A4"/>
                </a:solidFill>
                <a:effectLst/>
                <a:latin typeface="ui-monospace"/>
              </a:rPr>
              <a:t>install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 -g </a:t>
            </a:r>
            <a:r>
              <a:rPr lang="en-IN" sz="1400" b="0" i="0" dirty="0" err="1">
                <a:solidFill>
                  <a:srgbClr val="383A42"/>
                </a:solidFill>
                <a:effectLst/>
                <a:latin typeface="ui-monospace"/>
              </a:rPr>
              <a:t>tsx</a:t>
            </a:r>
            <a:endParaRPr lang="en-IN" sz="16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A1B24A-3F92-365F-4DFF-C44CBC2810D2}"/>
              </a:ext>
            </a:extLst>
          </p:cNvPr>
          <p:cNvSpPr txBox="1"/>
          <p:nvPr/>
        </p:nvSpPr>
        <p:spPr>
          <a:xfrm>
            <a:off x="643467" y="4157723"/>
            <a:ext cx="280246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Install </a:t>
            </a:r>
            <a:r>
              <a:rPr lang="en-IN" sz="1800" b="0" i="0" dirty="0" err="1">
                <a:solidFill>
                  <a:srgbClr val="212529"/>
                </a:solidFill>
                <a:effectLst/>
                <a:latin typeface="-apple-system"/>
              </a:rPr>
              <a:t>tsx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 module 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F7CF1E9-F552-2BC6-69F0-862809636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57723"/>
            <a:ext cx="5894235" cy="184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81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593304-0501-127A-D8F0-36D3062C655E}"/>
              </a:ext>
            </a:extLst>
          </p:cNvPr>
          <p:cNvSpPr txBox="1"/>
          <p:nvPr/>
        </p:nvSpPr>
        <p:spPr>
          <a:xfrm>
            <a:off x="245533" y="677334"/>
            <a:ext cx="117602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First, create a new directory to store the code, e.g., </a:t>
            </a:r>
            <a:r>
              <a:rPr lang="en-IN" sz="20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helloworld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indent="0" algn="l">
              <a:buNone/>
            </a:pPr>
            <a:endParaRPr lang="en-IN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Second, launch VS Code and open that directory.</a:t>
            </a:r>
          </a:p>
          <a:p>
            <a:pPr indent="0" algn="l">
              <a:buNone/>
            </a:pPr>
            <a:endParaRPr lang="en-IN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Third, create a new TypeScript file called </a:t>
            </a:r>
            <a:r>
              <a:rPr lang="en-IN" sz="20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app.ts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. The extension of a TypeScript file is 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IN" sz="20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ts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indent="0" algn="l">
              <a:buNone/>
            </a:pPr>
            <a:endParaRPr lang="en-IN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Fourth, type the following source code in the </a:t>
            </a:r>
            <a:r>
              <a:rPr lang="en-IN" sz="20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app.ts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file:</a:t>
            </a:r>
          </a:p>
          <a:p>
            <a:pPr indent="0" algn="l">
              <a:buNone/>
            </a:pPr>
            <a:endParaRPr lang="en-IN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message: </a:t>
            </a: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'Hello, World!'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>
              <a:buNone/>
            </a:pP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.log(message);</a:t>
            </a:r>
            <a:endParaRPr lang="en-IN" sz="2000" dirty="0">
              <a:solidFill>
                <a:srgbClr val="383A42"/>
              </a:solidFill>
              <a:latin typeface="Courier New" panose="02070309020205020404" pitchFamily="49" charset="0"/>
            </a:endParaRPr>
          </a:p>
          <a:p>
            <a:pPr marL="0" marR="0" indent="0" algn="l">
              <a:buNone/>
            </a:pPr>
            <a:endParaRPr lang="en-IN" sz="20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marL="0" marR="0" indent="0" algn="l">
              <a:buNone/>
            </a:pPr>
            <a:endParaRPr lang="en-IN" sz="2000" dirty="0">
              <a:solidFill>
                <a:srgbClr val="383A42"/>
              </a:solidFill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Fifth, launch a new Terminal within the VS Code by using the keyboard shortcut 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Ctrl+`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or follow the menu 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Terminal &gt; New Terminal</a:t>
            </a:r>
            <a:endParaRPr lang="en-IN" sz="2000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06F46F-DE3A-C664-9C5C-19BE5116CFC0}"/>
              </a:ext>
            </a:extLst>
          </p:cNvPr>
          <p:cNvSpPr txBox="1"/>
          <p:nvPr/>
        </p:nvSpPr>
        <p:spPr>
          <a:xfrm>
            <a:off x="2099733" y="145534"/>
            <a:ext cx="520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TypeScript Hello World program in Node.js 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10B1CB-C184-007E-3AE2-962B6FAEF552}"/>
              </a:ext>
            </a:extLst>
          </p:cNvPr>
          <p:cNvSpPr txBox="1"/>
          <p:nvPr/>
        </p:nvSpPr>
        <p:spPr>
          <a:xfrm>
            <a:off x="245533" y="5179452"/>
            <a:ext cx="23283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tsc</a:t>
            </a:r>
            <a:r>
              <a:rPr lang="en-IN" dirty="0"/>
              <a:t> </a:t>
            </a:r>
            <a:r>
              <a:rPr lang="en-IN" dirty="0" err="1"/>
              <a:t>app.ts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8D255C-00E4-02C8-04F8-6F34C1E2FE6E}"/>
              </a:ext>
            </a:extLst>
          </p:cNvPr>
          <p:cNvSpPr txBox="1"/>
          <p:nvPr/>
        </p:nvSpPr>
        <p:spPr>
          <a:xfrm>
            <a:off x="245533" y="56404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app.js</a:t>
            </a:r>
            <a:r>
              <a:rPr lang="en-IN" sz="1343" b="0" i="0" dirty="0">
                <a:solidFill>
                  <a:srgbClr val="212529"/>
                </a:solidFill>
                <a:effectLst/>
                <a:latin typeface="-apple-system"/>
              </a:rPr>
              <a:t> is generated by the TypeScript compiler: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310000-FA96-266A-772F-5CE7412A3FEA}"/>
              </a:ext>
            </a:extLst>
          </p:cNvPr>
          <p:cNvSpPr txBox="1"/>
          <p:nvPr/>
        </p:nvSpPr>
        <p:spPr>
          <a:xfrm>
            <a:off x="351366" y="6172200"/>
            <a:ext cx="5202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node app.js</a:t>
            </a:r>
          </a:p>
        </p:txBody>
      </p:sp>
    </p:spTree>
    <p:extLst>
      <p:ext uri="{BB962C8B-B14F-4D97-AF65-F5344CB8AC3E}">
        <p14:creationId xmlns:p14="http://schemas.microsoft.com/office/powerpoint/2010/main" val="1340689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AB1B46-B711-4B89-65F2-EEB868D9855A}"/>
              </a:ext>
            </a:extLst>
          </p:cNvPr>
          <p:cNvSpPr txBox="1"/>
          <p:nvPr/>
        </p:nvSpPr>
        <p:spPr>
          <a:xfrm>
            <a:off x="296333" y="197883"/>
            <a:ext cx="946573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IN" sz="2800" b="0" i="0" dirty="0">
                <a:solidFill>
                  <a:srgbClr val="212529"/>
                </a:solidFill>
                <a:effectLst/>
                <a:latin typeface="-apple-system"/>
              </a:rPr>
              <a:t>Types in TypeScript 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TypeScript inherits the built-in types from JavaScript. TypeScript types are categorized into: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Primitive types.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Object types.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82CE2D-FD0F-F850-2390-DC7991257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664216"/>
              </p:ext>
            </p:extLst>
          </p:nvPr>
        </p:nvGraphicFramePr>
        <p:xfrm>
          <a:off x="356410" y="1584960"/>
          <a:ext cx="9543728" cy="3078480"/>
        </p:xfrm>
        <a:graphic>
          <a:graphicData uri="http://schemas.openxmlformats.org/drawingml/2006/table">
            <a:tbl>
              <a:tblPr/>
              <a:tblGrid>
                <a:gridCol w="4771864">
                  <a:extLst>
                    <a:ext uri="{9D8B030D-6E8A-4147-A177-3AD203B41FA5}">
                      <a16:colId xmlns:a16="http://schemas.microsoft.com/office/drawing/2014/main" val="2618181246"/>
                    </a:ext>
                  </a:extLst>
                </a:gridCol>
                <a:gridCol w="4771864">
                  <a:extLst>
                    <a:ext uri="{9D8B030D-6E8A-4147-A177-3AD203B41FA5}">
                      <a16:colId xmlns:a16="http://schemas.microsoft.com/office/drawing/2014/main" val="1584224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1" i="0">
                          <a:solidFill>
                            <a:srgbClr val="212529"/>
                          </a:solidFill>
                          <a:effectLst/>
                          <a:latin typeface="-apple-system"/>
                        </a:rPr>
                        <a:t>Name</a:t>
                      </a:r>
                      <a:endParaRPr lang="en-IN" sz="2000" b="0" i="0">
                        <a:solidFill>
                          <a:srgbClr val="212529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1" i="0">
                          <a:solidFill>
                            <a:srgbClr val="212529"/>
                          </a:solidFill>
                          <a:effectLst/>
                          <a:latin typeface="-apple-system"/>
                        </a:rPr>
                        <a:t>Description</a:t>
                      </a:r>
                      <a:endParaRPr lang="en-IN" sz="2000" b="0" i="0">
                        <a:solidFill>
                          <a:srgbClr val="212529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421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0" i="0" dirty="0">
                          <a:solidFill>
                            <a:srgbClr val="00369A"/>
                          </a:solidFill>
                          <a:effectLst/>
                          <a:latin typeface="Courier New" panose="02070309020205020404" pitchFamily="49" charset="0"/>
                        </a:rPr>
                        <a:t>string</a:t>
                      </a:r>
                      <a:endParaRPr lang="en-IN" sz="2000" b="0" i="0" dirty="0">
                        <a:solidFill>
                          <a:srgbClr val="212529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-apple-system"/>
                        </a:rPr>
                        <a:t>Represent text data.</a:t>
                      </a: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20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0" i="0" dirty="0">
                          <a:solidFill>
                            <a:srgbClr val="00369A"/>
                          </a:solidFill>
                          <a:effectLst/>
                          <a:latin typeface="Courier New" panose="02070309020205020404" pitchFamily="49" charset="0"/>
                        </a:rPr>
                        <a:t>number</a:t>
                      </a:r>
                      <a:endParaRPr lang="en-IN" sz="2000" b="0" i="0" dirty="0">
                        <a:solidFill>
                          <a:srgbClr val="212529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-apple-system"/>
                        </a:rPr>
                        <a:t>Represent numeric values.</a:t>
                      </a: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386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0" i="0" dirty="0" err="1">
                          <a:solidFill>
                            <a:srgbClr val="00369A"/>
                          </a:solidFill>
                          <a:effectLst/>
                          <a:latin typeface="Courier New" panose="02070309020205020404" pitchFamily="49" charset="0"/>
                        </a:rPr>
                        <a:t>boolean</a:t>
                      </a:r>
                      <a:endParaRPr lang="en-IN" sz="2000" b="0" i="0" dirty="0">
                        <a:solidFill>
                          <a:srgbClr val="212529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-apple-system"/>
                        </a:rPr>
                        <a:t>Have </a:t>
                      </a: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-apple-system"/>
                        </a:rPr>
                        <a:t> and </a:t>
                      </a: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-apple-system"/>
                        </a:rPr>
                        <a:t> values.</a:t>
                      </a: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285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Courier New" panose="02070309020205020404" pitchFamily="49" charset="0"/>
                        </a:rPr>
                        <a:t>null</a:t>
                      </a:r>
                      <a:endParaRPr lang="en-IN" sz="2000" b="0" i="0">
                        <a:solidFill>
                          <a:srgbClr val="212529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-apple-system"/>
                        </a:rPr>
                        <a:t>Have one value: </a:t>
                      </a: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Courier New" panose="02070309020205020404" pitchFamily="49" charset="0"/>
                        </a:rPr>
                        <a:t>null</a:t>
                      </a: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-apple-system"/>
                        </a:rPr>
                        <a:t>.</a:t>
                      </a: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353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0" i="0" dirty="0">
                          <a:solidFill>
                            <a:srgbClr val="212529"/>
                          </a:solidFill>
                          <a:effectLst/>
                          <a:latin typeface="Courier New" panose="02070309020205020404" pitchFamily="49" charset="0"/>
                        </a:rPr>
                        <a:t>undefined</a:t>
                      </a:r>
                      <a:endParaRPr lang="en-IN" sz="2000" b="0" i="0" dirty="0">
                        <a:solidFill>
                          <a:srgbClr val="212529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-apple-system"/>
                        </a:rPr>
                        <a:t>Have one value: </a:t>
                      </a: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Courier New" panose="02070309020205020404" pitchFamily="49" charset="0"/>
                        </a:rPr>
                        <a:t>undefined</a:t>
                      </a:r>
                      <a:r>
                        <a:rPr lang="en-IN" sz="2000" b="0" i="0">
                          <a:solidFill>
                            <a:srgbClr val="212529"/>
                          </a:solidFill>
                          <a:effectLst/>
                          <a:latin typeface="-apple-system"/>
                        </a:rPr>
                        <a:t>. It is the default value of an uninitialized variable.</a:t>
                      </a: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892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0" i="0" dirty="0">
                          <a:solidFill>
                            <a:srgbClr val="212529"/>
                          </a:solidFill>
                          <a:effectLst/>
                          <a:latin typeface="Courier New" panose="02070309020205020404" pitchFamily="49" charset="0"/>
                        </a:rPr>
                        <a:t>symbol</a:t>
                      </a:r>
                      <a:endParaRPr lang="en-IN" sz="2000" b="0" i="0" dirty="0">
                        <a:solidFill>
                          <a:srgbClr val="212529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2000" b="0" i="0" dirty="0">
                          <a:solidFill>
                            <a:srgbClr val="212529"/>
                          </a:solidFill>
                          <a:effectLst/>
                          <a:latin typeface="-apple-system"/>
                        </a:rPr>
                        <a:t>Represent a unique constant value.</a:t>
                      </a: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960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838D013-54AD-B31D-8D72-6EF0A992B27E}"/>
              </a:ext>
            </a:extLst>
          </p:cNvPr>
          <p:cNvSpPr txBox="1"/>
          <p:nvPr/>
        </p:nvSpPr>
        <p:spPr>
          <a:xfrm>
            <a:off x="516466" y="5664070"/>
            <a:ext cx="101134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Object types 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Object types are functions, arrays, classes,</a:t>
            </a:r>
          </a:p>
        </p:txBody>
      </p:sp>
    </p:spTree>
    <p:extLst>
      <p:ext uri="{BB962C8B-B14F-4D97-AF65-F5344CB8AC3E}">
        <p14:creationId xmlns:p14="http://schemas.microsoft.com/office/powerpoint/2010/main" val="1723109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AEB122-3861-92C3-759C-FEDAAFEACACD}"/>
              </a:ext>
            </a:extLst>
          </p:cNvPr>
          <p:cNvSpPr txBox="1"/>
          <p:nvPr/>
        </p:nvSpPr>
        <p:spPr>
          <a:xfrm>
            <a:off x="313267" y="127000"/>
            <a:ext cx="10075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How to declare and initialise Variable in Type Script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98E9D-E52B-C6F4-252A-E890407E96E7}"/>
              </a:ext>
            </a:extLst>
          </p:cNvPr>
          <p:cNvSpPr txBox="1"/>
          <p:nvPr/>
        </p:nvSpPr>
        <p:spPr>
          <a:xfrm>
            <a:off x="313267" y="496332"/>
            <a:ext cx="976206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counter: </a:t>
            </a:r>
            <a:r>
              <a:rPr lang="en-IN" sz="1600" b="0" i="0" dirty="0">
                <a:solidFill>
                  <a:srgbClr val="C18401"/>
                </a:solidFill>
                <a:effectLst/>
                <a:latin typeface="ui-monospace"/>
              </a:rPr>
              <a:t>number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  <a:endParaRPr lang="en-IN" dirty="0">
              <a:solidFill>
                <a:srgbClr val="383A42"/>
              </a:solidFill>
              <a:latin typeface="Courier New" panose="02070309020205020404" pitchFamily="49" charset="0"/>
            </a:endParaRPr>
          </a:p>
          <a:p>
            <a:pPr marL="0" marR="0" indent="0" algn="l">
              <a:buNone/>
            </a:pP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After this, you can only assign a number to the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counter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variable:</a:t>
            </a:r>
          </a:p>
          <a:p>
            <a:pPr indent="0" algn="l">
              <a:buNone/>
            </a:pP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counter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1</a:t>
            </a:r>
            <a:r>
              <a:rPr lang="en-IN" sz="1600" b="0" i="1" dirty="0">
                <a:solidFill>
                  <a:srgbClr val="A0A1A7"/>
                </a:solidFill>
                <a:effectLst/>
                <a:latin typeface="ui-monospace"/>
              </a:rPr>
              <a:t>;</a:t>
            </a:r>
          </a:p>
          <a:p>
            <a:pPr marL="0" marR="0" indent="0" algn="l">
              <a:buNone/>
            </a:pP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If you assign a string to the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counter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variable, you’ll get an error:</a:t>
            </a:r>
          </a:p>
          <a:p>
            <a:pPr indent="0" algn="l">
              <a:buNone/>
            </a:pP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counter: </a:t>
            </a:r>
            <a:r>
              <a:rPr lang="en-IN" sz="1600" b="0" i="0" dirty="0">
                <a:solidFill>
                  <a:srgbClr val="C18401"/>
                </a:solidFill>
                <a:effectLst/>
                <a:latin typeface="ui-monospace"/>
              </a:rPr>
              <a:t>number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counter =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'Hello'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  <a:r>
              <a:rPr lang="en-IN" sz="1600" b="0" dirty="0">
                <a:solidFill>
                  <a:srgbClr val="FF0000"/>
                </a:solidFill>
                <a:effectLst/>
                <a:latin typeface="ui-monospace"/>
              </a:rPr>
              <a:t>// compile error</a:t>
            </a:r>
            <a:endParaRPr lang="en-IN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FF0000"/>
                </a:solidFill>
                <a:effectLst/>
                <a:latin typeface="-apple-system"/>
              </a:rPr>
              <a:t>Error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:</a:t>
            </a: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Type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'"Hello"'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is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not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assignable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to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type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'number’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.</a:t>
            </a:r>
          </a:p>
          <a:p>
            <a:pPr marL="0" marR="0" indent="0" algn="l">
              <a:buNone/>
            </a:pP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You can both use a type annotation for a variable and initialize it in a single statement like this:</a:t>
            </a:r>
          </a:p>
          <a:p>
            <a:pPr indent="0" algn="l">
              <a:buNone/>
            </a:pP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counter: </a:t>
            </a:r>
            <a:r>
              <a:rPr lang="en-IN" sz="1600" b="0" i="0" dirty="0">
                <a:solidFill>
                  <a:srgbClr val="C18401"/>
                </a:solidFill>
                <a:effectLst/>
                <a:latin typeface="ui-monospace"/>
              </a:rPr>
              <a:t>number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1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  <a:endParaRPr lang="en-IN" dirty="0">
              <a:solidFill>
                <a:srgbClr val="383A42"/>
              </a:solidFill>
              <a:latin typeface="Courier New" panose="02070309020205020404" pitchFamily="49" charset="0"/>
            </a:endParaRPr>
          </a:p>
          <a:p>
            <a:pPr marL="0" marR="0" indent="0" algn="l">
              <a:buNone/>
            </a:pP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In this example, we use the number annotation for the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counter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variable and initialize it to one.</a:t>
            </a:r>
          </a:p>
          <a:p>
            <a:pPr indent="0" algn="l">
              <a:buNone/>
            </a:pPr>
            <a:endParaRPr lang="en-IN" dirty="0">
              <a:solidFill>
                <a:srgbClr val="212529"/>
              </a:solidFill>
              <a:latin typeface="-apple-system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1800" b="0" i="0" dirty="0">
                <a:solidFill>
                  <a:srgbClr val="383A42"/>
                </a:solidFill>
                <a:effectLst/>
                <a:latin typeface="ui-monospace"/>
              </a:rPr>
              <a:t> name: </a:t>
            </a:r>
            <a:r>
              <a:rPr lang="en-IN" sz="18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1800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sz="1800" b="0" i="0" dirty="0">
                <a:solidFill>
                  <a:srgbClr val="50A14F"/>
                </a:solidFill>
                <a:effectLst/>
                <a:latin typeface="ui-monospace"/>
              </a:rPr>
              <a:t>'John’</a:t>
            </a:r>
            <a:r>
              <a:rPr lang="en-IN" sz="18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1800" b="0" i="0" dirty="0">
                <a:solidFill>
                  <a:srgbClr val="383A42"/>
                </a:solidFill>
                <a:effectLst/>
                <a:latin typeface="ui-monospace"/>
              </a:rPr>
              <a:t> age: </a:t>
            </a:r>
            <a:r>
              <a:rPr lang="en-IN" sz="1800" b="0" i="0" dirty="0">
                <a:solidFill>
                  <a:srgbClr val="C18401"/>
                </a:solidFill>
                <a:effectLst/>
                <a:latin typeface="ui-monospace"/>
              </a:rPr>
              <a:t>number</a:t>
            </a:r>
            <a:r>
              <a:rPr lang="en-IN" sz="1800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sz="1800" b="0" i="0" dirty="0">
                <a:solidFill>
                  <a:srgbClr val="986801"/>
                </a:solidFill>
                <a:effectLst/>
                <a:latin typeface="ui-monospace"/>
              </a:rPr>
              <a:t>25</a:t>
            </a:r>
            <a:r>
              <a:rPr lang="en-IN" sz="18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1800" b="0" i="0" dirty="0">
                <a:solidFill>
                  <a:srgbClr val="383A42"/>
                </a:solidFill>
                <a:effectLst/>
                <a:latin typeface="ui-monospace"/>
              </a:rPr>
              <a:t> active: </a:t>
            </a:r>
            <a:r>
              <a:rPr lang="en-IN" sz="1800" b="0" i="0" dirty="0" err="1">
                <a:solidFill>
                  <a:srgbClr val="C18401"/>
                </a:solidFill>
                <a:effectLst/>
                <a:latin typeface="ui-monospace"/>
              </a:rPr>
              <a:t>boolean</a:t>
            </a:r>
            <a:r>
              <a:rPr lang="en-IN" sz="1800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sz="1800" b="0" i="0" dirty="0">
                <a:solidFill>
                  <a:srgbClr val="0184BB"/>
                </a:solidFill>
                <a:effectLst/>
                <a:latin typeface="ui-monospace"/>
              </a:rPr>
              <a:t>true</a:t>
            </a:r>
            <a:r>
              <a:rPr lang="en-IN" sz="18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A4C212B-FC75-0659-2DCC-A0BCB95BA412}"/>
              </a:ext>
            </a:extLst>
          </p:cNvPr>
          <p:cNvCxnSpPr/>
          <p:nvPr/>
        </p:nvCxnSpPr>
        <p:spPr>
          <a:xfrm flipV="1">
            <a:off x="1591408" y="4747846"/>
            <a:ext cx="0" cy="351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820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5E9237-603B-093C-2658-CCBEA59A1BCD}"/>
              </a:ext>
            </a:extLst>
          </p:cNvPr>
          <p:cNvSpPr txBox="1"/>
          <p:nvPr/>
        </p:nvSpPr>
        <p:spPr>
          <a:xfrm>
            <a:off x="321733" y="491067"/>
            <a:ext cx="67225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>
              <a:buNone/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names: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[] = [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'John'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'Jane'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'Peter'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'David'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'Mary'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];</a:t>
            </a:r>
            <a:endParaRPr lang="en-IN" sz="24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IN" sz="2000" dirty="0"/>
            </a:b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F3090-F906-D17F-5ADD-9A963013F734}"/>
              </a:ext>
            </a:extLst>
          </p:cNvPr>
          <p:cNvSpPr txBox="1"/>
          <p:nvPr/>
        </p:nvSpPr>
        <p:spPr>
          <a:xfrm>
            <a:off x="516467" y="-15333"/>
            <a:ext cx="10359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en-IN" sz="2400" b="1" i="0" dirty="0">
                <a:solidFill>
                  <a:srgbClr val="212529"/>
                </a:solidFill>
                <a:effectLst/>
                <a:latin typeface="-apple-system"/>
              </a:rPr>
              <a:t>Arrays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05284D-88B0-3507-77A5-1C709E02B64B}"/>
              </a:ext>
            </a:extLst>
          </p:cNvPr>
          <p:cNvSpPr txBox="1"/>
          <p:nvPr/>
        </p:nvSpPr>
        <p:spPr>
          <a:xfrm>
            <a:off x="321732" y="1178199"/>
            <a:ext cx="10923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en-IN" sz="2000" b="1" i="0" dirty="0">
                <a:solidFill>
                  <a:srgbClr val="212529"/>
                </a:solidFill>
                <a:effectLst/>
                <a:latin typeface="-apple-system"/>
              </a:rPr>
              <a:t>Function arguments &amp; return 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BAA60F-0818-2367-55F2-0C6D90D32C58}"/>
              </a:ext>
            </a:extLst>
          </p:cNvPr>
          <p:cNvSpPr txBox="1"/>
          <p:nvPr/>
        </p:nvSpPr>
        <p:spPr>
          <a:xfrm>
            <a:off x="245533" y="1876062"/>
            <a:ext cx="5664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dirty="0">
                <a:solidFill>
                  <a:srgbClr val="A626A4"/>
                </a:solidFill>
                <a:effectLst/>
                <a:latin typeface="ui-monospace"/>
              </a:rPr>
              <a:t>Declaration:</a:t>
            </a:r>
          </a:p>
          <a:p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greeting : (name: string) =&gt;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  <a:endParaRPr lang="en-IN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18F0E3-2C6C-3EC0-F2C5-EBD4820EDD7B}"/>
              </a:ext>
            </a:extLst>
          </p:cNvPr>
          <p:cNvSpPr txBox="1"/>
          <p:nvPr/>
        </p:nvSpPr>
        <p:spPr>
          <a:xfrm>
            <a:off x="321733" y="2594679"/>
            <a:ext cx="114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In this example, you can assign any function that accepts a string and returns a string to the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greeting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 variable: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9A803E-13DE-A858-B30B-E3F8B8BEAB63}"/>
              </a:ext>
            </a:extLst>
          </p:cNvPr>
          <p:cNvSpPr txBox="1"/>
          <p:nvPr/>
        </p:nvSpPr>
        <p:spPr>
          <a:xfrm>
            <a:off x="516467" y="3112937"/>
            <a:ext cx="5049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greeting =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(name: string) { </a:t>
            </a:r>
          </a:p>
          <a:p>
            <a:endParaRPr lang="en-IN" sz="2000" dirty="0">
              <a:solidFill>
                <a:srgbClr val="383A42"/>
              </a:solidFill>
              <a:latin typeface="ui-monospace"/>
            </a:endParaRPr>
          </a:p>
          <a:p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`Hi </a:t>
            </a:r>
            <a:r>
              <a:rPr lang="en-IN" sz="2000" b="0" i="0" dirty="0">
                <a:solidFill>
                  <a:srgbClr val="E45649"/>
                </a:solidFill>
                <a:effectLst/>
                <a:latin typeface="ui-monospace"/>
              </a:rPr>
              <a:t>${name}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};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955514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4AF79D-28BE-2007-5CBF-1535FB51420B}"/>
              </a:ext>
            </a:extLst>
          </p:cNvPr>
          <p:cNvSpPr txBox="1"/>
          <p:nvPr/>
        </p:nvSpPr>
        <p:spPr>
          <a:xfrm>
            <a:off x="431800" y="533401"/>
            <a:ext cx="11578492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Likewise, when you assign a function parameter a value, TypeScript infers the type of the parameter to the type of the default value. </a:t>
            </a:r>
          </a:p>
          <a:p>
            <a:pPr indent="0" algn="l">
              <a:buNone/>
            </a:pPr>
            <a:endParaRPr lang="en-IN" dirty="0">
              <a:solidFill>
                <a:srgbClr val="212529"/>
              </a:solidFill>
              <a:latin typeface="-apple-system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For example:</a:t>
            </a: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 err="1">
                <a:solidFill>
                  <a:srgbClr val="4078F2"/>
                </a:solidFill>
                <a:effectLst/>
                <a:latin typeface="ui-monospace"/>
              </a:rPr>
              <a:t>setCounter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(max=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100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) {</a:t>
            </a: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sz="1600" b="0" i="1" dirty="0">
                <a:solidFill>
                  <a:srgbClr val="A0A1A7"/>
                </a:solidFill>
                <a:effectLst/>
                <a:latin typeface="ui-monospace"/>
              </a:rPr>
              <a:t>// ...</a:t>
            </a:r>
            <a:endParaRPr lang="en-IN" sz="16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</a:p>
          <a:p>
            <a:pPr marL="0" marR="0" indent="0" algn="l">
              <a:buNone/>
            </a:pPr>
            <a:endParaRPr lang="en-IN" sz="1600" dirty="0">
              <a:solidFill>
                <a:srgbClr val="383A42"/>
              </a:solidFill>
              <a:latin typeface="ui-monospace"/>
            </a:endParaRPr>
          </a:p>
          <a:p>
            <a:pPr marL="0" marR="0" indent="0" algn="l">
              <a:buNone/>
            </a:pP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In this example, TypeScript infers the type of the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max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parameter to be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number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Similarly, TypeScript infers the following return type of the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increment()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function as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number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:</a:t>
            </a:r>
          </a:p>
          <a:p>
            <a:pPr indent="0" algn="l">
              <a:buNone/>
            </a:pPr>
            <a:endParaRPr lang="en-IN" dirty="0">
              <a:solidFill>
                <a:srgbClr val="212529"/>
              </a:solidFill>
              <a:latin typeface="-apple-system"/>
            </a:endParaRPr>
          </a:p>
          <a:p>
            <a:pPr indent="0" algn="l">
              <a:buNone/>
            </a:pP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4078F2"/>
                </a:solidFill>
                <a:effectLst/>
                <a:latin typeface="ui-monospace"/>
              </a:rPr>
              <a:t>increment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(counter: number) {</a:t>
            </a: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counter++;</a:t>
            </a: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</a:p>
          <a:p>
            <a:pPr marL="0" marR="0" indent="0" algn="l">
              <a:buNone/>
            </a:pP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It is the same as:</a:t>
            </a:r>
          </a:p>
          <a:p>
            <a:pPr indent="0" algn="l">
              <a:buNone/>
            </a:pP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4078F2"/>
                </a:solidFill>
                <a:effectLst/>
                <a:latin typeface="ui-monospace"/>
              </a:rPr>
              <a:t>increment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(counter: number) : </a:t>
            </a:r>
            <a:r>
              <a:rPr lang="en-IN" sz="1600" b="0" i="0" dirty="0">
                <a:solidFill>
                  <a:srgbClr val="4078F2"/>
                </a:solidFill>
                <a:effectLst/>
                <a:latin typeface="ui-monospace"/>
              </a:rPr>
              <a:t>number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{</a:t>
            </a: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counter++;</a:t>
            </a: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090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7DDC1-5F90-05E5-F4CE-CBA0EE7178F2}"/>
              </a:ext>
            </a:extLst>
          </p:cNvPr>
          <p:cNvSpPr txBox="1"/>
          <p:nvPr/>
        </p:nvSpPr>
        <p:spPr>
          <a:xfrm>
            <a:off x="237067" y="160867"/>
            <a:ext cx="1167651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The best common type algorithm 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Consider the following assignment:</a:t>
            </a: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let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items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=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[1,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2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,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3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,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0184BB"/>
                </a:solidFill>
                <a:effectLst/>
                <a:latin typeface="ui-monospace"/>
              </a:rPr>
              <a:t>null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];</a:t>
            </a:r>
            <a:endParaRPr lang="en-IN" dirty="0">
              <a:solidFill>
                <a:srgbClr val="383A42"/>
              </a:solidFill>
              <a:latin typeface="Courier New" panose="02070309020205020404" pitchFamily="49" charset="0"/>
            </a:endParaRPr>
          </a:p>
          <a:p>
            <a:pPr marL="0" marR="0" indent="0" algn="l">
              <a:buNone/>
            </a:pP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marL="0" marR="0" indent="0" algn="l">
              <a:buNone/>
            </a:pP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To infer the type of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items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variable, TypeScript needs to consider the type of each element in the array.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It uses the best common type algorithm to analyse each candidate type and select the type that is </a:t>
            </a:r>
            <a:r>
              <a:rPr lang="en-IN" sz="1800" b="0" i="1" dirty="0">
                <a:solidFill>
                  <a:srgbClr val="212529"/>
                </a:solidFill>
                <a:effectLst/>
                <a:latin typeface="-apple-system"/>
              </a:rPr>
              <a:t>compatible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with all other candidates.</a:t>
            </a:r>
          </a:p>
          <a:p>
            <a:pPr indent="0" algn="l">
              <a:buNone/>
            </a:pP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In this case, TypeScript selects the number or null </a:t>
            </a:r>
            <a:r>
              <a:rPr lang="en-IN" sz="1800" b="0" i="0" dirty="0">
                <a:solidFill>
                  <a:srgbClr val="00369A"/>
                </a:solidFill>
                <a:effectLst/>
                <a:latin typeface="-apple-system"/>
              </a:rPr>
              <a:t>array type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(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number | null []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) as the best common type. Note that the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|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means the OR operator in types.</a:t>
            </a:r>
          </a:p>
          <a:p>
            <a:pPr indent="0" algn="l">
              <a:buNone/>
            </a:pPr>
            <a:endParaRPr lang="en-IN" dirty="0">
              <a:solidFill>
                <a:srgbClr val="212529"/>
              </a:solidFill>
              <a:latin typeface="-apple-system"/>
            </a:endParaRPr>
          </a:p>
          <a:p>
            <a:pPr indent="0" algn="l">
              <a:buNone/>
            </a:pP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If you add a string to the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items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array, TypeScript will infer the type for the items as an array of numbers and strings: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(number | string)[]</a:t>
            </a:r>
          </a:p>
          <a:p>
            <a:pPr indent="0" algn="l">
              <a:buNone/>
            </a:pPr>
            <a:endParaRPr lang="en-IN" dirty="0">
              <a:solidFill>
                <a:srgbClr val="DA1039"/>
              </a:solidFill>
              <a:latin typeface="Roboto Mono" panose="00000009000000000000" pitchFamily="49" charset="0"/>
            </a:endParaRPr>
          </a:p>
          <a:p>
            <a:pPr indent="0" algn="l">
              <a:buNone/>
            </a:pP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items = [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1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2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3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'Cheese'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];</a:t>
            </a: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818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AF4588-CA87-9CC2-42C8-3CFE3BEC2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565096"/>
              </p:ext>
            </p:extLst>
          </p:nvPr>
        </p:nvGraphicFramePr>
        <p:xfrm>
          <a:off x="714129" y="4339350"/>
          <a:ext cx="8923056" cy="731520"/>
        </p:xfrm>
        <a:graphic>
          <a:graphicData uri="http://schemas.openxmlformats.org/drawingml/2006/table">
            <a:tbl>
              <a:tblPr/>
              <a:tblGrid>
                <a:gridCol w="4461528">
                  <a:extLst>
                    <a:ext uri="{9D8B030D-6E8A-4147-A177-3AD203B41FA5}">
                      <a16:colId xmlns:a16="http://schemas.microsoft.com/office/drawing/2014/main" val="3458648980"/>
                    </a:ext>
                  </a:extLst>
                </a:gridCol>
                <a:gridCol w="4461528">
                  <a:extLst>
                    <a:ext uri="{9D8B030D-6E8A-4147-A177-3AD203B41FA5}">
                      <a16:colId xmlns:a16="http://schemas.microsoft.com/office/drawing/2014/main" val="22012275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1800" b="1" dirty="0">
                          <a:effectLst/>
                        </a:rPr>
                        <a:t>Type inference</a:t>
                      </a:r>
                      <a:endParaRPr lang="en-IN" sz="1800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1800" b="1">
                          <a:effectLst/>
                        </a:rPr>
                        <a:t>Type annotations</a:t>
                      </a:r>
                      <a:endParaRPr lang="en-IN" sz="180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611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TypeScript guesses the type</a:t>
                      </a: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75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You explicitly tell TypeScript the type</a:t>
                      </a:r>
                    </a:p>
                  </a:txBody>
                  <a:tcPr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608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9BA3336-9CDF-8E9E-D4D4-0FC1202F9180}"/>
              </a:ext>
            </a:extLst>
          </p:cNvPr>
          <p:cNvSpPr txBox="1"/>
          <p:nvPr/>
        </p:nvSpPr>
        <p:spPr>
          <a:xfrm>
            <a:off x="117721" y="243493"/>
            <a:ext cx="1077041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IN" b="1" i="0" dirty="0">
                <a:solidFill>
                  <a:srgbClr val="212529"/>
                </a:solidFill>
                <a:effectLst/>
                <a:latin typeface="-apple-system"/>
              </a:rPr>
              <a:t>Type inference vs. Type annotations</a:t>
            </a:r>
          </a:p>
          <a:p>
            <a:pPr indent="0" algn="l">
              <a:buNone/>
            </a:pPr>
            <a:endParaRPr lang="en-IN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The following shows the difference between type inference and type annotations: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So, when do you use type inference and type annotations?</a:t>
            </a:r>
          </a:p>
          <a:p>
            <a:pPr indent="0" algn="l">
              <a:buNone/>
            </a:pPr>
            <a:endParaRPr lang="en-IN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In practice, you should always use the type inference </a:t>
            </a:r>
            <a:r>
              <a:rPr lang="en-IN" b="0" i="1" dirty="0">
                <a:solidFill>
                  <a:srgbClr val="212529"/>
                </a:solidFill>
                <a:effectLst/>
                <a:latin typeface="-apple-system"/>
              </a:rPr>
              <a:t>as much as possible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. You use the type annotation in the following cases: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When you declare a variable and assign it a value later.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When you want a variable that can’t be inferred.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When a function returns the </a:t>
            </a:r>
            <a:r>
              <a:rPr lang="en-IN" b="0" i="0" dirty="0">
                <a:solidFill>
                  <a:srgbClr val="00369A"/>
                </a:solidFill>
                <a:effectLst/>
                <a:latin typeface="Roboto Mono" panose="00000009000000000000" pitchFamily="49" charset="0"/>
              </a:rPr>
              <a:t>any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 type, you need to clarify the value.</a:t>
            </a:r>
          </a:p>
        </p:txBody>
      </p:sp>
    </p:spTree>
    <p:extLst>
      <p:ext uri="{BB962C8B-B14F-4D97-AF65-F5344CB8AC3E}">
        <p14:creationId xmlns:p14="http://schemas.microsoft.com/office/powerpoint/2010/main" val="155496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1042</Words>
  <Application>Microsoft Office PowerPoint</Application>
  <PresentationFormat>Widescreen</PresentationFormat>
  <Paragraphs>144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Courier New</vt:lpstr>
      <vt:lpstr>Roboto Mono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53</cp:revision>
  <dcterms:created xsi:type="dcterms:W3CDTF">2026-09-07T04:03:17Z</dcterms:created>
  <dcterms:modified xsi:type="dcterms:W3CDTF">2026-09-24T04:12:59Z</dcterms:modified>
</cp:coreProperties>
</file>