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61" r:id="rId3"/>
    <p:sldId id="262" r:id="rId4"/>
    <p:sldId id="263" r:id="rId5"/>
    <p:sldId id="264" r:id="rId6"/>
    <p:sldId id="277" r:id="rId7"/>
    <p:sldId id="265" r:id="rId8"/>
    <p:sldId id="266" r:id="rId9"/>
    <p:sldId id="267" r:id="rId10"/>
    <p:sldId id="268" r:id="rId11"/>
    <p:sldId id="269" r:id="rId12"/>
    <p:sldId id="270"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36E61-F3EB-4561-9B14-9CA223DDC411}"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E38C2-EEA9-4DC0-9B4A-D8948DC26664}" type="slidenum">
              <a:rPr lang="en-IN" smtClean="0"/>
              <a:t>‹#›</a:t>
            </a:fld>
            <a:endParaRPr lang="en-IN"/>
          </a:p>
        </p:txBody>
      </p:sp>
    </p:spTree>
    <p:extLst>
      <p:ext uri="{BB962C8B-B14F-4D97-AF65-F5344CB8AC3E}">
        <p14:creationId xmlns:p14="http://schemas.microsoft.com/office/powerpoint/2010/main" val="161112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9E38C2-EEA9-4DC0-9B4A-D8948DC26664}" type="slidenum">
              <a:rPr lang="en-IN" smtClean="0"/>
              <a:t>4</a:t>
            </a:fld>
            <a:endParaRPr lang="en-IN"/>
          </a:p>
        </p:txBody>
      </p:sp>
    </p:spTree>
    <p:extLst>
      <p:ext uri="{BB962C8B-B14F-4D97-AF65-F5344CB8AC3E}">
        <p14:creationId xmlns:p14="http://schemas.microsoft.com/office/powerpoint/2010/main" val="14606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9875-A9BA-4FEF-920E-4C22F85217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B7B814-8E5E-4786-A782-E24833624C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A5E4E-8582-4B31-8617-14CBB193ED0B}"/>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DFC4D1BD-2509-4FA4-AA14-87874273D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AA1064-57B6-4800-8A02-CD288A6D3DDD}"/>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80516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DA26-6291-4D2B-8978-F93514DF0A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13C22-838A-44B1-81D3-9E211FEF05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AA663-5137-4937-8100-DB7D3B00C8D3}"/>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4FDC0661-8587-448A-9B04-E94F20631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056B56-4C9F-4BAE-9DC4-4EC0CB43962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361167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E9E4-BB58-4C34-A713-5C7FED464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C6DCC1-0042-4D16-8A40-07D1598A6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9608D7-A0AC-4F7F-9B2A-7E2BC2BCF3BD}"/>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857F6913-6AAC-424F-94E8-7967A5A06D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D0ECAC-D76A-4651-BD2D-47FA7FDE872E}"/>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96722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04B3B-6866-44C5-95A8-265479B674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90E14-26F7-4927-A965-637C61EF0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1966B2-1C21-40EC-AEB4-E6DF4D4CC5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8D7BC0-6651-4CE9-BF89-B67C6D952BFF}"/>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B0C814CD-3BDE-475B-B2CE-F8785CAE82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2A8915-DC5F-40A7-87F8-4991A692EAD4}"/>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137171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F9CE4-EDF2-4731-8314-40A65010B63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F80861-B423-43F6-9C0B-C057550FF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EB849D-1629-4141-B0DA-74DAC98229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BE2D5F-2402-43C2-982E-042CB8E31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5E2B4-51AA-4C0E-98D0-D89C08C382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7F2DCC-82EF-468C-A9BD-A30BB42201A8}"/>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8" name="Footer Placeholder 7">
            <a:extLst>
              <a:ext uri="{FF2B5EF4-FFF2-40B4-BE49-F238E27FC236}">
                <a16:creationId xmlns:a16="http://schemas.microsoft.com/office/drawing/2014/main" id="{264869D6-01B3-445D-B02D-3DAA99E79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41305C-3FE6-4DE2-AFA9-63E378D45519}"/>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842384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828D-056B-484E-B46C-1913881D6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48094D-3045-427E-AC8D-F81BFE5599C2}"/>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4" name="Footer Placeholder 3">
            <a:extLst>
              <a:ext uri="{FF2B5EF4-FFF2-40B4-BE49-F238E27FC236}">
                <a16:creationId xmlns:a16="http://schemas.microsoft.com/office/drawing/2014/main" id="{D97DD406-C044-4A88-A803-79A5F6B84C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8B2901-976F-482D-AE8B-41B5E7EB1673}"/>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585354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23FAE6-F69D-4630-A4D3-46E3DD971B1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3" name="Footer Placeholder 2">
            <a:extLst>
              <a:ext uri="{FF2B5EF4-FFF2-40B4-BE49-F238E27FC236}">
                <a16:creationId xmlns:a16="http://schemas.microsoft.com/office/drawing/2014/main" id="{B176A903-527D-416B-A653-12F4EA2FFB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890FF6-2BA1-486B-9877-3C312C4888C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828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7C3EF-6A71-4940-AD16-8EAD5B2D6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0A1DD74-1CE7-4DE8-8609-CB87E8CFD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ABA8D-6FA0-473A-A0DF-7F3F767FFA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43AEE-30C0-41A9-B398-66CC3058D10A}"/>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720B8C12-85BE-4075-8059-73A3994655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CF5DF8-58D9-4B96-A949-09747A8BAE5B}"/>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418467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6579-818E-4976-A82D-F552B1763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16A0D9-1F47-44BF-A9FF-36FE018B5E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987E5F-8F10-464E-A03D-F7B5DD464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C63D88-923E-4462-B853-43E7AA367EB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6" name="Footer Placeholder 5">
            <a:extLst>
              <a:ext uri="{FF2B5EF4-FFF2-40B4-BE49-F238E27FC236}">
                <a16:creationId xmlns:a16="http://schemas.microsoft.com/office/drawing/2014/main" id="{4802F551-E142-4576-BE4B-C24ADDBF5C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9E0A25-4D04-4F0F-B57E-539F0029D91C}"/>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90096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0D829-AF1E-40CC-AA8B-1614C04FA2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C13EA5-94DB-490C-9FE7-D17609AA33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CDDA9E-D2CC-47EE-9DDE-0F4657D3E0B3}"/>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09B34E4E-C739-4E42-AED6-8247868A76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AF632-88D5-40D9-ACDA-F145AC59A591}"/>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2444196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42E2B-190D-469C-BC26-97FFEE159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9435C4-1632-4F15-9DF3-1D3E00CFD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47A6B3-D7C6-4E14-8562-56C5A43ED561}"/>
              </a:ext>
            </a:extLst>
          </p:cNvPr>
          <p:cNvSpPr>
            <a:spLocks noGrp="1"/>
          </p:cNvSpPr>
          <p:nvPr>
            <p:ph type="dt" sz="half" idx="10"/>
          </p:nvPr>
        </p:nvSpPr>
        <p:spPr/>
        <p:txBody>
          <a:body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26B6DC34-0156-4A3B-AEE7-7A48BE575F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704AD-9F7D-4B3D-B616-33C35F574482}"/>
              </a:ext>
            </a:extLst>
          </p:cNvPr>
          <p:cNvSpPr>
            <a:spLocks noGrp="1"/>
          </p:cNvSpPr>
          <p:nvPr>
            <p:ph type="sldNum" sz="quarter" idx="12"/>
          </p:nvPr>
        </p:nvSpPr>
        <p:spPr/>
        <p:txBody>
          <a:bodyPr/>
          <a:lstStyle/>
          <a:p>
            <a:fld id="{33DBC3EB-76E3-4D95-B949-998AB2567A6D}" type="slidenum">
              <a:rPr lang="en-IN" smtClean="0"/>
              <a:t>‹#›</a:t>
            </a:fld>
            <a:endParaRPr lang="en-IN"/>
          </a:p>
        </p:txBody>
      </p:sp>
    </p:spTree>
    <p:extLst>
      <p:ext uri="{BB962C8B-B14F-4D97-AF65-F5344CB8AC3E}">
        <p14:creationId xmlns:p14="http://schemas.microsoft.com/office/powerpoint/2010/main" val="3956428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A60A4F-4527-41DF-8948-4E6D3EB59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A26F26-5539-47C1-AFFF-512008E412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343F1A-3A55-420B-98D8-F38BD8298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0FDB9-8E1A-4075-B100-3186540F4228}" type="datetimeFigureOut">
              <a:rPr lang="en-IN" smtClean="0"/>
              <a:t>01-04-2026</a:t>
            </a:fld>
            <a:endParaRPr lang="en-IN"/>
          </a:p>
        </p:txBody>
      </p:sp>
      <p:sp>
        <p:nvSpPr>
          <p:cNvPr id="5" name="Footer Placeholder 4">
            <a:extLst>
              <a:ext uri="{FF2B5EF4-FFF2-40B4-BE49-F238E27FC236}">
                <a16:creationId xmlns:a16="http://schemas.microsoft.com/office/drawing/2014/main" id="{587C541F-2A41-4FFA-B28A-697CB88FAF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850932-B360-451F-AC0E-CBA54D9D0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BC3EB-76E3-4D95-B949-998AB2567A6D}" type="slidenum">
              <a:rPr lang="en-IN" smtClean="0"/>
              <a:t>‹#›</a:t>
            </a:fld>
            <a:endParaRPr lang="en-IN"/>
          </a:p>
        </p:txBody>
      </p:sp>
      <p:pic>
        <p:nvPicPr>
          <p:cNvPr id="8" name="Picture 7">
            <a:extLst>
              <a:ext uri="{FF2B5EF4-FFF2-40B4-BE49-F238E27FC236}">
                <a16:creationId xmlns:a16="http://schemas.microsoft.com/office/drawing/2014/main" id="{FEC06054-F4D6-463D-B988-0441229AFFE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10" name="Rectangle 9">
            <a:extLst>
              <a:ext uri="{FF2B5EF4-FFF2-40B4-BE49-F238E27FC236}">
                <a16:creationId xmlns:a16="http://schemas.microsoft.com/office/drawing/2014/main" id="{52C55DDA-2F67-497D-805E-5136A8321681}"/>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4334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705B46-A741-417A-A476-44E4A4CAB5FA}"/>
              </a:ext>
            </a:extLst>
          </p:cNvPr>
          <p:cNvSpPr txBox="1"/>
          <p:nvPr/>
        </p:nvSpPr>
        <p:spPr>
          <a:xfrm>
            <a:off x="83574" y="284567"/>
            <a:ext cx="12024852" cy="1754326"/>
          </a:xfrm>
          <a:prstGeom prst="rect">
            <a:avLst/>
          </a:prstGeom>
          <a:noFill/>
        </p:spPr>
        <p:txBody>
          <a:bodyPr wrap="square">
            <a:spAutoFit/>
          </a:bodyPr>
          <a:lstStyle/>
          <a:p>
            <a:pPr algn="ctr"/>
            <a:r>
              <a:rPr lang="en-US" b="1" dirty="0" err="1"/>
              <a:t>Destructuring</a:t>
            </a:r>
            <a:r>
              <a:rPr lang="en-US" b="1" dirty="0"/>
              <a:t> for Easier Data Access</a:t>
            </a:r>
          </a:p>
          <a:p>
            <a:r>
              <a:rPr lang="en-US" dirty="0"/>
              <a:t>Object and array literals are two of the most frequently used notations in JavaScript, and thanks to the popular JSON data format, they’ve become a particularly important part of the language. It’s quite common to define objects and arrays, and then systematically pull out relevant pieces of information from those structures. ECMAScript 6 simplifies this task by adding </a:t>
            </a:r>
            <a:r>
              <a:rPr lang="en-US" dirty="0" err="1"/>
              <a:t>destructuring</a:t>
            </a:r>
            <a:r>
              <a:rPr lang="en-US" dirty="0"/>
              <a:t>, which is the process of breaking a data structure down into smaller parts. This chapter shows you how to harness </a:t>
            </a:r>
            <a:r>
              <a:rPr lang="en-US" dirty="0" err="1"/>
              <a:t>destructuring</a:t>
            </a:r>
            <a:r>
              <a:rPr lang="en-US" dirty="0"/>
              <a:t> for both objects and arrays.</a:t>
            </a:r>
            <a:endParaRPr lang="en-IN" dirty="0"/>
          </a:p>
        </p:txBody>
      </p:sp>
      <p:sp>
        <p:nvSpPr>
          <p:cNvPr id="7" name="TextBox 6">
            <a:extLst>
              <a:ext uri="{FF2B5EF4-FFF2-40B4-BE49-F238E27FC236}">
                <a16:creationId xmlns:a16="http://schemas.microsoft.com/office/drawing/2014/main" id="{CE1D809D-7805-4EA5-B9B0-198E62B816F6}"/>
              </a:ext>
            </a:extLst>
          </p:cNvPr>
          <p:cNvSpPr txBox="1"/>
          <p:nvPr/>
        </p:nvSpPr>
        <p:spPr>
          <a:xfrm>
            <a:off x="206477" y="2038893"/>
            <a:ext cx="11346425" cy="923330"/>
          </a:xfrm>
          <a:prstGeom prst="rect">
            <a:avLst/>
          </a:prstGeom>
          <a:noFill/>
        </p:spPr>
        <p:txBody>
          <a:bodyPr wrap="square">
            <a:spAutoFit/>
          </a:bodyPr>
          <a:lstStyle/>
          <a:p>
            <a:pPr algn="ctr"/>
            <a:r>
              <a:rPr lang="en-US" b="1" dirty="0"/>
              <a:t>Why is </a:t>
            </a:r>
            <a:r>
              <a:rPr lang="en-US" b="1" dirty="0" err="1"/>
              <a:t>Destructuring</a:t>
            </a:r>
            <a:r>
              <a:rPr lang="en-US" b="1" dirty="0"/>
              <a:t> Useful?</a:t>
            </a:r>
          </a:p>
          <a:p>
            <a:r>
              <a:rPr lang="en-US" dirty="0"/>
              <a:t>In ECMAScript 5 and earlier, the need to fetch information from objects and arrays could lead to a lot of code that looks the same, just to get certain data into local variables. For example:</a:t>
            </a:r>
            <a:endParaRPr lang="en-IN" dirty="0"/>
          </a:p>
        </p:txBody>
      </p:sp>
      <p:sp>
        <p:nvSpPr>
          <p:cNvPr id="8" name="Rectangle 1">
            <a:extLst>
              <a:ext uri="{FF2B5EF4-FFF2-40B4-BE49-F238E27FC236}">
                <a16:creationId xmlns:a16="http://schemas.microsoft.com/office/drawing/2014/main" id="{3A91E73D-3982-4C1E-A915-D83A74C7C382}"/>
              </a:ext>
            </a:extLst>
          </p:cNvPr>
          <p:cNvSpPr>
            <a:spLocks noChangeArrowheads="1"/>
          </p:cNvSpPr>
          <p:nvPr/>
        </p:nvSpPr>
        <p:spPr bwMode="auto">
          <a:xfrm>
            <a:off x="206477" y="3054555"/>
            <a:ext cx="6590249" cy="1477328"/>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8000"/>
                </a:solidFill>
                <a:effectLst/>
                <a:latin typeface="Lucida Console" panose="020B0609040504020204" pitchFamily="49" charset="0"/>
              </a:rPr>
              <a:t>let</a:t>
            </a:r>
            <a:r>
              <a:rPr kumimoji="0" lang="en-US" altLang="en-US" sz="1600" b="0" i="0" u="none" strike="noStrike" cap="none" normalizeH="0" baseline="0" dirty="0">
                <a:ln>
                  <a:noFill/>
                </a:ln>
                <a:solidFill>
                  <a:srgbClr val="000000"/>
                </a:solidFill>
                <a:effectLst/>
                <a:latin typeface="Lucida Console" panose="020B0609040504020204" pitchFamily="49" charset="0"/>
              </a:rPr>
              <a:t> options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 repeat</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1" i="0" u="none" strike="noStrike" cap="none" normalizeH="0" baseline="0" dirty="0">
                <a:ln>
                  <a:noFill/>
                </a:ln>
                <a:solidFill>
                  <a:srgbClr val="008000"/>
                </a:solidFill>
                <a:effectLst/>
                <a:latin typeface="Lucida Console" panose="020B0609040504020204" pitchFamily="49" charset="0"/>
              </a:rPr>
              <a:t>true</a:t>
            </a:r>
            <a:r>
              <a:rPr kumimoji="0" lang="en-US" altLang="en-US" sz="1600" b="0" i="0" u="none" strike="noStrike" cap="none" normalizeH="0" baseline="0" dirty="0">
                <a:ln>
                  <a:noFill/>
                </a:ln>
                <a:solidFill>
                  <a:srgbClr val="000000"/>
                </a:solidFill>
                <a:effectLst/>
                <a:latin typeface="Lucida Console" panose="020B0609040504020204" pitchFamily="49" charset="0"/>
              </a:rPr>
              <a:t>, save</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1" i="0" u="none" strike="noStrike" cap="none" normalizeH="0" baseline="0" dirty="0">
                <a:ln>
                  <a:noFill/>
                </a:ln>
                <a:solidFill>
                  <a:srgbClr val="008000"/>
                </a:solidFill>
                <a:effectLst/>
                <a:latin typeface="Lucida Console" panose="020B0609040504020204" pitchFamily="49" charset="0"/>
              </a:rPr>
              <a:t>false</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1" u="none" strike="noStrike" cap="none" normalizeH="0" baseline="0" dirty="0">
                <a:ln>
                  <a:noFill/>
                </a:ln>
                <a:solidFill>
                  <a:srgbClr val="408080"/>
                </a:solidFill>
                <a:effectLst/>
                <a:latin typeface="Lucida Console" panose="020B0609040504020204" pitchFamily="49" charset="0"/>
              </a:rPr>
              <a:t>// extract data from the object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8000"/>
                </a:solidFill>
                <a:effectLst/>
                <a:latin typeface="Lucida Console" panose="020B0609040504020204" pitchFamily="49" charset="0"/>
              </a:rPr>
              <a:t>let</a:t>
            </a:r>
            <a:r>
              <a:rPr kumimoji="0" lang="en-US" altLang="en-US" sz="1600" b="0" i="0" u="none" strike="noStrike" cap="none" normalizeH="0" baseline="0" dirty="0">
                <a:ln>
                  <a:noFill/>
                </a:ln>
                <a:solidFill>
                  <a:srgbClr val="000000"/>
                </a:solidFill>
                <a:effectLst/>
                <a:latin typeface="Lucida Console" panose="020B0609040504020204" pitchFamily="49" charset="0"/>
              </a:rPr>
              <a:t> repeat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0" u="none" strike="noStrike" cap="none" normalizeH="0" baseline="0" dirty="0" err="1">
                <a:ln>
                  <a:noFill/>
                </a:ln>
                <a:solidFill>
                  <a:srgbClr val="000000"/>
                </a:solidFill>
                <a:effectLst/>
                <a:latin typeface="Lucida Console" panose="020B0609040504020204" pitchFamily="49" charset="0"/>
              </a:rPr>
              <a:t>options.repeat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Lucida Console" panose="020B0609040504020204" pitchFamily="49" charset="0"/>
              </a:rPr>
              <a:t>save </a:t>
            </a:r>
            <a:r>
              <a:rPr kumimoji="0" lang="en-US" altLang="en-US" sz="1600" b="0" i="0" u="none" strike="noStrike" cap="none" normalizeH="0" baseline="0" dirty="0">
                <a:ln>
                  <a:noFill/>
                </a:ln>
                <a:solidFill>
                  <a:srgbClr val="666666"/>
                </a:solidFill>
                <a:effectLst/>
                <a:latin typeface="Lucida Console" panose="020B0609040504020204" pitchFamily="49" charset="0"/>
              </a:rPr>
              <a:t>=</a:t>
            </a:r>
            <a:r>
              <a:rPr kumimoji="0" lang="en-US" altLang="en-US" sz="1600" b="0" i="0" u="none" strike="noStrike" cap="none" normalizeH="0" baseline="0" dirty="0">
                <a:ln>
                  <a:noFill/>
                </a:ln>
                <a:solidFill>
                  <a:srgbClr val="000000"/>
                </a:solidFill>
                <a:effectLst/>
                <a:latin typeface="Lucida Console" panose="020B0609040504020204" pitchFamily="49" charset="0"/>
              </a:rPr>
              <a:t> </a:t>
            </a:r>
            <a:r>
              <a:rPr kumimoji="0" lang="en-US" altLang="en-US" sz="1600" b="0" i="0" u="none" strike="noStrike" cap="none" normalizeH="0" baseline="0" dirty="0" err="1">
                <a:ln>
                  <a:noFill/>
                </a:ln>
                <a:solidFill>
                  <a:srgbClr val="000000"/>
                </a:solidFill>
                <a:effectLst/>
                <a:latin typeface="Lucida Console" panose="020B0609040504020204" pitchFamily="49" charset="0"/>
              </a:rPr>
              <a:t>options.save</a:t>
            </a:r>
            <a:r>
              <a:rPr kumimoji="0" lang="en-US" altLang="en-US" sz="1600" b="0" i="0" u="none" strike="noStrike" cap="none" normalizeH="0" baseline="0" dirty="0">
                <a:ln>
                  <a:noFill/>
                </a:ln>
                <a:solidFill>
                  <a:srgbClr val="000000"/>
                </a:solidFill>
                <a:effectLst/>
                <a:latin typeface="Lucida Console" panose="020B0609040504020204" pitchFamily="49"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5FDD1D3-418F-4200-AD4F-C66A526ECA24}"/>
              </a:ext>
            </a:extLst>
          </p:cNvPr>
          <p:cNvSpPr txBox="1"/>
          <p:nvPr/>
        </p:nvSpPr>
        <p:spPr>
          <a:xfrm>
            <a:off x="206476" y="4624215"/>
            <a:ext cx="11901949" cy="2308324"/>
          </a:xfrm>
          <a:prstGeom prst="rect">
            <a:avLst/>
          </a:prstGeom>
          <a:noFill/>
        </p:spPr>
        <p:txBody>
          <a:bodyPr wrap="square">
            <a:spAutoFit/>
          </a:bodyPr>
          <a:lstStyle/>
          <a:p>
            <a:r>
              <a:rPr lang="en-US" sz="1600" dirty="0"/>
              <a:t>This code extracts the values of repeat and save from the options object and stores that data in local variables with the same names. While this code looks simple, imagine if you had a large number of variables to assign; you would have to assign them all one by one. And if there was a nested data structure to traverse to find the information instead, you might have to dig through the entire structure just to find one piece of data.</a:t>
            </a:r>
          </a:p>
          <a:p>
            <a:endParaRPr lang="en-US" sz="1600" dirty="0"/>
          </a:p>
          <a:p>
            <a:r>
              <a:rPr lang="en-US" sz="1600" dirty="0"/>
              <a:t>That’s why ECMAScript 6 adds </a:t>
            </a:r>
            <a:r>
              <a:rPr lang="en-US" sz="1600" dirty="0" err="1"/>
              <a:t>destructuring</a:t>
            </a:r>
            <a:r>
              <a:rPr lang="en-US" sz="1600" dirty="0"/>
              <a:t> for both objects and arrays. When you break a data structure into smaller parts, getting the information you need out of it becomes much easier. Many languages implement </a:t>
            </a:r>
            <a:r>
              <a:rPr lang="en-US" sz="1600" dirty="0" err="1"/>
              <a:t>destructuring</a:t>
            </a:r>
            <a:r>
              <a:rPr lang="en-US" sz="1600" dirty="0"/>
              <a:t> with a minimal amount of syntax to make the process simpler to use. The ECMAScript 6 implementation actually makes use of syntax you’re already familiar with: the syntax for object and array literals.</a:t>
            </a:r>
            <a:endParaRPr lang="en-IN" sz="1600" dirty="0"/>
          </a:p>
        </p:txBody>
      </p:sp>
      <p:sp>
        <p:nvSpPr>
          <p:cNvPr id="2" name="TextBox 1">
            <a:extLst>
              <a:ext uri="{FF2B5EF4-FFF2-40B4-BE49-F238E27FC236}">
                <a16:creationId xmlns:a16="http://schemas.microsoft.com/office/drawing/2014/main" id="{13129815-1DE7-4DBD-F64F-62F41F73CB62}"/>
              </a:ext>
            </a:extLst>
          </p:cNvPr>
          <p:cNvSpPr txBox="1"/>
          <p:nvPr/>
        </p:nvSpPr>
        <p:spPr>
          <a:xfrm>
            <a:off x="7381188" y="2780907"/>
            <a:ext cx="2969443" cy="369332"/>
          </a:xfrm>
          <a:prstGeom prst="rect">
            <a:avLst/>
          </a:prstGeom>
          <a:noFill/>
        </p:spPr>
        <p:txBody>
          <a:bodyPr wrap="square" rtlCol="0">
            <a:spAutoFit/>
          </a:bodyPr>
          <a:lstStyle/>
          <a:p>
            <a:r>
              <a:rPr lang="en-US" dirty="0">
                <a:solidFill>
                  <a:schemeClr val="accent5"/>
                </a:solidFill>
              </a:rPr>
              <a:t>int</a:t>
            </a:r>
            <a:r>
              <a:rPr lang="en-US" dirty="0"/>
              <a:t> a=5, b=7</a:t>
            </a:r>
            <a:endParaRPr lang="en-IN" dirty="0"/>
          </a:p>
        </p:txBody>
      </p:sp>
    </p:spTree>
    <p:extLst>
      <p:ext uri="{BB962C8B-B14F-4D97-AF65-F5344CB8AC3E}">
        <p14:creationId xmlns:p14="http://schemas.microsoft.com/office/powerpoint/2010/main" val="261395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F7D384-498A-4526-BC53-C1335BFD0BA0}"/>
              </a:ext>
            </a:extLst>
          </p:cNvPr>
          <p:cNvSpPr txBox="1"/>
          <p:nvPr/>
        </p:nvSpPr>
        <p:spPr>
          <a:xfrm>
            <a:off x="2261420" y="75889"/>
            <a:ext cx="6135328" cy="369332"/>
          </a:xfrm>
          <a:prstGeom prst="rect">
            <a:avLst/>
          </a:prstGeom>
          <a:noFill/>
        </p:spPr>
        <p:txBody>
          <a:bodyPr wrap="square">
            <a:spAutoFit/>
          </a:bodyPr>
          <a:lstStyle/>
          <a:p>
            <a:pPr algn="ctr"/>
            <a:r>
              <a:rPr lang="en-IN" b="1" dirty="0"/>
              <a:t>Object </a:t>
            </a:r>
            <a:r>
              <a:rPr lang="en-IN" b="1" dirty="0" err="1"/>
              <a:t>Destructuring</a:t>
            </a:r>
            <a:endParaRPr lang="en-IN" b="1" dirty="0"/>
          </a:p>
        </p:txBody>
      </p:sp>
      <p:sp>
        <p:nvSpPr>
          <p:cNvPr id="7" name="TextBox 6">
            <a:extLst>
              <a:ext uri="{FF2B5EF4-FFF2-40B4-BE49-F238E27FC236}">
                <a16:creationId xmlns:a16="http://schemas.microsoft.com/office/drawing/2014/main" id="{4AC8E83F-8EDF-4CF7-92D4-EF2AA26A9339}"/>
              </a:ext>
            </a:extLst>
          </p:cNvPr>
          <p:cNvSpPr txBox="1"/>
          <p:nvPr/>
        </p:nvSpPr>
        <p:spPr>
          <a:xfrm>
            <a:off x="1238864" y="376395"/>
            <a:ext cx="10953136" cy="369332"/>
          </a:xfrm>
          <a:prstGeom prst="rect">
            <a:avLst/>
          </a:prstGeom>
          <a:noFill/>
        </p:spPr>
        <p:txBody>
          <a:bodyPr wrap="square">
            <a:spAutoFit/>
          </a:bodyPr>
          <a:lstStyle/>
          <a:p>
            <a:r>
              <a:rPr lang="en-US" dirty="0"/>
              <a:t>Object </a:t>
            </a:r>
            <a:r>
              <a:rPr lang="en-US" dirty="0" err="1"/>
              <a:t>destructuring</a:t>
            </a:r>
            <a:r>
              <a:rPr lang="en-US" dirty="0"/>
              <a:t> syntax uses an object literal on the left side of an assignment operation. For example:</a:t>
            </a:r>
            <a:endParaRPr lang="en-IN" dirty="0"/>
          </a:p>
        </p:txBody>
      </p:sp>
      <p:sp>
        <p:nvSpPr>
          <p:cNvPr id="8" name="Rectangle 1">
            <a:extLst>
              <a:ext uri="{FF2B5EF4-FFF2-40B4-BE49-F238E27FC236}">
                <a16:creationId xmlns:a16="http://schemas.microsoft.com/office/drawing/2014/main" id="{2DEEE1FA-4FEA-4D2C-B9C6-9A1C5776B853}"/>
              </a:ext>
            </a:extLst>
          </p:cNvPr>
          <p:cNvSpPr>
            <a:spLocks noChangeArrowheads="1"/>
          </p:cNvSpPr>
          <p:nvPr/>
        </p:nvSpPr>
        <p:spPr bwMode="auto">
          <a:xfrm>
            <a:off x="275303" y="708510"/>
            <a:ext cx="6322143" cy="2492990"/>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node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 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r>
              <a:rPr kumimoji="0" lang="en-US" altLang="en-US" b="0" i="0" u="none" strike="noStrike" cap="none" normalizeH="0" baseline="0" dirty="0">
                <a:ln>
                  <a:noFill/>
                </a:ln>
                <a:solidFill>
                  <a:srgbClr val="000000"/>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 type, name }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node; console.log(type);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1" u="none" strike="noStrike" cap="none" normalizeH="0" baseline="0" dirty="0">
                <a:ln>
                  <a:noFill/>
                </a:ln>
                <a:solidFill>
                  <a:srgbClr val="408080"/>
                </a:solidFill>
                <a:effectLst/>
                <a:latin typeface="Lucida Console" panose="020B0609040504020204" pitchFamily="49" charset="0"/>
              </a:rPr>
              <a:t>// "Identifier"</a:t>
            </a:r>
            <a:r>
              <a:rPr kumimoji="0" lang="en-US" altLang="en-US" b="0" i="0" u="none" strike="noStrike" cap="none" normalizeH="0" baseline="0" dirty="0">
                <a:ln>
                  <a:noFill/>
                </a:ln>
                <a:solidFill>
                  <a:srgbClr val="000000"/>
                </a:solidFill>
                <a:effectLst/>
                <a:latin typeface="Lucida Console" panose="020B0609040504020204" pitchFamily="49" charset="0"/>
              </a:rPr>
              <a:t> console.log(name);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408080"/>
                </a:solidFill>
                <a:effectLst/>
                <a:latin typeface="Lucida Console" panose="020B0609040504020204" pitchFamily="49" charset="0"/>
              </a:rPr>
              <a:t>// "foo"</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95B7E300-19AE-4F87-ACB3-AEB1706DC63E}"/>
              </a:ext>
            </a:extLst>
          </p:cNvPr>
          <p:cNvSpPr txBox="1"/>
          <p:nvPr/>
        </p:nvSpPr>
        <p:spPr>
          <a:xfrm>
            <a:off x="6715432" y="902531"/>
            <a:ext cx="5201265" cy="5078313"/>
          </a:xfrm>
          <a:prstGeom prst="rect">
            <a:avLst/>
          </a:prstGeom>
          <a:noFill/>
        </p:spPr>
        <p:txBody>
          <a:bodyPr wrap="square">
            <a:spAutoFit/>
          </a:bodyPr>
          <a:lstStyle/>
          <a:p>
            <a:r>
              <a:rPr lang="en-US" dirty="0"/>
              <a:t>Don’t Forget the Initializer</a:t>
            </a:r>
          </a:p>
          <a:p>
            <a:r>
              <a:rPr lang="en-US" dirty="0"/>
              <a:t>When using </a:t>
            </a:r>
            <a:r>
              <a:rPr lang="en-US" dirty="0" err="1"/>
              <a:t>destructuring</a:t>
            </a:r>
            <a:r>
              <a:rPr lang="en-US" dirty="0"/>
              <a:t> to declare variables using var, let, or const, you must supply an initializer (the value after the equals sign). The following lines of code will all throw syntax errors due to a missing initializer:</a:t>
            </a:r>
          </a:p>
          <a:p>
            <a:endParaRPr lang="en-US" dirty="0"/>
          </a:p>
          <a:p>
            <a:r>
              <a:rPr lang="en-US" dirty="0"/>
              <a:t>// syntax error!</a:t>
            </a:r>
          </a:p>
          <a:p>
            <a:r>
              <a:rPr lang="en-US" dirty="0"/>
              <a:t>var { type, name };</a:t>
            </a:r>
          </a:p>
          <a:p>
            <a:endParaRPr lang="en-US" dirty="0"/>
          </a:p>
          <a:p>
            <a:r>
              <a:rPr lang="en-US" dirty="0"/>
              <a:t>// syntax error!</a:t>
            </a:r>
          </a:p>
          <a:p>
            <a:r>
              <a:rPr lang="en-US" dirty="0"/>
              <a:t>let { type, name };</a:t>
            </a:r>
          </a:p>
          <a:p>
            <a:endParaRPr lang="en-US" dirty="0"/>
          </a:p>
          <a:p>
            <a:r>
              <a:rPr lang="en-US" dirty="0"/>
              <a:t>// syntax error!</a:t>
            </a:r>
          </a:p>
          <a:p>
            <a:r>
              <a:rPr lang="en-US" dirty="0"/>
              <a:t>const { type, name };</a:t>
            </a:r>
          </a:p>
          <a:p>
            <a:r>
              <a:rPr lang="en-US" dirty="0"/>
              <a:t>While const always requires an initializer, even when using </a:t>
            </a:r>
            <a:r>
              <a:rPr lang="en-US" dirty="0" err="1"/>
              <a:t>nondestructured</a:t>
            </a:r>
            <a:r>
              <a:rPr lang="en-US" dirty="0"/>
              <a:t> variables, var and let only require initializers when using </a:t>
            </a:r>
            <a:r>
              <a:rPr lang="en-US" dirty="0" err="1"/>
              <a:t>destructuring</a:t>
            </a:r>
            <a:r>
              <a:rPr lang="en-US" dirty="0"/>
              <a:t>.</a:t>
            </a:r>
            <a:endParaRPr lang="en-IN" dirty="0"/>
          </a:p>
        </p:txBody>
      </p:sp>
      <p:sp>
        <p:nvSpPr>
          <p:cNvPr id="2" name="Rectangle 1">
            <a:extLst>
              <a:ext uri="{FF2B5EF4-FFF2-40B4-BE49-F238E27FC236}">
                <a16:creationId xmlns:a16="http://schemas.microsoft.com/office/drawing/2014/main" id="{560BDE3B-66A9-49B2-8C37-C18D7CAF583E}"/>
              </a:ext>
            </a:extLst>
          </p:cNvPr>
          <p:cNvSpPr/>
          <p:nvPr/>
        </p:nvSpPr>
        <p:spPr>
          <a:xfrm>
            <a:off x="2261420" y="3358304"/>
            <a:ext cx="4542503" cy="14871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9" name="TextBox 8">
            <a:extLst>
              <a:ext uri="{FF2B5EF4-FFF2-40B4-BE49-F238E27FC236}">
                <a16:creationId xmlns:a16="http://schemas.microsoft.com/office/drawing/2014/main" id="{DF689C21-4608-44DA-9090-432866D815D8}"/>
              </a:ext>
            </a:extLst>
          </p:cNvPr>
          <p:cNvSpPr txBox="1"/>
          <p:nvPr/>
        </p:nvSpPr>
        <p:spPr>
          <a:xfrm>
            <a:off x="648930" y="4006422"/>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a:ln>
                  <a:noFill/>
                </a:ln>
                <a:solidFill>
                  <a:srgbClr val="000000"/>
                </a:solidFill>
                <a:effectLst/>
                <a:latin typeface="Lucida Console" panose="020B0609040504020204" pitchFamily="49" charset="0"/>
              </a:rPr>
              <a:t>node</a:t>
            </a:r>
            <a:endParaRPr lang="en-IN" dirty="0"/>
          </a:p>
        </p:txBody>
      </p:sp>
      <p:cxnSp>
        <p:nvCxnSpPr>
          <p:cNvPr id="6" name="Straight Arrow Connector 5">
            <a:extLst>
              <a:ext uri="{FF2B5EF4-FFF2-40B4-BE49-F238E27FC236}">
                <a16:creationId xmlns:a16="http://schemas.microsoft.com/office/drawing/2014/main" id="{4F951EF0-15D3-443E-ABBB-C77A8CAB9434}"/>
              </a:ext>
            </a:extLst>
          </p:cNvPr>
          <p:cNvCxnSpPr>
            <a:stCxn id="9" idx="3"/>
          </p:cNvCxnSpPr>
          <p:nvPr/>
        </p:nvCxnSpPr>
        <p:spPr>
          <a:xfrm flipV="1">
            <a:off x="1573162" y="4028478"/>
            <a:ext cx="422787" cy="166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24D3AB6-A1E0-484F-BA62-75CDC2A2881D}"/>
              </a:ext>
            </a:extLst>
          </p:cNvPr>
          <p:cNvSpPr txBox="1"/>
          <p:nvPr/>
        </p:nvSpPr>
        <p:spPr>
          <a:xfrm>
            <a:off x="117988" y="5006014"/>
            <a:ext cx="3952567" cy="369332"/>
          </a:xfrm>
          <a:prstGeom prst="rect">
            <a:avLst/>
          </a:prstGeom>
          <a:noFill/>
        </p:spPr>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1" i="0" u="none" strike="noStrike" cap="none" normalizeH="0" baseline="0" dirty="0">
                <a:ln>
                  <a:noFill/>
                </a:ln>
                <a:solidFill>
                  <a:srgbClr val="008000"/>
                </a:solidFill>
                <a:effectLst/>
                <a:latin typeface="Lucida Console" panose="020B0609040504020204" pitchFamily="49" charset="0"/>
              </a:rPr>
              <a:t>let</a:t>
            </a:r>
            <a:r>
              <a:rPr kumimoji="0" lang="en-US" altLang="en-US" b="0" i="0" u="none" strike="noStrike" cap="none" normalizeH="0" baseline="0" dirty="0">
                <a:ln>
                  <a:noFill/>
                </a:ln>
                <a:solidFill>
                  <a:srgbClr val="000000"/>
                </a:solidFill>
                <a:effectLst/>
                <a:latin typeface="Lucida Console" panose="020B0609040504020204" pitchFamily="49" charset="0"/>
              </a:rPr>
              <a:t> { type, name } </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node; </a:t>
            </a:r>
            <a:endParaRPr lang="en-IN" dirty="0"/>
          </a:p>
        </p:txBody>
      </p:sp>
      <p:cxnSp>
        <p:nvCxnSpPr>
          <p:cNvPr id="14" name="Straight Arrow Connector 13">
            <a:extLst>
              <a:ext uri="{FF2B5EF4-FFF2-40B4-BE49-F238E27FC236}">
                <a16:creationId xmlns:a16="http://schemas.microsoft.com/office/drawing/2014/main" id="{65F138B6-BD67-4799-B482-2A01565C7C10}"/>
              </a:ext>
            </a:extLst>
          </p:cNvPr>
          <p:cNvCxnSpPr>
            <a:cxnSpLocks/>
          </p:cNvCxnSpPr>
          <p:nvPr/>
        </p:nvCxnSpPr>
        <p:spPr>
          <a:xfrm>
            <a:off x="4188541" y="4194620"/>
            <a:ext cx="142569" cy="1649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F4DBA13-8614-406E-A5C9-9AB52896C20A}"/>
              </a:ext>
            </a:extLst>
          </p:cNvPr>
          <p:cNvSpPr txBox="1"/>
          <p:nvPr/>
        </p:nvSpPr>
        <p:spPr>
          <a:xfrm>
            <a:off x="3608439" y="6175002"/>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endParaRPr lang="en-IN" dirty="0"/>
          </a:p>
        </p:txBody>
      </p:sp>
      <p:sp>
        <p:nvSpPr>
          <p:cNvPr id="16" name="TextBox 15">
            <a:extLst>
              <a:ext uri="{FF2B5EF4-FFF2-40B4-BE49-F238E27FC236}">
                <a16:creationId xmlns:a16="http://schemas.microsoft.com/office/drawing/2014/main" id="{4EE5BDB2-5FE9-4109-BD6C-A86A0A87676D}"/>
              </a:ext>
            </a:extLst>
          </p:cNvPr>
          <p:cNvSpPr txBox="1"/>
          <p:nvPr/>
        </p:nvSpPr>
        <p:spPr>
          <a:xfrm>
            <a:off x="5303274" y="6141745"/>
            <a:ext cx="924232" cy="3763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kumimoji="0" lang="en-US" altLang="en-US" b="0" i="0" u="none" strike="noStrike" cap="none" normalizeH="0" baseline="0" dirty="0">
                <a:ln>
                  <a:noFill/>
                </a:ln>
                <a:solidFill>
                  <a:srgbClr val="000000"/>
                </a:solidFill>
                <a:effectLst/>
                <a:latin typeface="Lucida Console" panose="020B0609040504020204" pitchFamily="49" charset="0"/>
              </a:rPr>
              <a:t>name</a:t>
            </a:r>
            <a:endParaRPr lang="en-IN" dirty="0"/>
          </a:p>
        </p:txBody>
      </p:sp>
      <p:cxnSp>
        <p:nvCxnSpPr>
          <p:cNvPr id="18" name="Straight Arrow Connector 17">
            <a:extLst>
              <a:ext uri="{FF2B5EF4-FFF2-40B4-BE49-F238E27FC236}">
                <a16:creationId xmlns:a16="http://schemas.microsoft.com/office/drawing/2014/main" id="{28669514-24CF-4766-979F-021716CAE545}"/>
              </a:ext>
            </a:extLst>
          </p:cNvPr>
          <p:cNvCxnSpPr>
            <a:cxnSpLocks/>
          </p:cNvCxnSpPr>
          <p:nvPr/>
        </p:nvCxnSpPr>
        <p:spPr>
          <a:xfrm flipH="1">
            <a:off x="6154994" y="4382817"/>
            <a:ext cx="145025" cy="14479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1ECB237-1685-4769-9683-79E3D4DF328A}"/>
              </a:ext>
            </a:extLst>
          </p:cNvPr>
          <p:cNvSpPr txBox="1"/>
          <p:nvPr/>
        </p:nvSpPr>
        <p:spPr>
          <a:xfrm>
            <a:off x="2568677" y="5825414"/>
            <a:ext cx="16911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0" lang="en-US" altLang="en-US" b="0" i="0" u="none" strike="noStrike" cap="none" normalizeH="0" baseline="0" dirty="0">
                <a:ln>
                  <a:noFill/>
                </a:ln>
                <a:solidFill>
                  <a:srgbClr val="BA2121"/>
                </a:solidFill>
                <a:effectLst/>
                <a:latin typeface="Lucida Console" panose="020B0609040504020204" pitchFamily="49" charset="0"/>
              </a:rPr>
              <a:t>Identifier</a:t>
            </a:r>
            <a:endParaRPr lang="en-IN" dirty="0"/>
          </a:p>
        </p:txBody>
      </p:sp>
      <p:sp>
        <p:nvSpPr>
          <p:cNvPr id="4" name="Rectangle 3">
            <a:extLst>
              <a:ext uri="{FF2B5EF4-FFF2-40B4-BE49-F238E27FC236}">
                <a16:creationId xmlns:a16="http://schemas.microsoft.com/office/drawing/2014/main" id="{336B45DA-E0EA-45B1-8509-B8EE6D115C4F}"/>
              </a:ext>
            </a:extLst>
          </p:cNvPr>
          <p:cNvSpPr/>
          <p:nvPr/>
        </p:nvSpPr>
        <p:spPr>
          <a:xfrm>
            <a:off x="5879689" y="5844213"/>
            <a:ext cx="993058" cy="3666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0" lang="en-US" altLang="en-US" b="0" i="0" u="none" strike="noStrike" cap="none" normalizeH="0" baseline="0">
                <a:ln>
                  <a:noFill/>
                </a:ln>
                <a:solidFill>
                  <a:srgbClr val="BA2121"/>
                </a:solidFill>
                <a:effectLst/>
                <a:latin typeface="Lucida Console" panose="020B0609040504020204" pitchFamily="49" charset="0"/>
              </a:rPr>
              <a:t>foo</a:t>
            </a:r>
            <a:endParaRPr lang="en-IN"/>
          </a:p>
        </p:txBody>
      </p:sp>
    </p:spTree>
    <p:extLst>
      <p:ext uri="{BB962C8B-B14F-4D97-AF65-F5344CB8AC3E}">
        <p14:creationId xmlns:p14="http://schemas.microsoft.com/office/powerpoint/2010/main" val="422684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3EFC6A-9AFC-4BED-8F67-C15F27C073E8}"/>
              </a:ext>
            </a:extLst>
          </p:cNvPr>
          <p:cNvSpPr txBox="1"/>
          <p:nvPr/>
        </p:nvSpPr>
        <p:spPr>
          <a:xfrm>
            <a:off x="1484671" y="125049"/>
            <a:ext cx="6135328" cy="369332"/>
          </a:xfrm>
          <a:prstGeom prst="rect">
            <a:avLst/>
          </a:prstGeom>
          <a:noFill/>
        </p:spPr>
        <p:txBody>
          <a:bodyPr wrap="square">
            <a:spAutoFit/>
          </a:bodyPr>
          <a:lstStyle/>
          <a:p>
            <a:pPr algn="l" fontAlgn="base"/>
            <a:r>
              <a:rPr lang="en-IN" b="1" i="0" dirty="0" err="1">
                <a:solidFill>
                  <a:srgbClr val="000000"/>
                </a:solidFill>
                <a:effectLst/>
                <a:latin typeface="Noto Sans"/>
              </a:rPr>
              <a:t>Destructuring</a:t>
            </a:r>
            <a:r>
              <a:rPr lang="en-IN" b="1" i="0" dirty="0">
                <a:solidFill>
                  <a:srgbClr val="000000"/>
                </a:solidFill>
                <a:effectLst/>
                <a:latin typeface="Noto Sans"/>
              </a:rPr>
              <a:t> Assignment</a:t>
            </a:r>
          </a:p>
        </p:txBody>
      </p:sp>
      <p:sp>
        <p:nvSpPr>
          <p:cNvPr id="6" name="TextBox 5">
            <a:extLst>
              <a:ext uri="{FF2B5EF4-FFF2-40B4-BE49-F238E27FC236}">
                <a16:creationId xmlns:a16="http://schemas.microsoft.com/office/drawing/2014/main" id="{C297921A-FB50-41EE-8285-3313277B5459}"/>
              </a:ext>
            </a:extLst>
          </p:cNvPr>
          <p:cNvSpPr txBox="1"/>
          <p:nvPr/>
        </p:nvSpPr>
        <p:spPr>
          <a:xfrm>
            <a:off x="1189704" y="494381"/>
            <a:ext cx="10835148" cy="923330"/>
          </a:xfrm>
          <a:prstGeom prst="rect">
            <a:avLst/>
          </a:prstGeom>
          <a:noFill/>
        </p:spPr>
        <p:txBody>
          <a:bodyPr wrap="square">
            <a:spAutoFit/>
          </a:bodyPr>
          <a:lstStyle/>
          <a:p>
            <a:r>
              <a:rPr lang="en-US" b="0" i="0" dirty="0">
                <a:solidFill>
                  <a:srgbClr val="000000"/>
                </a:solidFill>
                <a:effectLst/>
                <a:latin typeface="Noto Serif"/>
              </a:rPr>
              <a:t>The object </a:t>
            </a:r>
            <a:r>
              <a:rPr lang="en-US" b="0" i="0" dirty="0" err="1">
                <a:solidFill>
                  <a:srgbClr val="000000"/>
                </a:solidFill>
                <a:effectLst/>
                <a:latin typeface="Noto Serif"/>
              </a:rPr>
              <a:t>destructuring</a:t>
            </a:r>
            <a:r>
              <a:rPr lang="en-US" b="0" i="0" dirty="0">
                <a:solidFill>
                  <a:srgbClr val="000000"/>
                </a:solidFill>
                <a:effectLst/>
                <a:latin typeface="Noto Serif"/>
              </a:rPr>
              <a:t> examples so far have used variable declarations. However, it’s also possible to use </a:t>
            </a:r>
            <a:r>
              <a:rPr lang="en-US" b="0" i="0" dirty="0" err="1">
                <a:solidFill>
                  <a:srgbClr val="000000"/>
                </a:solidFill>
                <a:effectLst/>
                <a:latin typeface="Noto Serif"/>
              </a:rPr>
              <a:t>destructuring</a:t>
            </a:r>
            <a:r>
              <a:rPr lang="en-US" b="0" i="0" dirty="0">
                <a:solidFill>
                  <a:srgbClr val="000000"/>
                </a:solidFill>
                <a:effectLst/>
                <a:latin typeface="Noto Serif"/>
              </a:rPr>
              <a:t> in assignments. For instance, you may decide to change the values of variables after they are defined, as follows:</a:t>
            </a:r>
            <a:endParaRPr lang="en-IN" dirty="0"/>
          </a:p>
        </p:txBody>
      </p:sp>
      <p:sp>
        <p:nvSpPr>
          <p:cNvPr id="9" name="TextBox 8">
            <a:extLst>
              <a:ext uri="{FF2B5EF4-FFF2-40B4-BE49-F238E27FC236}">
                <a16:creationId xmlns:a16="http://schemas.microsoft.com/office/drawing/2014/main" id="{DC56496B-5E21-4C52-AF79-C2356FEB4B8C}"/>
              </a:ext>
            </a:extLst>
          </p:cNvPr>
          <p:cNvSpPr txBox="1"/>
          <p:nvPr/>
        </p:nvSpPr>
        <p:spPr>
          <a:xfrm>
            <a:off x="127820" y="1443841"/>
            <a:ext cx="6135328" cy="3970318"/>
          </a:xfrm>
          <a:prstGeom prst="rect">
            <a:avLst/>
          </a:prstGeom>
          <a:noFill/>
        </p:spPr>
        <p:txBody>
          <a:bodyPr wrap="square">
            <a:spAutoFit/>
          </a:bodyPr>
          <a:lstStyle/>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assign different values using </a:t>
            </a:r>
            <a:r>
              <a:rPr lang="en-IN" b="0" dirty="0" err="1">
                <a:solidFill>
                  <a:srgbClr val="008000"/>
                </a:solidFill>
                <a:effectLst/>
                <a:latin typeface="Consolas" panose="020B0609020204030204" pitchFamily="49" charset="0"/>
              </a:rPr>
              <a:t>destructuring</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endParaRPr lang="en-IN" dirty="0"/>
          </a:p>
        </p:txBody>
      </p:sp>
      <p:sp>
        <p:nvSpPr>
          <p:cNvPr id="11" name="TextBox 10">
            <a:extLst>
              <a:ext uri="{FF2B5EF4-FFF2-40B4-BE49-F238E27FC236}">
                <a16:creationId xmlns:a16="http://schemas.microsoft.com/office/drawing/2014/main" id="{8A2BB463-C387-4418-975A-41B57AF05F11}"/>
              </a:ext>
            </a:extLst>
          </p:cNvPr>
          <p:cNvSpPr txBox="1"/>
          <p:nvPr/>
        </p:nvSpPr>
        <p:spPr>
          <a:xfrm>
            <a:off x="6037008" y="1417711"/>
            <a:ext cx="5987844" cy="4524315"/>
          </a:xfrm>
          <a:prstGeom prst="rect">
            <a:avLst/>
          </a:prstGeom>
          <a:noFill/>
        </p:spPr>
        <p:txBody>
          <a:bodyPr wrap="square">
            <a:spAutoFit/>
          </a:bodyPr>
          <a:lstStyle/>
          <a:p>
            <a:r>
              <a:rPr lang="en-US" dirty="0"/>
              <a:t>In this example, type and name are initialized with values when declared, and</a:t>
            </a:r>
          </a:p>
          <a:p>
            <a:endParaRPr lang="en-US" dirty="0"/>
          </a:p>
          <a:p>
            <a:r>
              <a:rPr lang="en-US" dirty="0"/>
              <a:t> then two variables with the same names are initialized with different values.</a:t>
            </a:r>
          </a:p>
          <a:p>
            <a:endParaRPr lang="en-US" dirty="0"/>
          </a:p>
          <a:p>
            <a:r>
              <a:rPr lang="en-US" dirty="0"/>
              <a:t> The next line uses </a:t>
            </a:r>
            <a:r>
              <a:rPr lang="en-US" dirty="0" err="1"/>
              <a:t>destructuring</a:t>
            </a:r>
            <a:r>
              <a:rPr lang="en-US" dirty="0"/>
              <a:t> assignment to change those values by reading from the node object. </a:t>
            </a:r>
          </a:p>
          <a:p>
            <a:endParaRPr lang="en-US" dirty="0"/>
          </a:p>
          <a:p>
            <a:r>
              <a:rPr lang="en-US" dirty="0"/>
              <a:t>Note that you must put parentheses around a </a:t>
            </a:r>
            <a:r>
              <a:rPr lang="en-US" dirty="0" err="1"/>
              <a:t>destructuring</a:t>
            </a:r>
            <a:r>
              <a:rPr lang="en-US" dirty="0"/>
              <a:t> assignment statement. That’s because an </a:t>
            </a:r>
            <a:r>
              <a:rPr lang="en-US" dirty="0">
                <a:highlight>
                  <a:srgbClr val="FFFF00"/>
                </a:highlight>
              </a:rPr>
              <a:t>opening curly brace is expected to a be a block statement, and a block statement cannot appear on the left side of an assignment. The parentheses signal that the next curly brace is not a block </a:t>
            </a:r>
            <a:r>
              <a:rPr lang="en-US" dirty="0"/>
              <a:t>statement and should be interpreted as an expression, allowing the assignment to complete.</a:t>
            </a:r>
            <a:endParaRPr lang="en-IN" dirty="0"/>
          </a:p>
        </p:txBody>
      </p:sp>
    </p:spTree>
    <p:extLst>
      <p:ext uri="{BB962C8B-B14F-4D97-AF65-F5344CB8AC3E}">
        <p14:creationId xmlns:p14="http://schemas.microsoft.com/office/powerpoint/2010/main" val="411153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6612B1-1E05-4BC3-B726-240593CA4B9C}"/>
              </a:ext>
            </a:extLst>
          </p:cNvPr>
          <p:cNvSpPr txBox="1"/>
          <p:nvPr/>
        </p:nvSpPr>
        <p:spPr>
          <a:xfrm>
            <a:off x="1297859" y="446971"/>
            <a:ext cx="10717160" cy="923330"/>
          </a:xfrm>
          <a:prstGeom prst="rect">
            <a:avLst/>
          </a:prstGeom>
          <a:noFill/>
        </p:spPr>
        <p:txBody>
          <a:bodyPr wrap="square">
            <a:spAutoFit/>
          </a:bodyPr>
          <a:lstStyle/>
          <a:p>
            <a:r>
              <a:rPr lang="en-US" dirty="0"/>
              <a:t>A </a:t>
            </a:r>
            <a:r>
              <a:rPr lang="en-US" dirty="0" err="1"/>
              <a:t>destructuring</a:t>
            </a:r>
            <a:r>
              <a:rPr lang="en-US" dirty="0"/>
              <a:t> assignment expression evaluates to the right side of the expression (after the =). That means you can use a </a:t>
            </a:r>
            <a:r>
              <a:rPr lang="en-US" dirty="0" err="1"/>
              <a:t>destructuring</a:t>
            </a:r>
            <a:r>
              <a:rPr lang="en-US" dirty="0"/>
              <a:t> assignment expression anywhere a value is expected. For instance, passing a value to a function:</a:t>
            </a:r>
            <a:endParaRPr lang="en-IN" dirty="0"/>
          </a:p>
        </p:txBody>
      </p:sp>
      <p:sp>
        <p:nvSpPr>
          <p:cNvPr id="9" name="TextBox 8">
            <a:extLst>
              <a:ext uri="{FF2B5EF4-FFF2-40B4-BE49-F238E27FC236}">
                <a16:creationId xmlns:a16="http://schemas.microsoft.com/office/drawing/2014/main" id="{009EF384-4DF5-46E0-A789-EA81FEB6A167}"/>
              </a:ext>
            </a:extLst>
          </p:cNvPr>
          <p:cNvSpPr txBox="1"/>
          <p:nvPr/>
        </p:nvSpPr>
        <p:spPr>
          <a:xfrm>
            <a:off x="363795" y="1714142"/>
            <a:ext cx="6135328" cy="4524315"/>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795E26"/>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true</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DCAD1C8B-0D7E-4B42-9217-E70540FCFDB0}"/>
              </a:ext>
            </a:extLst>
          </p:cNvPr>
          <p:cNvSpPr txBox="1"/>
          <p:nvPr/>
        </p:nvSpPr>
        <p:spPr>
          <a:xfrm>
            <a:off x="6096000" y="1828232"/>
            <a:ext cx="5624052" cy="3693319"/>
          </a:xfrm>
          <a:prstGeom prst="rect">
            <a:avLst/>
          </a:prstGeom>
          <a:noFill/>
        </p:spPr>
        <p:txBody>
          <a:bodyPr wrap="square">
            <a:spAutoFit/>
          </a:bodyPr>
          <a:lstStyle/>
          <a:p>
            <a:r>
              <a:rPr lang="en-US" dirty="0"/>
              <a:t>The </a:t>
            </a:r>
            <a:r>
              <a:rPr lang="en-US" dirty="0" err="1"/>
              <a:t>outputInfo</a:t>
            </a:r>
            <a:r>
              <a:rPr lang="en-US" dirty="0"/>
              <a:t>() function is called with a </a:t>
            </a:r>
            <a:r>
              <a:rPr lang="en-US" dirty="0" err="1"/>
              <a:t>destructuring</a:t>
            </a:r>
            <a:r>
              <a:rPr lang="en-US" dirty="0"/>
              <a:t> assignment expression. The expression evaluates to node because that is the value of the right side of the expression. The assignment to type and name both behave as normal and node is passed into </a:t>
            </a:r>
            <a:r>
              <a:rPr lang="en-US" dirty="0" err="1"/>
              <a:t>outputInfo</a:t>
            </a:r>
            <a:r>
              <a:rPr lang="en-US" dirty="0"/>
              <a:t>().</a:t>
            </a:r>
          </a:p>
          <a:p>
            <a:endParaRPr lang="en-US" dirty="0"/>
          </a:p>
          <a:p>
            <a:endParaRPr lang="en-US" dirty="0"/>
          </a:p>
          <a:p>
            <a:r>
              <a:rPr lang="en-US" b="1" dirty="0"/>
              <a:t>Note:</a:t>
            </a:r>
          </a:p>
          <a:p>
            <a:r>
              <a:rPr lang="en-US" dirty="0"/>
              <a:t>An error is thrown when the right side of the </a:t>
            </a:r>
            <a:r>
              <a:rPr lang="en-US" dirty="0" err="1"/>
              <a:t>destructuring</a:t>
            </a:r>
            <a:r>
              <a:rPr lang="en-US" dirty="0"/>
              <a:t> assignment expression (the expression after =) evaluates to null or undefined. This happens because any attempt to read a property of null or undefined results in a runtime error.</a:t>
            </a:r>
            <a:endParaRPr lang="en-IN" dirty="0"/>
          </a:p>
        </p:txBody>
      </p:sp>
      <p:cxnSp>
        <p:nvCxnSpPr>
          <p:cNvPr id="3" name="Straight Arrow Connector 2">
            <a:extLst>
              <a:ext uri="{FF2B5EF4-FFF2-40B4-BE49-F238E27FC236}">
                <a16:creationId xmlns:a16="http://schemas.microsoft.com/office/drawing/2014/main" id="{C020DC89-A39D-4385-8BD5-E3FE68176590}"/>
              </a:ext>
            </a:extLst>
          </p:cNvPr>
          <p:cNvCxnSpPr/>
          <p:nvPr/>
        </p:nvCxnSpPr>
        <p:spPr>
          <a:xfrm flipH="1" flipV="1">
            <a:off x="3421626" y="4198374"/>
            <a:ext cx="766916"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DD926B3-FC92-48CC-839E-720F65E58EBA}"/>
              </a:ext>
            </a:extLst>
          </p:cNvPr>
          <p:cNvSpPr/>
          <p:nvPr/>
        </p:nvSpPr>
        <p:spPr>
          <a:xfrm>
            <a:off x="3962401" y="1003623"/>
            <a:ext cx="2222088" cy="13611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4" name="TextBox 3">
            <a:extLst>
              <a:ext uri="{FF2B5EF4-FFF2-40B4-BE49-F238E27FC236}">
                <a16:creationId xmlns:a16="http://schemas.microsoft.com/office/drawing/2014/main" id="{9C118F78-82C6-4B70-B496-73873CFD0E91}"/>
              </a:ext>
            </a:extLst>
          </p:cNvPr>
          <p:cNvSpPr txBox="1"/>
          <p:nvPr/>
        </p:nvSpPr>
        <p:spPr>
          <a:xfrm>
            <a:off x="4345858" y="3059668"/>
            <a:ext cx="727587"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a:t>node</a:t>
            </a:r>
            <a:endParaRPr lang="en-IN" dirty="0"/>
          </a:p>
        </p:txBody>
      </p:sp>
      <p:cxnSp>
        <p:nvCxnSpPr>
          <p:cNvPr id="8" name="Straight Arrow Connector 7">
            <a:extLst>
              <a:ext uri="{FF2B5EF4-FFF2-40B4-BE49-F238E27FC236}">
                <a16:creationId xmlns:a16="http://schemas.microsoft.com/office/drawing/2014/main" id="{76AC3A05-E199-4A54-A550-636CC2585AED}"/>
              </a:ext>
            </a:extLst>
          </p:cNvPr>
          <p:cNvCxnSpPr/>
          <p:nvPr/>
        </p:nvCxnSpPr>
        <p:spPr>
          <a:xfrm flipV="1">
            <a:off x="4984956" y="2536723"/>
            <a:ext cx="206476" cy="4738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64A8723-5B7C-471C-B51D-05DD334B05E1}"/>
              </a:ext>
            </a:extLst>
          </p:cNvPr>
          <p:cNvSpPr txBox="1"/>
          <p:nvPr/>
        </p:nvSpPr>
        <p:spPr>
          <a:xfrm>
            <a:off x="5201264" y="2985046"/>
            <a:ext cx="727587"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a:t>value</a:t>
            </a:r>
            <a:endParaRPr lang="en-IN" dirty="0"/>
          </a:p>
        </p:txBody>
      </p:sp>
      <p:cxnSp>
        <p:nvCxnSpPr>
          <p:cNvPr id="13" name="Straight Arrow Connector 12">
            <a:extLst>
              <a:ext uri="{FF2B5EF4-FFF2-40B4-BE49-F238E27FC236}">
                <a16:creationId xmlns:a16="http://schemas.microsoft.com/office/drawing/2014/main" id="{72557D7C-F735-4C79-BFF7-F01836E7591E}"/>
              </a:ext>
            </a:extLst>
          </p:cNvPr>
          <p:cNvCxnSpPr>
            <a:cxnSpLocks/>
          </p:cNvCxnSpPr>
          <p:nvPr/>
        </p:nvCxnSpPr>
        <p:spPr>
          <a:xfrm flipH="1" flipV="1">
            <a:off x="5358581" y="2536723"/>
            <a:ext cx="181897" cy="3719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BEBDD5-33F5-48AD-A80D-83BFA0A80CD4}"/>
              </a:ext>
            </a:extLst>
          </p:cNvPr>
          <p:cNvSpPr txBox="1"/>
          <p:nvPr/>
        </p:nvSpPr>
        <p:spPr>
          <a:xfrm>
            <a:off x="7167717" y="5794816"/>
            <a:ext cx="1494502"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solidFill>
                  <a:srgbClr val="001080"/>
                </a:solidFill>
                <a:latin typeface="Consolas" panose="020B0609020204030204" pitchFamily="49" charset="0"/>
              </a:rPr>
              <a:t>“Literal”</a:t>
            </a:r>
            <a:endParaRPr lang="en-IN" dirty="0"/>
          </a:p>
        </p:txBody>
      </p:sp>
      <p:sp>
        <p:nvSpPr>
          <p:cNvPr id="15" name="TextBox 14">
            <a:extLst>
              <a:ext uri="{FF2B5EF4-FFF2-40B4-BE49-F238E27FC236}">
                <a16:creationId xmlns:a16="http://schemas.microsoft.com/office/drawing/2014/main" id="{F141C54E-96B0-4675-B78F-7BCAF6BCAA06}"/>
              </a:ext>
            </a:extLst>
          </p:cNvPr>
          <p:cNvSpPr txBox="1"/>
          <p:nvPr/>
        </p:nvSpPr>
        <p:spPr>
          <a:xfrm>
            <a:off x="7010401" y="5473518"/>
            <a:ext cx="688257" cy="369332"/>
          </a:xfrm>
          <a:prstGeom prst="rect">
            <a:avLst/>
          </a:prstGeom>
          <a:noFill/>
        </p:spPr>
        <p:txBody>
          <a:bodyPr wrap="square">
            <a:spAutoFit/>
          </a:bodyPr>
          <a:lstStyle/>
          <a:p>
            <a:r>
              <a:rPr lang="en-IN" dirty="0">
                <a:solidFill>
                  <a:srgbClr val="001080"/>
                </a:solidFill>
                <a:latin typeface="Consolas" panose="020B0609020204030204" pitchFamily="49" charset="0"/>
              </a:rPr>
              <a:t>t</a:t>
            </a:r>
            <a:r>
              <a:rPr lang="en-IN" b="0" dirty="0">
                <a:solidFill>
                  <a:srgbClr val="001080"/>
                </a:solidFill>
                <a:effectLst/>
                <a:latin typeface="Consolas" panose="020B0609020204030204" pitchFamily="49" charset="0"/>
              </a:rPr>
              <a:t>ype</a:t>
            </a:r>
          </a:p>
        </p:txBody>
      </p:sp>
    </p:spTree>
    <p:extLst>
      <p:ext uri="{BB962C8B-B14F-4D97-AF65-F5344CB8AC3E}">
        <p14:creationId xmlns:p14="http://schemas.microsoft.com/office/powerpoint/2010/main" val="39845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F83E14-D7C5-3AF5-6BA7-DED951CC7163}"/>
              </a:ext>
            </a:extLst>
          </p:cNvPr>
          <p:cNvSpPr txBox="1"/>
          <p:nvPr/>
        </p:nvSpPr>
        <p:spPr>
          <a:xfrm>
            <a:off x="842342" y="1643921"/>
            <a:ext cx="6137412" cy="4524315"/>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'use strict'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node = {</a:t>
            </a:r>
          </a:p>
          <a:p>
            <a:r>
              <a:rPr lang="en-IN" b="0" dirty="0">
                <a:solidFill>
                  <a:srgbClr val="000000"/>
                </a:solidFill>
                <a:effectLst/>
                <a:latin typeface="Consolas" panose="020B0609020204030204" pitchFamily="49" charset="0"/>
              </a:rPr>
              <a:t>    type: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name: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type = </a:t>
            </a:r>
            <a:r>
              <a:rPr lang="en-IN" b="0" dirty="0">
                <a:solidFill>
                  <a:srgbClr val="A31515"/>
                </a:solidFill>
                <a:effectLst/>
                <a:latin typeface="Consolas" panose="020B0609020204030204" pitchFamily="49" charset="0"/>
              </a:rPr>
              <a:t>"Literal"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name = </a:t>
            </a:r>
            <a:r>
              <a:rPr lang="en-IN" b="0" dirty="0">
                <a:solidFill>
                  <a:srgbClr val="098658"/>
                </a:solidFill>
                <a:effectLst/>
                <a:latin typeface="Consolas" panose="020B0609020204030204" pitchFamily="49" charset="0"/>
              </a:rPr>
              <a:t>5</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a:t>
            </a:r>
            <a:r>
              <a:rPr lang="en-IN" b="0" dirty="0">
                <a:solidFill>
                  <a:srgbClr val="000000"/>
                </a:solidFill>
                <a:effectLst/>
                <a:highlight>
                  <a:srgbClr val="FFFF00"/>
                </a:highlight>
                <a:latin typeface="Consolas" panose="020B0609020204030204" pitchFamily="49" charset="0"/>
              </a:rPr>
              <a:t>{</a:t>
            </a:r>
            <a:r>
              <a:rPr lang="en-IN" b="0" dirty="0" err="1">
                <a:solidFill>
                  <a:srgbClr val="000000"/>
                </a:solidFill>
                <a:effectLst/>
                <a:highlight>
                  <a:srgbClr val="FFFF00"/>
                </a:highlight>
                <a:latin typeface="Consolas" panose="020B0609020204030204" pitchFamily="49" charset="0"/>
              </a:rPr>
              <a:t>type,name</a:t>
            </a:r>
            <a:r>
              <a:rPr lang="en-IN" b="0" dirty="0">
                <a:solidFill>
                  <a:srgbClr val="000000"/>
                </a:solidFill>
                <a:effectLst/>
                <a:highlight>
                  <a:srgbClr val="FFFF00"/>
                </a:highlight>
                <a:latin typeface="Consolas" panose="020B0609020204030204" pitchFamily="49" charset="0"/>
              </a:rPr>
              <a: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console.log(type);</a:t>
            </a:r>
            <a:r>
              <a:rPr lang="en-IN" b="0" dirty="0">
                <a:solidFill>
                  <a:srgbClr val="008000"/>
                </a:solidFill>
                <a:effectLst/>
                <a:latin typeface="Consolas" panose="020B0609020204030204" pitchFamily="49" charset="0"/>
              </a:rPr>
              <a:t>//Identifier</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console.log(name);</a:t>
            </a:r>
            <a:r>
              <a:rPr lang="en-IN" b="0" dirty="0">
                <a:solidFill>
                  <a:srgbClr val="008000"/>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outputInfo</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console.log(type);</a:t>
            </a:r>
            <a:r>
              <a:rPr lang="en-IN" b="0" dirty="0">
                <a:solidFill>
                  <a:srgbClr val="008000"/>
                </a:solidFill>
                <a:effectLst/>
                <a:latin typeface="Consolas" panose="020B0609020204030204" pitchFamily="49" charset="0"/>
              </a:rPr>
              <a:t>// "Literal"</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console.log(name);</a:t>
            </a:r>
            <a:r>
              <a:rPr lang="en-IN" b="0" dirty="0">
                <a:solidFill>
                  <a:srgbClr val="008000"/>
                </a:solidFill>
                <a:effectLst/>
                <a:latin typeface="Consolas" panose="020B0609020204030204" pitchFamily="49" charset="0"/>
              </a:rPr>
              <a:t>// 5</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030B06B-D3C9-05A6-EAEE-24D188DA0852}"/>
              </a:ext>
            </a:extLst>
          </p:cNvPr>
          <p:cNvSpPr txBox="1"/>
          <p:nvPr/>
        </p:nvSpPr>
        <p:spPr>
          <a:xfrm>
            <a:off x="2233820" y="183081"/>
            <a:ext cx="6137412" cy="369332"/>
          </a:xfrm>
          <a:prstGeom prst="rect">
            <a:avLst/>
          </a:prstGeom>
          <a:noFill/>
        </p:spPr>
        <p:txBody>
          <a:bodyPr wrap="square">
            <a:spAutoFit/>
          </a:bodyPr>
          <a:lstStyle/>
          <a:p>
            <a:pPr algn="ctr"/>
            <a:r>
              <a:rPr lang="en-IN" b="1" dirty="0"/>
              <a:t>Object </a:t>
            </a:r>
            <a:r>
              <a:rPr lang="en-IN" b="1" dirty="0" err="1"/>
              <a:t>Destructuring</a:t>
            </a:r>
            <a:r>
              <a:rPr lang="en-IN" b="1" dirty="0"/>
              <a:t> in method </a:t>
            </a:r>
            <a:r>
              <a:rPr lang="en-IN" b="1" dirty="0" err="1"/>
              <a:t>defination</a:t>
            </a:r>
            <a:endParaRPr lang="en-IN" b="1" dirty="0"/>
          </a:p>
        </p:txBody>
      </p:sp>
    </p:spTree>
    <p:extLst>
      <p:ext uri="{BB962C8B-B14F-4D97-AF65-F5344CB8AC3E}">
        <p14:creationId xmlns:p14="http://schemas.microsoft.com/office/powerpoint/2010/main" val="894876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7FAEA1-4EF4-4382-894B-16820C593112}"/>
              </a:ext>
            </a:extLst>
          </p:cNvPr>
          <p:cNvSpPr txBox="1"/>
          <p:nvPr/>
        </p:nvSpPr>
        <p:spPr>
          <a:xfrm>
            <a:off x="2300749" y="115218"/>
            <a:ext cx="6135328" cy="369332"/>
          </a:xfrm>
          <a:prstGeom prst="rect">
            <a:avLst/>
          </a:prstGeom>
          <a:noFill/>
        </p:spPr>
        <p:txBody>
          <a:bodyPr wrap="square">
            <a:spAutoFit/>
          </a:bodyPr>
          <a:lstStyle/>
          <a:p>
            <a:pPr algn="l" fontAlgn="base"/>
            <a:r>
              <a:rPr lang="en-IN" b="1" i="0" dirty="0">
                <a:solidFill>
                  <a:srgbClr val="000000"/>
                </a:solidFill>
                <a:effectLst/>
                <a:latin typeface="Noto Sans"/>
              </a:rPr>
              <a:t>Default Values</a:t>
            </a:r>
          </a:p>
        </p:txBody>
      </p:sp>
      <p:sp>
        <p:nvSpPr>
          <p:cNvPr id="7" name="TextBox 6">
            <a:extLst>
              <a:ext uri="{FF2B5EF4-FFF2-40B4-BE49-F238E27FC236}">
                <a16:creationId xmlns:a16="http://schemas.microsoft.com/office/drawing/2014/main" id="{D1BD35E8-E8E7-461D-8958-70A5563FFC62}"/>
              </a:ext>
            </a:extLst>
          </p:cNvPr>
          <p:cNvSpPr txBox="1"/>
          <p:nvPr/>
        </p:nvSpPr>
        <p:spPr>
          <a:xfrm>
            <a:off x="285136" y="761604"/>
            <a:ext cx="11287432" cy="646331"/>
          </a:xfrm>
          <a:prstGeom prst="rect">
            <a:avLst/>
          </a:prstGeom>
          <a:noFill/>
        </p:spPr>
        <p:txBody>
          <a:bodyPr wrap="square">
            <a:spAutoFit/>
          </a:bodyPr>
          <a:lstStyle/>
          <a:p>
            <a:r>
              <a:rPr lang="en-US" dirty="0"/>
              <a:t>When you use a </a:t>
            </a:r>
            <a:r>
              <a:rPr lang="en-US" dirty="0" err="1"/>
              <a:t>destructuring</a:t>
            </a:r>
            <a:r>
              <a:rPr lang="en-US" dirty="0"/>
              <a:t> assignment statement, if you specify a local variable with a property name that doesn’t exist on the object, then that local variable is assigned a value of undefined. For example:</a:t>
            </a:r>
            <a:endParaRPr lang="en-IN" dirty="0"/>
          </a:p>
        </p:txBody>
      </p:sp>
      <p:sp>
        <p:nvSpPr>
          <p:cNvPr id="9" name="TextBox 8">
            <a:extLst>
              <a:ext uri="{FF2B5EF4-FFF2-40B4-BE49-F238E27FC236}">
                <a16:creationId xmlns:a16="http://schemas.microsoft.com/office/drawing/2014/main" id="{F4BD9ADA-E6C9-4B96-BD70-C9A54721C285}"/>
              </a:ext>
            </a:extLst>
          </p:cNvPr>
          <p:cNvSpPr txBox="1"/>
          <p:nvPr/>
        </p:nvSpPr>
        <p:spPr>
          <a:xfrm>
            <a:off x="231061" y="1407935"/>
            <a:ext cx="5171767" cy="2585323"/>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undefined</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76887659-977B-4CF4-86EB-E394A67A1176}"/>
              </a:ext>
            </a:extLst>
          </p:cNvPr>
          <p:cNvSpPr txBox="1"/>
          <p:nvPr/>
        </p:nvSpPr>
        <p:spPr>
          <a:xfrm>
            <a:off x="0" y="3916912"/>
            <a:ext cx="5437238" cy="1477328"/>
          </a:xfrm>
          <a:prstGeom prst="rect">
            <a:avLst/>
          </a:prstGeom>
          <a:noFill/>
        </p:spPr>
        <p:txBody>
          <a:bodyPr wrap="square">
            <a:spAutoFit/>
          </a:bodyPr>
          <a:lstStyle/>
          <a:p>
            <a:r>
              <a:rPr lang="en-US" dirty="0"/>
              <a:t>This code defines an additional local variable called value and attempts to assign it a value. However, there is no corresponding value property on the node object, so the variable is assigned the value of undefined as expected.</a:t>
            </a:r>
          </a:p>
        </p:txBody>
      </p:sp>
      <p:sp>
        <p:nvSpPr>
          <p:cNvPr id="13" name="TextBox 12">
            <a:extLst>
              <a:ext uri="{FF2B5EF4-FFF2-40B4-BE49-F238E27FC236}">
                <a16:creationId xmlns:a16="http://schemas.microsoft.com/office/drawing/2014/main" id="{7E904FB3-3D9D-4FB4-BC07-4319CB805813}"/>
              </a:ext>
            </a:extLst>
          </p:cNvPr>
          <p:cNvSpPr txBox="1"/>
          <p:nvPr/>
        </p:nvSpPr>
        <p:spPr>
          <a:xfrm>
            <a:off x="5928852" y="1407935"/>
            <a:ext cx="6135328" cy="1477328"/>
          </a:xfrm>
          <a:prstGeom prst="rect">
            <a:avLst/>
          </a:prstGeom>
          <a:noFill/>
        </p:spPr>
        <p:txBody>
          <a:bodyPr wrap="square">
            <a:spAutoFit/>
          </a:bodyPr>
          <a:lstStyle/>
          <a:p>
            <a:endParaRPr lang="en-US" dirty="0"/>
          </a:p>
          <a:p>
            <a:r>
              <a:rPr lang="en-US" dirty="0"/>
              <a:t>You can optionally define a default value to use when a specified property doesn’t exist. To do so, insert an equals sign (=) after the property name and specify the default value, like this:</a:t>
            </a:r>
          </a:p>
        </p:txBody>
      </p:sp>
      <p:sp>
        <p:nvSpPr>
          <p:cNvPr id="15" name="TextBox 14">
            <a:extLst>
              <a:ext uri="{FF2B5EF4-FFF2-40B4-BE49-F238E27FC236}">
                <a16:creationId xmlns:a16="http://schemas.microsoft.com/office/drawing/2014/main" id="{639648EF-71C1-4088-8F96-8FB83DAA36A6}"/>
              </a:ext>
            </a:extLst>
          </p:cNvPr>
          <p:cNvSpPr txBox="1"/>
          <p:nvPr/>
        </p:nvSpPr>
        <p:spPr>
          <a:xfrm>
            <a:off x="6194323" y="3429000"/>
            <a:ext cx="6135328" cy="1754326"/>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true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"foo"</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value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true</a:t>
            </a:r>
            <a:endParaRPr lang="en-IN"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354D9DDC-7AEB-4649-AB23-A802A901B05B}"/>
              </a:ext>
            </a:extLst>
          </p:cNvPr>
          <p:cNvSpPr txBox="1"/>
          <p:nvPr/>
        </p:nvSpPr>
        <p:spPr>
          <a:xfrm>
            <a:off x="1676402" y="5450065"/>
            <a:ext cx="7959212" cy="1200329"/>
          </a:xfrm>
          <a:prstGeom prst="rect">
            <a:avLst/>
          </a:prstGeom>
          <a:noFill/>
        </p:spPr>
        <p:txBody>
          <a:bodyPr wrap="square">
            <a:spAutoFit/>
          </a:bodyPr>
          <a:lstStyle/>
          <a:p>
            <a:r>
              <a:rPr lang="en-US" dirty="0"/>
              <a:t>In this example, the variable value is given true as a default value. The default value is only used if the property is missing on node or has a value of undefined. Since there is no </a:t>
            </a:r>
            <a:r>
              <a:rPr lang="en-US" dirty="0" err="1"/>
              <a:t>node.value</a:t>
            </a:r>
            <a:r>
              <a:rPr lang="en-US" dirty="0"/>
              <a:t> property, the variable value uses the default value. This works similarly to </a:t>
            </a:r>
            <a:r>
              <a:rPr lang="en-US" dirty="0">
                <a:highlight>
                  <a:srgbClr val="FFFF00"/>
                </a:highlight>
              </a:rPr>
              <a:t>the default parameter values for functions</a:t>
            </a:r>
            <a:r>
              <a:rPr lang="en-US" dirty="0"/>
              <a:t>,</a:t>
            </a:r>
            <a:endParaRPr lang="en-IN" dirty="0"/>
          </a:p>
        </p:txBody>
      </p:sp>
    </p:spTree>
    <p:extLst>
      <p:ext uri="{BB962C8B-B14F-4D97-AF65-F5344CB8AC3E}">
        <p14:creationId xmlns:p14="http://schemas.microsoft.com/office/powerpoint/2010/main" val="1797747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69492C-F389-44C4-AFAC-79C485278F67}"/>
              </a:ext>
            </a:extLst>
          </p:cNvPr>
          <p:cNvSpPr txBox="1"/>
          <p:nvPr/>
        </p:nvSpPr>
        <p:spPr>
          <a:xfrm>
            <a:off x="1750142" y="233205"/>
            <a:ext cx="6135328" cy="369332"/>
          </a:xfrm>
          <a:prstGeom prst="rect">
            <a:avLst/>
          </a:prstGeom>
          <a:noFill/>
        </p:spPr>
        <p:txBody>
          <a:bodyPr wrap="square">
            <a:spAutoFit/>
          </a:bodyPr>
          <a:lstStyle/>
          <a:p>
            <a:pPr algn="l" fontAlgn="base"/>
            <a:r>
              <a:rPr lang="en-US" b="1" i="0" dirty="0">
                <a:solidFill>
                  <a:srgbClr val="000000"/>
                </a:solidFill>
                <a:effectLst/>
                <a:latin typeface="Noto Sans"/>
              </a:rPr>
              <a:t>Assigning to Different Local Variable Names</a:t>
            </a:r>
          </a:p>
        </p:txBody>
      </p:sp>
      <p:sp>
        <p:nvSpPr>
          <p:cNvPr id="7" name="TextBox 6">
            <a:extLst>
              <a:ext uri="{FF2B5EF4-FFF2-40B4-BE49-F238E27FC236}">
                <a16:creationId xmlns:a16="http://schemas.microsoft.com/office/drawing/2014/main" id="{11264B8F-FABC-4473-9FDD-DFB297FBFFFC}"/>
              </a:ext>
            </a:extLst>
          </p:cNvPr>
          <p:cNvSpPr txBox="1"/>
          <p:nvPr/>
        </p:nvSpPr>
        <p:spPr>
          <a:xfrm>
            <a:off x="196646" y="602537"/>
            <a:ext cx="11995354" cy="1200329"/>
          </a:xfrm>
          <a:prstGeom prst="rect">
            <a:avLst/>
          </a:prstGeom>
          <a:noFill/>
        </p:spPr>
        <p:txBody>
          <a:bodyPr wrap="square">
            <a:spAutoFit/>
          </a:bodyPr>
          <a:lstStyle/>
          <a:p>
            <a:r>
              <a:rPr lang="en-US" dirty="0"/>
              <a:t>Up to this point, each example de structuring assignment has used the object property name as the local variable name; for example, the value of </a:t>
            </a:r>
            <a:r>
              <a:rPr lang="en-US" dirty="0" err="1"/>
              <a:t>node.type</a:t>
            </a:r>
            <a:r>
              <a:rPr lang="en-US" dirty="0"/>
              <a:t> was stored in a type variable. That works well when you want to use the same name, but what if you don’t? ECMAScript 6 has an extended syntax that allows you to assign to a local variable with a different name, and that syntax looks like the object literal non shorthand property initializer syntax. Here’s an example:</a:t>
            </a:r>
            <a:endParaRPr lang="en-IN" dirty="0"/>
          </a:p>
        </p:txBody>
      </p:sp>
      <p:sp>
        <p:nvSpPr>
          <p:cNvPr id="9" name="TextBox 8">
            <a:extLst>
              <a:ext uri="{FF2B5EF4-FFF2-40B4-BE49-F238E27FC236}">
                <a16:creationId xmlns:a16="http://schemas.microsoft.com/office/drawing/2014/main" id="{CE9C4E31-2AD8-49C0-A3F8-73CD9EF78C14}"/>
              </a:ext>
            </a:extLst>
          </p:cNvPr>
          <p:cNvSpPr txBox="1"/>
          <p:nvPr/>
        </p:nvSpPr>
        <p:spPr>
          <a:xfrm>
            <a:off x="196646" y="1739456"/>
            <a:ext cx="6179574" cy="3416320"/>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"foo"</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9CDCFE"/>
                </a:solidFill>
                <a:effectLst/>
                <a:latin typeface="Consolas" panose="020B0609020204030204" pitchFamily="49" charset="0"/>
              </a:rPr>
              <a:t>type</a:t>
            </a:r>
            <a:r>
              <a:rPr lang="en-IN" b="0" dirty="0">
                <a:solidFill>
                  <a:srgbClr val="D4D4D4"/>
                </a:solidFill>
                <a:effectLst/>
                <a:latin typeface="Consolas" panose="020B0609020204030204" pitchFamily="49" charset="0"/>
              </a:rPr>
              <a:t>); //err</a:t>
            </a: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62F6B1F0-37AD-48DF-87C1-FDC032153AD6}"/>
              </a:ext>
            </a:extLst>
          </p:cNvPr>
          <p:cNvSpPr txBox="1"/>
          <p:nvPr/>
        </p:nvSpPr>
        <p:spPr>
          <a:xfrm>
            <a:off x="196646" y="5055135"/>
            <a:ext cx="11572567" cy="1477328"/>
          </a:xfrm>
          <a:prstGeom prst="rect">
            <a:avLst/>
          </a:prstGeom>
          <a:noFill/>
        </p:spPr>
        <p:txBody>
          <a:bodyPr wrap="square">
            <a:spAutoFit/>
          </a:bodyPr>
          <a:lstStyle/>
          <a:p>
            <a:r>
              <a:rPr lang="en-US" dirty="0"/>
              <a:t>This code uses </a:t>
            </a:r>
            <a:r>
              <a:rPr lang="en-US" dirty="0" err="1"/>
              <a:t>destructuring</a:t>
            </a:r>
            <a:r>
              <a:rPr lang="en-US" dirty="0"/>
              <a:t> assignment to declare the </a:t>
            </a:r>
            <a:r>
              <a:rPr lang="en-US" dirty="0" err="1"/>
              <a:t>localType</a:t>
            </a:r>
            <a:r>
              <a:rPr lang="en-US" dirty="0"/>
              <a:t> and </a:t>
            </a:r>
            <a:r>
              <a:rPr lang="en-US" dirty="0" err="1"/>
              <a:t>localName</a:t>
            </a:r>
            <a:r>
              <a:rPr lang="en-US" dirty="0"/>
              <a:t> variables, which contain the values from the </a:t>
            </a:r>
            <a:r>
              <a:rPr lang="en-US" dirty="0" err="1"/>
              <a:t>node.type</a:t>
            </a:r>
            <a:r>
              <a:rPr lang="en-US" dirty="0"/>
              <a:t> and node.name properties, respectively. The syntax type: </a:t>
            </a:r>
            <a:r>
              <a:rPr lang="en-US" dirty="0" err="1"/>
              <a:t>localType</a:t>
            </a:r>
            <a:r>
              <a:rPr lang="en-US" dirty="0"/>
              <a:t> says to read the property named type and store its value in the </a:t>
            </a:r>
            <a:r>
              <a:rPr lang="en-US" dirty="0" err="1"/>
              <a:t>localType</a:t>
            </a:r>
            <a:r>
              <a:rPr lang="en-US" dirty="0"/>
              <a:t> variable. This syntax is effectively the opposite of traditional object literal syntax, where the name is on the left of the colon and the value is on the right. In this case, the name is on the right of the colon and the location of the value to read is on the left.</a:t>
            </a:r>
            <a:endParaRPr lang="en-IN" dirty="0"/>
          </a:p>
        </p:txBody>
      </p:sp>
      <p:sp>
        <p:nvSpPr>
          <p:cNvPr id="2" name="Freeform: Shape 1">
            <a:extLst>
              <a:ext uri="{FF2B5EF4-FFF2-40B4-BE49-F238E27FC236}">
                <a16:creationId xmlns:a16="http://schemas.microsoft.com/office/drawing/2014/main" id="{CCBFA089-00B1-4AE9-BAE0-6C038786B5FC}"/>
              </a:ext>
            </a:extLst>
          </p:cNvPr>
          <p:cNvSpPr/>
          <p:nvPr/>
        </p:nvSpPr>
        <p:spPr>
          <a:xfrm>
            <a:off x="1337187" y="2810066"/>
            <a:ext cx="1002890" cy="405082"/>
          </a:xfrm>
          <a:custGeom>
            <a:avLst/>
            <a:gdLst>
              <a:gd name="connsiteX0" fmla="*/ 0 w 1002890"/>
              <a:gd name="connsiteY0" fmla="*/ 405082 h 405082"/>
              <a:gd name="connsiteX1" fmla="*/ 9832 w 1002890"/>
              <a:gd name="connsiteY1" fmla="*/ 326424 h 405082"/>
              <a:gd name="connsiteX2" fmla="*/ 29497 w 1002890"/>
              <a:gd name="connsiteY2" fmla="*/ 287095 h 405082"/>
              <a:gd name="connsiteX3" fmla="*/ 68826 w 1002890"/>
              <a:gd name="connsiteY3" fmla="*/ 188773 h 405082"/>
              <a:gd name="connsiteX4" fmla="*/ 78658 w 1002890"/>
              <a:gd name="connsiteY4" fmla="*/ 159276 h 405082"/>
              <a:gd name="connsiteX5" fmla="*/ 137652 w 1002890"/>
              <a:gd name="connsiteY5" fmla="*/ 110115 h 405082"/>
              <a:gd name="connsiteX6" fmla="*/ 167148 w 1002890"/>
              <a:gd name="connsiteY6" fmla="*/ 80618 h 405082"/>
              <a:gd name="connsiteX7" fmla="*/ 344129 w 1002890"/>
              <a:gd name="connsiteY7" fmla="*/ 21624 h 405082"/>
              <a:gd name="connsiteX8" fmla="*/ 373626 w 1002890"/>
              <a:gd name="connsiteY8" fmla="*/ 1960 h 405082"/>
              <a:gd name="connsiteX9" fmla="*/ 619432 w 1002890"/>
              <a:gd name="connsiteY9" fmla="*/ 21624 h 405082"/>
              <a:gd name="connsiteX10" fmla="*/ 707923 w 1002890"/>
              <a:gd name="connsiteY10" fmla="*/ 70786 h 405082"/>
              <a:gd name="connsiteX11" fmla="*/ 757084 w 1002890"/>
              <a:gd name="connsiteY11" fmla="*/ 90450 h 405082"/>
              <a:gd name="connsiteX12" fmla="*/ 786581 w 1002890"/>
              <a:gd name="connsiteY12" fmla="*/ 110115 h 405082"/>
              <a:gd name="connsiteX13" fmla="*/ 914400 w 1002890"/>
              <a:gd name="connsiteY13" fmla="*/ 218269 h 405082"/>
              <a:gd name="connsiteX14" fmla="*/ 963561 w 1002890"/>
              <a:gd name="connsiteY14" fmla="*/ 287095 h 405082"/>
              <a:gd name="connsiteX15" fmla="*/ 973394 w 1002890"/>
              <a:gd name="connsiteY15" fmla="*/ 316592 h 405082"/>
              <a:gd name="connsiteX16" fmla="*/ 1002890 w 1002890"/>
              <a:gd name="connsiteY16" fmla="*/ 346089 h 4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2890" h="405082">
                <a:moveTo>
                  <a:pt x="0" y="405082"/>
                </a:moveTo>
                <a:cubicBezTo>
                  <a:pt x="3277" y="378863"/>
                  <a:pt x="3423" y="352058"/>
                  <a:pt x="9832" y="326424"/>
                </a:cubicBezTo>
                <a:cubicBezTo>
                  <a:pt x="13387" y="312205"/>
                  <a:pt x="23723" y="300567"/>
                  <a:pt x="29497" y="287095"/>
                </a:cubicBezTo>
                <a:cubicBezTo>
                  <a:pt x="43402" y="254650"/>
                  <a:pt x="56155" y="221719"/>
                  <a:pt x="68826" y="188773"/>
                </a:cubicBezTo>
                <a:cubicBezTo>
                  <a:pt x="72547" y="179100"/>
                  <a:pt x="72909" y="167900"/>
                  <a:pt x="78658" y="159276"/>
                </a:cubicBezTo>
                <a:cubicBezTo>
                  <a:pt x="100203" y="126958"/>
                  <a:pt x="110444" y="132789"/>
                  <a:pt x="137652" y="110115"/>
                </a:cubicBezTo>
                <a:cubicBezTo>
                  <a:pt x="148334" y="101213"/>
                  <a:pt x="155306" y="87905"/>
                  <a:pt x="167148" y="80618"/>
                </a:cubicBezTo>
                <a:cubicBezTo>
                  <a:pt x="260407" y="23228"/>
                  <a:pt x="249805" y="33415"/>
                  <a:pt x="344129" y="21624"/>
                </a:cubicBezTo>
                <a:cubicBezTo>
                  <a:pt x="353961" y="15069"/>
                  <a:pt x="361820" y="2473"/>
                  <a:pt x="373626" y="1960"/>
                </a:cubicBezTo>
                <a:cubicBezTo>
                  <a:pt x="505056" y="-3754"/>
                  <a:pt x="526771" y="3092"/>
                  <a:pt x="619432" y="21624"/>
                </a:cubicBezTo>
                <a:cubicBezTo>
                  <a:pt x="654883" y="42894"/>
                  <a:pt x="671657" y="54668"/>
                  <a:pt x="707923" y="70786"/>
                </a:cubicBezTo>
                <a:cubicBezTo>
                  <a:pt x="724051" y="77954"/>
                  <a:pt x="741298" y="82557"/>
                  <a:pt x="757084" y="90450"/>
                </a:cubicBezTo>
                <a:cubicBezTo>
                  <a:pt x="767653" y="95735"/>
                  <a:pt x="777215" y="102910"/>
                  <a:pt x="786581" y="110115"/>
                </a:cubicBezTo>
                <a:cubicBezTo>
                  <a:pt x="881202" y="182901"/>
                  <a:pt x="860048" y="163919"/>
                  <a:pt x="914400" y="218269"/>
                </a:cubicBezTo>
                <a:cubicBezTo>
                  <a:pt x="936615" y="284915"/>
                  <a:pt x="905240" y="205447"/>
                  <a:pt x="963561" y="287095"/>
                </a:cubicBezTo>
                <a:cubicBezTo>
                  <a:pt x="969585" y="295529"/>
                  <a:pt x="967645" y="307968"/>
                  <a:pt x="973394" y="316592"/>
                </a:cubicBezTo>
                <a:cubicBezTo>
                  <a:pt x="981107" y="328162"/>
                  <a:pt x="1002890" y="346089"/>
                  <a:pt x="1002890" y="3460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DFA0798C-2535-4241-9A77-DCC844828D70}"/>
              </a:ext>
            </a:extLst>
          </p:cNvPr>
          <p:cNvSpPr/>
          <p:nvPr/>
        </p:nvSpPr>
        <p:spPr>
          <a:xfrm rot="9077448">
            <a:off x="2163097" y="2959510"/>
            <a:ext cx="226142" cy="22614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D29C701-9E56-4339-AE1D-BFCDE9EAEC77}"/>
              </a:ext>
            </a:extLst>
          </p:cNvPr>
          <p:cNvSpPr/>
          <p:nvPr/>
        </p:nvSpPr>
        <p:spPr>
          <a:xfrm>
            <a:off x="6587614" y="2597763"/>
            <a:ext cx="4542503" cy="14871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0" lang="en-US" altLang="en-US" b="0" i="0" u="none" strike="noStrike" cap="none" normalizeH="0" baseline="0" dirty="0">
                <a:ln>
                  <a:noFill/>
                </a:ln>
                <a:solidFill>
                  <a:srgbClr val="000000"/>
                </a:solidFill>
                <a:effectLst/>
                <a:latin typeface="Lucida Console" panose="020B0609040504020204" pitchFamily="49" charset="0"/>
              </a:rPr>
              <a:t>type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"Identifier"</a:t>
            </a:r>
            <a:r>
              <a:rPr kumimoji="0" lang="en-US" altLang="en-US" b="0" i="0" u="none" strike="noStrike" cap="none" normalizeH="0" baseline="0" dirty="0">
                <a:ln>
                  <a:noFill/>
                </a:ln>
                <a:solidFill>
                  <a:srgbClr val="000000"/>
                </a:solidFill>
                <a:effectLst/>
                <a:latin typeface="Lucida Console" panose="020B0609040504020204" pitchFamily="49" charset="0"/>
              </a:rPr>
              <a:t>, name</a:t>
            </a:r>
            <a:r>
              <a:rPr kumimoji="0" lang="en-US" altLang="en-US" b="0" i="0" u="none" strike="noStrike" cap="none" normalizeH="0" baseline="0" dirty="0">
                <a:ln>
                  <a:noFill/>
                </a:ln>
                <a:solidFill>
                  <a:srgbClr val="666666"/>
                </a:solidFill>
                <a:effectLst/>
                <a:latin typeface="Lucida Console" panose="020B0609040504020204" pitchFamily="49" charset="0"/>
              </a:rPr>
              <a:t>:</a:t>
            </a:r>
            <a:r>
              <a:rPr kumimoji="0" lang="en-US" altLang="en-US" b="0" i="0" u="none" strike="noStrike" cap="none" normalizeH="0" baseline="0" dirty="0">
                <a:ln>
                  <a:noFill/>
                </a:ln>
                <a:solidFill>
                  <a:srgbClr val="000000"/>
                </a:solidFill>
                <a:effectLst/>
                <a:latin typeface="Lucida Console" panose="020B0609040504020204" pitchFamily="49" charset="0"/>
              </a:rPr>
              <a:t> </a:t>
            </a:r>
            <a:r>
              <a:rPr kumimoji="0" lang="en-US" altLang="en-US" b="0" i="0" u="none" strike="noStrike" cap="none" normalizeH="0" baseline="0" dirty="0">
                <a:ln>
                  <a:noFill/>
                </a:ln>
                <a:solidFill>
                  <a:srgbClr val="BA2121"/>
                </a:solidFill>
                <a:effectLst/>
                <a:latin typeface="Lucida Console" panose="020B0609040504020204" pitchFamily="49" charset="0"/>
              </a:rPr>
              <a:t>"foo"</a:t>
            </a:r>
            <a:endParaRPr lang="en-IN" dirty="0"/>
          </a:p>
        </p:txBody>
      </p:sp>
      <p:sp>
        <p:nvSpPr>
          <p:cNvPr id="4" name="Freeform: Shape 3">
            <a:extLst>
              <a:ext uri="{FF2B5EF4-FFF2-40B4-BE49-F238E27FC236}">
                <a16:creationId xmlns:a16="http://schemas.microsoft.com/office/drawing/2014/main" id="{49534163-C077-4D84-AA2F-BDC623EAA1EE}"/>
              </a:ext>
            </a:extLst>
          </p:cNvPr>
          <p:cNvSpPr/>
          <p:nvPr/>
        </p:nvSpPr>
        <p:spPr>
          <a:xfrm>
            <a:off x="1267801" y="3549445"/>
            <a:ext cx="6617669" cy="996054"/>
          </a:xfrm>
          <a:custGeom>
            <a:avLst/>
            <a:gdLst>
              <a:gd name="connsiteX0" fmla="*/ 6627502 w 6666831"/>
              <a:gd name="connsiteY0" fmla="*/ 0 h 1123873"/>
              <a:gd name="connsiteX1" fmla="*/ 6647167 w 6666831"/>
              <a:gd name="connsiteY1" fmla="*/ 757084 h 1123873"/>
              <a:gd name="connsiteX2" fmla="*/ 6666831 w 6666831"/>
              <a:gd name="connsiteY2" fmla="*/ 894735 h 1123873"/>
              <a:gd name="connsiteX3" fmla="*/ 6588173 w 6666831"/>
              <a:gd name="connsiteY3" fmla="*/ 1101213 h 1123873"/>
              <a:gd name="connsiteX4" fmla="*/ 4336586 w 6666831"/>
              <a:gd name="connsiteY4" fmla="*/ 1071716 h 1123873"/>
              <a:gd name="connsiteX5" fmla="*/ 4110444 w 6666831"/>
              <a:gd name="connsiteY5" fmla="*/ 1032387 h 1123873"/>
              <a:gd name="connsiteX6" fmla="*/ 3913799 w 6666831"/>
              <a:gd name="connsiteY6" fmla="*/ 1012722 h 1123873"/>
              <a:gd name="connsiteX7" fmla="*/ 3756483 w 6666831"/>
              <a:gd name="connsiteY7" fmla="*/ 983226 h 1123873"/>
              <a:gd name="connsiteX8" fmla="*/ 3599167 w 6666831"/>
              <a:gd name="connsiteY8" fmla="*/ 963561 h 1123873"/>
              <a:gd name="connsiteX9" fmla="*/ 3392689 w 6666831"/>
              <a:gd name="connsiteY9" fmla="*/ 924232 h 1123873"/>
              <a:gd name="connsiteX10" fmla="*/ 3117386 w 6666831"/>
              <a:gd name="connsiteY10" fmla="*/ 875071 h 1123873"/>
              <a:gd name="connsiteX11" fmla="*/ 2753593 w 6666831"/>
              <a:gd name="connsiteY11" fmla="*/ 825909 h 1123873"/>
              <a:gd name="connsiteX12" fmla="*/ 2635605 w 6666831"/>
              <a:gd name="connsiteY12" fmla="*/ 796413 h 1123873"/>
              <a:gd name="connsiteX13" fmla="*/ 2497954 w 6666831"/>
              <a:gd name="connsiteY13" fmla="*/ 776748 h 1123873"/>
              <a:gd name="connsiteX14" fmla="*/ 2429128 w 6666831"/>
              <a:gd name="connsiteY14" fmla="*/ 737419 h 1123873"/>
              <a:gd name="connsiteX15" fmla="*/ 2399631 w 6666831"/>
              <a:gd name="connsiteY15" fmla="*/ 717755 h 1123873"/>
              <a:gd name="connsiteX16" fmla="*/ 2360302 w 6666831"/>
              <a:gd name="connsiteY16" fmla="*/ 698090 h 1123873"/>
              <a:gd name="connsiteX17" fmla="*/ 2232483 w 6666831"/>
              <a:gd name="connsiteY17" fmla="*/ 599768 h 1123873"/>
              <a:gd name="connsiteX18" fmla="*/ 2134160 w 6666831"/>
              <a:gd name="connsiteY18" fmla="*/ 550606 h 1123873"/>
              <a:gd name="connsiteX19" fmla="*/ 1908018 w 6666831"/>
              <a:gd name="connsiteY19" fmla="*/ 412955 h 1123873"/>
              <a:gd name="connsiteX20" fmla="*/ 1642547 w 6666831"/>
              <a:gd name="connsiteY20" fmla="*/ 285135 h 1123873"/>
              <a:gd name="connsiteX21" fmla="*/ 1288586 w 6666831"/>
              <a:gd name="connsiteY21" fmla="*/ 157316 h 1123873"/>
              <a:gd name="connsiteX22" fmla="*/ 747812 w 6666831"/>
              <a:gd name="connsiteY22" fmla="*/ 117987 h 1123873"/>
              <a:gd name="connsiteX23" fmla="*/ 541334 w 6666831"/>
              <a:gd name="connsiteY23" fmla="*/ 108155 h 1123873"/>
              <a:gd name="connsiteX24" fmla="*/ 560 w 6666831"/>
              <a:gd name="connsiteY24" fmla="*/ 0 h 112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66831" h="1123873">
                <a:moveTo>
                  <a:pt x="6627502" y="0"/>
                </a:moveTo>
                <a:cubicBezTo>
                  <a:pt x="6634057" y="252361"/>
                  <a:pt x="6638263" y="504795"/>
                  <a:pt x="6647167" y="757084"/>
                </a:cubicBezTo>
                <a:cubicBezTo>
                  <a:pt x="6648269" y="788307"/>
                  <a:pt x="6661107" y="860391"/>
                  <a:pt x="6666831" y="894735"/>
                </a:cubicBezTo>
                <a:cubicBezTo>
                  <a:pt x="6640612" y="963561"/>
                  <a:pt x="6661613" y="1095635"/>
                  <a:pt x="6588173" y="1101213"/>
                </a:cubicBezTo>
                <a:cubicBezTo>
                  <a:pt x="5839735" y="1158057"/>
                  <a:pt x="5086890" y="1092558"/>
                  <a:pt x="4336586" y="1071716"/>
                </a:cubicBezTo>
                <a:cubicBezTo>
                  <a:pt x="4260103" y="1069591"/>
                  <a:pt x="4186222" y="1042961"/>
                  <a:pt x="4110444" y="1032387"/>
                </a:cubicBezTo>
                <a:cubicBezTo>
                  <a:pt x="4045201" y="1023283"/>
                  <a:pt x="3979048" y="1021784"/>
                  <a:pt x="3913799" y="1012722"/>
                </a:cubicBezTo>
                <a:cubicBezTo>
                  <a:pt x="3860954" y="1005382"/>
                  <a:pt x="3809196" y="991462"/>
                  <a:pt x="3756483" y="983226"/>
                </a:cubicBezTo>
                <a:cubicBezTo>
                  <a:pt x="3704270" y="975068"/>
                  <a:pt x="3651245" y="972540"/>
                  <a:pt x="3599167" y="963561"/>
                </a:cubicBezTo>
                <a:cubicBezTo>
                  <a:pt x="3256622" y="904501"/>
                  <a:pt x="3628933" y="953762"/>
                  <a:pt x="3392689" y="924232"/>
                </a:cubicBezTo>
                <a:cubicBezTo>
                  <a:pt x="3177124" y="865441"/>
                  <a:pt x="3401645" y="920919"/>
                  <a:pt x="3117386" y="875071"/>
                </a:cubicBezTo>
                <a:cubicBezTo>
                  <a:pt x="2754852" y="816598"/>
                  <a:pt x="3269795" y="870797"/>
                  <a:pt x="2753593" y="825909"/>
                </a:cubicBezTo>
                <a:cubicBezTo>
                  <a:pt x="2714264" y="816077"/>
                  <a:pt x="2675415" y="804069"/>
                  <a:pt x="2635605" y="796413"/>
                </a:cubicBezTo>
                <a:cubicBezTo>
                  <a:pt x="2590089" y="787660"/>
                  <a:pt x="2497954" y="776748"/>
                  <a:pt x="2497954" y="776748"/>
                </a:cubicBezTo>
                <a:cubicBezTo>
                  <a:pt x="2426089" y="728840"/>
                  <a:pt x="2516450" y="787317"/>
                  <a:pt x="2429128" y="737419"/>
                </a:cubicBezTo>
                <a:cubicBezTo>
                  <a:pt x="2418868" y="731556"/>
                  <a:pt x="2409891" y="723618"/>
                  <a:pt x="2399631" y="717755"/>
                </a:cubicBezTo>
                <a:cubicBezTo>
                  <a:pt x="2386905" y="710483"/>
                  <a:pt x="2372276" y="706543"/>
                  <a:pt x="2360302" y="698090"/>
                </a:cubicBezTo>
                <a:cubicBezTo>
                  <a:pt x="2316387" y="667091"/>
                  <a:pt x="2280561" y="623807"/>
                  <a:pt x="2232483" y="599768"/>
                </a:cubicBezTo>
                <a:cubicBezTo>
                  <a:pt x="2199709" y="583381"/>
                  <a:pt x="2165916" y="568889"/>
                  <a:pt x="2134160" y="550606"/>
                </a:cubicBezTo>
                <a:cubicBezTo>
                  <a:pt x="2057683" y="506574"/>
                  <a:pt x="1987529" y="451238"/>
                  <a:pt x="1908018" y="412955"/>
                </a:cubicBezTo>
                <a:lnTo>
                  <a:pt x="1642547" y="285135"/>
                </a:lnTo>
                <a:cubicBezTo>
                  <a:pt x="1544347" y="238619"/>
                  <a:pt x="1380350" y="164963"/>
                  <a:pt x="1288586" y="157316"/>
                </a:cubicBezTo>
                <a:cubicBezTo>
                  <a:pt x="1109890" y="142425"/>
                  <a:pt x="923329" y="126345"/>
                  <a:pt x="747812" y="117987"/>
                </a:cubicBezTo>
                <a:lnTo>
                  <a:pt x="541334" y="108155"/>
                </a:lnTo>
                <a:cubicBezTo>
                  <a:pt x="-38763" y="118702"/>
                  <a:pt x="560" y="298275"/>
                  <a:pt x="560"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a:extLst>
              <a:ext uri="{FF2B5EF4-FFF2-40B4-BE49-F238E27FC236}">
                <a16:creationId xmlns:a16="http://schemas.microsoft.com/office/drawing/2014/main" id="{FB62C538-D53B-40FD-9F8C-35DED650FB28}"/>
              </a:ext>
            </a:extLst>
          </p:cNvPr>
          <p:cNvSpPr/>
          <p:nvPr/>
        </p:nvSpPr>
        <p:spPr>
          <a:xfrm rot="20064010">
            <a:off x="1145458" y="3382570"/>
            <a:ext cx="383458" cy="19332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30246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FBAED95-C525-4DB9-BF2D-741F1B9293C3}"/>
              </a:ext>
            </a:extLst>
          </p:cNvPr>
          <p:cNvSpPr txBox="1"/>
          <p:nvPr/>
        </p:nvSpPr>
        <p:spPr>
          <a:xfrm>
            <a:off x="1012722" y="117987"/>
            <a:ext cx="10432026" cy="646331"/>
          </a:xfrm>
          <a:prstGeom prst="rect">
            <a:avLst/>
          </a:prstGeom>
          <a:noFill/>
        </p:spPr>
        <p:txBody>
          <a:bodyPr wrap="square">
            <a:spAutoFit/>
          </a:bodyPr>
          <a:lstStyle/>
          <a:p>
            <a:r>
              <a:rPr lang="en-US" b="0" i="0" dirty="0">
                <a:solidFill>
                  <a:srgbClr val="000000"/>
                </a:solidFill>
                <a:effectLst/>
                <a:latin typeface="Noto Serif"/>
              </a:rPr>
              <a:t>You can add </a:t>
            </a:r>
            <a:r>
              <a:rPr lang="en-US" b="1" i="0" dirty="0">
                <a:solidFill>
                  <a:srgbClr val="000000"/>
                </a:solidFill>
                <a:effectLst/>
                <a:latin typeface="Noto Serif"/>
              </a:rPr>
              <a:t>default values when using a different variable name</a:t>
            </a:r>
            <a:r>
              <a:rPr lang="en-US" b="0" i="0" dirty="0">
                <a:solidFill>
                  <a:srgbClr val="000000"/>
                </a:solidFill>
                <a:effectLst/>
                <a:latin typeface="Noto Serif"/>
              </a:rPr>
              <a:t>, as well. The equals sign and default value are still placed after the local variable name. For example:</a:t>
            </a:r>
            <a:endParaRPr lang="en-IN" dirty="0"/>
          </a:p>
        </p:txBody>
      </p:sp>
      <p:sp>
        <p:nvSpPr>
          <p:cNvPr id="7" name="TextBox 6">
            <a:extLst>
              <a:ext uri="{FF2B5EF4-FFF2-40B4-BE49-F238E27FC236}">
                <a16:creationId xmlns:a16="http://schemas.microsoft.com/office/drawing/2014/main" id="{34611256-ECE1-4214-BEEF-ABF313A3A1CB}"/>
              </a:ext>
            </a:extLst>
          </p:cNvPr>
          <p:cNvSpPr txBox="1"/>
          <p:nvPr/>
        </p:nvSpPr>
        <p:spPr>
          <a:xfrm>
            <a:off x="93406" y="1111325"/>
            <a:ext cx="8411497"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"Identifier“</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type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"bar"</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localType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"Identifier"</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localName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"bar" </a:t>
            </a:r>
            <a:endParaRPr lang="en-IN"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33368A4-289C-4C14-9B9A-698732786B11}"/>
              </a:ext>
            </a:extLst>
          </p:cNvPr>
          <p:cNvSpPr txBox="1"/>
          <p:nvPr/>
        </p:nvSpPr>
        <p:spPr>
          <a:xfrm>
            <a:off x="265470" y="4043655"/>
            <a:ext cx="11621729" cy="1477328"/>
          </a:xfrm>
          <a:prstGeom prst="rect">
            <a:avLst/>
          </a:prstGeom>
          <a:noFill/>
        </p:spPr>
        <p:txBody>
          <a:bodyPr wrap="square">
            <a:spAutoFit/>
          </a:bodyPr>
          <a:lstStyle/>
          <a:p>
            <a:r>
              <a:rPr lang="en-US" dirty="0"/>
              <a:t>Here, the </a:t>
            </a:r>
            <a:r>
              <a:rPr lang="en-US" dirty="0" err="1"/>
              <a:t>localName</a:t>
            </a:r>
            <a:r>
              <a:rPr lang="en-US" dirty="0"/>
              <a:t> variable has a default value of "bar". The variable is assigned its default value because there’s no node.name property.</a:t>
            </a:r>
          </a:p>
          <a:p>
            <a:endParaRPr lang="en-US" dirty="0"/>
          </a:p>
          <a:p>
            <a:r>
              <a:rPr lang="en-US" dirty="0"/>
              <a:t>So far, you’ve seen how to deal with </a:t>
            </a:r>
            <a:r>
              <a:rPr lang="en-US" dirty="0" err="1"/>
              <a:t>destructuring</a:t>
            </a:r>
            <a:r>
              <a:rPr lang="en-US" dirty="0"/>
              <a:t> of an object whose properties are primitive values. Object </a:t>
            </a:r>
            <a:r>
              <a:rPr lang="en-US" dirty="0" err="1"/>
              <a:t>destructuring</a:t>
            </a:r>
            <a:r>
              <a:rPr lang="en-US" dirty="0"/>
              <a:t> can also be used to retrieve values in nested object structures.</a:t>
            </a:r>
            <a:endParaRPr lang="en-IN" dirty="0"/>
          </a:p>
        </p:txBody>
      </p:sp>
    </p:spTree>
    <p:extLst>
      <p:ext uri="{BB962C8B-B14F-4D97-AF65-F5344CB8AC3E}">
        <p14:creationId xmlns:p14="http://schemas.microsoft.com/office/powerpoint/2010/main" val="261913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F1951B-889B-4521-B562-8E8C1D4B18C9}"/>
              </a:ext>
            </a:extLst>
          </p:cNvPr>
          <p:cNvSpPr txBox="1"/>
          <p:nvPr/>
        </p:nvSpPr>
        <p:spPr>
          <a:xfrm>
            <a:off x="2605548" y="536"/>
            <a:ext cx="6135328" cy="369332"/>
          </a:xfrm>
          <a:prstGeom prst="rect">
            <a:avLst/>
          </a:prstGeom>
          <a:noFill/>
        </p:spPr>
        <p:txBody>
          <a:bodyPr wrap="square">
            <a:spAutoFit/>
          </a:bodyPr>
          <a:lstStyle/>
          <a:p>
            <a:pPr algn="l" fontAlgn="base"/>
            <a:r>
              <a:rPr lang="en-IN" b="1" i="0" dirty="0">
                <a:solidFill>
                  <a:srgbClr val="000000"/>
                </a:solidFill>
                <a:effectLst/>
                <a:latin typeface="Noto Sans"/>
              </a:rPr>
              <a:t>Nested Object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7" name="TextBox 6">
            <a:extLst>
              <a:ext uri="{FF2B5EF4-FFF2-40B4-BE49-F238E27FC236}">
                <a16:creationId xmlns:a16="http://schemas.microsoft.com/office/drawing/2014/main" id="{14616E7F-4DA4-4091-B5D1-26F8F1EE1566}"/>
              </a:ext>
            </a:extLst>
          </p:cNvPr>
          <p:cNvSpPr txBox="1"/>
          <p:nvPr/>
        </p:nvSpPr>
        <p:spPr>
          <a:xfrm>
            <a:off x="1042218" y="369868"/>
            <a:ext cx="11149782" cy="646331"/>
          </a:xfrm>
          <a:prstGeom prst="rect">
            <a:avLst/>
          </a:prstGeom>
          <a:noFill/>
        </p:spPr>
        <p:txBody>
          <a:bodyPr wrap="square">
            <a:spAutoFit/>
          </a:bodyPr>
          <a:lstStyle/>
          <a:p>
            <a:r>
              <a:rPr lang="en-US" dirty="0"/>
              <a:t>By using a syntax similar to object literals, you can navigate into a nested object structure to retrieve just the information you want. Here’s an example:</a:t>
            </a:r>
            <a:endParaRPr lang="en-IN" dirty="0"/>
          </a:p>
        </p:txBody>
      </p:sp>
      <p:sp>
        <p:nvSpPr>
          <p:cNvPr id="9" name="TextBox 8">
            <a:extLst>
              <a:ext uri="{FF2B5EF4-FFF2-40B4-BE49-F238E27FC236}">
                <a16:creationId xmlns:a16="http://schemas.microsoft.com/office/drawing/2014/main" id="{0872F3BE-BAA8-47F6-A707-2B84F910367D}"/>
              </a:ext>
            </a:extLst>
          </p:cNvPr>
          <p:cNvSpPr txBox="1"/>
          <p:nvPr/>
        </p:nvSpPr>
        <p:spPr>
          <a:xfrm>
            <a:off x="1" y="1016199"/>
            <a:ext cx="3274142" cy="4524315"/>
          </a:xfrm>
          <a:prstGeom prst="rect">
            <a:avLst/>
          </a:prstGeom>
          <a:noFill/>
        </p:spPr>
        <p:txBody>
          <a:bodyPr wrap="square">
            <a:spAutoFit/>
          </a:bodyPr>
          <a:lstStyle/>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node1</a:t>
            </a:r>
            <a:r>
              <a:rPr lang="en-IN" sz="1200" b="0" dirty="0">
                <a:solidFill>
                  <a:srgbClr val="000000"/>
                </a:solidFill>
                <a:effectLst/>
                <a:latin typeface="Consolas" panose="020B0609020204030204" pitchFamily="49" charset="0"/>
              </a:rPr>
              <a:t> =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"Identifier"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"foo"</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node</a:t>
            </a:r>
            <a:r>
              <a:rPr lang="en-IN" sz="1200" b="0" dirty="0">
                <a:solidFill>
                  <a:srgbClr val="000000"/>
                </a:solidFill>
                <a:effectLst/>
                <a:latin typeface="Consolas" panose="020B0609020204030204" pitchFamily="49" charset="0"/>
              </a:rPr>
              <a:t> = </a:t>
            </a:r>
            <a:r>
              <a:rPr lang="en-IN" sz="1200" b="1"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type: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"Identifier"</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name: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"foo"</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loc</a:t>
            </a:r>
            <a:r>
              <a:rPr lang="en-IN" sz="1200" b="0" dirty="0">
                <a:solidFill>
                  <a:srgbClr val="001080"/>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start:</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end:</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1</a:t>
            </a:r>
            <a:r>
              <a:rPr lang="en-IN" sz="1200" b="0" dirty="0">
                <a:solidFill>
                  <a:srgbClr val="00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4</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FF0000"/>
                </a:solidFill>
                <a:effectLst/>
                <a:latin typeface="Consolas" panose="020B0609020204030204" pitchFamily="49" charset="0"/>
              </a:rPr>
              <a:t>}</a:t>
            </a:r>
          </a:p>
          <a:p>
            <a:r>
              <a:rPr lang="en-IN" sz="1200" b="0" dirty="0">
                <a:solidFill>
                  <a:srgbClr val="000000"/>
                </a:solidFill>
                <a:effectLst/>
                <a:latin typeface="Consolas" panose="020B0609020204030204" pitchFamily="49" charset="0"/>
              </a:rPr>
              <a:t>    </a:t>
            </a:r>
            <a:r>
              <a:rPr lang="en-IN" sz="1200" b="1"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 </a:t>
            </a:r>
            <a:r>
              <a:rPr lang="en-IN" sz="1200" b="0" dirty="0" err="1">
                <a:solidFill>
                  <a:srgbClr val="001080"/>
                </a:solidFill>
                <a:effectLst/>
                <a:latin typeface="Consolas" panose="020B0609020204030204" pitchFamily="49" charset="0"/>
              </a:rPr>
              <a:t>loc</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start</a:t>
            </a:r>
            <a:r>
              <a:rPr lang="en-IN" sz="1200" b="0" dirty="0">
                <a:solidFill>
                  <a:srgbClr val="000000"/>
                </a:solidFill>
                <a:effectLst/>
                <a:latin typeface="Consolas" panose="020B0609020204030204" pitchFamily="49" charset="0"/>
              </a:rPr>
              <a:t> }} = </a:t>
            </a:r>
            <a:r>
              <a:rPr lang="en-IN" sz="1200" b="0" dirty="0">
                <a:solidFill>
                  <a:srgbClr val="001080"/>
                </a:solidFill>
                <a:effectLst/>
                <a:latin typeface="Consolas" panose="020B0609020204030204" pitchFamily="49" charset="0"/>
              </a:rPr>
              <a:t>node</a:t>
            </a:r>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start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line</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1</a:t>
            </a:r>
            <a:endParaRPr lang="en-IN" sz="1200" b="0" dirty="0">
              <a:solidFill>
                <a:srgbClr val="000000"/>
              </a:solidFill>
              <a:effectLst/>
              <a:latin typeface="Consolas" panose="020B0609020204030204" pitchFamily="49" charset="0"/>
            </a:endParaRPr>
          </a:p>
          <a:p>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start</a:t>
            </a:r>
            <a:r>
              <a:rPr lang="en-IN" sz="1200" b="0" dirty="0" err="1">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column</a:t>
            </a:r>
            <a:r>
              <a:rPr lang="en-IN" sz="1200" b="0" dirty="0">
                <a:solidFill>
                  <a:srgbClr val="000000"/>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7D58C61E-0D40-4931-8192-4AF7D2EEDC3A}"/>
              </a:ext>
            </a:extLst>
          </p:cNvPr>
          <p:cNvSpPr txBox="1"/>
          <p:nvPr/>
        </p:nvSpPr>
        <p:spPr>
          <a:xfrm>
            <a:off x="3586316" y="1091180"/>
            <a:ext cx="8438536" cy="1754326"/>
          </a:xfrm>
          <a:prstGeom prst="rect">
            <a:avLst/>
          </a:prstGeom>
          <a:noFill/>
        </p:spPr>
        <p:txBody>
          <a:bodyPr wrap="square">
            <a:spAutoFit/>
          </a:bodyPr>
          <a:lstStyle/>
          <a:p>
            <a:r>
              <a:rPr lang="en-US" dirty="0"/>
              <a:t>The </a:t>
            </a:r>
            <a:r>
              <a:rPr lang="en-US" dirty="0" err="1"/>
              <a:t>destructuring</a:t>
            </a:r>
            <a:r>
              <a:rPr lang="en-US" dirty="0"/>
              <a:t> pattern in this example uses curly braces to indicate that the pattern should descend into the property named loc on node and look for the start property. Remember from the last section that whenever there’s a colon in a </a:t>
            </a:r>
            <a:r>
              <a:rPr lang="en-US" dirty="0" err="1"/>
              <a:t>destructuring</a:t>
            </a:r>
            <a:r>
              <a:rPr lang="en-US" dirty="0"/>
              <a:t> pattern, it means the identifier before the colon is giving a location to inspect, and the right side assigns a value. When there’s a curly brace after the colon, that indicates that the destination is nested another level into the object.</a:t>
            </a:r>
            <a:endParaRPr lang="en-IN" dirty="0"/>
          </a:p>
        </p:txBody>
      </p:sp>
      <p:sp>
        <p:nvSpPr>
          <p:cNvPr id="13" name="TextBox 12">
            <a:extLst>
              <a:ext uri="{FF2B5EF4-FFF2-40B4-BE49-F238E27FC236}">
                <a16:creationId xmlns:a16="http://schemas.microsoft.com/office/drawing/2014/main" id="{221F0515-7B59-416B-9851-E059B5A7CC0C}"/>
              </a:ext>
            </a:extLst>
          </p:cNvPr>
          <p:cNvSpPr txBox="1"/>
          <p:nvPr/>
        </p:nvSpPr>
        <p:spPr>
          <a:xfrm>
            <a:off x="3671121" y="2909024"/>
            <a:ext cx="7563465" cy="646331"/>
          </a:xfrm>
          <a:prstGeom prst="rect">
            <a:avLst/>
          </a:prstGeom>
          <a:noFill/>
        </p:spPr>
        <p:txBody>
          <a:bodyPr wrap="square">
            <a:spAutoFit/>
          </a:bodyPr>
          <a:lstStyle/>
          <a:p>
            <a:r>
              <a:rPr lang="en-US" b="0" i="0" dirty="0">
                <a:solidFill>
                  <a:srgbClr val="000000"/>
                </a:solidFill>
                <a:effectLst/>
                <a:latin typeface="Noto Serif"/>
              </a:rPr>
              <a:t>You can go one step further and use a different name for the local variable as well:</a:t>
            </a:r>
            <a:endParaRPr lang="en-IN" dirty="0"/>
          </a:p>
        </p:txBody>
      </p:sp>
      <p:sp>
        <p:nvSpPr>
          <p:cNvPr id="15" name="TextBox 14">
            <a:extLst>
              <a:ext uri="{FF2B5EF4-FFF2-40B4-BE49-F238E27FC236}">
                <a16:creationId xmlns:a16="http://schemas.microsoft.com/office/drawing/2014/main" id="{2072F58A-EF0C-4FFA-A194-D2D8832F656F}"/>
              </a:ext>
            </a:extLst>
          </p:cNvPr>
          <p:cNvSpPr txBox="1"/>
          <p:nvPr/>
        </p:nvSpPr>
        <p:spPr>
          <a:xfrm>
            <a:off x="5569051" y="3148262"/>
            <a:ext cx="5515897" cy="3539430"/>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node</a:t>
            </a:r>
            <a:r>
              <a:rPr lang="en-IN" sz="1400" b="0" dirty="0">
                <a:solidFill>
                  <a:srgbClr val="000000"/>
                </a:solidFill>
                <a:effectLst/>
                <a:latin typeface="Consolas" panose="020B0609020204030204" pitchFamily="49" charset="0"/>
              </a:rPr>
              <a:t> =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type: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"Identifier"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"foo"</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loc</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start: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end:</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1</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98658"/>
                </a:solidFill>
                <a:effectLst/>
                <a:latin typeface="Consolas" panose="020B0609020204030204" pitchFamily="49" charset="0"/>
              </a:rPr>
              <a:t>4</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p>
          <a:p>
            <a:r>
              <a:rPr lang="en-IN" sz="1400" b="0" dirty="0">
                <a:solidFill>
                  <a:srgbClr val="008000"/>
                </a:solidFill>
                <a:effectLst/>
                <a:latin typeface="Consolas" panose="020B0609020204030204" pitchFamily="49" charset="0"/>
              </a:rPr>
              <a:t>// extract </a:t>
            </a:r>
            <a:r>
              <a:rPr lang="en-IN" sz="1400" b="0" dirty="0" err="1">
                <a:solidFill>
                  <a:srgbClr val="008000"/>
                </a:solidFill>
                <a:effectLst/>
                <a:latin typeface="Consolas" panose="020B0609020204030204" pitchFamily="49" charset="0"/>
              </a:rPr>
              <a:t>node.loc.start</a:t>
            </a:r>
            <a:endParaRPr lang="en-IN" sz="1400" b="0" dirty="0">
              <a:solidFill>
                <a:srgbClr val="000000"/>
              </a:solidFill>
              <a:effectLst/>
              <a:latin typeface="Consolas" panose="020B0609020204030204" pitchFamily="49" charset="0"/>
            </a:endParaRPr>
          </a:p>
          <a:p>
            <a:r>
              <a:rPr lang="en-IN" sz="1400" b="0" dirty="0">
                <a:solidFill>
                  <a:srgbClr val="0000FF"/>
                </a:solidFill>
                <a:effectLst/>
                <a:latin typeface="Consolas" panose="020B0609020204030204" pitchFamily="49" charset="0"/>
              </a:rPr>
              <a:t>let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loc</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start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localStart</a:t>
            </a:r>
            <a:r>
              <a:rPr lang="en-IN" sz="1400" b="0" dirty="0">
                <a:solidFill>
                  <a:srgbClr val="000000"/>
                </a:solidFill>
                <a:effectLst/>
                <a:latin typeface="Consolas" panose="020B0609020204030204" pitchFamily="49" charset="0"/>
              </a:rPr>
              <a:t> }} = </a:t>
            </a:r>
            <a:r>
              <a:rPr lang="en-IN" sz="1400" b="0" dirty="0">
                <a:solidFill>
                  <a:srgbClr val="001080"/>
                </a:solidFill>
                <a:effectLst/>
                <a:latin typeface="Consolas" panose="020B0609020204030204" pitchFamily="49" charset="0"/>
              </a:rPr>
              <a:t>node</a:t>
            </a:r>
            <a:r>
              <a:rPr lang="en-IN" sz="1400" b="0" dirty="0">
                <a:solidFill>
                  <a:srgbClr val="000000"/>
                </a:solidFill>
                <a:effectLst/>
                <a:latin typeface="Consolas" panose="020B0609020204030204" pitchFamily="49" charset="0"/>
              </a:rPr>
              <a:t>;</a:t>
            </a:r>
          </a:p>
          <a:p>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localStart</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line</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1</a:t>
            </a:r>
            <a:endParaRPr lang="en-IN" sz="1400" b="0" dirty="0">
              <a:solidFill>
                <a:srgbClr val="000000"/>
              </a:solidFill>
              <a:effectLst/>
              <a:latin typeface="Consolas" panose="020B0609020204030204" pitchFamily="49" charset="0"/>
            </a:endParaRPr>
          </a:p>
          <a:p>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localStart</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column</a:t>
            </a:r>
            <a:r>
              <a:rPr lang="en-IN" sz="1400" b="0" dirty="0">
                <a:solidFill>
                  <a:srgbClr val="000000"/>
                </a:solidFill>
                <a:effectLst/>
                <a:latin typeface="Consolas" panose="020B0609020204030204" pitchFamily="49" charset="0"/>
              </a:rPr>
              <a:t>); </a:t>
            </a:r>
            <a:r>
              <a:rPr lang="en-IN" sz="1400" b="0" dirty="0">
                <a:solidFill>
                  <a:srgbClr val="008000"/>
                </a:solidFill>
                <a:effectLst/>
                <a:latin typeface="Consolas" panose="020B0609020204030204" pitchFamily="49" charset="0"/>
              </a:rPr>
              <a:t>// 1 </a:t>
            </a:r>
            <a:endParaRPr lang="en-IN" sz="1400"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A700E5CC-C6D3-48BA-8A7B-73040EC5F358}"/>
              </a:ext>
            </a:extLst>
          </p:cNvPr>
          <p:cNvSpPr txBox="1"/>
          <p:nvPr/>
        </p:nvSpPr>
        <p:spPr>
          <a:xfrm>
            <a:off x="9977897" y="3429000"/>
            <a:ext cx="2214102" cy="3416320"/>
          </a:xfrm>
          <a:prstGeom prst="rect">
            <a:avLst/>
          </a:prstGeom>
          <a:noFill/>
        </p:spPr>
        <p:txBody>
          <a:bodyPr wrap="square">
            <a:spAutoFit/>
          </a:bodyPr>
          <a:lstStyle/>
          <a:p>
            <a:r>
              <a:rPr lang="en-US" dirty="0"/>
              <a:t>In this version of the code, </a:t>
            </a:r>
            <a:r>
              <a:rPr lang="en-US" dirty="0" err="1"/>
              <a:t>node.loc.start</a:t>
            </a:r>
            <a:r>
              <a:rPr lang="en-US" dirty="0"/>
              <a:t> is stored in a new local variable called </a:t>
            </a:r>
            <a:r>
              <a:rPr lang="en-US" dirty="0" err="1"/>
              <a:t>localStart</a:t>
            </a:r>
            <a:r>
              <a:rPr lang="en-US" dirty="0"/>
              <a:t>. </a:t>
            </a:r>
            <a:r>
              <a:rPr lang="en-US" dirty="0" err="1"/>
              <a:t>Destructuring</a:t>
            </a:r>
            <a:r>
              <a:rPr lang="en-US" dirty="0"/>
              <a:t> patterns can be nested to an arbitrary level of depth, with all capabilities available at each level.</a:t>
            </a:r>
            <a:endParaRPr lang="en-IN" dirty="0"/>
          </a:p>
        </p:txBody>
      </p:sp>
      <p:sp>
        <p:nvSpPr>
          <p:cNvPr id="2" name="Rectangle 1">
            <a:extLst>
              <a:ext uri="{FF2B5EF4-FFF2-40B4-BE49-F238E27FC236}">
                <a16:creationId xmlns:a16="http://schemas.microsoft.com/office/drawing/2014/main" id="{48136DE1-1963-FB76-FB66-1C55F85A3B55}"/>
              </a:ext>
            </a:extLst>
          </p:cNvPr>
          <p:cNvSpPr/>
          <p:nvPr/>
        </p:nvSpPr>
        <p:spPr>
          <a:xfrm>
            <a:off x="3839496" y="4025647"/>
            <a:ext cx="973393"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100" b="0" dirty="0">
                <a:solidFill>
                  <a:schemeClr val="bg1"/>
                </a:solidFill>
                <a:effectLst/>
                <a:latin typeface="Consolas" panose="020B0609020204030204" pitchFamily="49" charset="0"/>
              </a:rPr>
              <a:t>line: 1,</a:t>
            </a:r>
          </a:p>
          <a:p>
            <a:r>
              <a:rPr lang="en-IN" sz="1100" b="0" dirty="0">
                <a:solidFill>
                  <a:schemeClr val="bg1"/>
                </a:solidFill>
                <a:effectLst/>
                <a:latin typeface="Consolas" panose="020B0609020204030204" pitchFamily="49" charset="0"/>
              </a:rPr>
              <a:t> column:</a:t>
            </a:r>
            <a:r>
              <a:rPr lang="en-IN" sz="1100" dirty="0">
                <a:solidFill>
                  <a:schemeClr val="bg1"/>
                </a:solidFill>
                <a:latin typeface="Consolas" panose="020B0609020204030204" pitchFamily="49" charset="0"/>
              </a:rPr>
              <a:t>1</a:t>
            </a:r>
            <a:endParaRPr lang="en-IN" sz="1100" dirty="0">
              <a:solidFill>
                <a:schemeClr val="bg1"/>
              </a:solidFill>
            </a:endParaRPr>
          </a:p>
        </p:txBody>
      </p:sp>
      <p:sp>
        <p:nvSpPr>
          <p:cNvPr id="3" name="TextBox 2">
            <a:extLst>
              <a:ext uri="{FF2B5EF4-FFF2-40B4-BE49-F238E27FC236}">
                <a16:creationId xmlns:a16="http://schemas.microsoft.com/office/drawing/2014/main" id="{0D3C916A-677A-E217-B0CA-BEF503FCA3E1}"/>
              </a:ext>
            </a:extLst>
          </p:cNvPr>
          <p:cNvSpPr txBox="1"/>
          <p:nvPr/>
        </p:nvSpPr>
        <p:spPr>
          <a:xfrm>
            <a:off x="3913239" y="5142271"/>
            <a:ext cx="825909" cy="369332"/>
          </a:xfrm>
          <a:prstGeom prst="rect">
            <a:avLst/>
          </a:prstGeom>
          <a:solidFill>
            <a:schemeClr val="accent2"/>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start</a:t>
            </a:r>
          </a:p>
        </p:txBody>
      </p:sp>
      <p:cxnSp>
        <p:nvCxnSpPr>
          <p:cNvPr id="6" name="Straight Arrow Connector 5">
            <a:extLst>
              <a:ext uri="{FF2B5EF4-FFF2-40B4-BE49-F238E27FC236}">
                <a16:creationId xmlns:a16="http://schemas.microsoft.com/office/drawing/2014/main" id="{53FF83F8-A6EF-CD51-EB5A-54DF851059A7}"/>
              </a:ext>
            </a:extLst>
          </p:cNvPr>
          <p:cNvCxnSpPr/>
          <p:nvPr/>
        </p:nvCxnSpPr>
        <p:spPr>
          <a:xfrm flipH="1" flipV="1">
            <a:off x="4326193" y="4798358"/>
            <a:ext cx="135807" cy="338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3F4B2F2-0002-13C4-D54B-9F187808C7AD}"/>
              </a:ext>
            </a:extLst>
          </p:cNvPr>
          <p:cNvSpPr txBox="1"/>
          <p:nvPr/>
        </p:nvSpPr>
        <p:spPr>
          <a:xfrm>
            <a:off x="-83574" y="5777167"/>
            <a:ext cx="5088193" cy="646331"/>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loc</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start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line</a:t>
            </a:r>
            <a:r>
              <a:rPr lang="en-IN" b="0" dirty="0">
                <a:solidFill>
                  <a:srgbClr val="000000"/>
                </a:solidFill>
                <a:effectLst/>
                <a:latin typeface="Consolas" panose="020B0609020204030204" pitchFamily="49" charset="0"/>
              </a:rPr>
              <a:t>} } } = </a:t>
            </a:r>
            <a:r>
              <a:rPr lang="en-IN" b="0" dirty="0">
                <a:solidFill>
                  <a:srgbClr val="001080"/>
                </a:solidFill>
                <a:effectLst/>
                <a:latin typeface="Consolas" panose="020B0609020204030204" pitchFamily="49" charset="0"/>
              </a:rPr>
              <a:t>node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line</a:t>
            </a:r>
            <a:r>
              <a:rPr lang="en-IN" b="0" dirty="0">
                <a:solidFill>
                  <a:srgbClr val="000000"/>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99A50167-B4A2-D1A9-1836-357E59CBDE85}"/>
              </a:ext>
            </a:extLst>
          </p:cNvPr>
          <p:cNvSpPr txBox="1"/>
          <p:nvPr/>
        </p:nvSpPr>
        <p:spPr>
          <a:xfrm>
            <a:off x="4253529" y="6293779"/>
            <a:ext cx="825909" cy="369332"/>
          </a:xfrm>
          <a:prstGeom prst="rect">
            <a:avLst/>
          </a:prstGeom>
          <a:solidFill>
            <a:schemeClr val="accent1"/>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solidFill>
                  <a:schemeClr val="bg1"/>
                </a:solidFill>
              </a:rPr>
              <a:t>1</a:t>
            </a:r>
          </a:p>
        </p:txBody>
      </p:sp>
      <p:cxnSp>
        <p:nvCxnSpPr>
          <p:cNvPr id="12" name="Straight Arrow Connector 11">
            <a:extLst>
              <a:ext uri="{FF2B5EF4-FFF2-40B4-BE49-F238E27FC236}">
                <a16:creationId xmlns:a16="http://schemas.microsoft.com/office/drawing/2014/main" id="{1DEBE469-D620-AEF2-E480-15E646CB6D67}"/>
              </a:ext>
            </a:extLst>
          </p:cNvPr>
          <p:cNvCxnSpPr/>
          <p:nvPr/>
        </p:nvCxnSpPr>
        <p:spPr>
          <a:xfrm>
            <a:off x="2389239" y="6322690"/>
            <a:ext cx="152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4008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BA40C4-933B-4A20-9E66-0A92AE78093C}"/>
              </a:ext>
            </a:extLst>
          </p:cNvPr>
          <p:cNvSpPr txBox="1"/>
          <p:nvPr/>
        </p:nvSpPr>
        <p:spPr>
          <a:xfrm>
            <a:off x="2015613" y="0"/>
            <a:ext cx="2526890" cy="369332"/>
          </a:xfrm>
          <a:prstGeom prst="rect">
            <a:avLst/>
          </a:prstGeom>
          <a:noFill/>
        </p:spPr>
        <p:txBody>
          <a:bodyPr wrap="square">
            <a:spAutoFit/>
          </a:bodyPr>
          <a:lstStyle/>
          <a:p>
            <a:pPr algn="l" fontAlgn="base"/>
            <a:r>
              <a:rPr lang="en-IN" b="1" i="0" dirty="0">
                <a:solidFill>
                  <a:srgbClr val="000000"/>
                </a:solidFill>
                <a:effectLst/>
                <a:latin typeface="Noto Sans"/>
              </a:rPr>
              <a:t>Array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7" name="TextBox 6">
            <a:extLst>
              <a:ext uri="{FF2B5EF4-FFF2-40B4-BE49-F238E27FC236}">
                <a16:creationId xmlns:a16="http://schemas.microsoft.com/office/drawing/2014/main" id="{50196922-6C93-4423-A3A6-2F8BF2F8F1D8}"/>
              </a:ext>
            </a:extLst>
          </p:cNvPr>
          <p:cNvSpPr txBox="1"/>
          <p:nvPr/>
        </p:nvSpPr>
        <p:spPr>
          <a:xfrm>
            <a:off x="1268361" y="369332"/>
            <a:ext cx="10736825" cy="923330"/>
          </a:xfrm>
          <a:prstGeom prst="rect">
            <a:avLst/>
          </a:prstGeom>
          <a:noFill/>
        </p:spPr>
        <p:txBody>
          <a:bodyPr wrap="square">
            <a:spAutoFit/>
          </a:bodyPr>
          <a:lstStyle/>
          <a:p>
            <a:r>
              <a:rPr lang="en-US" dirty="0"/>
              <a:t>Array </a:t>
            </a:r>
            <a:r>
              <a:rPr lang="en-US" dirty="0" err="1"/>
              <a:t>destructuring</a:t>
            </a:r>
            <a:r>
              <a:rPr lang="en-US" dirty="0"/>
              <a:t> syntax is very similar to object </a:t>
            </a:r>
            <a:r>
              <a:rPr lang="en-US" dirty="0" err="1"/>
              <a:t>destructuring</a:t>
            </a:r>
            <a:r>
              <a:rPr lang="en-US" dirty="0"/>
              <a:t>; it just uses array literal syntax instead of object literal syntax. The </a:t>
            </a:r>
            <a:r>
              <a:rPr lang="en-US" dirty="0" err="1"/>
              <a:t>destructuring</a:t>
            </a:r>
            <a:r>
              <a:rPr lang="en-US" dirty="0"/>
              <a:t> operates on positions within an array, rather than the named properties that are available in objects. For example:</a:t>
            </a:r>
            <a:endParaRPr lang="en-IN" dirty="0"/>
          </a:p>
        </p:txBody>
      </p:sp>
      <p:sp>
        <p:nvSpPr>
          <p:cNvPr id="11" name="TextBox 10">
            <a:extLst>
              <a:ext uri="{FF2B5EF4-FFF2-40B4-BE49-F238E27FC236}">
                <a16:creationId xmlns:a16="http://schemas.microsoft.com/office/drawing/2014/main" id="{0645FDF0-AA25-4424-8AB0-EBA98E0E5E97}"/>
              </a:ext>
            </a:extLst>
          </p:cNvPr>
          <p:cNvSpPr txBox="1"/>
          <p:nvPr/>
        </p:nvSpPr>
        <p:spPr>
          <a:xfrm>
            <a:off x="68827" y="1575985"/>
            <a:ext cx="6135328"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"red"</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"green"</a:t>
            </a:r>
            <a:endParaRPr lang="en-US" b="0" dirty="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53812A08-81A4-4C54-90B2-BC6F2F2A422D}"/>
              </a:ext>
            </a:extLst>
          </p:cNvPr>
          <p:cNvSpPr txBox="1"/>
          <p:nvPr/>
        </p:nvSpPr>
        <p:spPr>
          <a:xfrm>
            <a:off x="68827" y="3702125"/>
            <a:ext cx="5496231" cy="2308324"/>
          </a:xfrm>
          <a:prstGeom prst="rect">
            <a:avLst/>
          </a:prstGeom>
          <a:noFill/>
        </p:spPr>
        <p:txBody>
          <a:bodyPr wrap="square">
            <a:spAutoFit/>
          </a:bodyPr>
          <a:lstStyle/>
          <a:p>
            <a:r>
              <a:rPr lang="en-US" dirty="0"/>
              <a:t>Here, array </a:t>
            </a:r>
            <a:r>
              <a:rPr lang="en-US" dirty="0" err="1"/>
              <a:t>destructuring</a:t>
            </a:r>
            <a:r>
              <a:rPr lang="en-US" dirty="0"/>
              <a:t> pulls out the values "red" and "green" from the colors array and stores them in the </a:t>
            </a:r>
            <a:r>
              <a:rPr lang="en-US" dirty="0" err="1"/>
              <a:t>firstColor</a:t>
            </a:r>
            <a:r>
              <a:rPr lang="en-US" dirty="0"/>
              <a:t> and </a:t>
            </a:r>
            <a:r>
              <a:rPr lang="en-US" dirty="0" err="1"/>
              <a:t>secondColor</a:t>
            </a:r>
            <a:r>
              <a:rPr lang="en-US" dirty="0"/>
              <a:t> variables. Those values are chosen because of their position in the array; the actual variable names could be anything. Any items not explicitly mentioned in the </a:t>
            </a:r>
            <a:r>
              <a:rPr lang="en-US" dirty="0" err="1"/>
              <a:t>destructuring</a:t>
            </a:r>
            <a:r>
              <a:rPr lang="en-US" dirty="0"/>
              <a:t> pattern are ignored. Keep in mind that the array itself isn’t changed in any way.</a:t>
            </a:r>
            <a:endParaRPr lang="en-IN" dirty="0"/>
          </a:p>
        </p:txBody>
      </p:sp>
      <p:sp>
        <p:nvSpPr>
          <p:cNvPr id="15" name="TextBox 14">
            <a:extLst>
              <a:ext uri="{FF2B5EF4-FFF2-40B4-BE49-F238E27FC236}">
                <a16:creationId xmlns:a16="http://schemas.microsoft.com/office/drawing/2014/main" id="{5A83537B-E2B3-42E0-86FB-733DBF3C170F}"/>
              </a:ext>
            </a:extLst>
          </p:cNvPr>
          <p:cNvSpPr txBox="1"/>
          <p:nvPr/>
        </p:nvSpPr>
        <p:spPr>
          <a:xfrm>
            <a:off x="6056672" y="1330459"/>
            <a:ext cx="6135328" cy="1754326"/>
          </a:xfrm>
          <a:prstGeom prst="rect">
            <a:avLst/>
          </a:prstGeom>
          <a:noFill/>
        </p:spPr>
        <p:txBody>
          <a:bodyPr wrap="square">
            <a:spAutoFit/>
          </a:bodyPr>
          <a:lstStyle/>
          <a:p>
            <a:r>
              <a:rPr lang="en-US" dirty="0"/>
              <a:t>You can also omit items in the </a:t>
            </a:r>
            <a:r>
              <a:rPr lang="en-US" dirty="0" err="1"/>
              <a:t>destructuring</a:t>
            </a:r>
            <a:r>
              <a:rPr lang="en-US" dirty="0"/>
              <a:t> pattern and only provide variable names for the items you’re interested in. If, for example, you just want the third value of an array, you don’t need to supply variable names for the first and second items. Here’s how that works:</a:t>
            </a:r>
          </a:p>
          <a:p>
            <a:endParaRPr lang="en-US" dirty="0"/>
          </a:p>
        </p:txBody>
      </p:sp>
      <p:sp>
        <p:nvSpPr>
          <p:cNvPr id="17" name="TextBox 16">
            <a:extLst>
              <a:ext uri="{FF2B5EF4-FFF2-40B4-BE49-F238E27FC236}">
                <a16:creationId xmlns:a16="http://schemas.microsoft.com/office/drawing/2014/main" id="{2709A805-B986-401A-B676-35E78CC16B95}"/>
              </a:ext>
            </a:extLst>
          </p:cNvPr>
          <p:cNvSpPr txBox="1"/>
          <p:nvPr/>
        </p:nvSpPr>
        <p:spPr>
          <a:xfrm>
            <a:off x="6046840" y="2963461"/>
            <a:ext cx="6145160"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 , </a:t>
            </a:r>
            <a:r>
              <a:rPr lang="en-US" b="0" dirty="0" err="1">
                <a:solidFill>
                  <a:srgbClr val="001080"/>
                </a:solidFill>
                <a:effectLst/>
                <a:latin typeface="Consolas" panose="020B0609020204030204" pitchFamily="49" charset="0"/>
              </a:rPr>
              <a:t>thirdColor</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thirdColor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"blue"</a:t>
            </a:r>
            <a:endParaRPr lang="en-US" b="0" dirty="0">
              <a:solidFill>
                <a:srgbClr val="000000"/>
              </a:solidFill>
              <a:effectLst/>
              <a:latin typeface="Consolas" panose="020B0609020204030204" pitchFamily="49" charset="0"/>
            </a:endParaRPr>
          </a:p>
        </p:txBody>
      </p:sp>
      <p:sp>
        <p:nvSpPr>
          <p:cNvPr id="19" name="TextBox 18">
            <a:extLst>
              <a:ext uri="{FF2B5EF4-FFF2-40B4-BE49-F238E27FC236}">
                <a16:creationId xmlns:a16="http://schemas.microsoft.com/office/drawing/2014/main" id="{0B3274D8-9F65-4D63-8FD2-E6F6EBA4BD5E}"/>
              </a:ext>
            </a:extLst>
          </p:cNvPr>
          <p:cNvSpPr txBox="1"/>
          <p:nvPr/>
        </p:nvSpPr>
        <p:spPr>
          <a:xfrm>
            <a:off x="5909187" y="4650378"/>
            <a:ext cx="6213986" cy="1754326"/>
          </a:xfrm>
          <a:prstGeom prst="rect">
            <a:avLst/>
          </a:prstGeom>
          <a:noFill/>
        </p:spPr>
        <p:txBody>
          <a:bodyPr wrap="square">
            <a:spAutoFit/>
          </a:bodyPr>
          <a:lstStyle/>
          <a:p>
            <a:r>
              <a:rPr lang="en-US" dirty="0"/>
              <a:t>This code uses a </a:t>
            </a:r>
            <a:r>
              <a:rPr lang="en-US" dirty="0" err="1"/>
              <a:t>destructuring</a:t>
            </a:r>
            <a:r>
              <a:rPr lang="en-US" dirty="0"/>
              <a:t> assignment to retrieve the third item in colors. The commas preceding </a:t>
            </a:r>
            <a:r>
              <a:rPr lang="en-US" dirty="0" err="1"/>
              <a:t>thirdColor</a:t>
            </a:r>
            <a:r>
              <a:rPr lang="en-US" dirty="0"/>
              <a:t> in the pattern are placeholders for the array items that come before it. By using this approach, you can easily pick out values from any number of slots in the middle of an array without needing to provide variable names for them.</a:t>
            </a:r>
            <a:endParaRPr lang="en-IN" dirty="0"/>
          </a:p>
        </p:txBody>
      </p:sp>
    </p:spTree>
    <p:extLst>
      <p:ext uri="{BB962C8B-B14F-4D97-AF65-F5344CB8AC3E}">
        <p14:creationId xmlns:p14="http://schemas.microsoft.com/office/powerpoint/2010/main" val="824697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EFC21F-AFA2-4C05-B5EA-476F380F39E8}"/>
              </a:ext>
            </a:extLst>
          </p:cNvPr>
          <p:cNvSpPr txBox="1"/>
          <p:nvPr/>
        </p:nvSpPr>
        <p:spPr>
          <a:xfrm>
            <a:off x="1435509" y="83178"/>
            <a:ext cx="10638503" cy="923330"/>
          </a:xfrm>
          <a:prstGeom prst="rect">
            <a:avLst/>
          </a:prstGeom>
          <a:noFill/>
        </p:spPr>
        <p:txBody>
          <a:bodyPr wrap="square">
            <a:spAutoFit/>
          </a:bodyPr>
          <a:lstStyle/>
          <a:p>
            <a:pPr algn="ctr" fontAlgn="base"/>
            <a:r>
              <a:rPr lang="en-US" b="1" i="0" dirty="0" err="1">
                <a:solidFill>
                  <a:srgbClr val="000000"/>
                </a:solidFill>
                <a:effectLst/>
                <a:latin typeface="Noto Sans"/>
              </a:rPr>
              <a:t>Destructuring</a:t>
            </a:r>
            <a:r>
              <a:rPr lang="en-US" b="1" i="0" dirty="0">
                <a:solidFill>
                  <a:srgbClr val="000000"/>
                </a:solidFill>
                <a:effectLst/>
                <a:latin typeface="Noto Sans"/>
              </a:rPr>
              <a:t> Assignment</a:t>
            </a:r>
          </a:p>
          <a:p>
            <a:pPr algn="l" fontAlgn="base"/>
            <a:r>
              <a:rPr lang="en-US" b="0" i="0" dirty="0">
                <a:solidFill>
                  <a:srgbClr val="000000"/>
                </a:solidFill>
                <a:effectLst/>
                <a:latin typeface="Noto Serif"/>
              </a:rPr>
              <a:t>You can use array </a:t>
            </a:r>
            <a:r>
              <a:rPr lang="en-US" b="0" i="0" dirty="0" err="1">
                <a:solidFill>
                  <a:srgbClr val="000000"/>
                </a:solidFill>
                <a:effectLst/>
                <a:latin typeface="Noto Serif"/>
              </a:rPr>
              <a:t>destructuring</a:t>
            </a:r>
            <a:r>
              <a:rPr lang="en-US" b="0" i="0" dirty="0">
                <a:solidFill>
                  <a:srgbClr val="000000"/>
                </a:solidFill>
                <a:effectLst/>
                <a:latin typeface="Noto Serif"/>
              </a:rPr>
              <a:t> in the context of an assignment, but unlike object </a:t>
            </a:r>
            <a:r>
              <a:rPr lang="en-US" b="0" i="0" dirty="0" err="1">
                <a:solidFill>
                  <a:srgbClr val="000000"/>
                </a:solidFill>
                <a:effectLst/>
                <a:latin typeface="Noto Serif"/>
              </a:rPr>
              <a:t>destructuring</a:t>
            </a:r>
            <a:r>
              <a:rPr lang="en-US" b="0" i="0" dirty="0">
                <a:solidFill>
                  <a:srgbClr val="000000"/>
                </a:solidFill>
                <a:effectLst/>
                <a:latin typeface="Noto Serif"/>
              </a:rPr>
              <a:t>, there is no need to wrap the expression in parentheses. For example:</a:t>
            </a:r>
          </a:p>
        </p:txBody>
      </p:sp>
      <p:sp>
        <p:nvSpPr>
          <p:cNvPr id="7" name="TextBox 6">
            <a:extLst>
              <a:ext uri="{FF2B5EF4-FFF2-40B4-BE49-F238E27FC236}">
                <a16:creationId xmlns:a16="http://schemas.microsoft.com/office/drawing/2014/main" id="{280288AE-F526-4A26-B6AD-56DDD94BBBE0}"/>
              </a:ext>
            </a:extLst>
          </p:cNvPr>
          <p:cNvSpPr txBox="1"/>
          <p:nvPr/>
        </p:nvSpPr>
        <p:spPr>
          <a:xfrm>
            <a:off x="624028" y="1466134"/>
            <a:ext cx="5683044"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"black"</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"purple"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a:t>
            </a:r>
          </a:p>
        </p:txBody>
      </p:sp>
      <p:sp>
        <p:nvSpPr>
          <p:cNvPr id="9" name="TextBox 8">
            <a:extLst>
              <a:ext uri="{FF2B5EF4-FFF2-40B4-BE49-F238E27FC236}">
                <a16:creationId xmlns:a16="http://schemas.microsoft.com/office/drawing/2014/main" id="{7A608667-FB47-4CC2-9D20-A551628FBC9F}"/>
              </a:ext>
            </a:extLst>
          </p:cNvPr>
          <p:cNvSpPr txBox="1"/>
          <p:nvPr/>
        </p:nvSpPr>
        <p:spPr>
          <a:xfrm>
            <a:off x="491614" y="4234084"/>
            <a:ext cx="11021960" cy="1200329"/>
          </a:xfrm>
          <a:prstGeom prst="rect">
            <a:avLst/>
          </a:prstGeom>
          <a:noFill/>
        </p:spPr>
        <p:txBody>
          <a:bodyPr wrap="square">
            <a:spAutoFit/>
          </a:bodyPr>
          <a:lstStyle/>
          <a:p>
            <a:r>
              <a:rPr lang="en-US" dirty="0"/>
              <a:t>The </a:t>
            </a:r>
            <a:r>
              <a:rPr lang="en-US" dirty="0" err="1"/>
              <a:t>destructured</a:t>
            </a:r>
            <a:r>
              <a:rPr lang="en-US" dirty="0"/>
              <a:t> assignment in this code works in a similar manner to the last array </a:t>
            </a:r>
            <a:r>
              <a:rPr lang="en-US" dirty="0" err="1"/>
              <a:t>destructuring</a:t>
            </a:r>
            <a:r>
              <a:rPr lang="en-US" dirty="0"/>
              <a:t> example. The only difference is that </a:t>
            </a:r>
            <a:r>
              <a:rPr lang="en-US" dirty="0" err="1"/>
              <a:t>firstColor</a:t>
            </a:r>
            <a:r>
              <a:rPr lang="en-US" dirty="0"/>
              <a:t> and </a:t>
            </a:r>
            <a:r>
              <a:rPr lang="en-US" dirty="0" err="1"/>
              <a:t>secondColor</a:t>
            </a:r>
            <a:r>
              <a:rPr lang="en-US" dirty="0"/>
              <a:t> have already been defined. Most of the time, that’s probably all you’ll need to know about array </a:t>
            </a:r>
            <a:r>
              <a:rPr lang="en-US" dirty="0" err="1"/>
              <a:t>destructuring</a:t>
            </a:r>
            <a:r>
              <a:rPr lang="en-US" dirty="0"/>
              <a:t> assignment, but there’s a little bit more to it that you will probably find useful.</a:t>
            </a:r>
            <a:endParaRPr lang="en-IN" dirty="0"/>
          </a:p>
        </p:txBody>
      </p:sp>
    </p:spTree>
    <p:extLst>
      <p:ext uri="{BB962C8B-B14F-4D97-AF65-F5344CB8AC3E}">
        <p14:creationId xmlns:p14="http://schemas.microsoft.com/office/powerpoint/2010/main" val="2296678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34B77B-F5A5-4E70-BE65-E4C4BE0D1B01}"/>
              </a:ext>
            </a:extLst>
          </p:cNvPr>
          <p:cNvSpPr txBox="1"/>
          <p:nvPr/>
        </p:nvSpPr>
        <p:spPr>
          <a:xfrm>
            <a:off x="363794" y="648929"/>
            <a:ext cx="9861756" cy="923330"/>
          </a:xfrm>
          <a:prstGeom prst="rect">
            <a:avLst/>
          </a:prstGeom>
          <a:noFill/>
        </p:spPr>
        <p:txBody>
          <a:bodyPr wrap="square">
            <a:spAutoFit/>
          </a:bodyPr>
          <a:lstStyle/>
          <a:p>
            <a:r>
              <a:rPr lang="en-US" b="0" i="0" dirty="0">
                <a:solidFill>
                  <a:srgbClr val="000000"/>
                </a:solidFill>
                <a:effectLst/>
                <a:latin typeface="Noto Serif"/>
              </a:rPr>
              <a:t>Array </a:t>
            </a:r>
            <a:r>
              <a:rPr lang="en-US" b="0" i="0" dirty="0" err="1">
                <a:solidFill>
                  <a:srgbClr val="000000"/>
                </a:solidFill>
                <a:effectLst/>
                <a:latin typeface="Noto Serif"/>
              </a:rPr>
              <a:t>destructuring</a:t>
            </a:r>
            <a:r>
              <a:rPr lang="en-US" b="0" i="0" dirty="0">
                <a:solidFill>
                  <a:srgbClr val="000000"/>
                </a:solidFill>
                <a:effectLst/>
                <a:latin typeface="Noto Serif"/>
              </a:rPr>
              <a:t> assignment has a very unique use case that makes it easier to swap the values of two variables. Value swapping is a common operation in sorting algorithms, and the ECMAScript 5 way of swapping variables involves a third, temporary variable, as in this example:</a:t>
            </a:r>
            <a:endParaRPr lang="en-IN" dirty="0"/>
          </a:p>
        </p:txBody>
      </p:sp>
      <p:sp>
        <p:nvSpPr>
          <p:cNvPr id="7" name="TextBox 6">
            <a:extLst>
              <a:ext uri="{FF2B5EF4-FFF2-40B4-BE49-F238E27FC236}">
                <a16:creationId xmlns:a16="http://schemas.microsoft.com/office/drawing/2014/main" id="{E408F8F7-82F9-4E85-A6DE-BB207F88DCD8}"/>
              </a:ext>
            </a:extLst>
          </p:cNvPr>
          <p:cNvSpPr txBox="1"/>
          <p:nvPr/>
        </p:nvSpPr>
        <p:spPr>
          <a:xfrm>
            <a:off x="363794" y="1997839"/>
            <a:ext cx="3578941" cy="2862322"/>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a:t>
            </a:r>
          </a:p>
          <a:p>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tmp</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a</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2</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b</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1  </a:t>
            </a: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8A6D0D4D-B8EC-4CC3-AC2B-542322DA79C1}"/>
              </a:ext>
            </a:extLst>
          </p:cNvPr>
          <p:cNvSpPr txBox="1"/>
          <p:nvPr/>
        </p:nvSpPr>
        <p:spPr>
          <a:xfrm>
            <a:off x="5147187" y="1572259"/>
            <a:ext cx="6135328" cy="1200329"/>
          </a:xfrm>
          <a:prstGeom prst="rect">
            <a:avLst/>
          </a:prstGeom>
          <a:noFill/>
        </p:spPr>
        <p:txBody>
          <a:bodyPr wrap="square">
            <a:spAutoFit/>
          </a:bodyPr>
          <a:lstStyle/>
          <a:p>
            <a:r>
              <a:rPr lang="en-US" dirty="0"/>
              <a:t>The intermediate variable </a:t>
            </a:r>
            <a:r>
              <a:rPr lang="en-US" dirty="0" err="1"/>
              <a:t>tmp</a:t>
            </a:r>
            <a:r>
              <a:rPr lang="en-US" dirty="0"/>
              <a:t> is necessary in order to swap the values of a and b. Using array </a:t>
            </a:r>
            <a:r>
              <a:rPr lang="en-US" dirty="0" err="1"/>
              <a:t>destructuring</a:t>
            </a:r>
            <a:r>
              <a:rPr lang="en-US" dirty="0"/>
              <a:t> assignment, however, there’s no need for that extra variable. Here’s how you can swap variables in ECMAScript 6:</a:t>
            </a:r>
            <a:endParaRPr lang="en-IN" dirty="0"/>
          </a:p>
        </p:txBody>
      </p:sp>
      <p:sp>
        <p:nvSpPr>
          <p:cNvPr id="11" name="TextBox 10">
            <a:extLst>
              <a:ext uri="{FF2B5EF4-FFF2-40B4-BE49-F238E27FC236}">
                <a16:creationId xmlns:a16="http://schemas.microsoft.com/office/drawing/2014/main" id="{DF808112-9DA7-4E62-A8BB-7EA60EBA869E}"/>
              </a:ext>
            </a:extLst>
          </p:cNvPr>
          <p:cNvSpPr txBox="1"/>
          <p:nvPr/>
        </p:nvSpPr>
        <p:spPr>
          <a:xfrm>
            <a:off x="3175819" y="88490"/>
            <a:ext cx="3942736" cy="369332"/>
          </a:xfrm>
          <a:prstGeom prst="rect">
            <a:avLst/>
          </a:prstGeom>
          <a:noFill/>
        </p:spPr>
        <p:txBody>
          <a:bodyPr wrap="square" rtlCol="0">
            <a:spAutoFit/>
          </a:bodyPr>
          <a:lstStyle/>
          <a:p>
            <a:pPr algn="ctr"/>
            <a:r>
              <a:rPr lang="en-IN" b="1" dirty="0"/>
              <a:t>Swap Two Number</a:t>
            </a:r>
          </a:p>
        </p:txBody>
      </p:sp>
      <p:sp>
        <p:nvSpPr>
          <p:cNvPr id="13" name="TextBox 12">
            <a:extLst>
              <a:ext uri="{FF2B5EF4-FFF2-40B4-BE49-F238E27FC236}">
                <a16:creationId xmlns:a16="http://schemas.microsoft.com/office/drawing/2014/main" id="{DE49CCA1-829C-419A-AD4F-78EC3475C951}"/>
              </a:ext>
            </a:extLst>
          </p:cNvPr>
          <p:cNvSpPr txBox="1"/>
          <p:nvPr/>
        </p:nvSpPr>
        <p:spPr>
          <a:xfrm>
            <a:off x="5073445" y="2772588"/>
            <a:ext cx="6135328" cy="2585323"/>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Swapping variables in ECMAScript 5</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Swapping variables in ECMAScript 6</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 = [ </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b</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a:t>
            </a:r>
            <a:endParaRPr lang="en-IN"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9A9F1816-9BDA-4C29-97F8-EE21A43C3FD6}"/>
              </a:ext>
            </a:extLst>
          </p:cNvPr>
          <p:cNvSpPr txBox="1"/>
          <p:nvPr/>
        </p:nvSpPr>
        <p:spPr>
          <a:xfrm>
            <a:off x="147484" y="5470407"/>
            <a:ext cx="11562735" cy="1477328"/>
          </a:xfrm>
          <a:prstGeom prst="rect">
            <a:avLst/>
          </a:prstGeom>
          <a:noFill/>
        </p:spPr>
        <p:txBody>
          <a:bodyPr wrap="square">
            <a:spAutoFit/>
          </a:bodyPr>
          <a:lstStyle/>
          <a:p>
            <a:r>
              <a:rPr lang="en-US" dirty="0"/>
              <a:t>The array </a:t>
            </a:r>
            <a:r>
              <a:rPr lang="en-US" dirty="0" err="1"/>
              <a:t>destructuring</a:t>
            </a:r>
            <a:r>
              <a:rPr lang="en-US" dirty="0"/>
              <a:t> assignment in this example looks like a mirror image. The left side of the assignment (before the equals sign) is a </a:t>
            </a:r>
            <a:r>
              <a:rPr lang="en-US" dirty="0" err="1"/>
              <a:t>destructuring</a:t>
            </a:r>
            <a:r>
              <a:rPr lang="en-US" dirty="0"/>
              <a:t> pattern just like those in the other array </a:t>
            </a:r>
            <a:r>
              <a:rPr lang="en-US" dirty="0" err="1"/>
              <a:t>destructuring</a:t>
            </a:r>
            <a:r>
              <a:rPr lang="en-US" dirty="0"/>
              <a:t> examples. The right side is an array literal that is temporarily created for the swap. The </a:t>
            </a:r>
            <a:r>
              <a:rPr lang="en-US" dirty="0" err="1"/>
              <a:t>destructuring</a:t>
            </a:r>
            <a:r>
              <a:rPr lang="en-US" dirty="0"/>
              <a:t> happens on the temporary array, which has the values of b and a copied into its first and second positions. The effect is that the variables have swapped values.</a:t>
            </a:r>
          </a:p>
          <a:p>
            <a:endParaRPr lang="en-US" dirty="0"/>
          </a:p>
        </p:txBody>
      </p:sp>
      <p:sp>
        <p:nvSpPr>
          <p:cNvPr id="2" name="Freeform: Shape 1">
            <a:extLst>
              <a:ext uri="{FF2B5EF4-FFF2-40B4-BE49-F238E27FC236}">
                <a16:creationId xmlns:a16="http://schemas.microsoft.com/office/drawing/2014/main" id="{A1F5B12B-292C-4685-B5B7-C11EF2E6C4C9}"/>
              </a:ext>
            </a:extLst>
          </p:cNvPr>
          <p:cNvSpPr/>
          <p:nvPr/>
        </p:nvSpPr>
        <p:spPr>
          <a:xfrm>
            <a:off x="5545394" y="3952568"/>
            <a:ext cx="1288025" cy="275303"/>
          </a:xfrm>
          <a:custGeom>
            <a:avLst/>
            <a:gdLst>
              <a:gd name="connsiteX0" fmla="*/ 1288025 w 1288025"/>
              <a:gd name="connsiteY0" fmla="*/ 275303 h 275303"/>
              <a:gd name="connsiteX1" fmla="*/ 1258529 w 1288025"/>
              <a:gd name="connsiteY1" fmla="*/ 226142 h 275303"/>
              <a:gd name="connsiteX2" fmla="*/ 1238864 w 1288025"/>
              <a:gd name="connsiteY2" fmla="*/ 186813 h 275303"/>
              <a:gd name="connsiteX3" fmla="*/ 1209367 w 1288025"/>
              <a:gd name="connsiteY3" fmla="*/ 147484 h 275303"/>
              <a:gd name="connsiteX4" fmla="*/ 1179871 w 1288025"/>
              <a:gd name="connsiteY4" fmla="*/ 98322 h 275303"/>
              <a:gd name="connsiteX5" fmla="*/ 1111045 w 1288025"/>
              <a:gd name="connsiteY5" fmla="*/ 49161 h 275303"/>
              <a:gd name="connsiteX6" fmla="*/ 1081548 w 1288025"/>
              <a:gd name="connsiteY6" fmla="*/ 39329 h 275303"/>
              <a:gd name="connsiteX7" fmla="*/ 963561 w 1288025"/>
              <a:gd name="connsiteY7" fmla="*/ 0 h 275303"/>
              <a:gd name="connsiteX8" fmla="*/ 265471 w 1288025"/>
              <a:gd name="connsiteY8" fmla="*/ 9832 h 275303"/>
              <a:gd name="connsiteX9" fmla="*/ 186812 w 1288025"/>
              <a:gd name="connsiteY9" fmla="*/ 19664 h 275303"/>
              <a:gd name="connsiteX10" fmla="*/ 127819 w 1288025"/>
              <a:gd name="connsiteY10" fmla="*/ 49161 h 275303"/>
              <a:gd name="connsiteX11" fmla="*/ 78658 w 1288025"/>
              <a:gd name="connsiteY11" fmla="*/ 68826 h 275303"/>
              <a:gd name="connsiteX12" fmla="*/ 49161 w 1288025"/>
              <a:gd name="connsiteY12" fmla="*/ 108155 h 275303"/>
              <a:gd name="connsiteX13" fmla="*/ 19664 w 1288025"/>
              <a:gd name="connsiteY13" fmla="*/ 196645 h 275303"/>
              <a:gd name="connsiteX14" fmla="*/ 0 w 1288025"/>
              <a:gd name="connsiteY14" fmla="*/ 235974 h 27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8025" h="275303">
                <a:moveTo>
                  <a:pt x="1288025" y="275303"/>
                </a:moveTo>
                <a:cubicBezTo>
                  <a:pt x="1278193" y="258916"/>
                  <a:pt x="1267810" y="242847"/>
                  <a:pt x="1258529" y="226142"/>
                </a:cubicBezTo>
                <a:cubicBezTo>
                  <a:pt x="1251411" y="213329"/>
                  <a:pt x="1246632" y="199242"/>
                  <a:pt x="1238864" y="186813"/>
                </a:cubicBezTo>
                <a:cubicBezTo>
                  <a:pt x="1230179" y="172917"/>
                  <a:pt x="1218457" y="161119"/>
                  <a:pt x="1209367" y="147484"/>
                </a:cubicBezTo>
                <a:cubicBezTo>
                  <a:pt x="1198767" y="131583"/>
                  <a:pt x="1192455" y="112704"/>
                  <a:pt x="1179871" y="98322"/>
                </a:cubicBezTo>
                <a:cubicBezTo>
                  <a:pt x="1176412" y="94369"/>
                  <a:pt x="1121492" y="54385"/>
                  <a:pt x="1111045" y="49161"/>
                </a:cubicBezTo>
                <a:cubicBezTo>
                  <a:pt x="1101775" y="44526"/>
                  <a:pt x="1090818" y="43964"/>
                  <a:pt x="1081548" y="39329"/>
                </a:cubicBezTo>
                <a:cubicBezTo>
                  <a:pt x="993184" y="-4853"/>
                  <a:pt x="1074747" y="15883"/>
                  <a:pt x="963561" y="0"/>
                </a:cubicBezTo>
                <a:lnTo>
                  <a:pt x="265471" y="9832"/>
                </a:lnTo>
                <a:cubicBezTo>
                  <a:pt x="239056" y="10501"/>
                  <a:pt x="212219" y="12405"/>
                  <a:pt x="186812" y="19664"/>
                </a:cubicBezTo>
                <a:cubicBezTo>
                  <a:pt x="165672" y="25704"/>
                  <a:pt x="147834" y="40063"/>
                  <a:pt x="127819" y="49161"/>
                </a:cubicBezTo>
                <a:cubicBezTo>
                  <a:pt x="111752" y="56465"/>
                  <a:pt x="95045" y="62271"/>
                  <a:pt x="78658" y="68826"/>
                </a:cubicBezTo>
                <a:cubicBezTo>
                  <a:pt x="68826" y="81936"/>
                  <a:pt x="57119" y="93830"/>
                  <a:pt x="49161" y="108155"/>
                </a:cubicBezTo>
                <a:cubicBezTo>
                  <a:pt x="16056" y="167743"/>
                  <a:pt x="40224" y="141816"/>
                  <a:pt x="19664" y="196645"/>
                </a:cubicBezTo>
                <a:cubicBezTo>
                  <a:pt x="14518" y="210369"/>
                  <a:pt x="6555" y="222864"/>
                  <a:pt x="0" y="2359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86C5BE96-FDD8-42A4-9038-8641C45AA006}"/>
              </a:ext>
            </a:extLst>
          </p:cNvPr>
          <p:cNvSpPr/>
          <p:nvPr/>
        </p:nvSpPr>
        <p:spPr>
          <a:xfrm rot="12370734">
            <a:off x="5422491" y="4099305"/>
            <a:ext cx="245806" cy="1376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486806CA-EFD8-4D67-BCBE-3ACE3847D9C2}"/>
              </a:ext>
            </a:extLst>
          </p:cNvPr>
          <p:cNvSpPr/>
          <p:nvPr/>
        </p:nvSpPr>
        <p:spPr>
          <a:xfrm>
            <a:off x="6017343" y="4023047"/>
            <a:ext cx="1288025" cy="275303"/>
          </a:xfrm>
          <a:custGeom>
            <a:avLst/>
            <a:gdLst>
              <a:gd name="connsiteX0" fmla="*/ 1288025 w 1288025"/>
              <a:gd name="connsiteY0" fmla="*/ 275303 h 275303"/>
              <a:gd name="connsiteX1" fmla="*/ 1258529 w 1288025"/>
              <a:gd name="connsiteY1" fmla="*/ 226142 h 275303"/>
              <a:gd name="connsiteX2" fmla="*/ 1238864 w 1288025"/>
              <a:gd name="connsiteY2" fmla="*/ 186813 h 275303"/>
              <a:gd name="connsiteX3" fmla="*/ 1209367 w 1288025"/>
              <a:gd name="connsiteY3" fmla="*/ 147484 h 275303"/>
              <a:gd name="connsiteX4" fmla="*/ 1179871 w 1288025"/>
              <a:gd name="connsiteY4" fmla="*/ 98322 h 275303"/>
              <a:gd name="connsiteX5" fmla="*/ 1111045 w 1288025"/>
              <a:gd name="connsiteY5" fmla="*/ 49161 h 275303"/>
              <a:gd name="connsiteX6" fmla="*/ 1081548 w 1288025"/>
              <a:gd name="connsiteY6" fmla="*/ 39329 h 275303"/>
              <a:gd name="connsiteX7" fmla="*/ 963561 w 1288025"/>
              <a:gd name="connsiteY7" fmla="*/ 0 h 275303"/>
              <a:gd name="connsiteX8" fmla="*/ 265471 w 1288025"/>
              <a:gd name="connsiteY8" fmla="*/ 9832 h 275303"/>
              <a:gd name="connsiteX9" fmla="*/ 186812 w 1288025"/>
              <a:gd name="connsiteY9" fmla="*/ 19664 h 275303"/>
              <a:gd name="connsiteX10" fmla="*/ 127819 w 1288025"/>
              <a:gd name="connsiteY10" fmla="*/ 49161 h 275303"/>
              <a:gd name="connsiteX11" fmla="*/ 78658 w 1288025"/>
              <a:gd name="connsiteY11" fmla="*/ 68826 h 275303"/>
              <a:gd name="connsiteX12" fmla="*/ 49161 w 1288025"/>
              <a:gd name="connsiteY12" fmla="*/ 108155 h 275303"/>
              <a:gd name="connsiteX13" fmla="*/ 19664 w 1288025"/>
              <a:gd name="connsiteY13" fmla="*/ 196645 h 275303"/>
              <a:gd name="connsiteX14" fmla="*/ 0 w 1288025"/>
              <a:gd name="connsiteY14" fmla="*/ 235974 h 27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8025" h="275303">
                <a:moveTo>
                  <a:pt x="1288025" y="275303"/>
                </a:moveTo>
                <a:cubicBezTo>
                  <a:pt x="1278193" y="258916"/>
                  <a:pt x="1267810" y="242847"/>
                  <a:pt x="1258529" y="226142"/>
                </a:cubicBezTo>
                <a:cubicBezTo>
                  <a:pt x="1251411" y="213329"/>
                  <a:pt x="1246632" y="199242"/>
                  <a:pt x="1238864" y="186813"/>
                </a:cubicBezTo>
                <a:cubicBezTo>
                  <a:pt x="1230179" y="172917"/>
                  <a:pt x="1218457" y="161119"/>
                  <a:pt x="1209367" y="147484"/>
                </a:cubicBezTo>
                <a:cubicBezTo>
                  <a:pt x="1198767" y="131583"/>
                  <a:pt x="1192455" y="112704"/>
                  <a:pt x="1179871" y="98322"/>
                </a:cubicBezTo>
                <a:cubicBezTo>
                  <a:pt x="1176412" y="94369"/>
                  <a:pt x="1121492" y="54385"/>
                  <a:pt x="1111045" y="49161"/>
                </a:cubicBezTo>
                <a:cubicBezTo>
                  <a:pt x="1101775" y="44526"/>
                  <a:pt x="1090818" y="43964"/>
                  <a:pt x="1081548" y="39329"/>
                </a:cubicBezTo>
                <a:cubicBezTo>
                  <a:pt x="993184" y="-4853"/>
                  <a:pt x="1074747" y="15883"/>
                  <a:pt x="963561" y="0"/>
                </a:cubicBezTo>
                <a:lnTo>
                  <a:pt x="265471" y="9832"/>
                </a:lnTo>
                <a:cubicBezTo>
                  <a:pt x="239056" y="10501"/>
                  <a:pt x="212219" y="12405"/>
                  <a:pt x="186812" y="19664"/>
                </a:cubicBezTo>
                <a:cubicBezTo>
                  <a:pt x="165672" y="25704"/>
                  <a:pt x="147834" y="40063"/>
                  <a:pt x="127819" y="49161"/>
                </a:cubicBezTo>
                <a:cubicBezTo>
                  <a:pt x="111752" y="56465"/>
                  <a:pt x="95045" y="62271"/>
                  <a:pt x="78658" y="68826"/>
                </a:cubicBezTo>
                <a:cubicBezTo>
                  <a:pt x="68826" y="81936"/>
                  <a:pt x="57119" y="93830"/>
                  <a:pt x="49161" y="108155"/>
                </a:cubicBezTo>
                <a:cubicBezTo>
                  <a:pt x="16056" y="167743"/>
                  <a:pt x="40224" y="141816"/>
                  <a:pt x="19664" y="196645"/>
                </a:cubicBezTo>
                <a:cubicBezTo>
                  <a:pt x="14518" y="210369"/>
                  <a:pt x="6555" y="222864"/>
                  <a:pt x="0" y="2359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Isosceles Triangle 13">
            <a:extLst>
              <a:ext uri="{FF2B5EF4-FFF2-40B4-BE49-F238E27FC236}">
                <a16:creationId xmlns:a16="http://schemas.microsoft.com/office/drawing/2014/main" id="{BBFC022E-F167-4442-9B03-3517C2DFA5E7}"/>
              </a:ext>
            </a:extLst>
          </p:cNvPr>
          <p:cNvSpPr/>
          <p:nvPr/>
        </p:nvSpPr>
        <p:spPr>
          <a:xfrm rot="12370734">
            <a:off x="5894440" y="4169784"/>
            <a:ext cx="245806" cy="13765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72027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3C94F3-571D-42D4-834B-2A47A828AE0B}"/>
              </a:ext>
            </a:extLst>
          </p:cNvPr>
          <p:cNvSpPr txBox="1"/>
          <p:nvPr/>
        </p:nvSpPr>
        <p:spPr>
          <a:xfrm>
            <a:off x="1533833" y="0"/>
            <a:ext cx="6135328" cy="369332"/>
          </a:xfrm>
          <a:prstGeom prst="rect">
            <a:avLst/>
          </a:prstGeom>
          <a:noFill/>
        </p:spPr>
        <p:txBody>
          <a:bodyPr wrap="square">
            <a:spAutoFit/>
          </a:bodyPr>
          <a:lstStyle/>
          <a:p>
            <a:pPr algn="l" fontAlgn="base"/>
            <a:r>
              <a:rPr lang="en-IN" b="1" i="0" dirty="0">
                <a:solidFill>
                  <a:srgbClr val="000000"/>
                </a:solidFill>
                <a:effectLst/>
                <a:latin typeface="Noto Sans"/>
              </a:rPr>
              <a:t>Default Values</a:t>
            </a:r>
          </a:p>
        </p:txBody>
      </p:sp>
      <p:sp>
        <p:nvSpPr>
          <p:cNvPr id="7" name="TextBox 6">
            <a:extLst>
              <a:ext uri="{FF2B5EF4-FFF2-40B4-BE49-F238E27FC236}">
                <a16:creationId xmlns:a16="http://schemas.microsoft.com/office/drawing/2014/main" id="{124D34EA-764A-42EE-93F2-A08231096A3D}"/>
              </a:ext>
            </a:extLst>
          </p:cNvPr>
          <p:cNvSpPr txBox="1"/>
          <p:nvPr/>
        </p:nvSpPr>
        <p:spPr>
          <a:xfrm>
            <a:off x="1219200" y="369332"/>
            <a:ext cx="10972799" cy="646331"/>
          </a:xfrm>
          <a:prstGeom prst="rect">
            <a:avLst/>
          </a:prstGeom>
          <a:noFill/>
        </p:spPr>
        <p:txBody>
          <a:bodyPr wrap="square">
            <a:spAutoFit/>
          </a:bodyPr>
          <a:lstStyle/>
          <a:p>
            <a:r>
              <a:rPr lang="en-US" dirty="0"/>
              <a:t>Array </a:t>
            </a:r>
            <a:r>
              <a:rPr lang="en-US" dirty="0" err="1"/>
              <a:t>destructuring</a:t>
            </a:r>
            <a:r>
              <a:rPr lang="en-US" dirty="0"/>
              <a:t> assignment allows you to specify a default value for any position in the array, too. The default value is used when the property at the given position either doesn’t exist or has the value undefined. For example</a:t>
            </a:r>
            <a:endParaRPr lang="en-IN" dirty="0"/>
          </a:p>
        </p:txBody>
      </p:sp>
      <p:sp>
        <p:nvSpPr>
          <p:cNvPr id="9" name="TextBox 8">
            <a:extLst>
              <a:ext uri="{FF2B5EF4-FFF2-40B4-BE49-F238E27FC236}">
                <a16:creationId xmlns:a16="http://schemas.microsoft.com/office/drawing/2014/main" id="{52DC6C56-2AD7-4310-B9CD-B32B615640F4}"/>
              </a:ext>
            </a:extLst>
          </p:cNvPr>
          <p:cNvSpPr txBox="1"/>
          <p:nvPr/>
        </p:nvSpPr>
        <p:spPr>
          <a:xfrm>
            <a:off x="196646" y="1221176"/>
            <a:ext cx="6587612" cy="1754326"/>
          </a:xfrm>
          <a:prstGeom prst="rect">
            <a:avLst/>
          </a:prstGeom>
          <a:noFill/>
        </p:spPr>
        <p:txBody>
          <a:bodyPr wrap="square">
            <a:spAutoFit/>
          </a:bodyPr>
          <a:lstStyle/>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firstColor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"red"</a:t>
            </a:r>
            <a:endParaRPr lang="en-US" b="0" dirty="0">
              <a:solidFill>
                <a:srgbClr val="000000"/>
              </a:solidFill>
              <a:effectLst/>
              <a:latin typeface="Consolas" panose="020B0609020204030204" pitchFamily="49" charset="0"/>
            </a:endParaRPr>
          </a:p>
          <a:p>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secondColor</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"green"</a:t>
            </a:r>
            <a:endParaRPr lang="en-US"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DD17B700-6B76-41DB-B101-EE311F94685C}"/>
              </a:ext>
            </a:extLst>
          </p:cNvPr>
          <p:cNvSpPr txBox="1"/>
          <p:nvPr/>
        </p:nvSpPr>
        <p:spPr>
          <a:xfrm>
            <a:off x="196646" y="3771122"/>
            <a:ext cx="6135328" cy="923330"/>
          </a:xfrm>
          <a:prstGeom prst="rect">
            <a:avLst/>
          </a:prstGeom>
          <a:noFill/>
        </p:spPr>
        <p:txBody>
          <a:bodyPr wrap="square">
            <a:spAutoFit/>
          </a:bodyPr>
          <a:lstStyle/>
          <a:p>
            <a:r>
              <a:rPr lang="en-US" dirty="0"/>
              <a:t>In this code, the colors array has only one item, so there is nothing for </a:t>
            </a:r>
            <a:r>
              <a:rPr lang="en-US" dirty="0" err="1"/>
              <a:t>secondColor</a:t>
            </a:r>
            <a:r>
              <a:rPr lang="en-US" dirty="0"/>
              <a:t> to match. Since there is a default value, </a:t>
            </a:r>
            <a:r>
              <a:rPr lang="en-US" dirty="0" err="1"/>
              <a:t>secondColor</a:t>
            </a:r>
            <a:r>
              <a:rPr lang="en-US" dirty="0"/>
              <a:t> is set to "green" instead of undefined</a:t>
            </a:r>
            <a:endParaRPr lang="en-IN" dirty="0"/>
          </a:p>
        </p:txBody>
      </p:sp>
    </p:spTree>
    <p:extLst>
      <p:ext uri="{BB962C8B-B14F-4D97-AF65-F5344CB8AC3E}">
        <p14:creationId xmlns:p14="http://schemas.microsoft.com/office/powerpoint/2010/main" val="330663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02E895-3320-43F6-91C6-15C7504C22CC}"/>
              </a:ext>
            </a:extLst>
          </p:cNvPr>
          <p:cNvSpPr txBox="1"/>
          <p:nvPr/>
        </p:nvSpPr>
        <p:spPr>
          <a:xfrm>
            <a:off x="1091381" y="161439"/>
            <a:ext cx="6135328" cy="369332"/>
          </a:xfrm>
          <a:prstGeom prst="rect">
            <a:avLst/>
          </a:prstGeom>
          <a:noFill/>
        </p:spPr>
        <p:txBody>
          <a:bodyPr wrap="square">
            <a:spAutoFit/>
          </a:bodyPr>
          <a:lstStyle/>
          <a:p>
            <a:pPr algn="l" fontAlgn="base"/>
            <a:r>
              <a:rPr lang="en-IN" b="1" i="0" dirty="0">
                <a:solidFill>
                  <a:srgbClr val="000000"/>
                </a:solidFill>
                <a:effectLst/>
                <a:latin typeface="Noto Sans"/>
              </a:rPr>
              <a:t>Nested </a:t>
            </a:r>
            <a:r>
              <a:rPr lang="en-IN" b="1" i="0" dirty="0" err="1">
                <a:solidFill>
                  <a:srgbClr val="000000"/>
                </a:solidFill>
                <a:effectLst/>
                <a:latin typeface="Noto Sans"/>
              </a:rPr>
              <a:t>Destructuring</a:t>
            </a:r>
            <a:endParaRPr lang="en-IN" b="1" i="0" dirty="0">
              <a:solidFill>
                <a:srgbClr val="000000"/>
              </a:solidFill>
              <a:effectLst/>
              <a:latin typeface="Noto Sans"/>
            </a:endParaRPr>
          </a:p>
        </p:txBody>
      </p:sp>
      <p:sp>
        <p:nvSpPr>
          <p:cNvPr id="6" name="TextBox 5">
            <a:extLst>
              <a:ext uri="{FF2B5EF4-FFF2-40B4-BE49-F238E27FC236}">
                <a16:creationId xmlns:a16="http://schemas.microsoft.com/office/drawing/2014/main" id="{83626EEC-47C0-42FA-80A5-5957071E74D0}"/>
              </a:ext>
            </a:extLst>
          </p:cNvPr>
          <p:cNvSpPr txBox="1"/>
          <p:nvPr/>
        </p:nvSpPr>
        <p:spPr>
          <a:xfrm>
            <a:off x="-39329" y="682945"/>
            <a:ext cx="11887199" cy="646331"/>
          </a:xfrm>
          <a:prstGeom prst="rect">
            <a:avLst/>
          </a:prstGeom>
          <a:noFill/>
        </p:spPr>
        <p:txBody>
          <a:bodyPr wrap="square">
            <a:spAutoFit/>
          </a:bodyPr>
          <a:lstStyle/>
          <a:p>
            <a:r>
              <a:rPr lang="en-US" b="0" i="0" dirty="0">
                <a:solidFill>
                  <a:srgbClr val="000000"/>
                </a:solidFill>
                <a:effectLst/>
                <a:latin typeface="Noto Serif"/>
              </a:rPr>
              <a:t>You can </a:t>
            </a:r>
            <a:r>
              <a:rPr lang="en-US" b="0" i="0" dirty="0" err="1">
                <a:solidFill>
                  <a:srgbClr val="000000"/>
                </a:solidFill>
                <a:effectLst/>
                <a:latin typeface="Noto Serif"/>
              </a:rPr>
              <a:t>destructure</a:t>
            </a:r>
            <a:r>
              <a:rPr lang="en-US" b="0" i="0" dirty="0">
                <a:solidFill>
                  <a:srgbClr val="000000"/>
                </a:solidFill>
                <a:effectLst/>
                <a:latin typeface="Noto Serif"/>
              </a:rPr>
              <a:t> nested arrays in a manner similar to </a:t>
            </a:r>
            <a:r>
              <a:rPr lang="en-US" b="0" i="0" dirty="0" err="1">
                <a:solidFill>
                  <a:srgbClr val="000000"/>
                </a:solidFill>
                <a:effectLst/>
                <a:latin typeface="Noto Serif"/>
              </a:rPr>
              <a:t>destructuring</a:t>
            </a:r>
            <a:r>
              <a:rPr lang="en-US" b="0" i="0" dirty="0">
                <a:solidFill>
                  <a:srgbClr val="000000"/>
                </a:solidFill>
                <a:effectLst/>
                <a:latin typeface="Noto Serif"/>
              </a:rPr>
              <a:t> nested objects. By inserting another array pattern into the overall pattern, the </a:t>
            </a:r>
            <a:r>
              <a:rPr lang="en-US" b="0" i="0" dirty="0" err="1">
                <a:solidFill>
                  <a:srgbClr val="000000"/>
                </a:solidFill>
                <a:effectLst/>
                <a:latin typeface="Noto Serif"/>
              </a:rPr>
              <a:t>destructuring</a:t>
            </a:r>
            <a:r>
              <a:rPr lang="en-US" b="0" i="0" dirty="0">
                <a:solidFill>
                  <a:srgbClr val="000000"/>
                </a:solidFill>
                <a:effectLst/>
                <a:latin typeface="Noto Serif"/>
              </a:rPr>
              <a:t> will descend into a nested array, like this:</a:t>
            </a:r>
            <a:endParaRPr lang="en-IN" dirty="0"/>
          </a:p>
        </p:txBody>
      </p:sp>
      <p:sp>
        <p:nvSpPr>
          <p:cNvPr id="8" name="TextBox 7">
            <a:extLst>
              <a:ext uri="{FF2B5EF4-FFF2-40B4-BE49-F238E27FC236}">
                <a16:creationId xmlns:a16="http://schemas.microsoft.com/office/drawing/2014/main" id="{634E0FC9-AA64-4A90-97AB-54D66492D9BA}"/>
              </a:ext>
            </a:extLst>
          </p:cNvPr>
          <p:cNvSpPr txBox="1"/>
          <p:nvPr/>
        </p:nvSpPr>
        <p:spPr>
          <a:xfrm>
            <a:off x="1091381" y="1462463"/>
            <a:ext cx="7865806"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lightgreen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later</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secondColor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"green"</a:t>
            </a:r>
            <a:endParaRPr lang="en-IN"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87D856E9-82BB-4A1E-A16F-88D5753927FC}"/>
              </a:ext>
            </a:extLst>
          </p:cNvPr>
          <p:cNvSpPr txBox="1"/>
          <p:nvPr/>
        </p:nvSpPr>
        <p:spPr>
          <a:xfrm>
            <a:off x="307258" y="4241375"/>
            <a:ext cx="11540611" cy="923330"/>
          </a:xfrm>
          <a:prstGeom prst="rect">
            <a:avLst/>
          </a:prstGeom>
          <a:noFill/>
        </p:spPr>
        <p:txBody>
          <a:bodyPr wrap="square">
            <a:spAutoFit/>
          </a:bodyPr>
          <a:lstStyle/>
          <a:p>
            <a:r>
              <a:rPr lang="en-US" dirty="0"/>
              <a:t>Here, the </a:t>
            </a:r>
            <a:r>
              <a:rPr lang="en-US" dirty="0" err="1"/>
              <a:t>secondColor</a:t>
            </a:r>
            <a:r>
              <a:rPr lang="en-US" dirty="0"/>
              <a:t> variable refers to the "green" value inside the colors array. That item is contained within a second array, so the extra square brackets around </a:t>
            </a:r>
            <a:r>
              <a:rPr lang="en-US" dirty="0" err="1"/>
              <a:t>secondColor</a:t>
            </a:r>
            <a:r>
              <a:rPr lang="en-US" dirty="0"/>
              <a:t> in the </a:t>
            </a:r>
            <a:r>
              <a:rPr lang="en-US" dirty="0" err="1"/>
              <a:t>destructuring</a:t>
            </a:r>
            <a:r>
              <a:rPr lang="en-US" dirty="0"/>
              <a:t> pattern are necessary. As with objects, you can nest arrays arbitrarily deep.</a:t>
            </a:r>
            <a:endParaRPr lang="en-IN" dirty="0"/>
          </a:p>
        </p:txBody>
      </p:sp>
    </p:spTree>
    <p:extLst>
      <p:ext uri="{BB962C8B-B14F-4D97-AF65-F5344CB8AC3E}">
        <p14:creationId xmlns:p14="http://schemas.microsoft.com/office/powerpoint/2010/main" val="3800169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FE0C67-83F9-4091-80A5-E2C2C673F7D9}"/>
              </a:ext>
            </a:extLst>
          </p:cNvPr>
          <p:cNvSpPr txBox="1"/>
          <p:nvPr/>
        </p:nvSpPr>
        <p:spPr>
          <a:xfrm>
            <a:off x="1268362" y="85720"/>
            <a:ext cx="6135328" cy="369332"/>
          </a:xfrm>
          <a:prstGeom prst="rect">
            <a:avLst/>
          </a:prstGeom>
          <a:noFill/>
        </p:spPr>
        <p:txBody>
          <a:bodyPr wrap="square">
            <a:spAutoFit/>
          </a:bodyPr>
          <a:lstStyle/>
          <a:p>
            <a:pPr algn="l" fontAlgn="base"/>
            <a:r>
              <a:rPr lang="en-IN" b="1" i="0" dirty="0">
                <a:solidFill>
                  <a:srgbClr val="000000"/>
                </a:solidFill>
                <a:effectLst/>
                <a:latin typeface="Noto Sans"/>
              </a:rPr>
              <a:t>Rest Items</a:t>
            </a:r>
          </a:p>
        </p:txBody>
      </p:sp>
      <p:sp>
        <p:nvSpPr>
          <p:cNvPr id="7" name="TextBox 6">
            <a:extLst>
              <a:ext uri="{FF2B5EF4-FFF2-40B4-BE49-F238E27FC236}">
                <a16:creationId xmlns:a16="http://schemas.microsoft.com/office/drawing/2014/main" id="{FDCF101C-27BD-4E93-9D5F-F17D65A6B055}"/>
              </a:ext>
            </a:extLst>
          </p:cNvPr>
          <p:cNvSpPr txBox="1"/>
          <p:nvPr/>
        </p:nvSpPr>
        <p:spPr>
          <a:xfrm>
            <a:off x="275303" y="712442"/>
            <a:ext cx="11798709" cy="646331"/>
          </a:xfrm>
          <a:prstGeom prst="rect">
            <a:avLst/>
          </a:prstGeom>
          <a:noFill/>
        </p:spPr>
        <p:txBody>
          <a:bodyPr wrap="square">
            <a:spAutoFit/>
          </a:bodyPr>
          <a:lstStyle/>
          <a:p>
            <a:r>
              <a:rPr lang="en-US" dirty="0"/>
              <a:t>rest parameters for functions, and array </a:t>
            </a:r>
            <a:r>
              <a:rPr lang="en-US" dirty="0" err="1"/>
              <a:t>destructuring</a:t>
            </a:r>
            <a:r>
              <a:rPr lang="en-US" dirty="0"/>
              <a:t> has a similar concept called rest items. Rest items use the ... syntax to assign the remaining items in an array to a particular variable. Here’s an example:</a:t>
            </a:r>
            <a:endParaRPr lang="en-IN" dirty="0"/>
          </a:p>
        </p:txBody>
      </p:sp>
      <p:sp>
        <p:nvSpPr>
          <p:cNvPr id="9" name="TextBox 8">
            <a:extLst>
              <a:ext uri="{FF2B5EF4-FFF2-40B4-BE49-F238E27FC236}">
                <a16:creationId xmlns:a16="http://schemas.microsoft.com/office/drawing/2014/main" id="{C47877DA-87A5-4963-95EB-6562BDA28219}"/>
              </a:ext>
            </a:extLst>
          </p:cNvPr>
          <p:cNvSpPr txBox="1"/>
          <p:nvPr/>
        </p:nvSpPr>
        <p:spPr>
          <a:xfrm>
            <a:off x="147484" y="1761102"/>
            <a:ext cx="6135328" cy="2308324"/>
          </a:xfrm>
          <a:prstGeom prst="rect">
            <a:avLst/>
          </a:prstGeom>
          <a:noFill/>
        </p:spPr>
        <p:txBody>
          <a:bodyPr wrap="square">
            <a:spAutoFit/>
          </a:bodyPr>
          <a:lstStyle/>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 ] =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firstColor</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"red"</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"green"</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restColors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"blue"</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40E96617-4503-4732-8A23-32D30BE9D017}"/>
              </a:ext>
            </a:extLst>
          </p:cNvPr>
          <p:cNvSpPr txBox="1"/>
          <p:nvPr/>
        </p:nvSpPr>
        <p:spPr>
          <a:xfrm>
            <a:off x="678425" y="4471755"/>
            <a:ext cx="11002297" cy="923330"/>
          </a:xfrm>
          <a:prstGeom prst="rect">
            <a:avLst/>
          </a:prstGeom>
          <a:noFill/>
        </p:spPr>
        <p:txBody>
          <a:bodyPr wrap="square">
            <a:spAutoFit/>
          </a:bodyPr>
          <a:lstStyle/>
          <a:p>
            <a:r>
              <a:rPr lang="en-US" dirty="0"/>
              <a:t>The first item in colors is assigned to </a:t>
            </a:r>
            <a:r>
              <a:rPr lang="en-US" dirty="0" err="1"/>
              <a:t>firstColor</a:t>
            </a:r>
            <a:r>
              <a:rPr lang="en-US" dirty="0"/>
              <a:t>, and the rest are assigned into a </a:t>
            </a:r>
            <a:r>
              <a:rPr lang="en-US" dirty="0">
                <a:highlight>
                  <a:srgbClr val="FFFF00"/>
                </a:highlight>
              </a:rPr>
              <a:t>new </a:t>
            </a:r>
            <a:r>
              <a:rPr lang="en-US" dirty="0" err="1">
                <a:highlight>
                  <a:srgbClr val="FFFF00"/>
                </a:highlight>
              </a:rPr>
              <a:t>restColors</a:t>
            </a:r>
            <a:r>
              <a:rPr lang="en-US" dirty="0">
                <a:highlight>
                  <a:srgbClr val="FFFF00"/>
                </a:highlight>
              </a:rPr>
              <a:t> array</a:t>
            </a:r>
            <a:r>
              <a:rPr lang="en-US" dirty="0"/>
              <a:t>. The </a:t>
            </a:r>
            <a:r>
              <a:rPr lang="en-US" dirty="0" err="1"/>
              <a:t>restColors</a:t>
            </a:r>
            <a:r>
              <a:rPr lang="en-US" dirty="0"/>
              <a:t> array, therefore, has two items: "green" and "blue". Rest items are useful for extracting certain items from an array and keeping the rest available, but there’s another helpful use.</a:t>
            </a:r>
            <a:endParaRPr lang="en-IN" dirty="0"/>
          </a:p>
        </p:txBody>
      </p:sp>
      <p:graphicFrame>
        <p:nvGraphicFramePr>
          <p:cNvPr id="2" name="Table 2">
            <a:extLst>
              <a:ext uri="{FF2B5EF4-FFF2-40B4-BE49-F238E27FC236}">
                <a16:creationId xmlns:a16="http://schemas.microsoft.com/office/drawing/2014/main" id="{B50DD055-532F-4260-B39F-CC304ED85D8D}"/>
              </a:ext>
            </a:extLst>
          </p:cNvPr>
          <p:cNvGraphicFramePr>
            <a:graphicFrameLocks noGrp="1"/>
          </p:cNvGraphicFramePr>
          <p:nvPr>
            <p:extLst>
              <p:ext uri="{D42A27DB-BD31-4B8C-83A1-F6EECF244321}">
                <p14:modId xmlns:p14="http://schemas.microsoft.com/office/powerpoint/2010/main" val="1051655700"/>
              </p:ext>
            </p:extLst>
          </p:nvPr>
        </p:nvGraphicFramePr>
        <p:xfrm>
          <a:off x="6643329" y="2014620"/>
          <a:ext cx="4545782" cy="1486498"/>
        </p:xfrm>
        <a:graphic>
          <a:graphicData uri="http://schemas.openxmlformats.org/drawingml/2006/table">
            <a:tbl>
              <a:tblPr firstRow="1" bandRow="1">
                <a:tableStyleId>{5C22544A-7EE6-4342-B048-85BDC9FD1C3A}</a:tableStyleId>
              </a:tblPr>
              <a:tblGrid>
                <a:gridCol w="2272891">
                  <a:extLst>
                    <a:ext uri="{9D8B030D-6E8A-4147-A177-3AD203B41FA5}">
                      <a16:colId xmlns:a16="http://schemas.microsoft.com/office/drawing/2014/main" val="2747781568"/>
                    </a:ext>
                  </a:extLst>
                </a:gridCol>
                <a:gridCol w="2272891">
                  <a:extLst>
                    <a:ext uri="{9D8B030D-6E8A-4147-A177-3AD203B41FA5}">
                      <a16:colId xmlns:a16="http://schemas.microsoft.com/office/drawing/2014/main" val="3631226735"/>
                    </a:ext>
                  </a:extLst>
                </a:gridCol>
              </a:tblGrid>
              <a:tr h="743249">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821087004"/>
                  </a:ext>
                </a:extLst>
              </a:tr>
              <a:tr h="743249">
                <a:tc>
                  <a:txBody>
                    <a:bodyPr/>
                    <a:lstStyle/>
                    <a:p>
                      <a:r>
                        <a:rPr lang="en-US" dirty="0"/>
                        <a:t>green</a:t>
                      </a:r>
                      <a:endParaRPr lang="en-IN" dirty="0"/>
                    </a:p>
                  </a:txBody>
                  <a:tcPr/>
                </a:tc>
                <a:tc>
                  <a:txBody>
                    <a:bodyPr/>
                    <a:lstStyle/>
                    <a:p>
                      <a:r>
                        <a:rPr lang="en-US" dirty="0"/>
                        <a:t>blue</a:t>
                      </a:r>
                      <a:endParaRPr lang="en-IN" dirty="0"/>
                    </a:p>
                  </a:txBody>
                  <a:tcPr/>
                </a:tc>
                <a:extLst>
                  <a:ext uri="{0D108BD9-81ED-4DB2-BD59-A6C34878D82A}">
                    <a16:rowId xmlns:a16="http://schemas.microsoft.com/office/drawing/2014/main" val="18164557"/>
                  </a:ext>
                </a:extLst>
              </a:tr>
            </a:tbl>
          </a:graphicData>
        </a:graphic>
      </p:graphicFrame>
      <p:sp>
        <p:nvSpPr>
          <p:cNvPr id="3" name="TextBox 2">
            <a:extLst>
              <a:ext uri="{FF2B5EF4-FFF2-40B4-BE49-F238E27FC236}">
                <a16:creationId xmlns:a16="http://schemas.microsoft.com/office/drawing/2014/main" id="{B93B1CBB-2DD2-4B5C-920E-96FFC9C36A90}"/>
              </a:ext>
            </a:extLst>
          </p:cNvPr>
          <p:cNvSpPr txBox="1"/>
          <p:nvPr/>
        </p:nvSpPr>
        <p:spPr>
          <a:xfrm>
            <a:off x="7541342" y="1484671"/>
            <a:ext cx="1838632" cy="369332"/>
          </a:xfrm>
          <a:prstGeom prst="rect">
            <a:avLst/>
          </a:prstGeom>
          <a:noFill/>
        </p:spPr>
        <p:txBody>
          <a:bodyPr wrap="square" rtlCol="0">
            <a:spAutoFit/>
          </a:bodyPr>
          <a:lstStyle/>
          <a:p>
            <a:r>
              <a:rPr lang="en-US" dirty="0" err="1"/>
              <a:t>restColors</a:t>
            </a:r>
            <a:endParaRPr lang="en-IN" dirty="0"/>
          </a:p>
        </p:txBody>
      </p:sp>
    </p:spTree>
    <p:extLst>
      <p:ext uri="{BB962C8B-B14F-4D97-AF65-F5344CB8AC3E}">
        <p14:creationId xmlns:p14="http://schemas.microsoft.com/office/powerpoint/2010/main" val="3733872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0AD348-A54E-46B5-AA1D-9B2DC0FC3FCA}"/>
              </a:ext>
            </a:extLst>
          </p:cNvPr>
          <p:cNvSpPr txBox="1"/>
          <p:nvPr/>
        </p:nvSpPr>
        <p:spPr>
          <a:xfrm>
            <a:off x="137651" y="742786"/>
            <a:ext cx="11788877" cy="646331"/>
          </a:xfrm>
          <a:prstGeom prst="rect">
            <a:avLst/>
          </a:prstGeom>
          <a:noFill/>
        </p:spPr>
        <p:txBody>
          <a:bodyPr wrap="square">
            <a:spAutoFit/>
          </a:bodyPr>
          <a:lstStyle/>
          <a:p>
            <a:r>
              <a:rPr lang="en-US" dirty="0"/>
              <a:t>A glaring omission from JavaScript arrays is the ability to easily create a clone. In ECMAScript 5, developers frequently used the </a:t>
            </a:r>
            <a:r>
              <a:rPr lang="en-US" dirty="0" err="1"/>
              <a:t>concat</a:t>
            </a:r>
            <a:r>
              <a:rPr lang="en-US" dirty="0"/>
              <a:t>() method as an easy way to clone an array. For example:</a:t>
            </a:r>
            <a:endParaRPr lang="en-IN" dirty="0"/>
          </a:p>
        </p:txBody>
      </p:sp>
      <p:sp>
        <p:nvSpPr>
          <p:cNvPr id="7" name="TextBox 6">
            <a:extLst>
              <a:ext uri="{FF2B5EF4-FFF2-40B4-BE49-F238E27FC236}">
                <a16:creationId xmlns:a16="http://schemas.microsoft.com/office/drawing/2014/main" id="{1EDE3CAF-68BD-4DDF-82B5-890BE6CC661B}"/>
              </a:ext>
            </a:extLst>
          </p:cNvPr>
          <p:cNvSpPr txBox="1"/>
          <p:nvPr/>
        </p:nvSpPr>
        <p:spPr>
          <a:xfrm>
            <a:off x="3215149" y="75888"/>
            <a:ext cx="6135328" cy="369332"/>
          </a:xfrm>
          <a:prstGeom prst="rect">
            <a:avLst/>
          </a:prstGeom>
          <a:noFill/>
        </p:spPr>
        <p:txBody>
          <a:bodyPr wrap="square">
            <a:spAutoFit/>
          </a:bodyPr>
          <a:lstStyle/>
          <a:p>
            <a:pPr algn="ctr"/>
            <a:r>
              <a:rPr lang="en-US" b="1" dirty="0"/>
              <a:t>clone</a:t>
            </a:r>
            <a:endParaRPr lang="en-IN" b="1" dirty="0"/>
          </a:p>
        </p:txBody>
      </p:sp>
      <p:sp>
        <p:nvSpPr>
          <p:cNvPr id="9" name="TextBox 8">
            <a:extLst>
              <a:ext uri="{FF2B5EF4-FFF2-40B4-BE49-F238E27FC236}">
                <a16:creationId xmlns:a16="http://schemas.microsoft.com/office/drawing/2014/main" id="{ED9A2924-27AC-4BF7-BCC7-B90333115B3D}"/>
              </a:ext>
            </a:extLst>
          </p:cNvPr>
          <p:cNvSpPr txBox="1"/>
          <p:nvPr/>
        </p:nvSpPr>
        <p:spPr>
          <a:xfrm>
            <a:off x="0" y="1397675"/>
            <a:ext cx="6135328" cy="2031325"/>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cloning an array in ECMAScript 5</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colors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red,green,blue</a:t>
            </a:r>
            <a:r>
              <a:rPr lang="en-IN" b="0" dirty="0">
                <a:solidFill>
                  <a:srgbClr val="008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5C585D6A-D83B-4CAE-A272-83128D836421}"/>
              </a:ext>
            </a:extLst>
          </p:cNvPr>
          <p:cNvSpPr txBox="1"/>
          <p:nvPr/>
        </p:nvSpPr>
        <p:spPr>
          <a:xfrm>
            <a:off x="0" y="4516678"/>
            <a:ext cx="6135328" cy="1477328"/>
          </a:xfrm>
          <a:prstGeom prst="rect">
            <a:avLst/>
          </a:prstGeom>
          <a:noFill/>
        </p:spPr>
        <p:txBody>
          <a:bodyPr wrap="square">
            <a:spAutoFit/>
          </a:bodyPr>
          <a:lstStyle/>
          <a:p>
            <a:r>
              <a:rPr lang="en-US" dirty="0"/>
              <a:t>While the </a:t>
            </a:r>
            <a:r>
              <a:rPr lang="en-US" dirty="0" err="1"/>
              <a:t>concat</a:t>
            </a:r>
            <a:r>
              <a:rPr lang="en-US" dirty="0"/>
              <a:t>() method is intended to concatenate two arrays together, calling it without an argument returns a clone of the array. In ECMAScript 6, you can use rest items to achieve the same thing through syntax intended to function that way. It works like this:</a:t>
            </a:r>
            <a:endParaRPr lang="en-IN" dirty="0"/>
          </a:p>
        </p:txBody>
      </p:sp>
      <p:sp>
        <p:nvSpPr>
          <p:cNvPr id="13" name="TextBox 12">
            <a:extLst>
              <a:ext uri="{FF2B5EF4-FFF2-40B4-BE49-F238E27FC236}">
                <a16:creationId xmlns:a16="http://schemas.microsoft.com/office/drawing/2014/main" id="{BAD5E298-0BA0-43E2-B703-D40DFE3E995D}"/>
              </a:ext>
            </a:extLst>
          </p:cNvPr>
          <p:cNvSpPr txBox="1"/>
          <p:nvPr/>
        </p:nvSpPr>
        <p:spPr>
          <a:xfrm>
            <a:off x="6538451" y="1674674"/>
            <a:ext cx="5250426" cy="1754326"/>
          </a:xfrm>
          <a:prstGeom prst="rect">
            <a:avLst/>
          </a:prstGeom>
          <a:noFill/>
        </p:spPr>
        <p:txBody>
          <a:bodyPr wrap="square">
            <a:spAutoFit/>
          </a:bodyPr>
          <a:lstStyle/>
          <a:p>
            <a:r>
              <a:rPr lang="en-US" b="0" dirty="0">
                <a:solidFill>
                  <a:srgbClr val="008000"/>
                </a:solidFill>
                <a:effectLst/>
                <a:latin typeface="Consolas" panose="020B0609020204030204" pitchFamily="49" charset="0"/>
              </a:rPr>
              <a:t>// cloning an array in ECMAScript 6</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 = [ </a:t>
            </a:r>
            <a:r>
              <a:rPr lang="en-US" b="0" dirty="0">
                <a:solidFill>
                  <a:srgbClr val="A31515"/>
                </a:solidFill>
                <a:effectLst/>
                <a:latin typeface="Consolas" panose="020B0609020204030204" pitchFamily="49" charset="0"/>
              </a:rPr>
              <a:t>"red"</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"green"</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"blue"</a:t>
            </a:r>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clonedColors</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colors</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1080"/>
                </a:solidFill>
                <a:effectLst/>
                <a:latin typeface="Consolas" panose="020B0609020204030204" pitchFamily="49" charset="0"/>
              </a:rPr>
              <a:t>console</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log</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clonedColors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a:t>
            </a:r>
            <a:r>
              <a:rPr lang="en-US" b="0" dirty="0" err="1">
                <a:solidFill>
                  <a:srgbClr val="008000"/>
                </a:solidFill>
                <a:effectLst/>
                <a:latin typeface="Consolas" panose="020B0609020204030204" pitchFamily="49" charset="0"/>
              </a:rPr>
              <a:t>red,green,blue</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1FD56D90-CE08-47D5-B344-75692D8233EE}"/>
              </a:ext>
            </a:extLst>
          </p:cNvPr>
          <p:cNvSpPr txBox="1"/>
          <p:nvPr/>
        </p:nvSpPr>
        <p:spPr>
          <a:xfrm>
            <a:off x="6390968" y="4004216"/>
            <a:ext cx="5535560" cy="1477328"/>
          </a:xfrm>
          <a:prstGeom prst="rect">
            <a:avLst/>
          </a:prstGeom>
          <a:noFill/>
        </p:spPr>
        <p:txBody>
          <a:bodyPr wrap="square">
            <a:spAutoFit/>
          </a:bodyPr>
          <a:lstStyle/>
          <a:p>
            <a:r>
              <a:rPr lang="en-US" dirty="0"/>
              <a:t>spread used to copy values from the colors array into the </a:t>
            </a:r>
            <a:r>
              <a:rPr lang="en-US" dirty="0" err="1"/>
              <a:t>clonedColors</a:t>
            </a:r>
            <a:r>
              <a:rPr lang="en-US" dirty="0"/>
              <a:t> array. While it’s a matter of perception as to whether this technique makes the developer’s intent clearer than using the </a:t>
            </a:r>
            <a:r>
              <a:rPr lang="en-US" dirty="0" err="1"/>
              <a:t>concat</a:t>
            </a:r>
            <a:r>
              <a:rPr lang="en-US" dirty="0"/>
              <a:t>() method, this is a useful ability to be aware of.</a:t>
            </a:r>
            <a:endParaRPr lang="en-IN" dirty="0"/>
          </a:p>
        </p:txBody>
      </p:sp>
    </p:spTree>
    <p:extLst>
      <p:ext uri="{BB962C8B-B14F-4D97-AF65-F5344CB8AC3E}">
        <p14:creationId xmlns:p14="http://schemas.microsoft.com/office/powerpoint/2010/main" val="2391884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0AD348-A54E-46B5-AA1D-9B2DC0FC3FCA}"/>
              </a:ext>
            </a:extLst>
          </p:cNvPr>
          <p:cNvSpPr txBox="1"/>
          <p:nvPr/>
        </p:nvSpPr>
        <p:spPr>
          <a:xfrm>
            <a:off x="137651" y="742786"/>
            <a:ext cx="11788877" cy="646331"/>
          </a:xfrm>
          <a:prstGeom prst="rect">
            <a:avLst/>
          </a:prstGeom>
          <a:noFill/>
        </p:spPr>
        <p:txBody>
          <a:bodyPr wrap="square">
            <a:spAutoFit/>
          </a:bodyPr>
          <a:lstStyle/>
          <a:p>
            <a:r>
              <a:rPr lang="en-US" dirty="0"/>
              <a:t>A glaring omission from JavaScript arrays is the ability to easily create a clone. In ECMAScript 5, developers frequently used the </a:t>
            </a:r>
            <a:r>
              <a:rPr lang="en-US" dirty="0" err="1"/>
              <a:t>concat</a:t>
            </a:r>
            <a:r>
              <a:rPr lang="en-US" dirty="0"/>
              <a:t>() method as an easy way to clone an array. For example:</a:t>
            </a:r>
            <a:endParaRPr lang="en-IN" dirty="0"/>
          </a:p>
        </p:txBody>
      </p:sp>
      <p:sp>
        <p:nvSpPr>
          <p:cNvPr id="7" name="TextBox 6">
            <a:extLst>
              <a:ext uri="{FF2B5EF4-FFF2-40B4-BE49-F238E27FC236}">
                <a16:creationId xmlns:a16="http://schemas.microsoft.com/office/drawing/2014/main" id="{1EDE3CAF-68BD-4DDF-82B5-890BE6CC661B}"/>
              </a:ext>
            </a:extLst>
          </p:cNvPr>
          <p:cNvSpPr txBox="1"/>
          <p:nvPr/>
        </p:nvSpPr>
        <p:spPr>
          <a:xfrm>
            <a:off x="3215149" y="75888"/>
            <a:ext cx="6135328" cy="369332"/>
          </a:xfrm>
          <a:prstGeom prst="rect">
            <a:avLst/>
          </a:prstGeom>
          <a:noFill/>
        </p:spPr>
        <p:txBody>
          <a:bodyPr wrap="square">
            <a:spAutoFit/>
          </a:bodyPr>
          <a:lstStyle/>
          <a:p>
            <a:pPr algn="ctr"/>
            <a:r>
              <a:rPr lang="en-US" b="1" dirty="0" err="1"/>
              <a:t>concat</a:t>
            </a:r>
            <a:endParaRPr lang="en-IN" b="1" dirty="0"/>
          </a:p>
        </p:txBody>
      </p:sp>
      <p:sp>
        <p:nvSpPr>
          <p:cNvPr id="9" name="TextBox 8">
            <a:extLst>
              <a:ext uri="{FF2B5EF4-FFF2-40B4-BE49-F238E27FC236}">
                <a16:creationId xmlns:a16="http://schemas.microsoft.com/office/drawing/2014/main" id="{ED9A2924-27AC-4BF7-BCC7-B90333115B3D}"/>
              </a:ext>
            </a:extLst>
          </p:cNvPr>
          <p:cNvSpPr txBox="1"/>
          <p:nvPr/>
        </p:nvSpPr>
        <p:spPr>
          <a:xfrm>
            <a:off x="0" y="1397675"/>
            <a:ext cx="6135328" cy="2308324"/>
          </a:xfrm>
          <a:prstGeom prst="rect">
            <a:avLst/>
          </a:prstGeom>
          <a:noFill/>
        </p:spPr>
        <p:txBody>
          <a:bodyPr wrap="square">
            <a:spAutoFit/>
          </a:bodyPr>
          <a:lstStyle/>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cloning an array in ECMAScript 5</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colors</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"red"</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"green"</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colors2</a:t>
            </a:r>
            <a:r>
              <a:rPr lang="en-IN" b="0" dirty="0">
                <a:solidFill>
                  <a:srgbClr val="000000"/>
                </a:solidFill>
                <a:effectLst/>
                <a:latin typeface="Consolas" panose="020B0609020204030204" pitchFamily="49" charset="0"/>
              </a:rPr>
              <a:t> = [ </a:t>
            </a:r>
            <a:r>
              <a:rPr lang="en-IN" b="0" dirty="0">
                <a:solidFill>
                  <a:srgbClr val="A31515"/>
                </a:solidFill>
                <a:effectLst/>
                <a:latin typeface="Consolas" panose="020B0609020204030204" pitchFamily="49" charset="0"/>
              </a:rPr>
              <a:t>“white"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“pink"</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"black"</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colors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concat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colors2</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clonedColors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a:t>
            </a:r>
            <a:r>
              <a:rPr lang="en-IN" b="0" dirty="0" err="1">
                <a:solidFill>
                  <a:srgbClr val="008000"/>
                </a:solidFill>
                <a:effectLst/>
                <a:latin typeface="Consolas" panose="020B0609020204030204" pitchFamily="49" charset="0"/>
              </a:rPr>
              <a:t>red,green,blue</a:t>
            </a:r>
            <a:r>
              <a:rPr lang="en-IN" dirty="0">
                <a:solidFill>
                  <a:srgbClr val="008000"/>
                </a:solidFill>
                <a:latin typeface="Consolas" panose="020B0609020204030204" pitchFamily="49" charset="0"/>
              </a:rPr>
              <a:t>,</a:t>
            </a:r>
            <a:r>
              <a:rPr lang="en-IN" b="0" dirty="0">
                <a:solidFill>
                  <a:srgbClr val="A31515"/>
                </a:solidFill>
                <a:effectLst/>
                <a:latin typeface="Consolas" panose="020B0609020204030204" pitchFamily="49" charset="0"/>
              </a:rPr>
              <a:t> white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pink</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black</a:t>
            </a:r>
            <a:r>
              <a:rPr lang="en-IN" b="0" dirty="0">
                <a:solidFill>
                  <a:srgbClr val="008000"/>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5C585D6A-D83B-4CAE-A272-83128D836421}"/>
              </a:ext>
            </a:extLst>
          </p:cNvPr>
          <p:cNvSpPr txBox="1"/>
          <p:nvPr/>
        </p:nvSpPr>
        <p:spPr>
          <a:xfrm>
            <a:off x="0" y="4516678"/>
            <a:ext cx="11582400" cy="923330"/>
          </a:xfrm>
          <a:prstGeom prst="rect">
            <a:avLst/>
          </a:prstGeom>
          <a:noFill/>
        </p:spPr>
        <p:txBody>
          <a:bodyPr wrap="square">
            <a:spAutoFit/>
          </a:bodyPr>
          <a:lstStyle/>
          <a:p>
            <a:r>
              <a:rPr lang="en-US" dirty="0"/>
              <a:t>While the </a:t>
            </a:r>
            <a:r>
              <a:rPr lang="en-US" dirty="0" err="1"/>
              <a:t>concat</a:t>
            </a:r>
            <a:r>
              <a:rPr lang="en-US" dirty="0"/>
              <a:t>() method is intended to concatenate two arrays together, calling it without an argument returns a clone of the array. In ECMAScript 6, you can use rest items to achieve the same thing through syntax intended to function that way. It works like this:</a:t>
            </a:r>
            <a:endParaRPr lang="en-IN" dirty="0"/>
          </a:p>
        </p:txBody>
      </p:sp>
    </p:spTree>
    <p:extLst>
      <p:ext uri="{BB962C8B-B14F-4D97-AF65-F5344CB8AC3E}">
        <p14:creationId xmlns:p14="http://schemas.microsoft.com/office/powerpoint/2010/main" val="3380614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1710</TotalTime>
  <Words>3809</Words>
  <Application>Microsoft Office PowerPoint</Application>
  <PresentationFormat>Widescreen</PresentationFormat>
  <Paragraphs>292</Paragraphs>
  <Slides>18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Cambria</vt:lpstr>
      <vt:lpstr>Consolas</vt:lpstr>
      <vt:lpstr>Lucida Console</vt:lpstr>
      <vt:lpstr>Noto Sans</vt:lpstr>
      <vt:lpstr>Noto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122</cp:revision>
  <dcterms:created xsi:type="dcterms:W3CDTF">2020-09-09T03:29:17Z</dcterms:created>
  <dcterms:modified xsi:type="dcterms:W3CDTF">2026-04-01T09:40:09Z</dcterms:modified>
</cp:coreProperties>
</file>