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7" r:id="rId7"/>
    <p:sldId id="268" r:id="rId8"/>
    <p:sldId id="269" r:id="rId9"/>
    <p:sldId id="260" r:id="rId10"/>
    <p:sldId id="263" r:id="rId11"/>
    <p:sldId id="261" r:id="rId12"/>
    <p:sldId id="264" r:id="rId13"/>
    <p:sldId id="265" r:id="rId14"/>
    <p:sldId id="266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0B77-2DB2-A052-6A5C-98B3D1865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E2A10-FFA4-51D1-0CBB-DC215CBC4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7DD8A-0CD2-66F6-25BE-E9B3C90F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57AD5-052D-222E-267D-E48752BB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9BFF2-FF45-95D6-5FF6-6FFC975B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1BE9-8B52-0DAA-6848-71483F9E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01636-D8D1-0BF0-BB5E-A7FC8CE63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3AD96-F49B-C9B4-7C56-0D26D92B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5E4DA-5042-A532-8C61-BA58BC4B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E763E-80FC-A6E0-3FE6-83C5249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6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E2CA-1C43-D45B-A0DC-BD66BD66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B19CF-6CD1-0C6E-EB7A-01D6554FB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82F1B-EBF6-9AD4-DA88-385B9BA6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BF6B0-E03B-19CF-FD1D-0B1B3DFC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71EFD-2729-430D-CAC3-CCAB3905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4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3E9F-6BFF-B2EB-9618-B97BD533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15D6-88B8-BC10-009B-D8B3813F7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E4101-ABFD-0F3C-562E-5BE48684F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72549-39B2-626F-78D2-DCFBD3A8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90704-6A89-CF2D-F3BA-3A6BF929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B0D9-F5F3-EEA9-D258-0A4A311B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6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E8E4-650B-CF8C-2128-95EA518B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9DD35-CCDF-F585-5571-941372C4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A3CBA-21BE-13A4-17B8-3548450AE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C681D-76EF-2A17-9739-822320BBF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A8DA2-0C47-5408-B0AF-FECD43730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6F0C2-894D-32E3-7388-5B854E4A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AF1AE-701F-2A92-AE1C-16B5674C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C707F-6696-5627-C036-8EC3EFD0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6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1222-BC85-BC79-DD44-6F9B04ED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FE028-B2D7-E35F-F310-381CD164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61F8D-1950-546B-A807-BCE40804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A5E34-E3BA-A317-BFDD-CE185C91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4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8CB3C-1742-6641-4AA0-A2B67818A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10E4D-83E3-C8B9-61BF-594EA684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ADD6-42CB-A378-FB07-89CC7C52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0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2991-CAEB-CA00-D3A0-E3C2D491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CB3E-9B86-99EA-24DE-692C9AD2F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8F46-2186-91C8-4330-732C11EAE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22EFF-140E-797B-F823-B3AD3A9D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018E0-E2E5-E930-1F0B-635DE575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00D9F-6EED-14E1-1819-F3537BAD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67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366B-5A2B-09C0-71E8-54A8EDF8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56686-28A2-9EFA-484C-0755CEE0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D3FAC-99E0-F5EA-90B8-743B32C9D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4EB8D-49A6-B5AA-E653-4FBCDA7D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B0E38-8C8E-D745-5A7C-EE0A5A22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13EAC-EFB8-F6BA-6403-CCD93C41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16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8B4B-94FD-4DB0-582B-69738F2C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10F90-B795-F10A-86BA-0D1A862BA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98D18-ABC7-BEBA-9172-98B8A2BE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FE0D4-BC76-53C1-1B83-05E4CB5F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BE91-B83E-42E1-E632-037F5E6C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14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1824F-9700-2B9D-40B6-DA78E74FF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53047-D51B-A65D-0656-4A660BA41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0BF4-202F-8E83-F96B-D705875C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E5A4A-8960-5146-4A07-FA22EF06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61863-903B-C591-C86A-417D4552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0D644-AC10-C2E1-A85E-14A6D6A7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748C3-8376-DA04-BFD7-E236B373E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167EE-8FDA-E623-5CE7-F85776696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08109-2466-4276-9632-1F0AC852B8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CCE9C-FC94-4CBD-9A9C-A665C851F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CAA0B-8448-1956-5E4D-E0E60569B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DC248-8834-40DB-A395-034FB6601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7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C6B3B3-F810-A276-F8C6-8DBF8E452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367379"/>
              </p:ext>
            </p:extLst>
          </p:nvPr>
        </p:nvGraphicFramePr>
        <p:xfrm>
          <a:off x="0" y="67733"/>
          <a:ext cx="12090400" cy="67225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4133">
                  <a:extLst>
                    <a:ext uri="{9D8B030D-6E8A-4147-A177-3AD203B41FA5}">
                      <a16:colId xmlns:a16="http://schemas.microsoft.com/office/drawing/2014/main" val="1191551439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644864508"/>
                    </a:ext>
                  </a:extLst>
                </a:gridCol>
                <a:gridCol w="5621867">
                  <a:extLst>
                    <a:ext uri="{9D8B030D-6E8A-4147-A177-3AD203B41FA5}">
                      <a16:colId xmlns:a16="http://schemas.microsoft.com/office/drawing/2014/main" val="1793016311"/>
                    </a:ext>
                  </a:extLst>
                </a:gridCol>
              </a:tblGrid>
              <a:tr h="3775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effectLst/>
                        </a:rPr>
                        <a:t> </a:t>
                      </a:r>
                      <a:r>
                        <a:rPr lang="en-IN" sz="2000" dirty="0">
                          <a:effectLst/>
                        </a:rPr>
                        <a:t>Name 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Values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Example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1148618644"/>
                  </a:ext>
                </a:extLst>
              </a:tr>
              <a:tr h="6418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Boolean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true, false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let x: boolean = true;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174126277"/>
                  </a:ext>
                </a:extLst>
              </a:tr>
              <a:tr h="5214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String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Any string literal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let x: string = "foo";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209725834"/>
                  </a:ext>
                </a:extLst>
              </a:tr>
              <a:tr h="10075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Number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Any number, including Infinity, -Infinity, and NaN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let x: number = 42;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2802569361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Literal types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effectLst/>
                        </a:rPr>
                        <a:t>Literal types restrict variables to a finite set of values.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let x: “foo” | “bar”; 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3241601880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effectLst/>
                        </a:rPr>
                        <a:t>Void 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effectLst/>
                        </a:rPr>
                        <a:t>Used to indicate that a function returns undefined 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function a(): void { } 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3006879649"/>
                  </a:ext>
                </a:extLst>
              </a:tr>
              <a:tr h="1236133">
                <a:tc gridSpan="2">
                  <a:txBody>
                    <a:bodyPr/>
                    <a:lstStyle/>
                    <a:p>
                      <a:pPr marR="1473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Never 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effectLst/>
                        </a:rPr>
                        <a:t>Used to indicate that the return value of a function should not be assigned to anything; will produce a compilation error. </a:t>
                      </a:r>
                      <a:endParaRPr lang="en-IN" dirty="0"/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2728779893"/>
                  </a:ext>
                </a:extLst>
              </a:tr>
              <a:tr h="1032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Any 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All values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let x: any = "foo"; </a:t>
                      </a:r>
                      <a:endParaRPr lang="en-IN" sz="24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let y: any = true;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06" marR="10106" marT="0" marB="0"/>
                </a:tc>
                <a:extLst>
                  <a:ext uri="{0D108BD9-81ED-4DB2-BD59-A6C34878D82A}">
                    <a16:rowId xmlns:a16="http://schemas.microsoft.com/office/drawing/2014/main" val="232843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58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A7F6BB-8ACE-F492-9D67-57FC8D65D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989459"/>
              </p:ext>
            </p:extLst>
          </p:nvPr>
        </p:nvGraphicFramePr>
        <p:xfrm>
          <a:off x="237067" y="127000"/>
          <a:ext cx="11582400" cy="45026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28359">
                  <a:extLst>
                    <a:ext uri="{9D8B030D-6E8A-4147-A177-3AD203B41FA5}">
                      <a16:colId xmlns:a16="http://schemas.microsoft.com/office/drawing/2014/main" val="2450502288"/>
                    </a:ext>
                  </a:extLst>
                </a:gridCol>
                <a:gridCol w="5943963">
                  <a:extLst>
                    <a:ext uri="{9D8B030D-6E8A-4147-A177-3AD203B41FA5}">
                      <a16:colId xmlns:a16="http://schemas.microsoft.com/office/drawing/2014/main" val="1191648029"/>
                    </a:ext>
                  </a:extLst>
                </a:gridCol>
                <a:gridCol w="3810078">
                  <a:extLst>
                    <a:ext uri="{9D8B030D-6E8A-4147-A177-3AD203B41FA5}">
                      <a16:colId xmlns:a16="http://schemas.microsoft.com/office/drawing/2014/main" val="2510008802"/>
                    </a:ext>
                  </a:extLst>
                </a:gridCol>
              </a:tblGrid>
              <a:tr h="3139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b="1">
                          <a:solidFill>
                            <a:srgbClr val="000000"/>
                          </a:solidFill>
                          <a:effectLst/>
                        </a:rPr>
                        <a:t>Meaning 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b="1">
                          <a:solidFill>
                            <a:srgbClr val="000000"/>
                          </a:solidFill>
                          <a:effectLst/>
                        </a:rPr>
                        <a:t>Example 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584745"/>
                  </a:ext>
                </a:extLst>
              </a:tr>
              <a:tr h="22006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Object type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Represents an object, with the specified properties. 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Properties marked with 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? </a:t>
                      </a: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are optional.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Objects can also have an indexer (for example, like an array), or call signatures.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Object types can be defined inline, with a class or with an interface declaration.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let x: { a: </a:t>
                      </a:r>
                      <a:r>
                        <a:rPr lang="en-IN" sz="1800" dirty="0" err="1">
                          <a:solidFill>
                            <a:srgbClr val="000000"/>
                          </a:solidFill>
                          <a:effectLst/>
                        </a:rPr>
                        <a:t>boolean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            b: string,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       c?: number,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      [</a:t>
                      </a:r>
                      <a:r>
                        <a:rPr lang="en-IN" sz="1800" dirty="0" err="1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: number]: string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       };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x = {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a: true, b: "foo"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};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x[0] = "foo"; </a:t>
                      </a:r>
                      <a:endParaRPr lang="en-IN" sz="3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895285"/>
                  </a:ext>
                </a:extLst>
              </a:tr>
              <a:tr h="12685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</a:rPr>
                        <a:t>Union type </a:t>
                      </a:r>
                      <a:endParaRPr lang="en-IN" sz="2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A value is assignable to a union type if it is assignable to one of the specified types. In the example, it should be a string or a number.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let x: string | number;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x = "foo";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x = 42; 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811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802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A80AA3-7A1F-E298-AD41-CF9067D16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62010"/>
              </p:ext>
            </p:extLst>
          </p:nvPr>
        </p:nvGraphicFramePr>
        <p:xfrm>
          <a:off x="541867" y="601133"/>
          <a:ext cx="11370735" cy="425814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17133">
                  <a:extLst>
                    <a:ext uri="{9D8B030D-6E8A-4147-A177-3AD203B41FA5}">
                      <a16:colId xmlns:a16="http://schemas.microsoft.com/office/drawing/2014/main" val="94185389"/>
                    </a:ext>
                  </a:extLst>
                </a:gridCol>
                <a:gridCol w="5963357">
                  <a:extLst>
                    <a:ext uri="{9D8B030D-6E8A-4147-A177-3AD203B41FA5}">
                      <a16:colId xmlns:a16="http://schemas.microsoft.com/office/drawing/2014/main" val="3252897825"/>
                    </a:ext>
                  </a:extLst>
                </a:gridCol>
                <a:gridCol w="3790245">
                  <a:extLst>
                    <a:ext uri="{9D8B030D-6E8A-4147-A177-3AD203B41FA5}">
                      <a16:colId xmlns:a16="http://schemas.microsoft.com/office/drawing/2014/main" val="4012749905"/>
                    </a:ext>
                  </a:extLst>
                </a:gridCol>
              </a:tblGrid>
              <a:tr h="20564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Enum type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</a:rPr>
                        <a:t>A special number type, with several values declared. The declared members get a value automatically, but you can also specify a value.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 err="1">
                          <a:solidFill>
                            <a:srgbClr val="000000"/>
                          </a:solidFill>
                          <a:effectLst/>
                        </a:rPr>
                        <a:t>enum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 E { </a:t>
                      </a:r>
                      <a:endParaRPr lang="en-IN" sz="2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X, </a:t>
                      </a:r>
                      <a:endParaRPr lang="en-IN" sz="2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Y = 100 </a:t>
                      </a:r>
                      <a:endParaRPr lang="en-IN" sz="2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} </a:t>
                      </a:r>
                      <a:endParaRPr lang="en-IN" sz="2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let a: E = E.X;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386160"/>
                  </a:ext>
                </a:extLst>
              </a:tr>
              <a:tr h="13132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</a:rPr>
                        <a:t>Function type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</a:rPr>
                        <a:t>Represents a function with the specified arguments and return type. Optional and rest arguments can also be specified.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let f: (x: string, y?: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effectLst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) =&gt; number; </a:t>
                      </a:r>
                      <a:endParaRPr lang="en-IN" sz="32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let g: (...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effectLst/>
                        </a:rPr>
                        <a:t>xs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: number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[]) =&gt; number;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2178321"/>
                  </a:ext>
                </a:extLst>
              </a:tr>
              <a:tr h="8884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effectLst/>
                        </a:rPr>
                        <a:t>Tuple type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</a:rPr>
                        <a:t>Multiple values are placed in one, as an array.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let x: [string, number]; </a:t>
                      </a:r>
                      <a:endParaRPr lang="en-IN" sz="2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</a:rPr>
                        <a:t>X = ["foo", 42]; 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65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08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BCFDA8-BA02-3970-08F3-53B7703CAD57}"/>
              </a:ext>
            </a:extLst>
          </p:cNvPr>
          <p:cNvSpPr txBox="1"/>
          <p:nvPr/>
        </p:nvSpPr>
        <p:spPr>
          <a:xfrm>
            <a:off x="67733" y="115570"/>
            <a:ext cx="63754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Type: any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is the most flexible type in TypeScript.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 essentially tells the compiler to skip type checking for a particular variable.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While this can be useful in certain situations, it should be used sparingly as it bypasses TypeScript's type safety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AE477-79CC-DFCA-B051-6A84D423C70A}"/>
              </a:ext>
            </a:extLst>
          </p:cNvPr>
          <p:cNvSpPr txBox="1"/>
          <p:nvPr/>
        </p:nvSpPr>
        <p:spPr>
          <a:xfrm>
            <a:off x="67733" y="1599791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to use </a:t>
            </a:r>
            <a:r>
              <a:rPr lang="en-IN" sz="14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migrating JavaScript code to TypeScript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working with dynamic content where the type is unknown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you need to opt out of type checking for a specific case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55028-B132-51D6-6DE7-9400D81665E8}"/>
              </a:ext>
            </a:extLst>
          </p:cNvPr>
          <p:cNvSpPr txBox="1"/>
          <p:nvPr/>
        </p:nvSpPr>
        <p:spPr>
          <a:xfrm>
            <a:off x="67733" y="288065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example below does not use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will throw an error: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A7A19-87DF-4443-322D-4F3CA98A807B}"/>
              </a:ext>
            </a:extLst>
          </p:cNvPr>
          <p:cNvSpPr txBox="1"/>
          <p:nvPr/>
        </p:nvSpPr>
        <p:spPr>
          <a:xfrm>
            <a:off x="169334" y="3366820"/>
            <a:ext cx="62737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=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 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Error: Type 'string' is not assignable to type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'.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Math.round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(u);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Error: Argument of type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is not assignable to parameter of type 'number'.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A47C9-53B8-17BE-4F31-3676E1F76A5B}"/>
              </a:ext>
            </a:extLst>
          </p:cNvPr>
          <p:cNvSpPr txBox="1"/>
          <p:nvPr/>
        </p:nvSpPr>
        <p:spPr>
          <a:xfrm>
            <a:off x="67733" y="472997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Setting a variable to the special type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disables type checking: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4E6EC0-0077-72EF-52E3-F94DF7F88871}"/>
              </a:ext>
            </a:extLst>
          </p:cNvPr>
          <p:cNvSpPr txBox="1"/>
          <p:nvPr/>
        </p:nvSpPr>
        <p:spPr>
          <a:xfrm>
            <a:off x="169334" y="5173765"/>
            <a:ext cx="6096000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 any =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 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no error as it can be "any" type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Math.round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no error as it can be "any" type</a:t>
            </a:r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BE928C-CF82-4171-2C21-0F3A9416C504}"/>
              </a:ext>
            </a:extLst>
          </p:cNvPr>
          <p:cNvCxnSpPr>
            <a:cxnSpLocks/>
          </p:cNvCxnSpPr>
          <p:nvPr/>
        </p:nvCxnSpPr>
        <p:spPr>
          <a:xfrm>
            <a:off x="6383864" y="0"/>
            <a:ext cx="59269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0AE598-9B8C-9DE4-D358-C68A082D691B}"/>
              </a:ext>
            </a:extLst>
          </p:cNvPr>
          <p:cNvSpPr txBox="1"/>
          <p:nvPr/>
        </p:nvSpPr>
        <p:spPr>
          <a:xfrm>
            <a:off x="6443133" y="-5331"/>
            <a:ext cx="5266267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Type: unknown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is a type-safe counterpart of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It's the type-safe way to say "this could be anything, so you must perform some type of checking before you use it".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7DC5F-5491-D775-A213-C8F98E7E5E96}"/>
              </a:ext>
            </a:extLst>
          </p:cNvPr>
          <p:cNvSpPr txBox="1"/>
          <p:nvPr/>
        </p:nvSpPr>
        <p:spPr>
          <a:xfrm>
            <a:off x="6485465" y="5404597"/>
            <a:ext cx="51392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differences between </a:t>
            </a:r>
            <a:r>
              <a:rPr lang="en-IN" sz="12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2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must be type-checked before use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can't access properties on an </a:t>
            </a:r>
            <a:r>
              <a:rPr lang="en-IN" sz="1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without type assertion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can't call or construct values of type </a:t>
            </a:r>
            <a:r>
              <a:rPr lang="en-IN" sz="1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endParaRPr lang="en-IN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3DCD33-56B5-56B0-46A9-56595F8860F7}"/>
              </a:ext>
            </a:extLst>
          </p:cNvPr>
          <p:cNvSpPr txBox="1"/>
          <p:nvPr/>
        </p:nvSpPr>
        <p:spPr>
          <a:xfrm>
            <a:off x="6443133" y="1381661"/>
            <a:ext cx="57785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w: unknown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 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no error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 =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runANonExistentMethod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() =&gt;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console.log(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 think therefore I am"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as {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runANonExistentMethod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() =&gt;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How can we avoid the error for the code commented out below when we don't know the type?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w.runANonExistentMethod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 // Error: Object is of type 'unknown'.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 ===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'object'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w !==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(w as {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runANonExistentMethod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Function }).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runANonExistentMethod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Although we have to cast multiple times we can do a check in the if to secure our type and have a safer casting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2847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34D4A2-627C-15C3-5344-AA0BFBAA825A}"/>
              </a:ext>
            </a:extLst>
          </p:cNvPr>
          <p:cNvSpPr txBox="1"/>
          <p:nvPr/>
        </p:nvSpPr>
        <p:spPr>
          <a:xfrm>
            <a:off x="143934" y="79791"/>
            <a:ext cx="5638799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Avoid </a:t>
            </a:r>
            <a:r>
              <a:rPr lang="en-IN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When Possible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disables TypeScript's type checking.</a:t>
            </a:r>
          </a:p>
          <a:p>
            <a:pPr indent="0" algn="l">
              <a:buNone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Instead, consider these alternatives:</a:t>
            </a:r>
            <a:endParaRPr lang="en-IN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indent="0" algn="l">
              <a:buNone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 type annotations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Create interfaces for complex objects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 type guards for runtime type checking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Enable </a:t>
            </a:r>
            <a:r>
              <a:rPr lang="en-IN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noImplicitAny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in your </a:t>
            </a:r>
            <a:r>
              <a:rPr lang="en-IN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tsconfig.json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58D52-0A88-8B3E-60FD-CEA49A635B87}"/>
              </a:ext>
            </a:extLst>
          </p:cNvPr>
          <p:cNvSpPr txBox="1"/>
          <p:nvPr/>
        </p:nvSpPr>
        <p:spPr>
          <a:xfrm>
            <a:off x="0" y="3191526"/>
            <a:ext cx="6536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JSON.parse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returns 'any' because the structure isn't known at compile time</a:t>
            </a:r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 =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JSON.parse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'{ "name": "Alice", "age": 30 }'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2. Variables declared without initialization</a:t>
            </a:r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something;  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 is 'any’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something =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'hello’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something =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No error</a:t>
            </a:r>
            <a:endParaRPr lang="en-IN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A25027-C97B-43C5-0004-BC08157B224D}"/>
              </a:ext>
            </a:extLst>
          </p:cNvPr>
          <p:cNvCxnSpPr>
            <a:cxnSpLocks/>
          </p:cNvCxnSpPr>
          <p:nvPr/>
        </p:nvCxnSpPr>
        <p:spPr>
          <a:xfrm>
            <a:off x="6002867" y="0"/>
            <a:ext cx="93133" cy="6951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97715E-A5C9-1DA3-266B-FE212D04FCC4}"/>
              </a:ext>
            </a:extLst>
          </p:cNvPr>
          <p:cNvSpPr txBox="1"/>
          <p:nvPr/>
        </p:nvSpPr>
        <p:spPr>
          <a:xfrm>
            <a:off x="6070599" y="79791"/>
            <a:ext cx="611293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to use </a:t>
            </a:r>
            <a:r>
              <a:rPr lang="en-IN" sz="16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working with data from external sources (APIs, user input, etc.)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you want to ensure type safety while still allowing flexibility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migrating from JavaScript to TypeScript in a type-safe way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indent="0" algn="l">
              <a:buNone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narrowing with </a:t>
            </a:r>
            <a:r>
              <a:rPr lang="en-IN" sz="16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narrow down the type of an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value using type guards: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unknown) {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===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'string'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value is now treated as string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value.toUpperCase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Array.isArray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 {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value is now treated as any[]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value.length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4DBC1E-0484-C893-5994-0BE304EEDFE4}"/>
              </a:ext>
            </a:extLst>
          </p:cNvPr>
          <p:cNvSpPr txBox="1"/>
          <p:nvPr/>
        </p:nvSpPr>
        <p:spPr>
          <a:xfrm>
            <a:off x="101600" y="0"/>
            <a:ext cx="609600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Type: never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represents the type of values that never occur.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It's used to indicate that something never happens or should never happen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E4778-927A-ECFA-C860-C4E767A2E9C4}"/>
              </a:ext>
            </a:extLst>
          </p:cNvPr>
          <p:cNvSpPr txBox="1"/>
          <p:nvPr/>
        </p:nvSpPr>
        <p:spPr>
          <a:xfrm>
            <a:off x="190500" y="1143061"/>
            <a:ext cx="5156200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1. Function that never returns</a:t>
            </a:r>
          </a:p>
          <a:p>
            <a:endParaRPr lang="en-IN" sz="1600" b="0" i="0" dirty="0">
              <a:solidFill>
                <a:srgbClr val="005CC5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throwError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(message: string): never {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Error(message);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704DA-4CD2-0C7F-FFC4-2DE42FF124AF}"/>
              </a:ext>
            </a:extLst>
          </p:cNvPr>
          <p:cNvSpPr txBox="1"/>
          <p:nvPr/>
        </p:nvSpPr>
        <p:spPr>
          <a:xfrm>
            <a:off x="0" y="2791188"/>
            <a:ext cx="54356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2. Exhaustiveness checking with discriminated unions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 Function to calculate area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getArea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(shape: Shape): number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switch 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shape.kind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case "circle":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return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Math.PI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shape.radius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** 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case "square":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return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shape.sideLength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** 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case "triangle":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return 0.5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shape.base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shape.height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default: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// Exhaustive check: ensures all cases are handled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_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exhaustiveCheck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never = shape;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return _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exhaustiveCheck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3DA64-3C19-A6FA-B5D3-2880B777B29B}"/>
              </a:ext>
            </a:extLst>
          </p:cNvPr>
          <p:cNvSpPr txBox="1"/>
          <p:nvPr/>
        </p:nvSpPr>
        <p:spPr>
          <a:xfrm>
            <a:off x="5994400" y="0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// Define discriminated union types for shapes</a:t>
            </a:r>
          </a:p>
          <a:p>
            <a:r>
              <a:rPr lang="en-IN" sz="1600" dirty="0"/>
              <a:t>type Circle = {</a:t>
            </a:r>
          </a:p>
          <a:p>
            <a:r>
              <a:rPr lang="en-IN" sz="1600" dirty="0"/>
              <a:t>  kind: "circle";</a:t>
            </a:r>
          </a:p>
          <a:p>
            <a:r>
              <a:rPr lang="en-IN" sz="1600" dirty="0"/>
              <a:t>  radius: number;</a:t>
            </a:r>
          </a:p>
          <a:p>
            <a:r>
              <a:rPr lang="en-IN" sz="1600" dirty="0"/>
              <a:t>};</a:t>
            </a:r>
          </a:p>
          <a:p>
            <a:endParaRPr lang="en-IN" sz="1200" dirty="0"/>
          </a:p>
          <a:p>
            <a:r>
              <a:rPr lang="en-IN" sz="1600" dirty="0"/>
              <a:t>type Square = {</a:t>
            </a:r>
          </a:p>
          <a:p>
            <a:r>
              <a:rPr lang="en-IN" sz="1600" dirty="0"/>
              <a:t>  kind: "square";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sideLength</a:t>
            </a:r>
            <a:r>
              <a:rPr lang="en-IN" sz="1600" dirty="0"/>
              <a:t>: number;</a:t>
            </a:r>
          </a:p>
          <a:p>
            <a:r>
              <a:rPr lang="en-IN" sz="1600" dirty="0"/>
              <a:t>};</a:t>
            </a:r>
          </a:p>
          <a:p>
            <a:endParaRPr lang="en-IN" sz="1200" dirty="0"/>
          </a:p>
          <a:p>
            <a:r>
              <a:rPr lang="en-IN" sz="1600" dirty="0"/>
              <a:t>type Triangle = {</a:t>
            </a:r>
          </a:p>
          <a:p>
            <a:r>
              <a:rPr lang="en-IN" sz="1600" dirty="0"/>
              <a:t>  kind: "triangle";</a:t>
            </a:r>
          </a:p>
          <a:p>
            <a:r>
              <a:rPr lang="en-IN" sz="1600" dirty="0"/>
              <a:t>  base: number;</a:t>
            </a:r>
          </a:p>
          <a:p>
            <a:r>
              <a:rPr lang="en-IN" sz="1600" dirty="0"/>
              <a:t>  height: number;</a:t>
            </a:r>
          </a:p>
          <a:p>
            <a:r>
              <a:rPr lang="en-IN" sz="1600" dirty="0"/>
              <a:t>};</a:t>
            </a:r>
          </a:p>
          <a:p>
            <a:endParaRPr lang="en-IN" sz="1200" dirty="0"/>
          </a:p>
          <a:p>
            <a:r>
              <a:rPr lang="en-IN" sz="1600" dirty="0"/>
              <a:t>// Union type</a:t>
            </a:r>
          </a:p>
          <a:p>
            <a:r>
              <a:rPr lang="en-IN" sz="1600" dirty="0"/>
              <a:t>type Shape = Circle | Square | Triangle;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26D40-66D0-3F4B-A986-00A1E30DF850}"/>
              </a:ext>
            </a:extLst>
          </p:cNvPr>
          <p:cNvSpPr txBox="1"/>
          <p:nvPr/>
        </p:nvSpPr>
        <p:spPr>
          <a:xfrm>
            <a:off x="5486400" y="487381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 Example usage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myCircle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Circle = { kind: "circle", radius: 5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mySquare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Square = { kind: "square",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sideLength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4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myTriangle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Triangle = { kind: "triangle", base: 6, height: 3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console.log("Circle area:",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getArea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myCircle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));     // 78.5398...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console.log("Square area:",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getArea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mySquare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));     // 16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console.log("Triangle area:",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getArea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myTriangle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)); // 9</a:t>
            </a:r>
          </a:p>
        </p:txBody>
      </p:sp>
    </p:spTree>
    <p:extLst>
      <p:ext uri="{BB962C8B-B14F-4D97-AF65-F5344CB8AC3E}">
        <p14:creationId xmlns:p14="http://schemas.microsoft.com/office/powerpoint/2010/main" val="307006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98015F-9288-AD62-1BCC-9234E58C1760}"/>
              </a:ext>
            </a:extLst>
          </p:cNvPr>
          <p:cNvSpPr txBox="1"/>
          <p:nvPr/>
        </p:nvSpPr>
        <p:spPr>
          <a:xfrm>
            <a:off x="220132" y="112567"/>
            <a:ext cx="8957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x: never =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Error: Type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is not assignable to type 'never'.</a:t>
            </a:r>
            <a:endParaRPr lang="en-I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CE02A-B3CD-1710-9C19-85F8151E9D16}"/>
              </a:ext>
            </a:extLst>
          </p:cNvPr>
          <p:cNvSpPr txBox="1"/>
          <p:nvPr/>
        </p:nvSpPr>
        <p:spPr>
          <a:xfrm>
            <a:off x="220132" y="42034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to use </a:t>
            </a:r>
            <a:r>
              <a:rPr lang="en-IN" sz="16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functions that will never return a value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type guards that should never match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exhaustive type checking in switch statements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generic types to indicate certain cases are impossible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248A7-6DBC-AB10-D43A-4145B94A8982}"/>
              </a:ext>
            </a:extLst>
          </p:cNvPr>
          <p:cNvSpPr txBox="1"/>
          <p:nvPr/>
        </p:nvSpPr>
        <p:spPr>
          <a:xfrm>
            <a:off x="135465" y="1743783"/>
            <a:ext cx="376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The TypeScript never example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7911E-0ACA-4904-F36E-04AA01B32804}"/>
              </a:ext>
            </a:extLst>
          </p:cNvPr>
          <p:cNvSpPr txBox="1"/>
          <p:nvPr/>
        </p:nvSpPr>
        <p:spPr>
          <a:xfrm>
            <a:off x="135465" y="2396458"/>
            <a:ext cx="5401735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Role =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|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'user’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authorize = (role: Role): string =&gt; { 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switch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(role) { 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'You can do anything’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'user'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'You can do something’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default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b="0" i="1" dirty="0">
                <a:solidFill>
                  <a:srgbClr val="A0A1A7"/>
                </a:solidFill>
                <a:effectLst/>
                <a:latin typeface="ui-monospace"/>
              </a:rPr>
              <a:t>// never reach here util we add a new role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_unreachable: never = role; 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throw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new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Error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`Invalid role: 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${_unreachable}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); } }; </a:t>
            </a:r>
          </a:p>
          <a:p>
            <a:pPr>
              <a:lnSpc>
                <a:spcPct val="150000"/>
              </a:lnSpc>
            </a:pP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.log(authorize(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5B29F-9D13-F503-C703-666FB83DD696}"/>
              </a:ext>
            </a:extLst>
          </p:cNvPr>
          <p:cNvSpPr txBox="1"/>
          <p:nvPr/>
        </p:nvSpPr>
        <p:spPr>
          <a:xfrm>
            <a:off x="5113865" y="1851087"/>
            <a:ext cx="68410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Why do we handle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case?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reason is that if we add a new value to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Role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type and forget to add a logic to handle the new role, TypeScript will issue an error: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Role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'admin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' |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'user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' | </a:t>
            </a:r>
            <a:r>
              <a:rPr lang="en-IN" sz="1600" b="0" i="0" dirty="0">
                <a:solidFill>
                  <a:srgbClr val="4078F2"/>
                </a:solidFill>
                <a:effectLst/>
                <a:latin typeface="ui-monospace"/>
              </a:rPr>
              <a:t>'guest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’;</a:t>
            </a:r>
          </a:p>
          <a:p>
            <a:pPr marL="0" marR="0" indent="0" algn="l">
              <a:buNone/>
            </a:pP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In this case, we add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'guest'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to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Role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type.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And TypeScript issues the following error: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'string'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is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not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assignable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to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'never'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.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ts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2322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)</a:t>
            </a:r>
          </a:p>
          <a:p>
            <a:pPr marL="0" marR="0" indent="0" algn="l">
              <a:buNone/>
            </a:pP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This is because the value of the role in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branch now becomes the string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'guest'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and you cannot assign a string value to a variable with the type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never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To fix this, you need to create a new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case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branch to handle the new role:</a:t>
            </a:r>
          </a:p>
        </p:txBody>
      </p:sp>
    </p:spTree>
    <p:extLst>
      <p:ext uri="{BB962C8B-B14F-4D97-AF65-F5344CB8AC3E}">
        <p14:creationId xmlns:p14="http://schemas.microsoft.com/office/powerpoint/2010/main" val="352127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8F35A2-F54E-D11B-DD95-F297EB1BB081}"/>
              </a:ext>
            </a:extLst>
          </p:cNvPr>
          <p:cNvSpPr txBox="1"/>
          <p:nvPr/>
        </p:nvSpPr>
        <p:spPr>
          <a:xfrm>
            <a:off x="0" y="334707"/>
            <a:ext cx="5503333" cy="46612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authorize = (role: Role): string =&gt; { 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switch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(role) {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'You can do anything’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'user'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'You can do something’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'guest'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'You can do nothing’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default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1" dirty="0">
                <a:solidFill>
                  <a:srgbClr val="A0A1A7"/>
                </a:solidFill>
                <a:effectLst/>
                <a:latin typeface="ui-monospace"/>
              </a:rPr>
              <a:t>// never reach here util we add a new role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_unreachable: never = role;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throw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new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Error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`Invalid role: </a:t>
            </a:r>
            <a:r>
              <a:rPr lang="en-IN" sz="2000" b="0" i="0" dirty="0">
                <a:solidFill>
                  <a:srgbClr val="E45649"/>
                </a:solidFill>
                <a:effectLst/>
                <a:latin typeface="ui-monospace"/>
              </a:rPr>
              <a:t>${_unreachable}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};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AAD41-9C67-79CB-272B-7BE5B7277C1F}"/>
              </a:ext>
            </a:extLst>
          </p:cNvPr>
          <p:cNvSpPr txBox="1"/>
          <p:nvPr/>
        </p:nvSpPr>
        <p:spPr>
          <a:xfrm>
            <a:off x="84666" y="5477870"/>
            <a:ext cx="6129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To make it more concise, we can define a function with the return type never and use it in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default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branch: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DFAE9-7C6C-EAAE-657D-9C12F36309B2}"/>
              </a:ext>
            </a:extLst>
          </p:cNvPr>
          <p:cNvSpPr txBox="1"/>
          <p:nvPr/>
        </p:nvSpPr>
        <p:spPr>
          <a:xfrm>
            <a:off x="5918200" y="334707"/>
            <a:ext cx="6129866" cy="62478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type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Role =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|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'user'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|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'guest’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endParaRPr lang="en-IN" sz="16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sz="1600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unknownRole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(role: never): never =&gt; { </a:t>
            </a:r>
          </a:p>
          <a:p>
            <a:endParaRPr lang="en-IN" sz="16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throw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new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Error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`Invalid role: </a:t>
            </a:r>
            <a:r>
              <a:rPr lang="en-IN" sz="1600" b="0" i="0" dirty="0">
                <a:solidFill>
                  <a:srgbClr val="E45649"/>
                </a:solidFill>
                <a:effectLst/>
                <a:latin typeface="ui-monospace"/>
              </a:rPr>
              <a:t>${role}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</a:p>
          <a:p>
            <a:endParaRPr lang="en-IN" sz="16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}; </a:t>
            </a:r>
          </a:p>
          <a:p>
            <a:endParaRPr lang="en-IN" sz="1600" dirty="0">
              <a:solidFill>
                <a:srgbClr val="383A42"/>
              </a:solidFill>
              <a:latin typeface="ui-monospace"/>
            </a:endParaRPr>
          </a:p>
          <a:p>
            <a:pPr>
              <a:lnSpc>
                <a:spcPct val="150000"/>
              </a:lnSpc>
            </a:pPr>
            <a:r>
              <a:rPr lang="en-IN" sz="1600" b="0" i="0" dirty="0" err="1">
                <a:solidFill>
                  <a:srgbClr val="A626A4"/>
                </a:solidFill>
                <a:effectLst/>
                <a:latin typeface="ui-monospace"/>
              </a:rPr>
              <a:t>const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authorize = (role: Role): string =&gt; {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switch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(role) {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'You can do anything’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'user'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'You can do something’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case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'guest'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'You can do nothing’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default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1" dirty="0">
                <a:solidFill>
                  <a:srgbClr val="A0A1A7"/>
                </a:solidFill>
                <a:effectLst/>
                <a:latin typeface="ui-monospace"/>
              </a:rPr>
              <a:t>// never reach here util we add a new role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unknownRole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(role); </a:t>
            </a: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}</a:t>
            </a:r>
          </a:p>
          <a:p>
            <a:pPr>
              <a:lnSpc>
                <a:spcPct val="150000"/>
              </a:lnSpc>
            </a:pPr>
            <a:endParaRPr lang="en-IN" sz="1600" dirty="0">
              <a:solidFill>
                <a:srgbClr val="383A42"/>
              </a:solidFill>
              <a:latin typeface="ui-monospace"/>
            </a:endParaRPr>
          </a:p>
          <a:p>
            <a:pPr>
              <a:lnSpc>
                <a:spcPct val="150000"/>
              </a:lnSpc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}; </a:t>
            </a:r>
          </a:p>
          <a:p>
            <a:endParaRPr lang="en-IN" sz="16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.log(authorize(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'admin'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6E3B30-7B48-9CE3-9304-509A9AECCBB3}"/>
              </a:ext>
            </a:extLst>
          </p:cNvPr>
          <p:cNvSpPr txBox="1"/>
          <p:nvPr/>
        </p:nvSpPr>
        <p:spPr>
          <a:xfrm>
            <a:off x="-135467" y="6270595"/>
            <a:ext cx="5833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Use the </a:t>
            </a:r>
            <a:r>
              <a:rPr lang="en-IN" sz="14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never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 type that holds no value, denoting an impossibility in the type system.</a:t>
            </a:r>
          </a:p>
        </p:txBody>
      </p:sp>
    </p:spTree>
    <p:extLst>
      <p:ext uri="{BB962C8B-B14F-4D97-AF65-F5344CB8AC3E}">
        <p14:creationId xmlns:p14="http://schemas.microsoft.com/office/powerpoint/2010/main" val="3553160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C69BE9-7E7E-8EC4-4282-1E923E1E91AD}"/>
              </a:ext>
            </a:extLst>
          </p:cNvPr>
          <p:cNvSpPr txBox="1"/>
          <p:nvPr/>
        </p:nvSpPr>
        <p:spPr>
          <a:xfrm>
            <a:off x="414866" y="176672"/>
            <a:ext cx="10303933" cy="7797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Type Inference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TypeScript can automatically determine (infer) the type of a variable based on its initial value:</a:t>
            </a:r>
            <a:endParaRPr lang="en-IN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F9DF0-05FD-A876-9B13-6D9922F31622}"/>
              </a:ext>
            </a:extLst>
          </p:cNvPr>
          <p:cNvSpPr txBox="1"/>
          <p:nvPr/>
        </p:nvSpPr>
        <p:spPr>
          <a:xfrm>
            <a:off x="364064" y="1085713"/>
            <a:ext cx="4741334" cy="33547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infers 'string'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infers 'number'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infers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[]'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flags = [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infers return type as 'number'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add(a: number, b: number) {</a:t>
            </a:r>
            <a:br>
              <a:rPr lang="en-IN" sz="2400" dirty="0"/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8124B-FB77-0560-34F4-EB411688312C}"/>
              </a:ext>
            </a:extLst>
          </p:cNvPr>
          <p:cNvSpPr txBox="1"/>
          <p:nvPr/>
        </p:nvSpPr>
        <p:spPr>
          <a:xfrm>
            <a:off x="719666" y="4799168"/>
            <a:ext cx="1030393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Note: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Type inference works best when variables are initialized at declaration.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Uninitialized variables have type 'any' by default unless you enable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strictNullChecks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in your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tsconfig.json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1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37388-D311-BD3F-F21E-25553393F855}"/>
              </a:ext>
            </a:extLst>
          </p:cNvPr>
          <p:cNvSpPr txBox="1"/>
          <p:nvPr/>
        </p:nvSpPr>
        <p:spPr>
          <a:xfrm>
            <a:off x="719665" y="5966768"/>
            <a:ext cx="10811935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Watch Out: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While type inference is convenient, being explicit with types can make your code more maintainable, especially in larger codebases or public APIs.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D258C-54FB-2E2C-F93C-3FD095EF6608}"/>
              </a:ext>
            </a:extLst>
          </p:cNvPr>
          <p:cNvSpPr txBox="1"/>
          <p:nvPr/>
        </p:nvSpPr>
        <p:spPr>
          <a:xfrm>
            <a:off x="5266267" y="977991"/>
            <a:ext cx="6858000" cy="33547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Inference Shines</a:t>
            </a: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Object Literal Inference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infers the shape of the object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{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age: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knows these properties exist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console.log(user.name);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OK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user.email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Error: Property 'email' does not exist</a:t>
            </a:r>
            <a:endParaRPr lang="en-I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6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5E4AB3-CE4D-58E8-8B89-E18131DD8906}"/>
              </a:ext>
            </a:extLst>
          </p:cNvPr>
          <p:cNvSpPr txBox="1"/>
          <p:nvPr/>
        </p:nvSpPr>
        <p:spPr>
          <a:xfrm>
            <a:off x="84666" y="0"/>
            <a:ext cx="60960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Type: 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undefined &amp; null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TypeScript, both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have their own types, just like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By default, these types can be assigned to any other type, but this can be changed with TypeScript's strict null checks.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42A26-494A-3881-D759-988DFF79095A}"/>
              </a:ext>
            </a:extLst>
          </p:cNvPr>
          <p:cNvSpPr txBox="1"/>
          <p:nvPr/>
        </p:nvSpPr>
        <p:spPr>
          <a:xfrm>
            <a:off x="80434" y="2040635"/>
            <a:ext cx="61002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points about </a:t>
            </a:r>
            <a:r>
              <a:rPr lang="en-IN" sz="14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4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  <a:endParaRPr lang="en-IN" sz="1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means a variable has been declared but not assigned a value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an explicit assignment that represents no value or no object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TypeScript, both have their own types: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respectively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With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strictNullChecks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enabled, you must explicitly handle these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2320C-441C-FE28-1CD4-CCAE46D8282B}"/>
              </a:ext>
            </a:extLst>
          </p:cNvPr>
          <p:cNvSpPr txBox="1"/>
          <p:nvPr/>
        </p:nvSpPr>
        <p:spPr>
          <a:xfrm>
            <a:off x="80433" y="3856517"/>
            <a:ext cx="5594351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Basic Usage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let y: undefined = undefined;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let z: null = null; </a:t>
            </a:r>
            <a:endParaRPr lang="en-IN" sz="1125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2167C-17F9-798B-1245-180C5DB4EF7D}"/>
              </a:ext>
            </a:extLst>
          </p:cNvPr>
          <p:cNvSpPr txBox="1"/>
          <p:nvPr/>
        </p:nvSpPr>
        <p:spPr>
          <a:xfrm>
            <a:off x="6450541" y="7924"/>
            <a:ext cx="446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Optional Parameters and Properties</a:t>
            </a:r>
            <a:endParaRPr lang="en-IN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09586-5C3F-749B-BBCE-1420369FA6F8}"/>
              </a:ext>
            </a:extLst>
          </p:cNvPr>
          <p:cNvSpPr txBox="1"/>
          <p:nvPr/>
        </p:nvSpPr>
        <p:spPr>
          <a:xfrm>
            <a:off x="6193309" y="489545"/>
            <a:ext cx="591402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Optional parameter (implicitly `string | undefined`)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greet(name?: string)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`Hello, ${name || 'stranger'}`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Optional property in an interface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name: string;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age?: number;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Same as `number | undefined`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B3BCC-CC94-3E0C-D10C-C9A96BA18219}"/>
              </a:ext>
            </a:extLst>
          </p:cNvPr>
          <p:cNvSpPr txBox="1"/>
          <p:nvPr/>
        </p:nvSpPr>
        <p:spPr>
          <a:xfrm>
            <a:off x="6193309" y="3003431"/>
            <a:ext cx="5687483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Nullish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Coalescing and Optional Chaining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Nullish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coalescing (??) - only uses default if value is null or undefined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input ??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'default'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Optional chaining (?.) - safely access nested properties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street =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user?.address?.street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59C7F4-7C3F-8288-926E-19EF4C3AA90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97309" cy="5168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377857-3DB2-AD75-076A-CE22401BFFDD}"/>
              </a:ext>
            </a:extLst>
          </p:cNvPr>
          <p:cNvSpPr txBox="1"/>
          <p:nvPr/>
        </p:nvSpPr>
        <p:spPr>
          <a:xfrm>
            <a:off x="80434" y="5435968"/>
            <a:ext cx="824024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Important: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These types are most useful when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strictNullChecks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enabled in your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tsconfig.json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file.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This ensures that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are only assignable to themselves and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enable strict null checks, add this to your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tsconfig.json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			</a:t>
            </a:r>
            <a:endParaRPr lang="en-IN" sz="1125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FA15F0-240B-02F2-3F6C-1326101E0ECB}"/>
              </a:ext>
            </a:extLst>
          </p:cNvPr>
          <p:cNvSpPr txBox="1"/>
          <p:nvPr/>
        </p:nvSpPr>
        <p:spPr>
          <a:xfrm>
            <a:off x="8374592" y="5118833"/>
            <a:ext cx="3452283" cy="17312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{</a:t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				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compilerOptions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{</a:t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				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strictNullChecks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5CC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				 }</a:t>
            </a:r>
            <a:br>
              <a:rPr kumimoji="0" lang="en-IN" sz="112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12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		}</a:t>
            </a: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98A266-A7F1-8B6B-F20F-7638E15F9B97}"/>
              </a:ext>
            </a:extLst>
          </p:cNvPr>
          <p:cNvCxnSpPr/>
          <p:nvPr/>
        </p:nvCxnSpPr>
        <p:spPr>
          <a:xfrm flipV="1">
            <a:off x="4783667" y="6036733"/>
            <a:ext cx="4351866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68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952102-332A-A844-AEBB-2ADC620F8CB6}"/>
              </a:ext>
            </a:extLst>
          </p:cNvPr>
          <p:cNvSpPr txBox="1"/>
          <p:nvPr/>
        </p:nvSpPr>
        <p:spPr>
          <a:xfrm>
            <a:off x="2751667" y="0"/>
            <a:ext cx="6096000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chemeClr val="tx1"/>
                </a:solidFill>
                <a:effectLst/>
                <a:latin typeface="+mn-lt"/>
              </a:rPr>
              <a:t>TypeScript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 Tuples</a:t>
            </a:r>
            <a:endParaRPr lang="en-IN" sz="32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772FE-956B-D83B-644E-A81688283134}"/>
              </a:ext>
            </a:extLst>
          </p:cNvPr>
          <p:cNvSpPr txBox="1"/>
          <p:nvPr/>
        </p:nvSpPr>
        <p:spPr>
          <a:xfrm>
            <a:off x="110068" y="124327"/>
            <a:ext cx="62230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Typed Arrays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</a:t>
            </a: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tuple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a typed array with a pre-defined length and types for each index.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Tuples are great because they allow each element in the array to be a </a:t>
            </a: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known type 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of value.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define a tuple, specify the type of each element in the array: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7B4DF-66E2-78DE-26AF-A568AF93BACB}"/>
              </a:ext>
            </a:extLst>
          </p:cNvPr>
          <p:cNvSpPr txBox="1"/>
          <p:nvPr/>
        </p:nvSpPr>
        <p:spPr>
          <a:xfrm>
            <a:off x="0" y="2181300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define our tuple</a:t>
            </a:r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[number, </a:t>
            </a:r>
            <a:r>
              <a:rPr lang="en-IN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string];</a:t>
            </a:r>
            <a:br>
              <a:rPr lang="en-IN" sz="2800" dirty="0"/>
            </a:br>
            <a:br>
              <a:rPr lang="en-IN" sz="2800" dirty="0"/>
            </a:b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initialize correctly</a:t>
            </a:r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'Coding God was here'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ABEF5-44DE-A9DF-05C3-85244DBFE2CD}"/>
              </a:ext>
            </a:extLst>
          </p:cNvPr>
          <p:cNvSpPr txBox="1"/>
          <p:nvPr/>
        </p:nvSpPr>
        <p:spPr>
          <a:xfrm>
            <a:off x="0" y="37006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As you can see we have a number,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boolean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a string.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But what happens if we try to set them in the wrong order: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45463-4094-8539-734A-434DC0E51464}"/>
              </a:ext>
            </a:extLst>
          </p:cNvPr>
          <p:cNvSpPr txBox="1"/>
          <p:nvPr/>
        </p:nvSpPr>
        <p:spPr>
          <a:xfrm>
            <a:off x="110067" y="4556803"/>
            <a:ext cx="6121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define our tuple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[number, 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string];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initialized incorrectly which throws an </a:t>
            </a:r>
            <a:r>
              <a:rPr lang="en-IN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error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'Coding God was mistaken'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54BB8-449A-1918-21DC-89E7A0B088AB}"/>
              </a:ext>
            </a:extLst>
          </p:cNvPr>
          <p:cNvSpPr txBox="1"/>
          <p:nvPr/>
        </p:nvSpPr>
        <p:spPr>
          <a:xfrm>
            <a:off x="110067" y="6090071"/>
            <a:ext cx="612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Even though we have a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and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the order matters in our tuple and will throw an error.</a:t>
            </a:r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45F49A-3B8F-4723-BD4A-BBFB4FE26F6E}"/>
              </a:ext>
            </a:extLst>
          </p:cNvPr>
          <p:cNvSpPr txBox="1"/>
          <p:nvPr/>
        </p:nvSpPr>
        <p:spPr>
          <a:xfrm>
            <a:off x="6764867" y="395587"/>
            <a:ext cx="5317065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Readonly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Tuple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good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practice is to make your 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tuple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sz="16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Tuples only have strongly defined types for the initial values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C2181-4695-55B3-B087-AFF14EDA998E}"/>
              </a:ext>
            </a:extLst>
          </p:cNvPr>
          <p:cNvSpPr txBox="1"/>
          <p:nvPr/>
        </p:nvSpPr>
        <p:spPr>
          <a:xfrm>
            <a:off x="6443136" y="1755540"/>
            <a:ext cx="563879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define our tuple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[number, 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string];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initialize correctly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'Coding God was here'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We have no type safety in our tuple for indexes 3+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ourTuple.push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'Something new and wrong'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5151-82DF-5F60-F606-534896DC5D8A}"/>
              </a:ext>
            </a:extLst>
          </p:cNvPr>
          <p:cNvSpPr txBox="1"/>
          <p:nvPr/>
        </p:nvSpPr>
        <p:spPr>
          <a:xfrm>
            <a:off x="6642100" y="3562143"/>
            <a:ext cx="5549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see the new value.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Tuples only have strongly defined types for the initial values: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144B01-CB71-F5AB-2A67-4C9E2440AD82}"/>
              </a:ext>
            </a:extLst>
          </p:cNvPr>
          <p:cNvSpPr txBox="1"/>
          <p:nvPr/>
        </p:nvSpPr>
        <p:spPr>
          <a:xfrm>
            <a:off x="6642100" y="4604060"/>
            <a:ext cx="55499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define our 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tuple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ourReadonlyTuple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[number, 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string] = [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'The Real Coding God’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throws error as it is </a:t>
            </a:r>
            <a:r>
              <a:rPr lang="en-IN" sz="1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ourReadonlyTuple.push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'Coding God took a day off'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21399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3E94C0-463E-EAD0-7725-A02C4B75E550}"/>
              </a:ext>
            </a:extLst>
          </p:cNvPr>
          <p:cNvSpPr txBox="1"/>
          <p:nvPr/>
        </p:nvSpPr>
        <p:spPr>
          <a:xfrm>
            <a:off x="279400" y="243301"/>
            <a:ext cx="49022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Union types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are used when a value can be more than a single type.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Such as when a property would be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2114C-23C7-D685-0E10-F6500BD1EF8B}"/>
              </a:ext>
            </a:extLst>
          </p:cNvPr>
          <p:cNvSpPr txBox="1"/>
          <p:nvPr/>
        </p:nvSpPr>
        <p:spPr>
          <a:xfrm>
            <a:off x="279400" y="946339"/>
            <a:ext cx="6096000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Union | (OR)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the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we are saying our parameter is a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E2E63-FC14-927D-199A-DE9E2E0D1797}"/>
              </a:ext>
            </a:extLst>
          </p:cNvPr>
          <p:cNvSpPr txBox="1"/>
          <p:nvPr/>
        </p:nvSpPr>
        <p:spPr>
          <a:xfrm>
            <a:off x="381000" y="2069490"/>
            <a:ext cx="5181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printStatusCode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(code: string | number) {</a:t>
            </a:r>
            <a:br>
              <a:rPr lang="en-IN" sz="1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console.log(</a:t>
            </a:r>
            <a:r>
              <a:rPr lang="en-IN" sz="14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`My status code is ${code}.`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400" dirty="0"/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printStatusCode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400" dirty="0"/>
            </a:b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printStatusCode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'404'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2914D-FD06-DDB1-C994-48BFA0E0A99B}"/>
              </a:ext>
            </a:extLst>
          </p:cNvPr>
          <p:cNvSpPr txBox="1"/>
          <p:nvPr/>
        </p:nvSpPr>
        <p:spPr>
          <a:xfrm>
            <a:off x="101600" y="3324467"/>
            <a:ext cx="1178560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Union Type Errors</a:t>
            </a:r>
          </a:p>
          <a:p>
            <a:pPr indent="0" algn="l">
              <a:buNone/>
            </a:pPr>
            <a:r>
              <a:rPr lang="en-IN" sz="1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Note: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you need to know what your type is when union types are being used to avoid type errors:</a:t>
            </a: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printStatusCode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(code: string | number) {</a:t>
            </a:r>
            <a:b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console.log(</a:t>
            </a:r>
            <a:r>
              <a:rPr lang="en-IN" sz="14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`My status code is ${</a:t>
            </a:r>
            <a:r>
              <a:rPr lang="en-IN" sz="1400" b="0" i="0" dirty="0" err="1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code.toUpperCase</a:t>
            </a:r>
            <a:r>
              <a:rPr lang="en-IN" sz="14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()}.`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 Property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does not exist on type 'string | number'. Property '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 does not exist on type 'number'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our example we are having an issue invoking </a:t>
            </a:r>
            <a:r>
              <a:rPr lang="en-IN" sz="1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as its a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method and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doesn't have access to it.</a:t>
            </a:r>
          </a:p>
        </p:txBody>
      </p:sp>
    </p:spTree>
    <p:extLst>
      <p:ext uri="{BB962C8B-B14F-4D97-AF65-F5344CB8AC3E}">
        <p14:creationId xmlns:p14="http://schemas.microsoft.com/office/powerpoint/2010/main" val="825659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D43BE1-0A91-F569-4905-FF7DCAE61433}"/>
              </a:ext>
            </a:extLst>
          </p:cNvPr>
          <p:cNvSpPr txBox="1"/>
          <p:nvPr/>
        </p:nvSpPr>
        <p:spPr>
          <a:xfrm>
            <a:off x="0" y="0"/>
            <a:ext cx="61806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</a:t>
            </a:r>
            <a:r>
              <a:rPr lang="en-IN" sz="16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a special "class" that represents a group of constants (unchangeable variables).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Enums come in two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flavors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numeric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01D35-D22C-6781-1A2F-9A3BE68B51CD}"/>
              </a:ext>
            </a:extLst>
          </p:cNvPr>
          <p:cNvSpPr txBox="1"/>
          <p:nvPr/>
        </p:nvSpPr>
        <p:spPr>
          <a:xfrm>
            <a:off x="0" y="1171087"/>
            <a:ext cx="6112932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Numeric Enums - Default</a:t>
            </a:r>
          </a:p>
          <a:p>
            <a:pPr indent="0"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By default,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enums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will initialize the first value to </a:t>
            </a:r>
            <a:r>
              <a:rPr lang="en-IN" sz="12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add 1 to each additional value: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A2A37-3A17-1762-B9E4-23CF9D0285E5}"/>
              </a:ext>
            </a:extLst>
          </p:cNvPr>
          <p:cNvSpPr txBox="1"/>
          <p:nvPr/>
        </p:nvSpPr>
        <p:spPr>
          <a:xfrm>
            <a:off x="211667" y="1996954"/>
            <a:ext cx="611293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Directions {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North,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East,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South,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West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000" dirty="0"/>
            </a:br>
            <a:r>
              <a:rPr lang="en-IN" sz="12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currentDirection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Directions.North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logs 0</a:t>
            </a:r>
            <a:b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currentDirection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000" dirty="0"/>
            </a:br>
            <a: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throws error as 'North' is not a valid </a:t>
            </a:r>
            <a:r>
              <a:rPr lang="en-IN" sz="12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enum</a:t>
            </a:r>
            <a:b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currentDirection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'North'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Error: "North" is not assignable to type 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'Directions</a:t>
            </a:r>
            <a:r>
              <a:rPr lang="en-IN" sz="12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76706-9092-5AE9-0C87-C9AF8B44E737}"/>
              </a:ext>
            </a:extLst>
          </p:cNvPr>
          <p:cNvSpPr txBox="1"/>
          <p:nvPr/>
        </p:nvSpPr>
        <p:spPr>
          <a:xfrm>
            <a:off x="67733" y="4510003"/>
            <a:ext cx="6112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 can set the value of the first numeric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have it auto increment from that: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86189-AED9-DF82-C417-B19EC5E4D358}"/>
              </a:ext>
            </a:extLst>
          </p:cNvPr>
          <p:cNvSpPr txBox="1"/>
          <p:nvPr/>
        </p:nvSpPr>
        <p:spPr>
          <a:xfrm>
            <a:off x="211667" y="4787002"/>
            <a:ext cx="611293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Directions {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North=1,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East,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South,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West</a:t>
            </a:r>
            <a:br>
              <a:rPr lang="en-IN" sz="2000" dirty="0"/>
            </a:br>
            <a:r>
              <a:rPr lang="en-I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dirty="0"/>
            </a:br>
            <a:r>
              <a:rPr lang="en-IN" sz="1600" dirty="0"/>
              <a:t>console.log(</a:t>
            </a:r>
            <a:r>
              <a:rPr lang="en-IN" sz="1600" dirty="0" err="1"/>
              <a:t>Directions.North</a:t>
            </a:r>
            <a:r>
              <a:rPr lang="en-IN" sz="1600" dirty="0"/>
              <a:t>); // logs 1</a:t>
            </a:r>
            <a:br>
              <a:rPr lang="en-IN" sz="1600" dirty="0"/>
            </a:br>
            <a:r>
              <a:rPr lang="en-IN" sz="1600" dirty="0"/>
              <a:t>console.log(</a:t>
            </a:r>
            <a:r>
              <a:rPr lang="en-IN" sz="1600" dirty="0" err="1"/>
              <a:t>CardinalDirections.West</a:t>
            </a:r>
            <a:r>
              <a:rPr lang="en-IN" sz="1600" dirty="0"/>
              <a:t>); // logs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697BCF-DF65-D1BD-ECCF-0CAF8076CEE8}"/>
              </a:ext>
            </a:extLst>
          </p:cNvPr>
          <p:cNvSpPr txBox="1"/>
          <p:nvPr/>
        </p:nvSpPr>
        <p:spPr>
          <a:xfrm>
            <a:off x="6604000" y="0"/>
            <a:ext cx="5588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Numeric Enums - Fully Initialized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assign unique number values for each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value.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Then the values will not be incremented automatically: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E57FA-B88A-8062-9551-2907E7C3CE6B}"/>
              </a:ext>
            </a:extLst>
          </p:cNvPr>
          <p:cNvSpPr txBox="1"/>
          <p:nvPr/>
        </p:nvSpPr>
        <p:spPr>
          <a:xfrm>
            <a:off x="6561667" y="1085166"/>
            <a:ext cx="54186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StatusCodes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NotFound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Success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Accepted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202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BadRequest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400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logs 404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StatusCodes.NotFound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logs 200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StatusCodes.Success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BC667F-3303-32B7-03F7-7125B79DD9D8}"/>
              </a:ext>
            </a:extLst>
          </p:cNvPr>
          <p:cNvSpPr txBox="1"/>
          <p:nvPr/>
        </p:nvSpPr>
        <p:spPr>
          <a:xfrm>
            <a:off x="6604000" y="3783472"/>
            <a:ext cx="5520267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String Enums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Enums can also contain </a:t>
            </a:r>
            <a:r>
              <a:rPr lang="en-IN" sz="1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This is more common than numeric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because of their readability and intent.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9972C-C6C5-0FF8-61F6-24FD7C10BD11}"/>
              </a:ext>
            </a:extLst>
          </p:cNvPr>
          <p:cNvSpPr txBox="1"/>
          <p:nvPr/>
        </p:nvSpPr>
        <p:spPr>
          <a:xfrm>
            <a:off x="6604000" y="5772834"/>
            <a:ext cx="612986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Technically, you can mix and match string and numeric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enum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values, but it is recommended not to do so.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617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BE7A3E-D3FB-20E1-A837-0A76E8045905}"/>
              </a:ext>
            </a:extLst>
          </p:cNvPr>
          <p:cNvSpPr txBox="1"/>
          <p:nvPr/>
        </p:nvSpPr>
        <p:spPr>
          <a:xfrm>
            <a:off x="33867" y="193690"/>
            <a:ext cx="5503333" cy="4832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i="0" dirty="0" err="1">
                <a:solidFill>
                  <a:srgbClr val="A626A4"/>
                </a:solidFill>
                <a:effectLst/>
                <a:latin typeface="ui-monospace"/>
              </a:rPr>
              <a:t>enum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Month { Jan, Feb, Mar, Apr, May, Jun, Jul, Aug, Sep, Oct, Nov, Dec };</a:t>
            </a:r>
          </a:p>
          <a:p>
            <a:r>
              <a:rPr lang="en-IN" dirty="0"/>
              <a:t>function </a:t>
            </a:r>
            <a:r>
              <a:rPr lang="en-IN" dirty="0" err="1"/>
              <a:t>isItSummer</a:t>
            </a:r>
            <a:r>
              <a:rPr lang="en-IN" dirty="0"/>
              <a:t>(month: Month) {</a:t>
            </a:r>
          </a:p>
          <a:p>
            <a:r>
              <a:rPr lang="en-IN" dirty="0"/>
              <a:t>  let </a:t>
            </a:r>
            <a:r>
              <a:rPr lang="en-IN" dirty="0" err="1"/>
              <a:t>isSummer</a:t>
            </a:r>
            <a:r>
              <a:rPr lang="en-IN" dirty="0"/>
              <a:t>: </a:t>
            </a:r>
            <a:r>
              <a:rPr lang="en-IN" dirty="0" err="1"/>
              <a:t>boolean</a:t>
            </a:r>
            <a:r>
              <a:rPr lang="en-IN" dirty="0"/>
              <a:t>;</a:t>
            </a:r>
          </a:p>
          <a:p>
            <a:r>
              <a:rPr lang="en-IN" dirty="0"/>
              <a:t>  switch (month) {</a:t>
            </a:r>
          </a:p>
          <a:p>
            <a:r>
              <a:rPr lang="en-IN" dirty="0"/>
              <a:t>    case </a:t>
            </a:r>
            <a:r>
              <a:rPr lang="en-IN" dirty="0" err="1"/>
              <a:t>Month.Jun</a:t>
            </a:r>
            <a:r>
              <a:rPr lang="en-IN" dirty="0"/>
              <a:t>:</a:t>
            </a:r>
          </a:p>
          <a:p>
            <a:r>
              <a:rPr lang="en-IN" dirty="0"/>
              <a:t>    case </a:t>
            </a:r>
            <a:r>
              <a:rPr lang="en-IN" dirty="0" err="1"/>
              <a:t>Month.Jul</a:t>
            </a:r>
            <a:r>
              <a:rPr lang="en-IN" dirty="0"/>
              <a:t>:</a:t>
            </a:r>
          </a:p>
          <a:p>
            <a:r>
              <a:rPr lang="en-IN" dirty="0"/>
              <a:t>    case </a:t>
            </a:r>
            <a:r>
              <a:rPr lang="en-IN" dirty="0" err="1"/>
              <a:t>Month.Aug</a:t>
            </a:r>
            <a:r>
              <a:rPr lang="en-IN" dirty="0"/>
              <a:t>:</a:t>
            </a:r>
          </a:p>
          <a:p>
            <a:r>
              <a:rPr lang="en-IN" dirty="0"/>
              <a:t>      </a:t>
            </a:r>
            <a:r>
              <a:rPr lang="en-IN" dirty="0" err="1"/>
              <a:t>isSummer</a:t>
            </a:r>
            <a:r>
              <a:rPr lang="en-IN" dirty="0"/>
              <a:t> = true;</a:t>
            </a:r>
          </a:p>
          <a:p>
            <a:r>
              <a:rPr lang="en-IN" dirty="0"/>
              <a:t>      break;</a:t>
            </a:r>
          </a:p>
          <a:p>
            <a:r>
              <a:rPr lang="en-IN" dirty="0"/>
              <a:t>    default:</a:t>
            </a:r>
          </a:p>
          <a:p>
            <a:r>
              <a:rPr lang="en-IN" dirty="0"/>
              <a:t>      </a:t>
            </a:r>
            <a:r>
              <a:rPr lang="en-IN" dirty="0" err="1"/>
              <a:t>isSummer</a:t>
            </a:r>
            <a:r>
              <a:rPr lang="en-IN" dirty="0"/>
              <a:t> = false;</a:t>
            </a:r>
          </a:p>
          <a:p>
            <a:r>
              <a:rPr lang="en-IN" dirty="0"/>
              <a:t>      break;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return </a:t>
            </a:r>
            <a:r>
              <a:rPr lang="en-IN" dirty="0" err="1"/>
              <a:t>isSummer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</a:t>
            </a:r>
            <a:r>
              <a:rPr lang="en-IN" dirty="0" err="1"/>
              <a:t>isItSummer</a:t>
            </a:r>
            <a:r>
              <a:rPr lang="en-IN" dirty="0"/>
              <a:t>(</a:t>
            </a:r>
            <a:r>
              <a:rPr lang="en-IN" dirty="0" err="1"/>
              <a:t>Month.Jun</a:t>
            </a:r>
            <a:r>
              <a:rPr lang="en-IN" dirty="0"/>
              <a:t>)); </a:t>
            </a:r>
            <a:r>
              <a:rPr lang="en-IN" i="1" dirty="0"/>
              <a:t>// true</a:t>
            </a:r>
          </a:p>
          <a:p>
            <a:r>
              <a:rPr lang="en-IN" sz="2000" dirty="0"/>
              <a:t>console.log(</a:t>
            </a:r>
            <a:r>
              <a:rPr lang="en-IN" sz="2000" dirty="0" err="1"/>
              <a:t>isItSummer</a:t>
            </a:r>
            <a:r>
              <a:rPr lang="en-IN" sz="2000" dirty="0"/>
              <a:t>(6)); // 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8352B-22B5-1CA3-BF71-423CCB5BB41A}"/>
              </a:ext>
            </a:extLst>
          </p:cNvPr>
          <p:cNvSpPr txBox="1"/>
          <p:nvPr/>
        </p:nvSpPr>
        <p:spPr>
          <a:xfrm>
            <a:off x="5808132" y="-26443"/>
            <a:ext cx="618066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Let’s check the generated </a:t>
            </a:r>
            <a:r>
              <a:rPr lang="en-IN" b="0" i="0" dirty="0" err="1">
                <a:solidFill>
                  <a:srgbClr val="212529"/>
                </a:solidFill>
                <a:effectLst/>
                <a:latin typeface="-apple-system"/>
              </a:rPr>
              <a:t>Javascript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 code of the Month </a:t>
            </a:r>
            <a:r>
              <a:rPr lang="en-IN" b="0" i="0" dirty="0" err="1">
                <a:solidFill>
                  <a:srgbClr val="212529"/>
                </a:solidFill>
                <a:effectLst/>
                <a:latin typeface="-apple-system"/>
              </a:rPr>
              <a:t>enum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: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var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Month;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(Month) {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"Jan"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0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"Jan"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"Feb"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"Feb"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"Mar"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"Mar"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"Apr"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3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"Apr"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"May"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"May"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"Jun"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"Jun"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"Jul"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6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"Jul"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"Aug"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"Aug"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"Sep"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8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"Sep"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"Oct"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"Oct"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"Nov"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10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"Nov"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Month[Month[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"Dec"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11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] =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"Dec"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})(Month || (Month = {}));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And you can output the 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Month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variable to the console: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{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'0'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'Jan'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'1'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'Feb'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'2'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'Mar'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'3'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'Apr'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'4'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'May'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'5'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'Jun'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'6'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'Jul'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'7'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'Aug'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'8'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'Sep'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'9'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'Oct'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'10'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'Nov'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'11'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'Dec’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</a:t>
            </a:r>
          </a:p>
          <a:p>
            <a:pPr marL="0" marR="0" indent="0" algn="l" rtl="0">
              <a:buNone/>
            </a:pPr>
            <a:endParaRPr lang="en-IN" sz="1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Jan: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0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    Feb: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   Mar: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   Apr: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3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   May: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Jun: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Jul: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6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Aug: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Sep: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8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Oct: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Nov: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10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 Dec: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11 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61CA2-D57A-1C17-80A5-4C71D5893E9C}"/>
              </a:ext>
            </a:extLst>
          </p:cNvPr>
          <p:cNvSpPr txBox="1"/>
          <p:nvPr/>
        </p:nvSpPr>
        <p:spPr>
          <a:xfrm>
            <a:off x="469900" y="5217760"/>
            <a:ext cx="11252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The output indicates that a TypeScript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enum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is an object in JavaScript. This object has named properties declared in the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enum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. For example,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Jan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is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and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Feb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is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The generated object also has number keys with string values representing the named constants.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That’s why you can pass a number into the function that accepts an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enum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. In other words, an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enum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member 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 both a number and a defined constant.</a:t>
            </a:r>
          </a:p>
        </p:txBody>
      </p:sp>
    </p:spTree>
    <p:extLst>
      <p:ext uri="{BB962C8B-B14F-4D97-AF65-F5344CB8AC3E}">
        <p14:creationId xmlns:p14="http://schemas.microsoft.com/office/powerpoint/2010/main" val="398728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AEA252-B305-F377-64A3-BC2445B0E8BE}"/>
              </a:ext>
            </a:extLst>
          </p:cNvPr>
          <p:cNvSpPr txBox="1"/>
          <p:nvPr/>
        </p:nvSpPr>
        <p:spPr>
          <a:xfrm>
            <a:off x="177798" y="150969"/>
            <a:ext cx="10100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TypeScript allows types to be defined separately from the variables that use them.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Aliases and Interfaces allows types to be easily shared between different variables/objects.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FAB69-AF68-0049-0C98-3F6ED5BF36D9}"/>
              </a:ext>
            </a:extLst>
          </p:cNvPr>
          <p:cNvSpPr txBox="1"/>
          <p:nvPr/>
        </p:nvSpPr>
        <p:spPr>
          <a:xfrm>
            <a:off x="88898" y="978673"/>
            <a:ext cx="104478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Aliases allow defining types with a custom name (an Alias).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Aliases can be used for primitives like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or more complex types such as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and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AD40D-943F-C8B8-87C7-5A0D83DB4532}"/>
              </a:ext>
            </a:extLst>
          </p:cNvPr>
          <p:cNvSpPr txBox="1"/>
          <p:nvPr/>
        </p:nvSpPr>
        <p:spPr>
          <a:xfrm>
            <a:off x="245532" y="1744821"/>
            <a:ext cx="4411135" cy="470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CarYear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CarModel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CarYear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CarModel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carYear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CarYear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2001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"Toyota"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carModel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CarModel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"Corolla"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carYear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carModel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console.log(car);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739C3-4450-28C0-6092-15FE40014C5B}"/>
              </a:ext>
            </a:extLst>
          </p:cNvPr>
          <p:cNvSpPr txBox="1"/>
          <p:nvPr/>
        </p:nvSpPr>
        <p:spPr>
          <a:xfrm>
            <a:off x="5503333" y="1838867"/>
            <a:ext cx="6688667" cy="31597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Example: Intersection Types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IN" b="1" dirty="0"/>
              <a:t>intersection operator (</a:t>
            </a:r>
            <a:r>
              <a:rPr lang="en-IN" dirty="0"/>
              <a:t>&amp;</a:t>
            </a:r>
            <a:r>
              <a:rPr lang="en-IN" b="1" dirty="0"/>
              <a:t>)</a:t>
            </a:r>
            <a:r>
              <a:rPr lang="en-IN" dirty="0"/>
              <a:t>: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honey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bear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Bear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"Winnie"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honey: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113095"/>
              </a:lnSpc>
              <a:buNone/>
            </a:pPr>
            <a:endParaRPr lang="en-IN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000" b="1" dirty="0">
                <a:solidFill>
                  <a:srgbClr val="3B3B3B"/>
                </a:solidFill>
                <a:latin typeface="Consolas" panose="020B0609020204030204" pitchFamily="49" charset="0"/>
              </a:rPr>
              <a:t>Example Union</a:t>
            </a:r>
            <a:b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r>
              <a:rPr lang="en-IN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19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8D6F9A-C9C0-DC08-8F1D-C8DBC0D04BB4}"/>
              </a:ext>
            </a:extLst>
          </p:cNvPr>
          <p:cNvSpPr txBox="1"/>
          <p:nvPr/>
        </p:nvSpPr>
        <p:spPr>
          <a:xfrm>
            <a:off x="0" y="218205"/>
            <a:ext cx="7747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Interfaces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Interfaces are similar to type aliases, except they 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only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apply to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27647-1044-27E4-3209-DFDD3B5F2002}"/>
              </a:ext>
            </a:extLst>
          </p:cNvPr>
          <p:cNvSpPr txBox="1"/>
          <p:nvPr/>
        </p:nvSpPr>
        <p:spPr>
          <a:xfrm>
            <a:off x="101600" y="1233168"/>
            <a:ext cx="5503333" cy="341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Try creating a new interface using it below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0D22A-E3E1-B1B0-B033-12B34BE5A489}"/>
              </a:ext>
            </a:extLst>
          </p:cNvPr>
          <p:cNvSpPr txBox="1"/>
          <p:nvPr/>
        </p:nvSpPr>
        <p:spPr>
          <a:xfrm>
            <a:off x="4275668" y="1858674"/>
            <a:ext cx="7916332" cy="4431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 vs Interface: Key Differences</a:t>
            </a:r>
            <a:endParaRPr lang="en-IN" sz="3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endParaRPr lang="en-IN" sz="1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Extending: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Both can be extended, but interfaces support declaration merging.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Unions/Intersections: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Only type aliases support union and intersection types.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Implements: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Classes can implement either.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Recommendation: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Use 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for objects, 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for everything else.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algn="l"/>
            <a:endParaRPr lang="en-IN" sz="9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indent="0" algn="l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Best Practices: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 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for defining object shapes and public APIs.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 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for unions, intersections, and primitives.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Favor composition over inheritance for types.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Document your types and interfaces for clarity.</a:t>
            </a:r>
          </a:p>
        </p:txBody>
      </p:sp>
    </p:spTree>
    <p:extLst>
      <p:ext uri="{BB962C8B-B14F-4D97-AF65-F5344CB8AC3E}">
        <p14:creationId xmlns:p14="http://schemas.microsoft.com/office/powerpoint/2010/main" val="1353410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72BFD8-86AB-8BCB-5760-3827F4C84065}"/>
              </a:ext>
            </a:extLst>
          </p:cNvPr>
          <p:cNvSpPr txBox="1"/>
          <p:nvPr/>
        </p:nvSpPr>
        <p:spPr>
          <a:xfrm>
            <a:off x="287867" y="252929"/>
            <a:ext cx="1166706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Extending Interfaces</a:t>
            </a: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endParaRPr lang="en-IN" sz="7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Interfaces can extend each other's definition.</a:t>
            </a:r>
          </a:p>
          <a:p>
            <a:pPr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Extending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an interface means you are creating a new interface with the same properties as the original, plus something new.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A4DC6-6D6E-F5F4-C2F3-84CAFBA20C9B}"/>
              </a:ext>
            </a:extLst>
          </p:cNvPr>
          <p:cNvSpPr txBox="1"/>
          <p:nvPr/>
        </p:nvSpPr>
        <p:spPr>
          <a:xfrm>
            <a:off x="203199" y="2190433"/>
            <a:ext cx="6096000" cy="42165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Try creating a new interface and extending it like below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ColoredRectangle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coloredRectangle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ColoredRectangle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height: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coloredRectangle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5676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4204</Words>
  <Application>Microsoft Office PowerPoint</Application>
  <PresentationFormat>Widescreen</PresentationFormat>
  <Paragraphs>405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Consolas</vt:lpstr>
      <vt:lpstr>Courier New</vt:lpstr>
      <vt:lpstr>Roboto Mono</vt:lpstr>
      <vt:lpstr>Segoe UI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123</cp:revision>
  <dcterms:created xsi:type="dcterms:W3CDTF">2026-09-07T06:31:45Z</dcterms:created>
  <dcterms:modified xsi:type="dcterms:W3CDTF">2026-09-24T04:14:52Z</dcterms:modified>
</cp:coreProperties>
</file>