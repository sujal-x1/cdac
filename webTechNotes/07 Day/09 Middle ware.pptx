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8" r:id="rId5"/>
    <p:sldId id="269" r:id="rId6"/>
    <p:sldId id="258" r:id="rId7"/>
    <p:sldId id="260" r:id="rId8"/>
    <p:sldId id="261" r:id="rId9"/>
    <p:sldId id="270" r:id="rId10"/>
    <p:sldId id="262" r:id="rId11"/>
    <p:sldId id="266" r:id="rId12"/>
    <p:sldId id="263" r:id="rId13"/>
    <p:sldId id="265" r:id="rId14"/>
    <p:sldId id="264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1638" autoAdjust="0"/>
  </p:normalViewPr>
  <p:slideViewPr>
    <p:cSldViewPr snapToGrid="0">
      <p:cViewPr varScale="1">
        <p:scale>
          <a:sx n="92" d="100"/>
          <a:sy n="92" d="100"/>
        </p:scale>
        <p:origin x="23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24E986-090E-4604-9178-11E1DE0CB41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5C0BC-B245-475F-8336-FCF45F7302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891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5C0BC-B245-475F-8336-FCF45F73024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899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65736-F5BD-7837-1B5F-E4ED2E07D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AA4A6-CDA6-6600-9637-7DE8FF093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649AF-14BD-E7B2-B8B3-D3E0F4FF6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7C02-35DE-4FCD-A673-39B718FA7FE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1DF58-CE66-E456-BB07-D4179CBF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7549C-9268-6D83-8D85-AE1337E7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5BEB-96D4-4015-A792-9B02B57C56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17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F2AE2-3138-01B0-DF0F-856DC4C5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2D8FA-8F31-B689-3853-41A66D2B9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BFFFF-6C6F-454B-81A6-A12B542DC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7C02-35DE-4FCD-A673-39B718FA7FE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8C00A-4D35-B582-D87F-CFAB6A0C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8B0CA-5EA2-7A03-D070-2FB1A2486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5BEB-96D4-4015-A792-9B02B57C56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60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51DC-FDC3-6BCF-E8D2-9F0E49D6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20324-7B35-4AE4-2621-910384AF3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510A6-D2AE-46D8-DC30-5922B6A4A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7C02-35DE-4FCD-A673-39B718FA7FE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5D84B-780A-0F98-8918-B49D56EE8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707BB-1C38-FD4D-69D8-9C9A25D5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5BEB-96D4-4015-A792-9B02B57C56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82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5434D-80BC-8222-DEFF-7A6ADD1F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BDB4B-5D0E-9A92-F511-CD7AAE174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2A260-EFE2-473F-3C1F-208F5FB38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C6AC8-9466-DE8E-D22A-61F1446C0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7C02-35DE-4FCD-A673-39B718FA7FE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B415C-E21E-811D-1AC2-E46B0EFF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785B9-B268-6B7C-9D68-7C7ACC7AE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5BEB-96D4-4015-A792-9B02B57C56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320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922F9-5363-74D1-9710-B0839815E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80DDF-6A73-EBD0-C2F3-EE99C6C11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E46CD-5779-D9B9-CBAD-9265E8675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991DF-B444-F648-ABEF-A2029DA62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AC5A9C-B98F-4F19-ABEF-5C8DFCB31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B6DC2A-EC7D-BE89-8B7A-067C0ADCE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7C02-35DE-4FCD-A673-39B718FA7FE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2D0319-7A60-A15C-C732-D28F2C02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7752FA-5F39-1DDB-59B0-A87F43CB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5BEB-96D4-4015-A792-9B02B57C56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91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14DDA-AC6B-427D-A1D6-3BC368AD8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719C43-41C7-C42E-50B6-547454A2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7C02-35DE-4FCD-A673-39B718FA7FE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2D898-4F84-A9C6-5BBB-42C4BCD6A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DEB117-0A4D-80D3-924C-B209F231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5BEB-96D4-4015-A792-9B02B57C56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97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59DBAF-6E6C-2AFA-4EF0-8573D30A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7C02-35DE-4FCD-A673-39B718FA7FE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35D2E6-2445-FCCA-978E-8000446C3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6E6C8-AF23-AA86-5324-A5913263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5BEB-96D4-4015-A792-9B02B57C56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25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B13E7-E792-90C2-F49E-7815E0DE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E9516-05F5-07F5-2AEF-3A40A8413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F8965-5645-07BB-F0F3-9DDD82972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F6CB8-4BC8-7E0A-CC27-DEE81B1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7C02-35DE-4FCD-A673-39B718FA7FE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4C8D4-90EE-2360-EDCF-E9D90168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25603-22EA-D4DB-B7DD-2FF52E78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5BEB-96D4-4015-A792-9B02B57C56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917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6943-927B-6534-875A-051F79F39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A12FC-CF1F-B505-6E2B-0D26927FA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D17AD-FE4E-4E5F-32A2-F920031D6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16FFB-2BC8-EF27-35A4-2CA9E74D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7C02-35DE-4FCD-A673-39B718FA7FE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6B96C-6C9E-DAD4-B35E-7BEB2AC3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6C852-AB78-7EB3-0FE7-49DAD73A2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5BEB-96D4-4015-A792-9B02B57C56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24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8989B-A59D-28D0-661E-FA2AD7714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BFA69-69DE-3403-8979-D95169DC5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E5625-2B92-469C-62CB-C96B1AE8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7C02-35DE-4FCD-A673-39B718FA7FE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F98C5-0E25-27C6-4B4F-99D7E268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299BC-7F0E-975C-D660-12AA3EBB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5BEB-96D4-4015-A792-9B02B57C56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9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7E4EAB-EA94-5844-6D1B-C43F96621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57980-5D2F-1DC5-11B8-19BBC0542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5EA8F-2D3C-9E22-5A4E-8A423A40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7C02-35DE-4FCD-A673-39B718FA7FE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83655-6764-EFD3-09AA-4B74EA09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D1A92-D461-C79B-4546-3910F87B3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5BEB-96D4-4015-A792-9B02B57C56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91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1CDEB1-0499-828C-C63E-E6EF6D8B9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2AC55-19D1-958D-1667-AD9D031B1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C070B-0D77-1BF2-47FC-EC318B51D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C7C02-35DE-4FCD-A673-39B718FA7FE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58F61-95B0-1935-1D47-F8D323683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E1B4B-A823-3BEC-1068-4D3830AED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35BEB-96D4-4015-A792-9B02B57C56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40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xpressjs.com/en/5x/api.html#req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xpressjs.com/en/5x/api.html#re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xpressjs.com/en/5x/api.html#req" TargetMode="External"/><Relationship Id="rId2" Type="http://schemas.openxmlformats.org/officeDocument/2006/relationships/hyperlink" Target="https://expressjs.com/en/guide/using-middlewar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xpressjs.com/en/5x/api.html#re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xpressjs.com/en/guide/using-middleware.html#middleware.router" TargetMode="External"/><Relationship Id="rId7" Type="http://schemas.openxmlformats.org/officeDocument/2006/relationships/hyperlink" Target="https://expressjs.com/en/5x/api.html#app" TargetMode="External"/><Relationship Id="rId2" Type="http://schemas.openxmlformats.org/officeDocument/2006/relationships/hyperlink" Target="https://expressjs.com/en/guide/using-middleware.html#middleware.applic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xpressjs.com/en/guide/using-middleware.html#middleware.third-party" TargetMode="External"/><Relationship Id="rId5" Type="http://schemas.openxmlformats.org/officeDocument/2006/relationships/hyperlink" Target="https://expressjs.com/en/guide/using-middleware.html#middleware.built-in" TargetMode="External"/><Relationship Id="rId4" Type="http://schemas.openxmlformats.org/officeDocument/2006/relationships/hyperlink" Target="https://expressjs.com/en/guide/using-middleware.html#middleware.error-handling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nchalabs/connect#middleware" TargetMode="External"/><Relationship Id="rId7" Type="http://schemas.openxmlformats.org/officeDocument/2006/relationships/hyperlink" Target="https://expressjs.com/resources/middleware/serve-static.html" TargetMode="External"/><Relationship Id="rId2" Type="http://schemas.openxmlformats.org/officeDocument/2006/relationships/hyperlink" Target="https://github.com/senchalabs/connec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xpressjs.com/en/5x/api.html#express.urlencoded" TargetMode="External"/><Relationship Id="rId5" Type="http://schemas.openxmlformats.org/officeDocument/2006/relationships/hyperlink" Target="https://expressjs.com/en/5x/api.html#express.json" TargetMode="External"/><Relationship Id="rId4" Type="http://schemas.openxmlformats.org/officeDocument/2006/relationships/hyperlink" Target="https://expressjs.com/en/5x/api.html#express.static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pmjs.org/package/m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expressjs.com/resources/middleware/body-parser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package/bytes" TargetMode="External"/><Relationship Id="rId2" Type="http://schemas.openxmlformats.org/officeDocument/2006/relationships/hyperlink" Target="https://www.npmjs.org/package/qs#readm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pmjs.org/package/type-is#readme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expressjs.com/resources/middleware/body-parser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Global_Objects/JSON/parse#Example.3A_Using_the_reviver_parameter" TargetMode="External"/><Relationship Id="rId2" Type="http://schemas.openxmlformats.org/officeDocument/2006/relationships/hyperlink" Target="https://www.npmjs.com/package/byt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pmjs.org/package/type-is#read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E752A0A-6DC5-0406-3348-D76D93CA83CA}"/>
              </a:ext>
            </a:extLst>
          </p:cNvPr>
          <p:cNvSpPr txBox="1"/>
          <p:nvPr/>
        </p:nvSpPr>
        <p:spPr>
          <a:xfrm>
            <a:off x="2819400" y="0"/>
            <a:ext cx="6096000" cy="4116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Bef>
                <a:spcPts val="375"/>
              </a:spcBef>
              <a:spcAft>
                <a:spcPts val="1500"/>
              </a:spcAft>
              <a:buNone/>
            </a:pPr>
            <a:r>
              <a:rPr lang="en-US" b="1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Writing middleware for use in Express apps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C1B996-5E83-F26D-EC54-BD46506B306F}"/>
              </a:ext>
            </a:extLst>
          </p:cNvPr>
          <p:cNvSpPr txBox="1"/>
          <p:nvPr/>
        </p:nvSpPr>
        <p:spPr>
          <a:xfrm>
            <a:off x="249098" y="587319"/>
            <a:ext cx="1148926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b="1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Overview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1" i="1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Middleware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functions are functions that have access to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 the </a:t>
            </a: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3"/>
              </a:rPr>
              <a:t>request object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(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req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), 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the </a:t>
            </a: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4"/>
              </a:rPr>
              <a:t>response object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(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res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), and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 the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next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function 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in the application’s request-response cycle. The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next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function is a function in the Express router which, when invoked, executes the middleware succeeding the current middleware.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1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Middleware functions can perform the following tasks: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Execute any code.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Make changes to the request and the response objects.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End the request-response cycle.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Call the next middleware in the stack.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If the current middleware function does not end the request-response cycle, it must call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next()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to pass control to the next middleware function. Otherwise, the request will be left hanging.</a:t>
            </a:r>
          </a:p>
        </p:txBody>
      </p:sp>
    </p:spTree>
    <p:extLst>
      <p:ext uri="{BB962C8B-B14F-4D97-AF65-F5344CB8AC3E}">
        <p14:creationId xmlns:p14="http://schemas.microsoft.com/office/powerpoint/2010/main" val="3926731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13F040-5294-148B-2BE4-F12549F21F52}"/>
              </a:ext>
            </a:extLst>
          </p:cNvPr>
          <p:cNvSpPr txBox="1"/>
          <p:nvPr/>
        </p:nvSpPr>
        <p:spPr>
          <a:xfrm>
            <a:off x="448733" y="117102"/>
            <a:ext cx="9042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The following figure shows the elements of a middleware function call: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562BB0-62D2-0DD9-BCF2-3EAE300DE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5" y="1437997"/>
            <a:ext cx="11422069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90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3F7163-E593-76CF-2AD4-126B64232469}"/>
              </a:ext>
            </a:extLst>
          </p:cNvPr>
          <p:cNvSpPr txBox="1"/>
          <p:nvPr/>
        </p:nvSpPr>
        <p:spPr>
          <a:xfrm>
            <a:off x="3784600" y="0"/>
            <a:ext cx="4275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Using Express middleware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617427-0B9A-E9C9-A51A-294470B23C79}"/>
              </a:ext>
            </a:extLst>
          </p:cNvPr>
          <p:cNvSpPr txBox="1"/>
          <p:nvPr/>
        </p:nvSpPr>
        <p:spPr>
          <a:xfrm>
            <a:off x="516467" y="567267"/>
            <a:ext cx="1147233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Express is a routing and middleware web framework that has minimal functionality of its own: An Express application is essentially a series of middleware function calls.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1" i="1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Middleware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functions are functions that have access to the </a:t>
            </a: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3"/>
              </a:rPr>
              <a:t>request object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(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req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), the </a:t>
            </a: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4"/>
              </a:rPr>
              <a:t>response object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(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res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), and the next middleware function in the application’s request-response cycle. The next middleware function is commonly denoted by a variable named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next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Middleware functions can perform the following tasks: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Execute any code.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Make changes to the request and the response objects.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End the request-response cycle.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Call the next middleware function in the stack.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If the current middleware function does not end the request-response cycle, it must call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next()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to pass control to the next middleware function. Otherwise, the request will be left hanging.</a:t>
            </a:r>
          </a:p>
        </p:txBody>
      </p:sp>
    </p:spTree>
    <p:extLst>
      <p:ext uri="{BB962C8B-B14F-4D97-AF65-F5344CB8AC3E}">
        <p14:creationId xmlns:p14="http://schemas.microsoft.com/office/powerpoint/2010/main" val="175981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65147E-455B-A43E-9200-1DF86727A7B0}"/>
              </a:ext>
            </a:extLst>
          </p:cNvPr>
          <p:cNvSpPr txBox="1"/>
          <p:nvPr/>
        </p:nvSpPr>
        <p:spPr>
          <a:xfrm>
            <a:off x="-1" y="0"/>
            <a:ext cx="12135853" cy="324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How Middleware Works in the Request-Response Cycle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Middleware functions are executed in the order they are defined, creating a pipeline through which requests flow.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Each middleware function can perform operations on the request and response objects and decide whether to pass control to the next middleware or end the request-response cycle.</a:t>
            </a:r>
          </a:p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Lifecycle of a Request Through Middleware: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Request received by the server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Passed through each middleware in sequence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Route handler processes the request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Response flows back through middleware (in reverse order)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Response sent to client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basic pattern of middleware in Express.js follows this structure: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FBED3-1BDA-8F4E-3D4F-C401B2B893EF}"/>
              </a:ext>
            </a:extLst>
          </p:cNvPr>
          <p:cNvSpPr txBox="1"/>
          <p:nvPr/>
        </p:nvSpPr>
        <p:spPr>
          <a:xfrm>
            <a:off x="866274" y="3936801"/>
            <a:ext cx="8614610" cy="13635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Middleware code goes here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'Time:'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 next() to pass control to the next middleware function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DA6F2-7978-A188-BE6B-C347985F008D}"/>
              </a:ext>
            </a:extLst>
          </p:cNvPr>
          <p:cNvSpPr txBox="1"/>
          <p:nvPr/>
        </p:nvSpPr>
        <p:spPr>
          <a:xfrm>
            <a:off x="705853" y="5768552"/>
            <a:ext cx="9938084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you call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next()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the next middleware in the stack is executed.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If you don't call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next()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the request-response cycle ends and no further middleware runs.</a:t>
            </a:r>
          </a:p>
        </p:txBody>
      </p:sp>
    </p:spTree>
    <p:extLst>
      <p:ext uri="{BB962C8B-B14F-4D97-AF65-F5344CB8AC3E}">
        <p14:creationId xmlns:p14="http://schemas.microsoft.com/office/powerpoint/2010/main" val="1829151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1CB8D5-A2BF-5A7E-9884-D0995AABB5C9}"/>
              </a:ext>
            </a:extLst>
          </p:cNvPr>
          <p:cNvSpPr txBox="1"/>
          <p:nvPr/>
        </p:nvSpPr>
        <p:spPr>
          <a:xfrm>
            <a:off x="176462" y="1125237"/>
            <a:ext cx="7234989" cy="495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express'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First middleware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'Middleware 1: This always runs'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Second middleware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'Middleware 2: This also always runs'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Route handler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'Hello World!'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8080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'Server running on port 8080'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829DFB-7FB7-6996-A6CD-495B66B40807}"/>
              </a:ext>
            </a:extLst>
          </p:cNvPr>
          <p:cNvSpPr txBox="1"/>
          <p:nvPr/>
        </p:nvSpPr>
        <p:spPr>
          <a:xfrm>
            <a:off x="6569242" y="4021831"/>
            <a:ext cx="5165558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a request is made to the root path ('/'), the following happens: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Middleware 1 logs a message and calls next()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Middleware 2 logs a message and calls next()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route handler responds with "Hello World!"</a:t>
            </a:r>
          </a:p>
        </p:txBody>
      </p:sp>
    </p:spTree>
    <p:extLst>
      <p:ext uri="{BB962C8B-B14F-4D97-AF65-F5344CB8AC3E}">
        <p14:creationId xmlns:p14="http://schemas.microsoft.com/office/powerpoint/2010/main" val="896402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1CA9B5-0665-401B-C06A-09A38B426DBC}"/>
              </a:ext>
            </a:extLst>
          </p:cNvPr>
          <p:cNvSpPr txBox="1"/>
          <p:nvPr/>
        </p:nvSpPr>
        <p:spPr>
          <a:xfrm>
            <a:off x="183146" y="0"/>
            <a:ext cx="6426201" cy="67403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express'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myLogger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'LOGGED'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requestTime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requestTime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myLogger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requestTime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'Hello World!&lt;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&gt;'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`&lt;small&gt;Requested at: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requestTime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&lt;/small&gt;`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buNone/>
            </a:pP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'Hello World!'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buNone/>
            </a:pP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A60B90-565C-0F6F-1222-F4183AA9E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328863"/>
            <a:ext cx="5026777" cy="246998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87404E-4412-D392-63B5-92AEBC89CCDB}"/>
              </a:ext>
            </a:extLst>
          </p:cNvPr>
          <p:cNvCxnSpPr/>
          <p:nvPr/>
        </p:nvCxnSpPr>
        <p:spPr>
          <a:xfrm flipV="1">
            <a:off x="3272589" y="4170947"/>
            <a:ext cx="4419600" cy="986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3D74567-F5FA-AF37-20CB-561F83819895}"/>
              </a:ext>
            </a:extLst>
          </p:cNvPr>
          <p:cNvSpPr txBox="1"/>
          <p:nvPr/>
        </p:nvSpPr>
        <p:spPr>
          <a:xfrm>
            <a:off x="7579895" y="3176337"/>
            <a:ext cx="368166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This will short-circuit the middle ware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681677-C992-CF71-9CAE-46C146A9C172}"/>
              </a:ext>
            </a:extLst>
          </p:cNvPr>
          <p:cNvCxnSpPr/>
          <p:nvPr/>
        </p:nvCxnSpPr>
        <p:spPr>
          <a:xfrm flipV="1">
            <a:off x="3793958" y="5342021"/>
            <a:ext cx="4347410" cy="489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A656D78-700F-BA6C-9D58-D03DB82670EC}"/>
              </a:ext>
            </a:extLst>
          </p:cNvPr>
          <p:cNvSpPr txBox="1"/>
          <p:nvPr/>
        </p:nvSpPr>
        <p:spPr>
          <a:xfrm>
            <a:off x="8277726" y="5005137"/>
            <a:ext cx="302527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This middleware will never get called</a:t>
            </a:r>
          </a:p>
        </p:txBody>
      </p:sp>
    </p:spTree>
    <p:extLst>
      <p:ext uri="{BB962C8B-B14F-4D97-AF65-F5344CB8AC3E}">
        <p14:creationId xmlns:p14="http://schemas.microsoft.com/office/powerpoint/2010/main" val="2142243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28E01-7D47-D1D5-C6AD-00B1EEC11EB1}"/>
              </a:ext>
            </a:extLst>
          </p:cNvPr>
          <p:cNvSpPr txBox="1"/>
          <p:nvPr/>
        </p:nvSpPr>
        <p:spPr>
          <a:xfrm>
            <a:off x="338667" y="228600"/>
            <a:ext cx="11853333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An Express application can use the following types of middleware: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2"/>
              </a:rPr>
              <a:t>Application-level middleware</a:t>
            </a:r>
            <a:endParaRPr lang="en-US" b="0" i="0" dirty="0">
              <a:solidFill>
                <a:srgbClr val="383838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3"/>
              </a:rPr>
              <a:t>Router-level middleware</a:t>
            </a:r>
            <a:endParaRPr lang="en-US" b="0" i="0" dirty="0">
              <a:solidFill>
                <a:srgbClr val="383838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4"/>
              </a:rPr>
              <a:t>Error-handling middleware</a:t>
            </a:r>
            <a:endParaRPr lang="en-US" b="0" i="0" dirty="0">
              <a:solidFill>
                <a:srgbClr val="383838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5"/>
              </a:rPr>
              <a:t>Built-in middleware</a:t>
            </a:r>
            <a:endParaRPr lang="en-US" b="0" i="0" dirty="0">
              <a:solidFill>
                <a:srgbClr val="383838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6"/>
              </a:rPr>
              <a:t>Third-party middleware</a:t>
            </a:r>
            <a:endParaRPr lang="en-US" b="0" i="0" dirty="0">
              <a:solidFill>
                <a:srgbClr val="383838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30D3C-669C-BDE6-8752-2C1DBDF37315}"/>
              </a:ext>
            </a:extLst>
          </p:cNvPr>
          <p:cNvSpPr txBox="1"/>
          <p:nvPr/>
        </p:nvSpPr>
        <p:spPr>
          <a:xfrm>
            <a:off x="3115733" y="2329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IN" b="1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Application-level middleware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7C4229-68FE-79F3-366B-4098C062509E}"/>
              </a:ext>
            </a:extLst>
          </p:cNvPr>
          <p:cNvSpPr txBox="1"/>
          <p:nvPr/>
        </p:nvSpPr>
        <p:spPr>
          <a:xfrm>
            <a:off x="262466" y="2723065"/>
            <a:ext cx="114723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Bind application-level middleware to an instance of the </a:t>
            </a: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7"/>
              </a:rPr>
              <a:t>app object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by using the </a:t>
            </a:r>
            <a:r>
              <a:rPr lang="en-US" b="0" i="0" dirty="0" err="1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app.use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and </a:t>
            </a:r>
            <a:r>
              <a:rPr lang="en-US" b="0" i="0" dirty="0" err="1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app.METHOD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functions,</a:t>
            </a:r>
          </a:p>
          <a:p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 where </a:t>
            </a:r>
          </a:p>
          <a:p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METHOD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is the HTTP method of the request that the middleware function </a:t>
            </a:r>
          </a:p>
          <a:p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handles (such as GET, PUT, or POST) in lowercase.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C98ACD-CA6F-C98C-B525-651D2A75673D}"/>
              </a:ext>
            </a:extLst>
          </p:cNvPr>
          <p:cNvSpPr txBox="1"/>
          <p:nvPr/>
        </p:nvSpPr>
        <p:spPr>
          <a:xfrm>
            <a:off x="338667" y="4504605"/>
            <a:ext cx="4021666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const</a:t>
            </a:r>
            <a:r>
              <a:rPr lang="en-IN" dirty="0"/>
              <a:t> express = require('</a:t>
            </a:r>
            <a:r>
              <a:rPr lang="en-IN" dirty="0" err="1"/>
              <a:t>express'</a:t>
            </a:r>
            <a:r>
              <a:rPr lang="en-IN" dirty="0"/>
              <a:t>)</a:t>
            </a:r>
          </a:p>
          <a:p>
            <a:r>
              <a:rPr lang="en-IN" dirty="0" err="1"/>
              <a:t>const</a:t>
            </a:r>
            <a:r>
              <a:rPr lang="en-IN" dirty="0"/>
              <a:t> app = express()</a:t>
            </a:r>
          </a:p>
          <a:p>
            <a:endParaRPr lang="en-IN" dirty="0"/>
          </a:p>
          <a:p>
            <a:r>
              <a:rPr lang="en-IN" dirty="0" err="1"/>
              <a:t>app.use</a:t>
            </a:r>
            <a:r>
              <a:rPr lang="en-IN" dirty="0"/>
              <a:t>((</a:t>
            </a:r>
            <a:r>
              <a:rPr lang="en-IN" dirty="0" err="1"/>
              <a:t>req</a:t>
            </a:r>
            <a:r>
              <a:rPr lang="en-IN" dirty="0"/>
              <a:t>, res, next) =&gt; {</a:t>
            </a:r>
          </a:p>
          <a:p>
            <a:r>
              <a:rPr lang="en-IN" dirty="0"/>
              <a:t>  console.log('Time:', </a:t>
            </a:r>
            <a:r>
              <a:rPr lang="en-IN" dirty="0" err="1"/>
              <a:t>Date.now</a:t>
            </a:r>
            <a:r>
              <a:rPr lang="en-IN" dirty="0"/>
              <a:t>())</a:t>
            </a:r>
          </a:p>
          <a:p>
            <a:r>
              <a:rPr lang="en-IN" dirty="0"/>
              <a:t>  next()</a:t>
            </a:r>
          </a:p>
          <a:p>
            <a:r>
              <a:rPr lang="en-IN" dirty="0"/>
              <a:t>})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881CC-AC05-3A23-E3EC-B0AAC21983FA}"/>
              </a:ext>
            </a:extLst>
          </p:cNvPr>
          <p:cNvSpPr txBox="1"/>
          <p:nvPr/>
        </p:nvSpPr>
        <p:spPr>
          <a:xfrm>
            <a:off x="5507565" y="495874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example shows a middleware function with no mount path. The function is executed every time the app receives a request.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6F918B-3F68-E8F6-4385-5D467AC296F7}"/>
              </a:ext>
            </a:extLst>
          </p:cNvPr>
          <p:cNvCxnSpPr/>
          <p:nvPr/>
        </p:nvCxnSpPr>
        <p:spPr>
          <a:xfrm flipV="1">
            <a:off x="3810000" y="5740400"/>
            <a:ext cx="1447800" cy="321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177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E902B9-1644-4B2D-D240-91A376D78049}"/>
              </a:ext>
            </a:extLst>
          </p:cNvPr>
          <p:cNvSpPr txBox="1"/>
          <p:nvPr/>
        </p:nvSpPr>
        <p:spPr>
          <a:xfrm>
            <a:off x="313267" y="926868"/>
            <a:ext cx="4047066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app.get</a:t>
            </a:r>
            <a:r>
              <a:rPr lang="en-IN" dirty="0"/>
              <a:t>('/user/:id', (</a:t>
            </a:r>
            <a:r>
              <a:rPr lang="en-IN" dirty="0" err="1"/>
              <a:t>req</a:t>
            </a:r>
            <a:r>
              <a:rPr lang="en-IN" dirty="0"/>
              <a:t>, res, next) =&gt; {</a:t>
            </a:r>
          </a:p>
          <a:p>
            <a:r>
              <a:rPr lang="en-IN" dirty="0"/>
              <a:t>  </a:t>
            </a:r>
            <a:r>
              <a:rPr lang="en-IN" dirty="0" err="1"/>
              <a:t>res.send</a:t>
            </a:r>
            <a:r>
              <a:rPr lang="en-IN" dirty="0"/>
              <a:t>('USER')</a:t>
            </a:r>
          </a:p>
          <a:p>
            <a:r>
              <a:rPr lang="en-IN" dirty="0"/>
              <a:t>})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14380-D3A7-7C11-EA78-5B4EB463571A}"/>
              </a:ext>
            </a:extLst>
          </p:cNvPr>
          <p:cNvSpPr txBox="1"/>
          <p:nvPr/>
        </p:nvSpPr>
        <p:spPr>
          <a:xfrm>
            <a:off x="5630333" y="92686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The function handles GET requests to the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/user/:id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path.</a:t>
            </a:r>
          </a:p>
          <a:p>
            <a:r>
              <a:rPr lang="en-US" dirty="0">
                <a:solidFill>
                  <a:srgbClr val="383838"/>
                </a:solidFill>
                <a:latin typeface="Open Sans" panose="020B0606030504020204" pitchFamily="34" charset="0"/>
              </a:rPr>
              <a:t>This is application-level route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3D060D-85BC-AA9F-AEFF-0D5541F44C48}"/>
              </a:ext>
            </a:extLst>
          </p:cNvPr>
          <p:cNvSpPr/>
          <p:nvPr/>
        </p:nvSpPr>
        <p:spPr>
          <a:xfrm>
            <a:off x="3894667" y="1452881"/>
            <a:ext cx="19812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783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46F226-56A9-A667-67EC-1CB4935A49D2}"/>
              </a:ext>
            </a:extLst>
          </p:cNvPr>
          <p:cNvSpPr txBox="1"/>
          <p:nvPr/>
        </p:nvSpPr>
        <p:spPr>
          <a:xfrm>
            <a:off x="96253" y="-88118"/>
            <a:ext cx="11125200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Middleware Execution Order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order in which middleware is defined matters significantly.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Express executes middleware in the order they are added to the application.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DC8740-16A3-3E6B-8484-33D3F629B45B}"/>
              </a:ext>
            </a:extLst>
          </p:cNvPr>
          <p:cNvSpPr txBox="1"/>
          <p:nvPr/>
        </p:nvSpPr>
        <p:spPr>
          <a:xfrm>
            <a:off x="264694" y="994503"/>
            <a:ext cx="8189496" cy="6204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express'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This middleware will run first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'First middleware'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This middleware will run for /users paths only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'/users'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'Users middleware'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This route handler will run when matched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'/users'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'Users list'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This middleware will never run for successfully matched routes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because route handlers end the request-response cycle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'This will not run for matched routes'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This is a "catch-all" middleware for unmatched routes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'Not found'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2A183D-DC08-8123-D08F-E75085E53C0B}"/>
              </a:ext>
            </a:extLst>
          </p:cNvPr>
          <p:cNvSpPr txBox="1"/>
          <p:nvPr/>
        </p:nvSpPr>
        <p:spPr>
          <a:xfrm>
            <a:off x="6569242" y="1250557"/>
            <a:ext cx="5488134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Best practices for middleware order: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Place middleware that applies to all requests first (logging, security, body parsing)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Place more specific middleware and routes next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Place error-handling middleware last</a:t>
            </a:r>
          </a:p>
        </p:txBody>
      </p:sp>
    </p:spTree>
    <p:extLst>
      <p:ext uri="{BB962C8B-B14F-4D97-AF65-F5344CB8AC3E}">
        <p14:creationId xmlns:p14="http://schemas.microsoft.com/office/powerpoint/2010/main" val="1460972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074671-E158-280C-FC24-3A6B68E7EA50}"/>
              </a:ext>
            </a:extLst>
          </p:cNvPr>
          <p:cNvSpPr txBox="1"/>
          <p:nvPr/>
        </p:nvSpPr>
        <p:spPr>
          <a:xfrm>
            <a:off x="0" y="239342"/>
            <a:ext cx="12087726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b="1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Built-in middleware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Starting with version 4.x, Express no longer depends on </a:t>
            </a: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2"/>
              </a:rPr>
              <a:t>Connect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. The middleware functions that were previously included with Express are now in separate modules; see </a:t>
            </a: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3"/>
              </a:rPr>
              <a:t>the list of middleware functions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Express has the following built-in middleware functions: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 err="1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4"/>
              </a:rPr>
              <a:t>express.static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serves static assets such as HTML files, images, and so 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 err="1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5"/>
              </a:rPr>
              <a:t>express.json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parses incoming requests with JSON payloads. </a:t>
            </a:r>
            <a:r>
              <a:rPr lang="en-US" b="1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NOTE: Available with Express 4.16.0+</a:t>
            </a:r>
            <a:endParaRPr lang="en-US" b="0" i="0" dirty="0">
              <a:solidFill>
                <a:srgbClr val="383838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 err="1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6"/>
              </a:rPr>
              <a:t>express.urlencoded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parses incoming requests with URL-encoded payloads. </a:t>
            </a:r>
            <a:r>
              <a:rPr lang="en-US" b="1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NOTE: Available with Express 4.16.0+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Best Practice:</a:t>
            </a:r>
            <a:r>
              <a:rPr lang="en-US" dirty="0"/>
              <a:t> Always use the built-in middleware when possible as they are well-tested and maintained by the Express team.</a:t>
            </a:r>
            <a:endParaRPr lang="en-US" b="0" i="0" dirty="0">
              <a:solidFill>
                <a:srgbClr val="383838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2FDA93-06C6-4570-6208-BE158351F3A4}"/>
              </a:ext>
            </a:extLst>
          </p:cNvPr>
          <p:cNvSpPr txBox="1"/>
          <p:nvPr/>
        </p:nvSpPr>
        <p:spPr>
          <a:xfrm>
            <a:off x="258232" y="3310061"/>
            <a:ext cx="1152736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b="1" i="0" dirty="0" err="1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express.static</a:t>
            </a:r>
            <a:r>
              <a:rPr lang="en-US" b="1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(root, [options])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This is a built-in middleware function in Express. It serves static files and is based on </a:t>
            </a: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7"/>
              </a:rPr>
              <a:t>serve-static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8C2EFB-53F5-1F15-F8D2-5123EC0493CA}"/>
              </a:ext>
            </a:extLst>
          </p:cNvPr>
          <p:cNvSpPr txBox="1"/>
          <p:nvPr/>
        </p:nvSpPr>
        <p:spPr>
          <a:xfrm>
            <a:off x="258231" y="4411010"/>
            <a:ext cx="115273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root argument specifies the root directory from which to serve static assets. The function determines the file to serve by combining req.url with the provided root directory. When a file is not found, instead of sending a 404 response, it instead calls next() to move on to the next middleware, allowing for stacking and </a:t>
            </a:r>
            <a:r>
              <a:rPr lang="en-US" dirty="0" err="1"/>
              <a:t>fall-backs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9086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72DB9F-3816-BB8A-DA5E-587486CC0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425116"/>
              </p:ext>
            </p:extLst>
          </p:nvPr>
        </p:nvGraphicFramePr>
        <p:xfrm>
          <a:off x="168966" y="135736"/>
          <a:ext cx="11887200" cy="6422888"/>
        </p:xfrm>
        <a:graphic>
          <a:graphicData uri="http://schemas.openxmlformats.org/drawingml/2006/table">
            <a:tbl>
              <a:tblPr/>
              <a:tblGrid>
                <a:gridCol w="2027582">
                  <a:extLst>
                    <a:ext uri="{9D8B030D-6E8A-4147-A177-3AD203B41FA5}">
                      <a16:colId xmlns:a16="http://schemas.microsoft.com/office/drawing/2014/main" val="3656005620"/>
                    </a:ext>
                  </a:extLst>
                </a:gridCol>
                <a:gridCol w="7185991">
                  <a:extLst>
                    <a:ext uri="{9D8B030D-6E8A-4147-A177-3AD203B41FA5}">
                      <a16:colId xmlns:a16="http://schemas.microsoft.com/office/drawing/2014/main" val="4240476888"/>
                    </a:ext>
                  </a:extLst>
                </a:gridCol>
                <a:gridCol w="1222513">
                  <a:extLst>
                    <a:ext uri="{9D8B030D-6E8A-4147-A177-3AD203B41FA5}">
                      <a16:colId xmlns:a16="http://schemas.microsoft.com/office/drawing/2014/main" val="915633783"/>
                    </a:ext>
                  </a:extLst>
                </a:gridCol>
                <a:gridCol w="1451114">
                  <a:extLst>
                    <a:ext uri="{9D8B030D-6E8A-4147-A177-3AD203B41FA5}">
                      <a16:colId xmlns:a16="http://schemas.microsoft.com/office/drawing/2014/main" val="903837850"/>
                    </a:ext>
                  </a:extLst>
                </a:gridCol>
              </a:tblGrid>
              <a:tr h="196763">
                <a:tc>
                  <a:txBody>
                    <a:bodyPr/>
                    <a:lstStyle/>
                    <a:p>
                      <a:pPr fontAlgn="t">
                        <a:lnSpc>
                          <a:spcPts val="1386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roperty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386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386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Type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386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Default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770212"/>
                  </a:ext>
                </a:extLst>
              </a:tr>
              <a:tr h="638572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 dirty="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dotfiles</a:t>
                      </a:r>
                      <a:endParaRPr lang="en-IN" sz="1600" dirty="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Determines how dotfiles (files or directories that begin with a dot “.”) are treated.</a:t>
                      </a:r>
                      <a:br>
                        <a:rPr lang="en-US" sz="1600" dirty="0">
                          <a:effectLst/>
                        </a:rPr>
                      </a:br>
                      <a:br>
                        <a:rPr lang="en-US" sz="1600" dirty="0">
                          <a:effectLst/>
                        </a:rPr>
                      </a:br>
                      <a:endParaRPr lang="en-US" sz="1600" dirty="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String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“ignore”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399015"/>
                  </a:ext>
                </a:extLst>
              </a:tr>
              <a:tr h="488415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 dirty="0" err="1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etag</a:t>
                      </a:r>
                      <a:endParaRPr lang="en-IN" sz="1600" dirty="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Enable or disable </a:t>
                      </a:r>
                      <a:r>
                        <a:rPr lang="en-US" sz="1600" dirty="0" err="1">
                          <a:effectLst/>
                        </a:rPr>
                        <a:t>etag</a:t>
                      </a:r>
                      <a:r>
                        <a:rPr lang="en-US" sz="1600" dirty="0">
                          <a:effectLst/>
                        </a:rPr>
                        <a:t> generation(entity tag)</a:t>
                      </a:r>
                      <a:br>
                        <a:rPr lang="en-US" sz="1600" dirty="0">
                          <a:effectLst/>
                        </a:rPr>
                      </a:b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NOTE: </a:t>
                      </a:r>
                      <a:r>
                        <a:rPr lang="en-US" sz="1600" dirty="0" err="1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express.static</a:t>
                      </a:r>
                      <a:r>
                        <a:rPr lang="en-US" sz="1600" dirty="0">
                          <a:effectLst/>
                        </a:rPr>
                        <a:t> always sends weak ETags.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Boolean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 dirty="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endParaRPr lang="en-IN" sz="1600" dirty="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182140"/>
                  </a:ext>
                </a:extLst>
              </a:tr>
              <a:tr h="584354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extensions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Sets file extension fallbacks: If a file is not found, search for files with the specified extensions and serve the first one found. Example: </a:t>
                      </a:r>
                      <a:r>
                        <a:rPr lang="en-US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['html', 'htm']</a:t>
                      </a:r>
                      <a:r>
                        <a:rPr lang="en-US" sz="1600">
                          <a:effectLst/>
                        </a:rPr>
                        <a:t>.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Mixed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86610"/>
                  </a:ext>
                </a:extLst>
              </a:tr>
              <a:tr h="638572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fallthrough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Let client errors fall-through as unhandled requests, otherwise forward a client error.</a:t>
                      </a:r>
                      <a:br>
                        <a:rPr lang="en-US" sz="1600" dirty="0">
                          <a:effectLst/>
                        </a:rPr>
                      </a:br>
                      <a:br>
                        <a:rPr lang="en-US" sz="1600" dirty="0">
                          <a:effectLst/>
                        </a:rPr>
                      </a:br>
                      <a:endParaRPr lang="en-US" sz="1600" dirty="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Boolean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633165"/>
                  </a:ext>
                </a:extLst>
              </a:tr>
              <a:tr h="1067777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immutable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Enable or disable the </a:t>
                      </a:r>
                      <a:r>
                        <a:rPr lang="en-US" sz="1600" dirty="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immutable</a:t>
                      </a:r>
                      <a:r>
                        <a:rPr lang="en-US" sz="1600" dirty="0">
                          <a:effectLst/>
                        </a:rPr>
                        <a:t> directive in the </a:t>
                      </a:r>
                      <a:r>
                        <a:rPr lang="en-US" sz="1600" dirty="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Cache-Control</a:t>
                      </a:r>
                      <a:r>
                        <a:rPr lang="en-US" sz="1600" dirty="0">
                          <a:effectLst/>
                        </a:rPr>
                        <a:t> response header. If enabled, the </a:t>
                      </a:r>
                      <a:r>
                        <a:rPr lang="en-US" sz="1600" dirty="0" err="1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maxAge</a:t>
                      </a:r>
                      <a:r>
                        <a:rPr lang="en-US" sz="1600" dirty="0">
                          <a:effectLst/>
                        </a:rPr>
                        <a:t> option should also be specified to enable caching. The </a:t>
                      </a:r>
                      <a:r>
                        <a:rPr lang="en-US" sz="1600" dirty="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immutable</a:t>
                      </a:r>
                      <a:r>
                        <a:rPr lang="en-US" sz="1600" dirty="0">
                          <a:effectLst/>
                        </a:rPr>
                        <a:t> directive will prevent supported clients from making conditional requests during the life of the </a:t>
                      </a:r>
                      <a:r>
                        <a:rPr lang="en-US" sz="1600" dirty="0" err="1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maxAge</a:t>
                      </a:r>
                      <a:r>
                        <a:rPr lang="en-US" sz="1600" dirty="0">
                          <a:effectLst/>
                        </a:rPr>
                        <a:t> option to check if the file has changed.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Boolean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49587"/>
                  </a:ext>
                </a:extLst>
              </a:tr>
              <a:tr h="338258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index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Sends the specified directory index file. Set to </a:t>
                      </a:r>
                      <a:r>
                        <a:rPr lang="en-US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en-US" sz="1600">
                          <a:effectLst/>
                        </a:rPr>
                        <a:t> to disable directory indexing.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Mixed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“index.html”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793325"/>
                  </a:ext>
                </a:extLst>
              </a:tr>
              <a:tr h="342641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lastModified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Set the </a:t>
                      </a:r>
                      <a:r>
                        <a:rPr lang="en-US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Last-Modified</a:t>
                      </a:r>
                      <a:r>
                        <a:rPr lang="en-US" sz="1600">
                          <a:effectLst/>
                        </a:rPr>
                        <a:t> header to the last modified date of the file on the OS.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Boolean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2857"/>
                  </a:ext>
                </a:extLst>
              </a:tr>
              <a:tr h="342641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maxAge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Set the max-age property of the Cache-Control header in milliseconds or a string in </a:t>
                      </a:r>
                      <a:r>
                        <a:rPr lang="en-US" sz="1600" u="sng">
                          <a:solidFill>
                            <a:srgbClr val="0E78CE"/>
                          </a:solidFill>
                          <a:effectLst/>
                          <a:hlinkClick r:id="rId2"/>
                        </a:rPr>
                        <a:t>ms format</a:t>
                      </a:r>
                      <a:r>
                        <a:rPr lang="en-US" sz="1600">
                          <a:effectLst/>
                        </a:rPr>
                        <a:t>.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Number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062640"/>
                  </a:ext>
                </a:extLst>
              </a:tr>
              <a:tr h="196154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redirect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Redirect to trailing “/” when the pathname is a directory.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Boolean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070903"/>
                  </a:ext>
                </a:extLst>
              </a:tr>
              <a:tr h="488415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setHeaders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Function for setting HTTP headers to serve with the file.</a:t>
                      </a:r>
                      <a:br>
                        <a:rPr lang="en-US" sz="1600" dirty="0">
                          <a:effectLst/>
                        </a:rPr>
                      </a:br>
                      <a:endParaRPr lang="en-US" sz="1600" dirty="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Function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 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270882"/>
                  </a:ext>
                </a:extLst>
              </a:tr>
              <a:tr h="503783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acceptRanges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Enable or disable accepting ranged requests. Disabling this will not send the Accept-Ranges header and will ignore the contents of the Range request header.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Boolean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true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182253"/>
                  </a:ext>
                </a:extLst>
              </a:tr>
              <a:tr h="488415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  <a:latin typeface="Courier New" panose="02070309020205020404" pitchFamily="49" charset="0"/>
                        </a:rPr>
                        <a:t>cacheControl</a:t>
                      </a:r>
                      <a:endParaRPr lang="en-IN" sz="1600">
                        <a:effectLst/>
                      </a:endParaRP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Enable or disable setting the Cache-Control response header. Disabling this will ignore the immutable and maxAge options.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 dirty="0">
                          <a:effectLst/>
                        </a:rPr>
                        <a:t>Boolean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 dirty="0">
                          <a:effectLst/>
                        </a:rPr>
                        <a:t>true</a:t>
                      </a:r>
                    </a:p>
                  </a:txBody>
                  <a:tcPr marL="11017" marR="11017" marT="11017" marB="11017">
                    <a:lnL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8108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0646270-D81B-7242-F970-2D4E94FC59E3}"/>
              </a:ext>
            </a:extLst>
          </p:cNvPr>
          <p:cNvSpPr txBox="1"/>
          <p:nvPr/>
        </p:nvSpPr>
        <p:spPr>
          <a:xfrm>
            <a:off x="6432884" y="-118560"/>
            <a:ext cx="1548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83838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[options])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975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95C87A-774A-4928-29F2-9B0CAAA5936E}"/>
              </a:ext>
            </a:extLst>
          </p:cNvPr>
          <p:cNvSpPr txBox="1"/>
          <p:nvPr/>
        </p:nvSpPr>
        <p:spPr>
          <a:xfrm>
            <a:off x="143933" y="2421"/>
            <a:ext cx="11616266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b="1" i="0" dirty="0" err="1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express.urlencoded</a:t>
            </a:r>
            <a:r>
              <a:rPr lang="en-US" b="1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([options])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This is a built-in middleware function in Express. It parses incoming requests with </a:t>
            </a:r>
            <a:r>
              <a:rPr lang="en-US" b="0" i="0" dirty="0" err="1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urlencoded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 payloads and is based on </a:t>
            </a: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2"/>
              </a:rPr>
              <a:t>body-parser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Returns middleware that only parses </a:t>
            </a:r>
            <a:r>
              <a:rPr lang="en-US" b="1" i="0" dirty="0" err="1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urlencoded</a:t>
            </a:r>
            <a:r>
              <a:rPr lang="en-US" b="1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 bodies 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and only looks at requests where the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Content-Type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header matches the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option. This parser accepts only UTF-8 encoding of the body and supports automatic inflation of </a:t>
            </a:r>
            <a:r>
              <a:rPr lang="en-US" b="0" i="0" dirty="0" err="1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gzip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and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deflate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encodings.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A new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body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object containing the parsed data is populated on the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request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object after the middleware (i.e. </a:t>
            </a:r>
            <a:r>
              <a:rPr lang="en-US" b="1" i="0" dirty="0" err="1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req.body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), or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undefined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if there was no body to parse, the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Content-Type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was not matched, or an error occurred. This object will </a:t>
            </a:r>
            <a:r>
              <a:rPr lang="en-US" b="1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contain key-value pairs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, where the value can be a string or array (when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extended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is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), or any type (when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extended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is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7704FC-ED8C-29B0-6C89-4FA32D3516C9}"/>
              </a:ext>
            </a:extLst>
          </p:cNvPr>
          <p:cNvSpPr txBox="1"/>
          <p:nvPr/>
        </p:nvSpPr>
        <p:spPr>
          <a:xfrm>
            <a:off x="513347" y="3858126"/>
            <a:ext cx="8662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 this middle ware when sending data as </a:t>
            </a:r>
            <a:r>
              <a:rPr lang="en-IN" b="1" dirty="0" err="1"/>
              <a:t>Formdata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41103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EF9F04-FBCD-831E-68BE-725AD1637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063206"/>
              </p:ext>
            </p:extLst>
          </p:nvPr>
        </p:nvGraphicFramePr>
        <p:xfrm>
          <a:off x="169333" y="2"/>
          <a:ext cx="11861800" cy="699979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80563">
                  <a:extLst>
                    <a:ext uri="{9D8B030D-6E8A-4147-A177-3AD203B41FA5}">
                      <a16:colId xmlns:a16="http://schemas.microsoft.com/office/drawing/2014/main" val="3993762827"/>
                    </a:ext>
                  </a:extLst>
                </a:gridCol>
                <a:gridCol w="7752521">
                  <a:extLst>
                    <a:ext uri="{9D8B030D-6E8A-4147-A177-3AD203B41FA5}">
                      <a16:colId xmlns:a16="http://schemas.microsoft.com/office/drawing/2014/main" val="1218991044"/>
                    </a:ext>
                  </a:extLst>
                </a:gridCol>
                <a:gridCol w="986183">
                  <a:extLst>
                    <a:ext uri="{9D8B030D-6E8A-4147-A177-3AD203B41FA5}">
                      <a16:colId xmlns:a16="http://schemas.microsoft.com/office/drawing/2014/main" val="1470340501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605390923"/>
                    </a:ext>
                  </a:extLst>
                </a:gridCol>
              </a:tblGrid>
              <a:tr h="197177">
                <a:tc>
                  <a:txBody>
                    <a:bodyPr/>
                    <a:lstStyle/>
                    <a:p>
                      <a:pPr fontAlgn="t">
                        <a:lnSpc>
                          <a:spcPts val="1386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Property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386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386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Type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386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Default</a:t>
                      </a:r>
                    </a:p>
                  </a:txBody>
                  <a:tcPr marL="9932" marR="9932" marT="9932" marB="9932" anchor="ctr"/>
                </a:tc>
                <a:extLst>
                  <a:ext uri="{0D108BD9-81ED-4DB2-BD59-A6C34878D82A}">
                    <a16:rowId xmlns:a16="http://schemas.microsoft.com/office/drawing/2014/main" val="463090287"/>
                  </a:ext>
                </a:extLst>
              </a:tr>
              <a:tr h="904874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 dirty="0">
                          <a:solidFill>
                            <a:srgbClr val="383838"/>
                          </a:solidFill>
                          <a:effectLst/>
                        </a:rPr>
                        <a:t>extended</a:t>
                      </a:r>
                      <a:endParaRPr lang="en-IN" sz="1600" dirty="0">
                        <a:effectLst/>
                      </a:endParaRP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This option allows to choose between parsing the URL-encoded data with the </a:t>
                      </a:r>
                      <a:r>
                        <a:rPr lang="en-US" sz="1600" dirty="0" err="1">
                          <a:solidFill>
                            <a:srgbClr val="383838"/>
                          </a:solidFill>
                          <a:effectLst/>
                        </a:rPr>
                        <a:t>querystring</a:t>
                      </a:r>
                      <a:r>
                        <a:rPr lang="en-US" sz="1600" dirty="0">
                          <a:effectLst/>
                        </a:rPr>
                        <a:t> library (when </a:t>
                      </a:r>
                      <a:r>
                        <a:rPr lang="en-US" sz="1600" dirty="0">
                          <a:solidFill>
                            <a:srgbClr val="383838"/>
                          </a:solidFill>
                          <a:effectLst/>
                        </a:rPr>
                        <a:t>false</a:t>
                      </a:r>
                      <a:r>
                        <a:rPr lang="en-US" sz="1600" dirty="0">
                          <a:effectLst/>
                        </a:rPr>
                        <a:t>) or the </a:t>
                      </a:r>
                      <a:r>
                        <a:rPr lang="en-US" sz="1600" dirty="0" err="1">
                          <a:solidFill>
                            <a:srgbClr val="383838"/>
                          </a:solidFill>
                          <a:effectLst/>
                        </a:rPr>
                        <a:t>qs</a:t>
                      </a:r>
                      <a:r>
                        <a:rPr lang="en-US" sz="1600" dirty="0">
                          <a:effectLst/>
                        </a:rPr>
                        <a:t> library (when </a:t>
                      </a:r>
                      <a:r>
                        <a:rPr lang="en-US" sz="1600" dirty="0">
                          <a:solidFill>
                            <a:srgbClr val="383838"/>
                          </a:solidFill>
                          <a:effectLst/>
                        </a:rPr>
                        <a:t>true</a:t>
                      </a:r>
                      <a:r>
                        <a:rPr lang="en-US" sz="1600" dirty="0">
                          <a:effectLst/>
                        </a:rPr>
                        <a:t>). The “extended” syntax allows for rich objects and arrays to be encoded into the URL-encoded format, allowing for a JSON-like experience with URL-encoded. For more information, please </a:t>
                      </a:r>
                      <a:r>
                        <a:rPr lang="en-US" sz="1600" u="sng" dirty="0">
                          <a:solidFill>
                            <a:srgbClr val="0E78CE"/>
                          </a:solidFill>
                          <a:effectLst/>
                          <a:hlinkClick r:id="rId2"/>
                        </a:rPr>
                        <a:t>see the </a:t>
                      </a:r>
                      <a:r>
                        <a:rPr lang="en-US" sz="1600" u="sng" dirty="0" err="1">
                          <a:solidFill>
                            <a:srgbClr val="0E78CE"/>
                          </a:solidFill>
                          <a:effectLst/>
                          <a:hlinkClick r:id="rId2"/>
                        </a:rPr>
                        <a:t>qs</a:t>
                      </a:r>
                      <a:r>
                        <a:rPr lang="en-US" sz="1600" u="sng" dirty="0">
                          <a:solidFill>
                            <a:srgbClr val="0E78CE"/>
                          </a:solidFill>
                          <a:effectLst/>
                          <a:hlinkClick r:id="rId2"/>
                        </a:rPr>
                        <a:t> library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Boolean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false</a:t>
                      </a:r>
                      <a:endParaRPr lang="en-IN" sz="1600">
                        <a:effectLst/>
                      </a:endParaRPr>
                    </a:p>
                  </a:txBody>
                  <a:tcPr marL="9932" marR="9932" marT="9932" marB="9932" anchor="ctr"/>
                </a:tc>
                <a:extLst>
                  <a:ext uri="{0D108BD9-81ED-4DB2-BD59-A6C34878D82A}">
                    <a16:rowId xmlns:a16="http://schemas.microsoft.com/office/drawing/2014/main" val="1205131258"/>
                  </a:ext>
                </a:extLst>
              </a:tr>
              <a:tr h="481150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 dirty="0">
                          <a:solidFill>
                            <a:srgbClr val="383838"/>
                          </a:solidFill>
                          <a:effectLst/>
                        </a:rPr>
                        <a:t>inflate</a:t>
                      </a:r>
                      <a:endParaRPr lang="en-IN" sz="1600" dirty="0">
                        <a:effectLst/>
                      </a:endParaRP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Enables or disables handling deflated (compressed) bodies; when disabled, deflated bodies are rejected.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Boolean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true</a:t>
                      </a:r>
                      <a:endParaRPr lang="en-IN" sz="1600">
                        <a:effectLst/>
                      </a:endParaRPr>
                    </a:p>
                  </a:txBody>
                  <a:tcPr marL="9932" marR="9932" marT="9932" marB="9932" anchor="ctr"/>
                </a:tc>
                <a:extLst>
                  <a:ext uri="{0D108BD9-81ED-4DB2-BD59-A6C34878D82A}">
                    <a16:rowId xmlns:a16="http://schemas.microsoft.com/office/drawing/2014/main" val="4259575290"/>
                  </a:ext>
                </a:extLst>
              </a:tr>
              <a:tr h="631855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limit</a:t>
                      </a:r>
                      <a:endParaRPr lang="en-IN" sz="1600">
                        <a:effectLst/>
                      </a:endParaRP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Controls the maximum request body size. If this is a number, then the value specifies the number of bytes; if it is a string, the value is passed to the </a:t>
                      </a:r>
                      <a:r>
                        <a:rPr lang="en-US" sz="1600" u="sng">
                          <a:solidFill>
                            <a:srgbClr val="0E78CE"/>
                          </a:solidFill>
                          <a:effectLst/>
                          <a:hlinkClick r:id="rId3"/>
                        </a:rPr>
                        <a:t>bytes</a:t>
                      </a:r>
                      <a:r>
                        <a:rPr lang="en-US" sz="1600">
                          <a:effectLst/>
                        </a:rPr>
                        <a:t> library for parsing.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Mixed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"100kb"</a:t>
                      </a:r>
                      <a:endParaRPr lang="en-IN" sz="1600">
                        <a:effectLst/>
                      </a:endParaRPr>
                    </a:p>
                  </a:txBody>
                  <a:tcPr marL="9932" marR="9932" marT="9932" marB="9932" anchor="ctr"/>
                </a:tc>
                <a:extLst>
                  <a:ext uri="{0D108BD9-81ED-4DB2-BD59-A6C34878D82A}">
                    <a16:rowId xmlns:a16="http://schemas.microsoft.com/office/drawing/2014/main" val="1006651887"/>
                  </a:ext>
                </a:extLst>
              </a:tr>
              <a:tr h="651961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parameterLimit</a:t>
                      </a:r>
                      <a:endParaRPr lang="en-IN" sz="1600">
                        <a:effectLst/>
                      </a:endParaRP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This option controls the maximum number of parameters that are allowed in the URL-encoded data. If a request contains more parameters than this value, an error will be raised.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Number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1000</a:t>
                      </a:r>
                      <a:endParaRPr lang="en-IN" sz="1600">
                        <a:effectLst/>
                      </a:endParaRPr>
                    </a:p>
                  </a:txBody>
                  <a:tcPr marL="9932" marR="9932" marT="9932" marB="9932" anchor="ctr"/>
                </a:tc>
                <a:extLst>
                  <a:ext uri="{0D108BD9-81ED-4DB2-BD59-A6C34878D82A}">
                    <a16:rowId xmlns:a16="http://schemas.microsoft.com/office/drawing/2014/main" val="1877318622"/>
                  </a:ext>
                </a:extLst>
              </a:tr>
              <a:tr h="1148148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type</a:t>
                      </a:r>
                      <a:endParaRPr lang="en-IN" sz="1600">
                        <a:effectLst/>
                      </a:endParaRP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This is used to determine what media type the middleware will parse. This option can be a string, array of strings, or a function. If not a function, </a:t>
                      </a:r>
                      <a:r>
                        <a:rPr lang="en-US" sz="1600">
                          <a:solidFill>
                            <a:srgbClr val="383838"/>
                          </a:solidFill>
                          <a:effectLst/>
                        </a:rPr>
                        <a:t>type</a:t>
                      </a:r>
                      <a:r>
                        <a:rPr lang="en-US" sz="1600">
                          <a:effectLst/>
                        </a:rPr>
                        <a:t> option is passed directly to the </a:t>
                      </a:r>
                      <a:r>
                        <a:rPr lang="en-US" sz="1600" u="sng">
                          <a:solidFill>
                            <a:srgbClr val="0E78CE"/>
                          </a:solidFill>
                          <a:effectLst/>
                          <a:hlinkClick r:id="rId4"/>
                        </a:rPr>
                        <a:t>type-is</a:t>
                      </a:r>
                      <a:r>
                        <a:rPr lang="en-US" sz="1600">
                          <a:effectLst/>
                        </a:rPr>
                        <a:t> library and this can be an extension name (like </a:t>
                      </a:r>
                      <a:r>
                        <a:rPr lang="en-US" sz="1600">
                          <a:solidFill>
                            <a:srgbClr val="383838"/>
                          </a:solidFill>
                          <a:effectLst/>
                        </a:rPr>
                        <a:t>urlencoded</a:t>
                      </a:r>
                      <a:r>
                        <a:rPr lang="en-US" sz="1600">
                          <a:effectLst/>
                        </a:rPr>
                        <a:t>), a mime type (like </a:t>
                      </a:r>
                      <a:r>
                        <a:rPr lang="en-US" sz="1600">
                          <a:solidFill>
                            <a:srgbClr val="383838"/>
                          </a:solidFill>
                          <a:effectLst/>
                        </a:rPr>
                        <a:t>application/x-www-form-urlencoded</a:t>
                      </a:r>
                      <a:r>
                        <a:rPr lang="en-US" sz="1600">
                          <a:effectLst/>
                        </a:rPr>
                        <a:t>), or a mime type with a wildcard (like </a:t>
                      </a:r>
                      <a:r>
                        <a:rPr lang="en-US" sz="1600">
                          <a:solidFill>
                            <a:srgbClr val="383838"/>
                          </a:solidFill>
                          <a:effectLst/>
                        </a:rPr>
                        <a:t>*/x-www-form-urlencoded</a:t>
                      </a:r>
                      <a:r>
                        <a:rPr lang="en-US" sz="1600">
                          <a:effectLst/>
                        </a:rPr>
                        <a:t>). If a function, the </a:t>
                      </a:r>
                      <a:r>
                        <a:rPr lang="en-US" sz="1600">
                          <a:solidFill>
                            <a:srgbClr val="383838"/>
                          </a:solidFill>
                          <a:effectLst/>
                        </a:rPr>
                        <a:t>type</a:t>
                      </a:r>
                      <a:r>
                        <a:rPr lang="en-US" sz="1600">
                          <a:effectLst/>
                        </a:rPr>
                        <a:t> option is called as </a:t>
                      </a:r>
                      <a:r>
                        <a:rPr lang="en-US" sz="1600">
                          <a:solidFill>
                            <a:srgbClr val="383838"/>
                          </a:solidFill>
                          <a:effectLst/>
                        </a:rPr>
                        <a:t>fn(req)</a:t>
                      </a:r>
                      <a:r>
                        <a:rPr lang="en-US" sz="1600">
                          <a:effectLst/>
                        </a:rPr>
                        <a:t> and the request is parsed if it returns a truthy value.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Mixed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 dirty="0">
                          <a:solidFill>
                            <a:srgbClr val="383838"/>
                          </a:solidFill>
                          <a:effectLst/>
                        </a:rPr>
                        <a:t>"application/x-www-form-</a:t>
                      </a:r>
                      <a:r>
                        <a:rPr lang="en-IN" sz="1600" dirty="0" err="1">
                          <a:solidFill>
                            <a:srgbClr val="383838"/>
                          </a:solidFill>
                          <a:effectLst/>
                        </a:rPr>
                        <a:t>urlencoded</a:t>
                      </a:r>
                      <a:r>
                        <a:rPr lang="en-IN" sz="1600" dirty="0">
                          <a:solidFill>
                            <a:srgbClr val="383838"/>
                          </a:solidFill>
                          <a:effectLst/>
                        </a:rPr>
                        <a:t>"</a:t>
                      </a:r>
                      <a:endParaRPr lang="en-IN" sz="1600" dirty="0">
                        <a:effectLst/>
                      </a:endParaRPr>
                    </a:p>
                  </a:txBody>
                  <a:tcPr marL="9932" marR="9932" marT="9932" marB="9932" anchor="ctr"/>
                </a:tc>
                <a:extLst>
                  <a:ext uri="{0D108BD9-81ED-4DB2-BD59-A6C34878D82A}">
                    <a16:rowId xmlns:a16="http://schemas.microsoft.com/office/drawing/2014/main" val="2596665579"/>
                  </a:ext>
                </a:extLst>
              </a:tr>
              <a:tr h="1454238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verify</a:t>
                      </a:r>
                      <a:endParaRPr lang="en-IN" sz="1600">
                        <a:effectLst/>
                      </a:endParaRP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This option, if supplied, is called as </a:t>
                      </a:r>
                      <a:r>
                        <a:rPr lang="en-US" sz="1600" dirty="0">
                          <a:solidFill>
                            <a:srgbClr val="383838"/>
                          </a:solidFill>
                          <a:effectLst/>
                        </a:rPr>
                        <a:t>verify(req, res, </a:t>
                      </a:r>
                      <a:r>
                        <a:rPr lang="en-US" sz="1600" dirty="0" err="1">
                          <a:solidFill>
                            <a:srgbClr val="383838"/>
                          </a:solidFill>
                          <a:effectLst/>
                        </a:rPr>
                        <a:t>buf</a:t>
                      </a:r>
                      <a:r>
                        <a:rPr lang="en-US" sz="1600" dirty="0">
                          <a:solidFill>
                            <a:srgbClr val="383838"/>
                          </a:solidFill>
                          <a:effectLst/>
                        </a:rPr>
                        <a:t>, encoding)</a:t>
                      </a:r>
                      <a:r>
                        <a:rPr lang="en-US" sz="1600" dirty="0">
                          <a:effectLst/>
                        </a:rPr>
                        <a:t>, where </a:t>
                      </a:r>
                      <a:r>
                        <a:rPr lang="en-US" sz="1600" dirty="0" err="1">
                          <a:solidFill>
                            <a:srgbClr val="383838"/>
                          </a:solidFill>
                          <a:effectLst/>
                        </a:rPr>
                        <a:t>buf</a:t>
                      </a:r>
                      <a:r>
                        <a:rPr lang="en-US" sz="1600" dirty="0">
                          <a:effectLst/>
                        </a:rPr>
                        <a:t> is a </a:t>
                      </a:r>
                      <a:r>
                        <a:rPr lang="en-US" sz="1600" dirty="0">
                          <a:solidFill>
                            <a:srgbClr val="383838"/>
                          </a:solidFill>
                          <a:effectLst/>
                        </a:rPr>
                        <a:t>Buffer</a:t>
                      </a:r>
                      <a:r>
                        <a:rPr lang="en-US" sz="1600" dirty="0">
                          <a:effectLst/>
                        </a:rPr>
                        <a:t> of the raw request body and </a:t>
                      </a:r>
                      <a:r>
                        <a:rPr lang="en-US" sz="1600" dirty="0">
                          <a:solidFill>
                            <a:srgbClr val="383838"/>
                          </a:solidFill>
                          <a:effectLst/>
                        </a:rPr>
                        <a:t>encoding</a:t>
                      </a:r>
                      <a:r>
                        <a:rPr lang="en-US" sz="1600" dirty="0">
                          <a:effectLst/>
                        </a:rPr>
                        <a:t> is the encoding of the request. The parsing can be aborted by throwing an error.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Function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 dirty="0">
                          <a:solidFill>
                            <a:srgbClr val="383838"/>
                          </a:solidFill>
                          <a:effectLst/>
                        </a:rPr>
                        <a:t>undefined</a:t>
                      </a:r>
                      <a:endParaRPr lang="en-IN" sz="1600" dirty="0">
                        <a:effectLst/>
                      </a:endParaRPr>
                    </a:p>
                  </a:txBody>
                  <a:tcPr marL="9932" marR="9932" marT="9932" marB="9932" anchor="ctr"/>
                </a:tc>
                <a:extLst>
                  <a:ext uri="{0D108BD9-81ED-4DB2-BD59-A6C34878D82A}">
                    <a16:rowId xmlns:a16="http://schemas.microsoft.com/office/drawing/2014/main" val="130211554"/>
                  </a:ext>
                </a:extLst>
              </a:tr>
              <a:tr h="1513396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solidFill>
                            <a:srgbClr val="383838"/>
                          </a:solidFill>
                          <a:effectLst/>
                        </a:rPr>
                        <a:t>depth</a:t>
                      </a:r>
                      <a:endParaRPr lang="en-IN" sz="1600">
                        <a:effectLst/>
                      </a:endParaRP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Configure the maximum depth of the </a:t>
                      </a:r>
                      <a:r>
                        <a:rPr lang="en-US" sz="1600" dirty="0" err="1">
                          <a:solidFill>
                            <a:srgbClr val="383838"/>
                          </a:solidFill>
                          <a:effectLst/>
                        </a:rPr>
                        <a:t>qs</a:t>
                      </a:r>
                      <a:r>
                        <a:rPr lang="en-US" sz="1600" dirty="0">
                          <a:effectLst/>
                        </a:rPr>
                        <a:t> library when </a:t>
                      </a:r>
                      <a:r>
                        <a:rPr lang="en-US" sz="1600" dirty="0">
                          <a:solidFill>
                            <a:srgbClr val="383838"/>
                          </a:solidFill>
                          <a:effectLst/>
                        </a:rPr>
                        <a:t>extended</a:t>
                      </a:r>
                      <a:r>
                        <a:rPr lang="en-US" sz="1600" dirty="0">
                          <a:effectLst/>
                        </a:rPr>
                        <a:t> is </a:t>
                      </a:r>
                      <a:r>
                        <a:rPr lang="en-US" sz="1600" dirty="0">
                          <a:solidFill>
                            <a:srgbClr val="383838"/>
                          </a:solidFill>
                          <a:effectLst/>
                        </a:rPr>
                        <a:t>true</a:t>
                      </a:r>
                      <a:r>
                        <a:rPr lang="en-US" sz="1600" dirty="0">
                          <a:effectLst/>
                        </a:rPr>
                        <a:t>. This allows you to limit the amount of keys that are parsed and can be useful to prevent certain types of abuse. Defaults to </a:t>
                      </a:r>
                      <a:r>
                        <a:rPr lang="en-US" sz="1600" dirty="0">
                          <a:solidFill>
                            <a:srgbClr val="383838"/>
                          </a:solidFill>
                          <a:effectLst/>
                        </a:rPr>
                        <a:t>32</a:t>
                      </a:r>
                      <a:r>
                        <a:rPr lang="en-US" sz="1600" dirty="0">
                          <a:effectLst/>
                        </a:rPr>
                        <a:t>. It is recommended to keep this value as low as possible.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Number</a:t>
                      </a:r>
                    </a:p>
                  </a:txBody>
                  <a:tcPr marL="9932" marR="9932" marT="9932" marB="9932"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buNone/>
                      </a:pPr>
                      <a:r>
                        <a:rPr lang="en-IN" sz="1600" dirty="0">
                          <a:solidFill>
                            <a:srgbClr val="383838"/>
                          </a:solidFill>
                          <a:effectLst/>
                        </a:rPr>
                        <a:t>32</a:t>
                      </a:r>
                      <a:endParaRPr lang="en-IN" sz="1600" dirty="0">
                        <a:effectLst/>
                      </a:endParaRPr>
                    </a:p>
                  </a:txBody>
                  <a:tcPr marL="9932" marR="9932" marT="9932" marB="9932" anchor="ctr"/>
                </a:tc>
                <a:extLst>
                  <a:ext uri="{0D108BD9-81ED-4DB2-BD59-A6C34878D82A}">
                    <a16:rowId xmlns:a16="http://schemas.microsoft.com/office/drawing/2014/main" val="2459186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249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2AD848-55DE-2174-C336-8921D44F06CE}"/>
              </a:ext>
            </a:extLst>
          </p:cNvPr>
          <p:cNvSpPr txBox="1"/>
          <p:nvPr/>
        </p:nvSpPr>
        <p:spPr>
          <a:xfrm>
            <a:off x="355600" y="211667"/>
            <a:ext cx="11099800" cy="31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b="1" i="0" dirty="0" err="1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express.json</a:t>
            </a:r>
            <a:r>
              <a:rPr lang="en-US" b="1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([options])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This is a built-in middleware function in Express. It parses incoming requests with JSON payloads and is based on </a:t>
            </a:r>
            <a:r>
              <a:rPr lang="en-US" b="0" i="0" u="sng" dirty="0">
                <a:solidFill>
                  <a:srgbClr val="0E78CE"/>
                </a:solidFill>
                <a:effectLst/>
                <a:latin typeface="Open Sans" panose="020B0606030504020204" pitchFamily="34" charset="0"/>
                <a:hlinkClick r:id="rId2"/>
              </a:rPr>
              <a:t>body-parser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Returns middleware that only parses JSON and only looks at requests where the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Content-Type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header matches the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option. This parser accepts any Unicode encoding of the body and supports automatic inflation of </a:t>
            </a:r>
            <a:r>
              <a:rPr lang="en-US" b="0" i="0" dirty="0" err="1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gzip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and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deflate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encodings.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A new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body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object containing the parsed data is populated on the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request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object after the middleware (i.e. </a:t>
            </a:r>
            <a:r>
              <a:rPr lang="en-US" b="0" i="0" dirty="0" err="1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req.body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), or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undefined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if there was no body to parse, the </a:t>
            </a:r>
            <a:r>
              <a:rPr lang="en-US" b="0" i="0" dirty="0">
                <a:solidFill>
                  <a:srgbClr val="383838"/>
                </a:solidFill>
                <a:effectLst/>
                <a:latin typeface="Courier New" panose="02070309020205020404" pitchFamily="49" charset="0"/>
              </a:rPr>
              <a:t>Content-Type</a:t>
            </a:r>
            <a:r>
              <a:rPr lang="en-US" b="0" i="0" dirty="0">
                <a:solidFill>
                  <a:srgbClr val="383838"/>
                </a:solidFill>
                <a:effectLst/>
                <a:latin typeface="Open Sans" panose="020B0606030504020204" pitchFamily="34" charset="0"/>
              </a:rPr>
              <a:t> was not matched, or an error occurred.</a:t>
            </a:r>
          </a:p>
        </p:txBody>
      </p:sp>
    </p:spTree>
    <p:extLst>
      <p:ext uri="{BB962C8B-B14F-4D97-AF65-F5344CB8AC3E}">
        <p14:creationId xmlns:p14="http://schemas.microsoft.com/office/powerpoint/2010/main" val="1630591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F26231-075E-EC58-7CD0-2FEBAA3E5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903219"/>
              </p:ext>
            </p:extLst>
          </p:nvPr>
        </p:nvGraphicFramePr>
        <p:xfrm>
          <a:off x="216568" y="392080"/>
          <a:ext cx="11758864" cy="568373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708485">
                  <a:extLst>
                    <a:ext uri="{9D8B030D-6E8A-4147-A177-3AD203B41FA5}">
                      <a16:colId xmlns:a16="http://schemas.microsoft.com/office/drawing/2014/main" val="3335419779"/>
                    </a:ext>
                  </a:extLst>
                </a:gridCol>
                <a:gridCol w="7146758">
                  <a:extLst>
                    <a:ext uri="{9D8B030D-6E8A-4147-A177-3AD203B41FA5}">
                      <a16:colId xmlns:a16="http://schemas.microsoft.com/office/drawing/2014/main" val="800716988"/>
                    </a:ext>
                  </a:extLst>
                </a:gridCol>
                <a:gridCol w="1427747">
                  <a:extLst>
                    <a:ext uri="{9D8B030D-6E8A-4147-A177-3AD203B41FA5}">
                      <a16:colId xmlns:a16="http://schemas.microsoft.com/office/drawing/2014/main" val="2476836776"/>
                    </a:ext>
                  </a:extLst>
                </a:gridCol>
                <a:gridCol w="1475874">
                  <a:extLst>
                    <a:ext uri="{9D8B030D-6E8A-4147-A177-3AD203B41FA5}">
                      <a16:colId xmlns:a16="http://schemas.microsoft.com/office/drawing/2014/main" val="3978510971"/>
                    </a:ext>
                  </a:extLst>
                </a:gridCol>
              </a:tblGrid>
              <a:tr h="81550">
                <a:tc>
                  <a:txBody>
                    <a:bodyPr/>
                    <a:lstStyle/>
                    <a:p>
                      <a:pPr fontAlgn="t">
                        <a:lnSpc>
                          <a:spcPts val="1386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 dirty="0">
                          <a:solidFill>
                            <a:srgbClr val="383838"/>
                          </a:solidFill>
                          <a:effectLst/>
                        </a:rPr>
                        <a:t>Property</a:t>
                      </a:r>
                      <a:endParaRPr lang="en-IN" sz="1800" dirty="0">
                        <a:solidFill>
                          <a:srgbClr val="383838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 dirty="0">
                          <a:solidFill>
                            <a:srgbClr val="383838"/>
                          </a:solidFill>
                          <a:effectLst/>
                        </a:rPr>
                        <a:t>Description</a:t>
                      </a:r>
                      <a:endParaRPr lang="en-IN" sz="1800" dirty="0">
                        <a:solidFill>
                          <a:srgbClr val="383838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386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solidFill>
                            <a:srgbClr val="383838"/>
                          </a:solidFill>
                          <a:effectLst/>
                        </a:rPr>
                        <a:t>Type</a:t>
                      </a:r>
                      <a:endParaRPr lang="en-IN" sz="1800">
                        <a:solidFill>
                          <a:srgbClr val="383838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386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solidFill>
                            <a:srgbClr val="383838"/>
                          </a:solidFill>
                          <a:effectLst/>
                        </a:rPr>
                        <a:t>Default</a:t>
                      </a:r>
                      <a:endParaRPr lang="en-IN" sz="1800">
                        <a:solidFill>
                          <a:srgbClr val="383838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extLst>
                  <a:ext uri="{0D108BD9-81ED-4DB2-BD59-A6C34878D82A}">
                    <a16:rowId xmlns:a16="http://schemas.microsoft.com/office/drawing/2014/main" val="3031778838"/>
                  </a:ext>
                </a:extLst>
              </a:tr>
              <a:tr h="428053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solidFill>
                            <a:srgbClr val="383838"/>
                          </a:solidFill>
                          <a:effectLst/>
                        </a:rPr>
                        <a:t>inflate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Enables or disables handling deflated (compressed) bodies; when disabled, deflated bodies are rejected.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Boolean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solidFill>
                            <a:srgbClr val="383838"/>
                          </a:solidFill>
                          <a:effectLst/>
                        </a:rPr>
                        <a:t>true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extLst>
                  <a:ext uri="{0D108BD9-81ED-4DB2-BD59-A6C34878D82A}">
                    <a16:rowId xmlns:a16="http://schemas.microsoft.com/office/drawing/2014/main" val="3778603828"/>
                  </a:ext>
                </a:extLst>
              </a:tr>
              <a:tr h="602563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solidFill>
                            <a:srgbClr val="383838"/>
                          </a:solidFill>
                          <a:effectLst/>
                        </a:rPr>
                        <a:t>limit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Controls the maximum request body size. If this is a number, then the value specifies the number of bytes; if it is a string, the value is passed to the </a:t>
                      </a:r>
                      <a:r>
                        <a:rPr lang="en-US" sz="1800" u="sng" dirty="0">
                          <a:solidFill>
                            <a:srgbClr val="0E78CE"/>
                          </a:solidFill>
                          <a:effectLst/>
                          <a:hlinkClick r:id="rId2"/>
                        </a:rPr>
                        <a:t>bytes</a:t>
                      </a:r>
                      <a:r>
                        <a:rPr lang="en-US" sz="1800" dirty="0">
                          <a:effectLst/>
                        </a:rPr>
                        <a:t> library for parsing.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Mixed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solidFill>
                            <a:srgbClr val="383838"/>
                          </a:solidFill>
                          <a:effectLst/>
                        </a:rPr>
                        <a:t>"100kb"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extLst>
                  <a:ext uri="{0D108BD9-81ED-4DB2-BD59-A6C34878D82A}">
                    <a16:rowId xmlns:a16="http://schemas.microsoft.com/office/drawing/2014/main" val="2602849909"/>
                  </a:ext>
                </a:extLst>
              </a:tr>
              <a:tr h="602563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solidFill>
                            <a:srgbClr val="383838"/>
                          </a:solidFill>
                          <a:effectLst/>
                        </a:rPr>
                        <a:t>reviver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The </a:t>
                      </a:r>
                      <a:r>
                        <a:rPr lang="en-US" sz="1800">
                          <a:solidFill>
                            <a:srgbClr val="383838"/>
                          </a:solidFill>
                          <a:effectLst/>
                        </a:rPr>
                        <a:t>reviver</a:t>
                      </a:r>
                      <a:r>
                        <a:rPr lang="en-US" sz="1800">
                          <a:effectLst/>
                        </a:rPr>
                        <a:t> option is passed directly to </a:t>
                      </a:r>
                      <a:r>
                        <a:rPr lang="en-US" sz="1800">
                          <a:solidFill>
                            <a:srgbClr val="383838"/>
                          </a:solidFill>
                          <a:effectLst/>
                        </a:rPr>
                        <a:t>JSON.parse</a:t>
                      </a:r>
                      <a:r>
                        <a:rPr lang="en-US" sz="1800">
                          <a:effectLst/>
                        </a:rPr>
                        <a:t> as the second argument. You can find more information on this argument </a:t>
                      </a:r>
                      <a:r>
                        <a:rPr lang="en-US" sz="1800" u="sng">
                          <a:solidFill>
                            <a:srgbClr val="0E78CE"/>
                          </a:solidFill>
                          <a:effectLst/>
                          <a:hlinkClick r:id="rId3"/>
                        </a:rPr>
                        <a:t>in the MDN documentation about JSON.parse</a:t>
                      </a:r>
                      <a:r>
                        <a:rPr lang="en-US" sz="1800">
                          <a:effectLst/>
                        </a:rPr>
                        <a:t>.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Function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solidFill>
                            <a:srgbClr val="383838"/>
                          </a:solidFill>
                          <a:effectLst/>
                        </a:rPr>
                        <a:t>null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extLst>
                  <a:ext uri="{0D108BD9-81ED-4DB2-BD59-A6C34878D82A}">
                    <a16:rowId xmlns:a16="http://schemas.microsoft.com/office/drawing/2014/main" val="847874712"/>
                  </a:ext>
                </a:extLst>
              </a:tr>
              <a:tr h="384425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solidFill>
                            <a:srgbClr val="383838"/>
                          </a:solidFill>
                          <a:effectLst/>
                        </a:rPr>
                        <a:t>strict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Enables or disables only accepting arrays and objects; when disabled will accept anything </a:t>
                      </a:r>
                      <a:r>
                        <a:rPr lang="en-US" sz="1800">
                          <a:solidFill>
                            <a:srgbClr val="383838"/>
                          </a:solidFill>
                          <a:effectLst/>
                        </a:rPr>
                        <a:t>JSON.parse</a:t>
                      </a:r>
                      <a:r>
                        <a:rPr lang="en-US" sz="1800">
                          <a:effectLst/>
                        </a:rPr>
                        <a:t> accepts.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Boolean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 dirty="0">
                          <a:solidFill>
                            <a:srgbClr val="383838"/>
                          </a:solidFill>
                          <a:effectLst/>
                        </a:rPr>
                        <a:t>true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extLst>
                  <a:ext uri="{0D108BD9-81ED-4DB2-BD59-A6C34878D82A}">
                    <a16:rowId xmlns:a16="http://schemas.microsoft.com/office/drawing/2014/main" val="2191212858"/>
                  </a:ext>
                </a:extLst>
              </a:tr>
              <a:tr h="1431485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solidFill>
                            <a:srgbClr val="383838"/>
                          </a:solidFill>
                          <a:effectLst/>
                        </a:rPr>
                        <a:t>type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This is used to determine what media type the middleware will parse. This option can be a string, array of strings, or a function. If not a function, </a:t>
                      </a:r>
                      <a:r>
                        <a:rPr lang="en-US" sz="1800" dirty="0">
                          <a:solidFill>
                            <a:srgbClr val="383838"/>
                          </a:solidFill>
                          <a:effectLst/>
                        </a:rPr>
                        <a:t>type</a:t>
                      </a:r>
                      <a:r>
                        <a:rPr lang="en-US" sz="1800" dirty="0">
                          <a:effectLst/>
                        </a:rPr>
                        <a:t> option is passed directly to the </a:t>
                      </a:r>
                      <a:r>
                        <a:rPr lang="en-US" sz="1800" u="sng" dirty="0">
                          <a:solidFill>
                            <a:srgbClr val="0E78CE"/>
                          </a:solidFill>
                          <a:effectLst/>
                          <a:hlinkClick r:id="rId4"/>
                        </a:rPr>
                        <a:t>type-is</a:t>
                      </a:r>
                      <a:r>
                        <a:rPr lang="en-US" sz="1800" dirty="0">
                          <a:effectLst/>
                        </a:rPr>
                        <a:t> library and this can be an extension name (like </a:t>
                      </a:r>
                      <a:r>
                        <a:rPr lang="en-US" sz="1800" dirty="0" err="1">
                          <a:solidFill>
                            <a:srgbClr val="383838"/>
                          </a:solidFill>
                          <a:effectLst/>
                        </a:rPr>
                        <a:t>json</a:t>
                      </a:r>
                      <a:r>
                        <a:rPr lang="en-US" sz="1800" dirty="0">
                          <a:effectLst/>
                        </a:rPr>
                        <a:t>), a mime type (like </a:t>
                      </a:r>
                      <a:r>
                        <a:rPr lang="en-US" sz="1800" dirty="0">
                          <a:solidFill>
                            <a:srgbClr val="383838"/>
                          </a:solidFill>
                          <a:effectLst/>
                        </a:rPr>
                        <a:t>application/</a:t>
                      </a:r>
                      <a:r>
                        <a:rPr lang="en-US" sz="1800" dirty="0" err="1">
                          <a:solidFill>
                            <a:srgbClr val="383838"/>
                          </a:solidFill>
                          <a:effectLst/>
                        </a:rPr>
                        <a:t>json</a:t>
                      </a:r>
                      <a:r>
                        <a:rPr lang="en-US" sz="1800" dirty="0">
                          <a:effectLst/>
                        </a:rPr>
                        <a:t>), or a mime type with a wildcard (like </a:t>
                      </a:r>
                      <a:r>
                        <a:rPr lang="en-US" sz="1800" dirty="0">
                          <a:solidFill>
                            <a:srgbClr val="383838"/>
                          </a:solidFill>
                          <a:effectLst/>
                        </a:rPr>
                        <a:t>*/*</a:t>
                      </a:r>
                      <a:r>
                        <a:rPr lang="en-US" sz="1800" dirty="0">
                          <a:effectLst/>
                        </a:rPr>
                        <a:t> or </a:t>
                      </a:r>
                      <a:r>
                        <a:rPr lang="en-US" sz="1800" dirty="0">
                          <a:solidFill>
                            <a:srgbClr val="383838"/>
                          </a:solidFill>
                          <a:effectLst/>
                        </a:rPr>
                        <a:t>*/</a:t>
                      </a:r>
                      <a:r>
                        <a:rPr lang="en-US" sz="1800" dirty="0" err="1">
                          <a:solidFill>
                            <a:srgbClr val="383838"/>
                          </a:solidFill>
                          <a:effectLst/>
                        </a:rPr>
                        <a:t>json</a:t>
                      </a:r>
                      <a:r>
                        <a:rPr lang="en-US" sz="1800" dirty="0">
                          <a:effectLst/>
                        </a:rPr>
                        <a:t>). If a function, the </a:t>
                      </a:r>
                      <a:r>
                        <a:rPr lang="en-US" sz="1800" dirty="0">
                          <a:solidFill>
                            <a:srgbClr val="383838"/>
                          </a:solidFill>
                          <a:effectLst/>
                        </a:rPr>
                        <a:t>type</a:t>
                      </a:r>
                      <a:r>
                        <a:rPr lang="en-US" sz="1800" dirty="0">
                          <a:effectLst/>
                        </a:rPr>
                        <a:t> option is called as </a:t>
                      </a:r>
                      <a:r>
                        <a:rPr lang="en-US" sz="1800" dirty="0" err="1">
                          <a:solidFill>
                            <a:srgbClr val="383838"/>
                          </a:solidFill>
                          <a:effectLst/>
                        </a:rPr>
                        <a:t>fn</a:t>
                      </a:r>
                      <a:r>
                        <a:rPr lang="en-US" sz="1800" dirty="0">
                          <a:solidFill>
                            <a:srgbClr val="383838"/>
                          </a:solidFill>
                          <a:effectLst/>
                        </a:rPr>
                        <a:t>(req)</a:t>
                      </a:r>
                      <a:r>
                        <a:rPr lang="en-US" sz="1800" dirty="0">
                          <a:effectLst/>
                        </a:rPr>
                        <a:t> and the request is parsed if it returns a truthy value.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Mixed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solidFill>
                            <a:srgbClr val="383838"/>
                          </a:solidFill>
                          <a:effectLst/>
                        </a:rPr>
                        <a:t>"application/json"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extLst>
                  <a:ext uri="{0D108BD9-81ED-4DB2-BD59-A6C34878D82A}">
                    <a16:rowId xmlns:a16="http://schemas.microsoft.com/office/drawing/2014/main" val="1205641066"/>
                  </a:ext>
                </a:extLst>
              </a:tr>
              <a:tr h="820700"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>
                          <a:solidFill>
                            <a:srgbClr val="383838"/>
                          </a:solidFill>
                          <a:effectLst/>
                        </a:rPr>
                        <a:t>verify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This option, if supplied, is called as </a:t>
                      </a:r>
                      <a:r>
                        <a:rPr lang="en-US" sz="1800" dirty="0">
                          <a:solidFill>
                            <a:srgbClr val="383838"/>
                          </a:solidFill>
                          <a:effectLst/>
                        </a:rPr>
                        <a:t>verify(req, res, </a:t>
                      </a:r>
                      <a:r>
                        <a:rPr lang="en-US" sz="1800" dirty="0" err="1">
                          <a:solidFill>
                            <a:srgbClr val="383838"/>
                          </a:solidFill>
                          <a:effectLst/>
                        </a:rPr>
                        <a:t>buf</a:t>
                      </a:r>
                      <a:r>
                        <a:rPr lang="en-US" sz="1800" dirty="0">
                          <a:solidFill>
                            <a:srgbClr val="383838"/>
                          </a:solidFill>
                          <a:effectLst/>
                        </a:rPr>
                        <a:t>, encoding)</a:t>
                      </a:r>
                      <a:r>
                        <a:rPr lang="en-US" sz="1800" dirty="0">
                          <a:effectLst/>
                        </a:rPr>
                        <a:t>, where </a:t>
                      </a:r>
                      <a:r>
                        <a:rPr lang="en-US" sz="1800" dirty="0" err="1">
                          <a:solidFill>
                            <a:srgbClr val="383838"/>
                          </a:solidFill>
                          <a:effectLst/>
                        </a:rPr>
                        <a:t>buf</a:t>
                      </a:r>
                      <a:r>
                        <a:rPr lang="en-US" sz="1800" dirty="0">
                          <a:effectLst/>
                        </a:rPr>
                        <a:t> is a </a:t>
                      </a:r>
                      <a:r>
                        <a:rPr lang="en-US" sz="1800" dirty="0">
                          <a:solidFill>
                            <a:srgbClr val="383838"/>
                          </a:solidFill>
                          <a:effectLst/>
                        </a:rPr>
                        <a:t>Buffer</a:t>
                      </a:r>
                      <a:r>
                        <a:rPr lang="en-US" sz="1800" dirty="0">
                          <a:effectLst/>
                        </a:rPr>
                        <a:t> of the raw request body and </a:t>
                      </a:r>
                      <a:r>
                        <a:rPr lang="en-US" sz="1800" dirty="0">
                          <a:solidFill>
                            <a:srgbClr val="383838"/>
                          </a:solidFill>
                          <a:effectLst/>
                        </a:rPr>
                        <a:t>encoding</a:t>
                      </a:r>
                      <a:r>
                        <a:rPr lang="en-US" sz="1800" dirty="0">
                          <a:effectLst/>
                        </a:rPr>
                        <a:t> is the encoding of the request. The parsing can be aborted by throwing an error.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Function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26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800" dirty="0">
                          <a:solidFill>
                            <a:srgbClr val="383838"/>
                          </a:solidFill>
                          <a:effectLst/>
                        </a:rPr>
                        <a:t>undefined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95" marR="14095" marT="14095" marB="14095"/>
                </a:tc>
                <a:extLst>
                  <a:ext uri="{0D108BD9-81ED-4DB2-BD59-A6C34878D82A}">
                    <a16:rowId xmlns:a16="http://schemas.microsoft.com/office/drawing/2014/main" val="20009145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B9C5DC8-D016-8B2E-97B3-E0D6C2D4F875}"/>
              </a:ext>
            </a:extLst>
          </p:cNvPr>
          <p:cNvSpPr txBox="1"/>
          <p:nvPr/>
        </p:nvSpPr>
        <p:spPr>
          <a:xfrm>
            <a:off x="4764506" y="22748"/>
            <a:ext cx="1596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83838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[options]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294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2680</Words>
  <Application>Microsoft Office PowerPoint</Application>
  <PresentationFormat>Widescreen</PresentationFormat>
  <Paragraphs>288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Courier New</vt:lpstr>
      <vt:lpstr>Open Sans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49</cp:revision>
  <dcterms:created xsi:type="dcterms:W3CDTF">2026-03-10T12:14:51Z</dcterms:created>
  <dcterms:modified xsi:type="dcterms:W3CDTF">2026-09-19T07:01:49Z</dcterms:modified>
</cp:coreProperties>
</file>