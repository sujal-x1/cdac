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60" r:id="rId2"/>
    <p:sldId id="261" r:id="rId3"/>
    <p:sldId id="262" r:id="rId4"/>
    <p:sldId id="263" r:id="rId5"/>
    <p:sldId id="281" r:id="rId6"/>
    <p:sldId id="282" r:id="rId7"/>
    <p:sldId id="274" r:id="rId8"/>
    <p:sldId id="275" r:id="rId9"/>
    <p:sldId id="276" r:id="rId10"/>
    <p:sldId id="277" r:id="rId11"/>
    <p:sldId id="278" r:id="rId12"/>
    <p:sldId id="279" r:id="rId13"/>
    <p:sldId id="280" r:id="rId14"/>
    <p:sldId id="283" r:id="rId15"/>
    <p:sldId id="269" r:id="rId16"/>
    <p:sldId id="264" r:id="rId17"/>
    <p:sldId id="270" r:id="rId18"/>
    <p:sldId id="271" r:id="rId19"/>
    <p:sldId id="272" r:id="rId20"/>
    <p:sldId id="273"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9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2A5F55-251C-4F81-9AC1-F0A080185D9D}" type="datetimeFigureOut">
              <a:rPr lang="en-IN" smtClean="0"/>
              <a:t>20-04-2026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EB6A38-92D1-48EF-BF3B-AEEE6CB462B3}" type="slidenum">
              <a:rPr lang="en-IN" smtClean="0"/>
              <a:t>‹#›</a:t>
            </a:fld>
            <a:endParaRPr lang="en-IN"/>
          </a:p>
        </p:txBody>
      </p:sp>
    </p:spTree>
    <p:extLst>
      <p:ext uri="{BB962C8B-B14F-4D97-AF65-F5344CB8AC3E}">
        <p14:creationId xmlns:p14="http://schemas.microsoft.com/office/powerpoint/2010/main" val="3185372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3EB6A38-92D1-48EF-BF3B-AEEE6CB462B3}" type="slidenum">
              <a:rPr lang="en-IN" smtClean="0"/>
              <a:t>13</a:t>
            </a:fld>
            <a:endParaRPr lang="en-IN"/>
          </a:p>
        </p:txBody>
      </p:sp>
    </p:spTree>
    <p:extLst>
      <p:ext uri="{BB962C8B-B14F-4D97-AF65-F5344CB8AC3E}">
        <p14:creationId xmlns:p14="http://schemas.microsoft.com/office/powerpoint/2010/main" val="25126748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8F274-4539-49A0-87A3-8A92926FC4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913C69C-C15D-488F-8E9B-26F0B1525A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F5146E9-5B29-4689-B98F-C7A175B11628}"/>
              </a:ext>
            </a:extLst>
          </p:cNvPr>
          <p:cNvSpPr>
            <a:spLocks noGrp="1"/>
          </p:cNvSpPr>
          <p:nvPr>
            <p:ph type="dt" sz="half" idx="10"/>
          </p:nvPr>
        </p:nvSpPr>
        <p:spPr/>
        <p:txBody>
          <a:bodyPr/>
          <a:lstStyle/>
          <a:p>
            <a:fld id="{D6FE7E06-79CA-4948-8009-C5BAAA988AD0}" type="datetimeFigureOut">
              <a:rPr lang="en-IN" smtClean="0"/>
              <a:t>20-04-2026</a:t>
            </a:fld>
            <a:endParaRPr lang="en-IN"/>
          </a:p>
        </p:txBody>
      </p:sp>
      <p:sp>
        <p:nvSpPr>
          <p:cNvPr id="5" name="Footer Placeholder 4">
            <a:extLst>
              <a:ext uri="{FF2B5EF4-FFF2-40B4-BE49-F238E27FC236}">
                <a16:creationId xmlns:a16="http://schemas.microsoft.com/office/drawing/2014/main" id="{4BDD42DB-8643-44D3-B820-E974547989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91B433-8249-456C-AB7B-51A5A281DB06}"/>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5478436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4E34C-EBDD-49B8-AE4A-F0DF046D36FB}"/>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8BED6A62-373F-446D-BFBD-A2306CF231FF}"/>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6F1599FF-4428-40EF-AA95-511B46F701CA}"/>
              </a:ext>
            </a:extLst>
          </p:cNvPr>
          <p:cNvSpPr>
            <a:spLocks noGrp="1"/>
          </p:cNvSpPr>
          <p:nvPr>
            <p:ph type="dt" sz="half" idx="10"/>
          </p:nvPr>
        </p:nvSpPr>
        <p:spPr/>
        <p:txBody>
          <a:bodyPr/>
          <a:lstStyle/>
          <a:p>
            <a:fld id="{D6FE7E06-79CA-4948-8009-C5BAAA988AD0}" type="datetimeFigureOut">
              <a:rPr lang="en-IN" smtClean="0"/>
              <a:t>20-04-2026</a:t>
            </a:fld>
            <a:endParaRPr lang="en-IN"/>
          </a:p>
        </p:txBody>
      </p:sp>
      <p:sp>
        <p:nvSpPr>
          <p:cNvPr id="5" name="Footer Placeholder 4">
            <a:extLst>
              <a:ext uri="{FF2B5EF4-FFF2-40B4-BE49-F238E27FC236}">
                <a16:creationId xmlns:a16="http://schemas.microsoft.com/office/drawing/2014/main" id="{2B965240-55B7-47C4-A3A8-5BB8E54DF6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0EA2475-74E2-4E41-8886-F3660D2A9761}"/>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1782991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6E01C-29F8-490B-8FCF-5A1BA68330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E42801F-0138-406C-AAEC-1F17FAEE393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19E173-E83D-48DF-9FEC-A692B1FDE17F}"/>
              </a:ext>
            </a:extLst>
          </p:cNvPr>
          <p:cNvSpPr>
            <a:spLocks noGrp="1"/>
          </p:cNvSpPr>
          <p:nvPr>
            <p:ph type="dt" sz="half" idx="10"/>
          </p:nvPr>
        </p:nvSpPr>
        <p:spPr/>
        <p:txBody>
          <a:bodyPr/>
          <a:lstStyle/>
          <a:p>
            <a:fld id="{D6FE7E06-79CA-4948-8009-C5BAAA988AD0}" type="datetimeFigureOut">
              <a:rPr lang="en-IN" smtClean="0"/>
              <a:t>20-04-2026</a:t>
            </a:fld>
            <a:endParaRPr lang="en-IN"/>
          </a:p>
        </p:txBody>
      </p:sp>
      <p:sp>
        <p:nvSpPr>
          <p:cNvPr id="5" name="Footer Placeholder 4">
            <a:extLst>
              <a:ext uri="{FF2B5EF4-FFF2-40B4-BE49-F238E27FC236}">
                <a16:creationId xmlns:a16="http://schemas.microsoft.com/office/drawing/2014/main" id="{02D9C63D-2389-42AA-9B07-EB7E73B18D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9BFC83-08F9-4A8D-AD10-8340F22DCE6A}"/>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28840509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D2DE2-51FD-4F10-9681-13C93405150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5A61EAF-F639-4B21-897F-73E828D6951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625640D-430D-41E6-B518-D24AE86B106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209ED6F-D3D2-4301-8236-17897DB66F2C}"/>
              </a:ext>
            </a:extLst>
          </p:cNvPr>
          <p:cNvSpPr>
            <a:spLocks noGrp="1"/>
          </p:cNvSpPr>
          <p:nvPr>
            <p:ph type="dt" sz="half" idx="10"/>
          </p:nvPr>
        </p:nvSpPr>
        <p:spPr/>
        <p:txBody>
          <a:bodyPr/>
          <a:lstStyle/>
          <a:p>
            <a:fld id="{D6FE7E06-79CA-4948-8009-C5BAAA988AD0}" type="datetimeFigureOut">
              <a:rPr lang="en-IN" smtClean="0"/>
              <a:t>20-04-2026</a:t>
            </a:fld>
            <a:endParaRPr lang="en-IN"/>
          </a:p>
        </p:txBody>
      </p:sp>
      <p:sp>
        <p:nvSpPr>
          <p:cNvPr id="6" name="Footer Placeholder 5">
            <a:extLst>
              <a:ext uri="{FF2B5EF4-FFF2-40B4-BE49-F238E27FC236}">
                <a16:creationId xmlns:a16="http://schemas.microsoft.com/office/drawing/2014/main" id="{32F62381-5FAE-4B7D-8D9C-CB218975A34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2FCB351-5329-49A8-B8D2-E48C310019BA}"/>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1593971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90C04-E375-40C5-B7BA-A9919778CAF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A37561B-10E8-4E49-8165-C7B1F2B478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AD2C891-3169-4C58-B8C1-F5731E89BA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FD0839A-777F-4B21-87B0-4C4D42E3B3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4C1FAA-AE14-43CB-869B-A8AF2C6646A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125958C-7EC9-44EF-BB36-03DEE3EF9D03}"/>
              </a:ext>
            </a:extLst>
          </p:cNvPr>
          <p:cNvSpPr>
            <a:spLocks noGrp="1"/>
          </p:cNvSpPr>
          <p:nvPr>
            <p:ph type="dt" sz="half" idx="10"/>
          </p:nvPr>
        </p:nvSpPr>
        <p:spPr/>
        <p:txBody>
          <a:bodyPr/>
          <a:lstStyle/>
          <a:p>
            <a:fld id="{D6FE7E06-79CA-4948-8009-C5BAAA988AD0}" type="datetimeFigureOut">
              <a:rPr lang="en-IN" smtClean="0"/>
              <a:t>20-04-2026</a:t>
            </a:fld>
            <a:endParaRPr lang="en-IN"/>
          </a:p>
        </p:txBody>
      </p:sp>
      <p:sp>
        <p:nvSpPr>
          <p:cNvPr id="8" name="Footer Placeholder 7">
            <a:extLst>
              <a:ext uri="{FF2B5EF4-FFF2-40B4-BE49-F238E27FC236}">
                <a16:creationId xmlns:a16="http://schemas.microsoft.com/office/drawing/2014/main" id="{B7C8A2B2-25CB-4912-80F5-71B3F4A4BA1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2B76D43-02E0-4EC5-AA63-8C56325BF156}"/>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004372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17326-CF1B-499C-8B9F-5F1927E6909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EE45BAB-CAA8-4AC3-BDDF-7C436DC538C8}"/>
              </a:ext>
            </a:extLst>
          </p:cNvPr>
          <p:cNvSpPr>
            <a:spLocks noGrp="1"/>
          </p:cNvSpPr>
          <p:nvPr>
            <p:ph type="dt" sz="half" idx="10"/>
          </p:nvPr>
        </p:nvSpPr>
        <p:spPr/>
        <p:txBody>
          <a:bodyPr/>
          <a:lstStyle/>
          <a:p>
            <a:fld id="{D6FE7E06-79CA-4948-8009-C5BAAA988AD0}" type="datetimeFigureOut">
              <a:rPr lang="en-IN" smtClean="0"/>
              <a:t>20-04-2026</a:t>
            </a:fld>
            <a:endParaRPr lang="en-IN"/>
          </a:p>
        </p:txBody>
      </p:sp>
      <p:sp>
        <p:nvSpPr>
          <p:cNvPr id="4" name="Footer Placeholder 3">
            <a:extLst>
              <a:ext uri="{FF2B5EF4-FFF2-40B4-BE49-F238E27FC236}">
                <a16:creationId xmlns:a16="http://schemas.microsoft.com/office/drawing/2014/main" id="{332CF544-61DD-4F09-B6D7-67A699300B8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B958294-3C1C-4F63-9C5E-DD1D6E703601}"/>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31802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136457-3425-4CFA-92CF-2A286F2D4A6A}"/>
              </a:ext>
            </a:extLst>
          </p:cNvPr>
          <p:cNvSpPr>
            <a:spLocks noGrp="1"/>
          </p:cNvSpPr>
          <p:nvPr>
            <p:ph type="dt" sz="half" idx="10"/>
          </p:nvPr>
        </p:nvSpPr>
        <p:spPr/>
        <p:txBody>
          <a:bodyPr/>
          <a:lstStyle/>
          <a:p>
            <a:fld id="{D6FE7E06-79CA-4948-8009-C5BAAA988AD0}" type="datetimeFigureOut">
              <a:rPr lang="en-IN" smtClean="0"/>
              <a:t>20-04-2026</a:t>
            </a:fld>
            <a:endParaRPr lang="en-IN"/>
          </a:p>
        </p:txBody>
      </p:sp>
      <p:sp>
        <p:nvSpPr>
          <p:cNvPr id="3" name="Footer Placeholder 2">
            <a:extLst>
              <a:ext uri="{FF2B5EF4-FFF2-40B4-BE49-F238E27FC236}">
                <a16:creationId xmlns:a16="http://schemas.microsoft.com/office/drawing/2014/main" id="{9597BCE3-C3D5-41D4-AEBA-25E6B29B7C2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B758923-2415-409F-8349-E9FEC2B05A05}"/>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40283761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790AE-383D-495A-B54E-66E7D72675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9A4A5F1-07C2-42DD-8DE3-D03AC50EB9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8F7D3AA-403A-49AE-8E4E-15D16E277E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B0DD28-F5CB-46D6-BE31-32DE3E3401D8}"/>
              </a:ext>
            </a:extLst>
          </p:cNvPr>
          <p:cNvSpPr>
            <a:spLocks noGrp="1"/>
          </p:cNvSpPr>
          <p:nvPr>
            <p:ph type="dt" sz="half" idx="10"/>
          </p:nvPr>
        </p:nvSpPr>
        <p:spPr/>
        <p:txBody>
          <a:bodyPr/>
          <a:lstStyle/>
          <a:p>
            <a:fld id="{D6FE7E06-79CA-4948-8009-C5BAAA988AD0}" type="datetimeFigureOut">
              <a:rPr lang="en-IN" smtClean="0"/>
              <a:t>20-04-2026</a:t>
            </a:fld>
            <a:endParaRPr lang="en-IN"/>
          </a:p>
        </p:txBody>
      </p:sp>
      <p:sp>
        <p:nvSpPr>
          <p:cNvPr id="6" name="Footer Placeholder 5">
            <a:extLst>
              <a:ext uri="{FF2B5EF4-FFF2-40B4-BE49-F238E27FC236}">
                <a16:creationId xmlns:a16="http://schemas.microsoft.com/office/drawing/2014/main" id="{05FCB876-6E1E-4D5C-BBA6-66671E252A3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91C78CA-ABFB-40DE-8344-B588BDDB875D}"/>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8602778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846F7-2CFF-4127-A0E4-9CA20E67E9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D74EB2A-A292-4128-97D8-BFA093C8CD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DEF6526-000C-4C84-B2FA-7646132989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B93E7C-181E-45B4-8CCF-DFE2E5F65535}"/>
              </a:ext>
            </a:extLst>
          </p:cNvPr>
          <p:cNvSpPr>
            <a:spLocks noGrp="1"/>
          </p:cNvSpPr>
          <p:nvPr>
            <p:ph type="dt" sz="half" idx="10"/>
          </p:nvPr>
        </p:nvSpPr>
        <p:spPr/>
        <p:txBody>
          <a:bodyPr/>
          <a:lstStyle/>
          <a:p>
            <a:fld id="{D6FE7E06-79CA-4948-8009-C5BAAA988AD0}" type="datetimeFigureOut">
              <a:rPr lang="en-IN" smtClean="0"/>
              <a:t>20-04-2026</a:t>
            </a:fld>
            <a:endParaRPr lang="en-IN"/>
          </a:p>
        </p:txBody>
      </p:sp>
      <p:sp>
        <p:nvSpPr>
          <p:cNvPr id="6" name="Footer Placeholder 5">
            <a:extLst>
              <a:ext uri="{FF2B5EF4-FFF2-40B4-BE49-F238E27FC236}">
                <a16:creationId xmlns:a16="http://schemas.microsoft.com/office/drawing/2014/main" id="{2B7FF50B-C3A8-4E4A-9384-79959A130BA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A79BFE2-92B0-48A4-98B5-55F485BB9AEC}"/>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2418479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5E366-8D52-42B6-8DC8-74EB1D390F7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C5F1B5B-E156-45F3-B38C-3ACEEB57883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CAF018B-EF2B-43AD-AF6E-37ED5B5420E6}"/>
              </a:ext>
            </a:extLst>
          </p:cNvPr>
          <p:cNvSpPr>
            <a:spLocks noGrp="1"/>
          </p:cNvSpPr>
          <p:nvPr>
            <p:ph type="dt" sz="half" idx="10"/>
          </p:nvPr>
        </p:nvSpPr>
        <p:spPr/>
        <p:txBody>
          <a:bodyPr/>
          <a:lstStyle/>
          <a:p>
            <a:fld id="{D6FE7E06-79CA-4948-8009-C5BAAA988AD0}" type="datetimeFigureOut">
              <a:rPr lang="en-IN" smtClean="0"/>
              <a:t>20-04-2026</a:t>
            </a:fld>
            <a:endParaRPr lang="en-IN"/>
          </a:p>
        </p:txBody>
      </p:sp>
      <p:sp>
        <p:nvSpPr>
          <p:cNvPr id="5" name="Footer Placeholder 4">
            <a:extLst>
              <a:ext uri="{FF2B5EF4-FFF2-40B4-BE49-F238E27FC236}">
                <a16:creationId xmlns:a16="http://schemas.microsoft.com/office/drawing/2014/main" id="{A4CE5020-33BC-438D-AE2B-A8FAFACD4E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1DBF86-A9FC-4622-9940-C27B234622AF}"/>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5900004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9AC017-584B-41B4-ABC6-FC854AA8850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7EE36F7-2936-4623-A08C-EE2C114AB43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A2B394-CC83-49C3-A330-2997DE017B10}"/>
              </a:ext>
            </a:extLst>
          </p:cNvPr>
          <p:cNvSpPr>
            <a:spLocks noGrp="1"/>
          </p:cNvSpPr>
          <p:nvPr>
            <p:ph type="dt" sz="half" idx="10"/>
          </p:nvPr>
        </p:nvSpPr>
        <p:spPr/>
        <p:txBody>
          <a:bodyPr/>
          <a:lstStyle/>
          <a:p>
            <a:fld id="{D6FE7E06-79CA-4948-8009-C5BAAA988AD0}" type="datetimeFigureOut">
              <a:rPr lang="en-IN" smtClean="0"/>
              <a:t>20-04-2026</a:t>
            </a:fld>
            <a:endParaRPr lang="en-IN"/>
          </a:p>
        </p:txBody>
      </p:sp>
      <p:sp>
        <p:nvSpPr>
          <p:cNvPr id="5" name="Footer Placeholder 4">
            <a:extLst>
              <a:ext uri="{FF2B5EF4-FFF2-40B4-BE49-F238E27FC236}">
                <a16:creationId xmlns:a16="http://schemas.microsoft.com/office/drawing/2014/main" id="{5410327C-31C9-42F2-9AAB-D6410B88E6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D2D46E-8457-4CA5-B3A4-4A02D8756EEA}"/>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3455916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622E19-BB47-4253-8B0A-2302E95EC3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12880FA-FD6E-43D3-B07B-D84D7AFB85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BB2360E-FCC2-4F98-9AA1-CF50B2B059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FE7E06-79CA-4948-8009-C5BAAA988AD0}" type="datetimeFigureOut">
              <a:rPr lang="en-IN" smtClean="0"/>
              <a:t>20-04-2026</a:t>
            </a:fld>
            <a:endParaRPr lang="en-IN"/>
          </a:p>
        </p:txBody>
      </p:sp>
      <p:sp>
        <p:nvSpPr>
          <p:cNvPr id="5" name="Footer Placeholder 4">
            <a:extLst>
              <a:ext uri="{FF2B5EF4-FFF2-40B4-BE49-F238E27FC236}">
                <a16:creationId xmlns:a16="http://schemas.microsoft.com/office/drawing/2014/main" id="{4345772D-BFA1-42C1-928A-9198778526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DD8C82B-5DF4-4847-9FF4-5F8A632B92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941A85-03DF-41F8-80EC-AFB96AE601B6}" type="slidenum">
              <a:rPr lang="en-IN" smtClean="0"/>
              <a:t>‹#›</a:t>
            </a:fld>
            <a:endParaRPr lang="en-IN"/>
          </a:p>
        </p:txBody>
      </p:sp>
      <p:pic>
        <p:nvPicPr>
          <p:cNvPr id="7" name="Picture 6">
            <a:extLst>
              <a:ext uri="{FF2B5EF4-FFF2-40B4-BE49-F238E27FC236}">
                <a16:creationId xmlns:a16="http://schemas.microsoft.com/office/drawing/2014/main" id="{F775C86D-6AD8-4D5A-97D6-4F8037C90BDA}"/>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6199" y="-76200"/>
            <a:ext cx="1249218" cy="835151"/>
          </a:xfrm>
          <a:prstGeom prst="rect">
            <a:avLst/>
          </a:prstGeom>
        </p:spPr>
      </p:pic>
      <p:sp>
        <p:nvSpPr>
          <p:cNvPr id="8" name="Rectangle 7">
            <a:extLst>
              <a:ext uri="{FF2B5EF4-FFF2-40B4-BE49-F238E27FC236}">
                <a16:creationId xmlns:a16="http://schemas.microsoft.com/office/drawing/2014/main" id="{D0B7BB87-21E0-4FE6-8CF1-87F129F0BC20}"/>
              </a:ext>
            </a:extLst>
          </p:cNvPr>
          <p:cNvSpPr/>
          <p:nvPr userDrawn="1"/>
        </p:nvSpPr>
        <p:spPr>
          <a:xfrm>
            <a:off x="1173019" y="6550223"/>
            <a:ext cx="8293082"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1312567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en.wikipedia.org/wiki/Create,_read,_update_and_delete" TargetMode="External"/><Relationship Id="rId2" Type="http://schemas.openxmlformats.org/officeDocument/2006/relationships/hyperlink" Target="https://mongoosejs.com/docs/models.html" TargetMode="External"/><Relationship Id="rId1" Type="http://schemas.openxmlformats.org/officeDocument/2006/relationships/slideLayout" Target="../slideLayouts/slideLayout2.xml"/><Relationship Id="rId4" Type="http://schemas.openxmlformats.org/officeDocument/2006/relationships/hyperlink" Target="http://mongoosejs.com/docs/api.html#Query"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mongoosejs.com/" TargetMode="External"/><Relationship Id="rId2" Type="http://schemas.openxmlformats.org/officeDocument/2006/relationships/hyperlink" Target="http://expressjs.com/" TargetMode="External"/><Relationship Id="rId1" Type="http://schemas.openxmlformats.org/officeDocument/2006/relationships/slideLayout" Target="../slideLayouts/slideLayout2.xml"/><Relationship Id="rId4" Type="http://schemas.openxmlformats.org/officeDocument/2006/relationships/hyperlink" Target="https://www.npmjs.com/package/body-parser"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2838450" y="971550"/>
            <a:ext cx="6343650" cy="50292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3067050" y="3886201"/>
            <a:ext cx="2457450" cy="923330"/>
          </a:xfrm>
          <a:prstGeom prst="rect">
            <a:avLst/>
          </a:prstGeom>
          <a:noFill/>
        </p:spPr>
        <p:txBody>
          <a:bodyPr wrap="square" rtlCol="0">
            <a:spAutoFit/>
          </a:bodyPr>
          <a:lstStyle/>
          <a:p>
            <a:r>
              <a:rPr lang="en-IN" sz="1350" dirty="0" err="1"/>
              <a:t>Ketki</a:t>
            </a:r>
            <a:r>
              <a:rPr lang="en-IN" sz="1350" dirty="0"/>
              <a:t> Acharya</a:t>
            </a:r>
          </a:p>
          <a:p>
            <a:r>
              <a:rPr lang="en-IN" sz="1350" dirty="0"/>
              <a:t>From: SM VITA ATC of CDAC</a:t>
            </a:r>
          </a:p>
          <a:p>
            <a:r>
              <a:rPr lang="en-IN" sz="1350" dirty="0"/>
              <a:t>9769201036</a:t>
            </a:r>
          </a:p>
          <a:p>
            <a:r>
              <a:rPr lang="en-IN" sz="1350" dirty="0"/>
              <a:t>ketkiacharya.net@gmail.com</a:t>
            </a:r>
          </a:p>
        </p:txBody>
      </p:sp>
    </p:spTree>
    <p:extLst>
      <p:ext uri="{BB962C8B-B14F-4D97-AF65-F5344CB8AC3E}">
        <p14:creationId xmlns:p14="http://schemas.microsoft.com/office/powerpoint/2010/main" val="6297673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90859-04C9-4EE9-8253-038DD9F7C3F1}"/>
              </a:ext>
            </a:extLst>
          </p:cNvPr>
          <p:cNvSpPr>
            <a:spLocks noGrp="1"/>
          </p:cNvSpPr>
          <p:nvPr>
            <p:ph type="title"/>
          </p:nvPr>
        </p:nvSpPr>
        <p:spPr>
          <a:xfrm>
            <a:off x="2133600" y="249766"/>
            <a:ext cx="8940800" cy="862542"/>
          </a:xfrm>
        </p:spPr>
        <p:txBody>
          <a:bodyPr/>
          <a:lstStyle/>
          <a:p>
            <a:r>
              <a:rPr lang="en-US" b="1" i="0" dirty="0">
                <a:solidFill>
                  <a:srgbClr val="202124"/>
                </a:solidFill>
                <a:effectLst/>
                <a:latin typeface="arial" panose="020B0604020202020204" pitchFamily="34" charset="0"/>
              </a:rPr>
              <a:t>Mongoose/</a:t>
            </a:r>
            <a:r>
              <a:rPr lang="en-US" b="0" i="0" dirty="0">
                <a:solidFill>
                  <a:srgbClr val="202124"/>
                </a:solidFill>
                <a:effectLst/>
                <a:latin typeface="arial" panose="020B0604020202020204" pitchFamily="34" charset="0"/>
              </a:rPr>
              <a:t> ODM</a:t>
            </a:r>
            <a:endParaRPr lang="en-IN" dirty="0"/>
          </a:p>
        </p:txBody>
      </p:sp>
      <p:sp>
        <p:nvSpPr>
          <p:cNvPr id="3" name="Content Placeholder 2">
            <a:extLst>
              <a:ext uri="{FF2B5EF4-FFF2-40B4-BE49-F238E27FC236}">
                <a16:creationId xmlns:a16="http://schemas.microsoft.com/office/drawing/2014/main" id="{A18B90A3-7428-473A-B1B7-5951D38D4C45}"/>
              </a:ext>
            </a:extLst>
          </p:cNvPr>
          <p:cNvSpPr>
            <a:spLocks noGrp="1"/>
          </p:cNvSpPr>
          <p:nvPr>
            <p:ph idx="1"/>
          </p:nvPr>
        </p:nvSpPr>
        <p:spPr>
          <a:xfrm>
            <a:off x="491067" y="1253331"/>
            <a:ext cx="10515600" cy="4351338"/>
          </a:xfrm>
        </p:spPr>
        <p:txBody>
          <a:bodyPr>
            <a:normAutofit/>
          </a:bodyPr>
          <a:lstStyle/>
          <a:p>
            <a:r>
              <a:rPr lang="en-US" sz="2000" b="1" i="0" dirty="0">
                <a:solidFill>
                  <a:srgbClr val="202124"/>
                </a:solidFill>
                <a:effectLst/>
                <a:latin typeface="arial" panose="020B0604020202020204" pitchFamily="34" charset="0"/>
              </a:rPr>
              <a:t>Mongoose</a:t>
            </a:r>
            <a:r>
              <a:rPr lang="en-US" sz="2000" b="0" i="0" dirty="0">
                <a:solidFill>
                  <a:srgbClr val="202124"/>
                </a:solidFill>
                <a:effectLst/>
                <a:latin typeface="arial" panose="020B0604020202020204" pitchFamily="34" charset="0"/>
              </a:rPr>
              <a:t> is an Object Data Modeling (ODM) library for MongoDB and </a:t>
            </a:r>
            <a:r>
              <a:rPr lang="en-US" sz="2000" b="1" i="0" dirty="0">
                <a:solidFill>
                  <a:srgbClr val="202124"/>
                </a:solidFill>
                <a:effectLst/>
                <a:latin typeface="arial" panose="020B0604020202020204" pitchFamily="34" charset="0"/>
              </a:rPr>
              <a:t>Node</a:t>
            </a:r>
            <a:r>
              <a:rPr lang="en-US" sz="2000" b="0" i="0" dirty="0">
                <a:solidFill>
                  <a:srgbClr val="202124"/>
                </a:solidFill>
                <a:effectLst/>
                <a:latin typeface="arial" panose="020B0604020202020204" pitchFamily="34" charset="0"/>
              </a:rPr>
              <a:t>. </a:t>
            </a:r>
            <a:r>
              <a:rPr lang="en-US" sz="2000" b="1" i="0" dirty="0" err="1">
                <a:solidFill>
                  <a:srgbClr val="202124"/>
                </a:solidFill>
                <a:effectLst/>
                <a:latin typeface="arial" panose="020B0604020202020204" pitchFamily="34" charset="0"/>
              </a:rPr>
              <a:t>js</a:t>
            </a:r>
            <a:r>
              <a:rPr lang="en-US" sz="2000" b="0" i="0" dirty="0">
                <a:solidFill>
                  <a:srgbClr val="202124"/>
                </a:solidFill>
                <a:effectLst/>
                <a:latin typeface="arial" panose="020B0604020202020204" pitchFamily="34" charset="0"/>
              </a:rPr>
              <a:t>. It manages relationships between data, provides schema validation, and is used to translate between objects in code and the representation of those objects in MongoDB.</a:t>
            </a:r>
          </a:p>
          <a:p>
            <a:endParaRPr lang="en-US" sz="2000" b="0" i="0" dirty="0">
              <a:solidFill>
                <a:srgbClr val="202124"/>
              </a:solidFill>
              <a:effectLst/>
              <a:latin typeface="arial" panose="020B0604020202020204" pitchFamily="34" charset="0"/>
            </a:endParaRPr>
          </a:p>
          <a:p>
            <a:r>
              <a:rPr lang="en-US" sz="2000" b="1" i="0" dirty="0">
                <a:solidFill>
                  <a:srgbClr val="202124"/>
                </a:solidFill>
                <a:effectLst/>
                <a:latin typeface="arial" panose="020B0604020202020204" pitchFamily="34" charset="0"/>
              </a:rPr>
              <a:t>Mongoose</a:t>
            </a:r>
            <a:r>
              <a:rPr lang="en-US" sz="2000" b="0" i="0" dirty="0">
                <a:solidFill>
                  <a:srgbClr val="202124"/>
                </a:solidFill>
                <a:effectLst/>
                <a:latin typeface="arial" panose="020B0604020202020204" pitchFamily="34" charset="0"/>
              </a:rPr>
              <a:t> is a JavaScript library that allows you to define schemas with strongly typed data. Once a schema is defined, </a:t>
            </a:r>
            <a:r>
              <a:rPr lang="en-US" sz="2000" b="1" i="0" dirty="0">
                <a:solidFill>
                  <a:srgbClr val="202124"/>
                </a:solidFill>
                <a:effectLst/>
                <a:latin typeface="arial" panose="020B0604020202020204" pitchFamily="34" charset="0"/>
              </a:rPr>
              <a:t>Mongoose</a:t>
            </a:r>
            <a:r>
              <a:rPr lang="en-US" sz="2000" b="0" i="0" dirty="0">
                <a:solidFill>
                  <a:srgbClr val="202124"/>
                </a:solidFill>
                <a:effectLst/>
                <a:latin typeface="arial" panose="020B0604020202020204" pitchFamily="34" charset="0"/>
              </a:rPr>
              <a:t> lets you create a </a:t>
            </a:r>
            <a:r>
              <a:rPr lang="en-US" sz="2000" b="0" i="0" dirty="0">
                <a:solidFill>
                  <a:srgbClr val="202124"/>
                </a:solidFill>
                <a:effectLst/>
                <a:highlight>
                  <a:srgbClr val="FFFF00"/>
                </a:highlight>
                <a:latin typeface="arial" panose="020B0604020202020204" pitchFamily="34" charset="0"/>
              </a:rPr>
              <a:t>Model </a:t>
            </a:r>
            <a:r>
              <a:rPr lang="en-US" sz="2000" b="0" i="0" dirty="0">
                <a:solidFill>
                  <a:srgbClr val="202124"/>
                </a:solidFill>
                <a:effectLst/>
                <a:latin typeface="arial" panose="020B0604020202020204" pitchFamily="34" charset="0"/>
              </a:rPr>
              <a:t>based on a specific </a:t>
            </a:r>
            <a:r>
              <a:rPr lang="en-US" sz="2000" b="0" i="0" dirty="0">
                <a:solidFill>
                  <a:srgbClr val="202124"/>
                </a:solidFill>
                <a:effectLst/>
                <a:highlight>
                  <a:srgbClr val="FFFF00"/>
                </a:highlight>
                <a:latin typeface="arial" panose="020B0604020202020204" pitchFamily="34" charset="0"/>
              </a:rPr>
              <a:t>schema</a:t>
            </a:r>
            <a:r>
              <a:rPr lang="en-US" sz="2000" b="0" i="0" dirty="0">
                <a:solidFill>
                  <a:srgbClr val="202124"/>
                </a:solidFill>
                <a:effectLst/>
                <a:latin typeface="arial" panose="020B0604020202020204" pitchFamily="34" charset="0"/>
              </a:rPr>
              <a:t>. A </a:t>
            </a:r>
            <a:r>
              <a:rPr lang="en-US" sz="2000" b="1" i="0" dirty="0">
                <a:solidFill>
                  <a:srgbClr val="202124"/>
                </a:solidFill>
                <a:effectLst/>
                <a:latin typeface="arial" panose="020B0604020202020204" pitchFamily="34" charset="0"/>
              </a:rPr>
              <a:t>Mongoose</a:t>
            </a:r>
            <a:r>
              <a:rPr lang="en-US" sz="2000" b="0" i="0" dirty="0">
                <a:solidFill>
                  <a:srgbClr val="202124"/>
                </a:solidFill>
                <a:effectLst/>
                <a:latin typeface="arial" panose="020B0604020202020204" pitchFamily="34" charset="0"/>
              </a:rPr>
              <a:t> Model is then mapped to a MongoDB Document via the Model's schema definition</a:t>
            </a:r>
            <a:endParaRPr lang="en-IN" sz="2000" dirty="0"/>
          </a:p>
        </p:txBody>
      </p:sp>
    </p:spTree>
    <p:extLst>
      <p:ext uri="{BB962C8B-B14F-4D97-AF65-F5344CB8AC3E}">
        <p14:creationId xmlns:p14="http://schemas.microsoft.com/office/powerpoint/2010/main" val="4212045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BDAA1B09-6C35-46A2-BC0B-F1BF8B725F14}"/>
              </a:ext>
            </a:extLst>
          </p:cNvPr>
          <p:cNvSpPr>
            <a:spLocks noGrp="1" noChangeArrowheads="1"/>
          </p:cNvSpPr>
          <p:nvPr>
            <p:ph idx="1"/>
          </p:nvPr>
        </p:nvSpPr>
        <p:spPr bwMode="auto">
          <a:xfrm>
            <a:off x="1083734" y="0"/>
            <a:ext cx="11108266" cy="523220"/>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Open Sans"/>
              </a:rPr>
              <a:t>Mongoose </a:t>
            </a:r>
            <a:r>
              <a:rPr kumimoji="0" lang="en-US" altLang="en-US" sz="1400" b="0" i="0" u="none" strike="noStrike" cap="none" normalizeH="0" baseline="0" dirty="0">
                <a:ln>
                  <a:noFill/>
                </a:ln>
                <a:solidFill>
                  <a:srgbClr val="0971B2"/>
                </a:solidFill>
                <a:effectLst/>
                <a:latin typeface="Open Sans"/>
                <a:hlinkClick r:id="rId2"/>
              </a:rPr>
              <a:t>models</a:t>
            </a:r>
            <a:r>
              <a:rPr kumimoji="0" lang="en-US" altLang="en-US" sz="1400" b="0" i="0" u="none" strike="noStrike" cap="none" normalizeH="0" baseline="0" dirty="0">
                <a:ln>
                  <a:noFill/>
                </a:ln>
                <a:solidFill>
                  <a:srgbClr val="000000"/>
                </a:solidFill>
                <a:effectLst/>
                <a:latin typeface="Open Sans"/>
              </a:rPr>
              <a:t> provide several static helper functions for </a:t>
            </a:r>
            <a:r>
              <a:rPr kumimoji="0" lang="en-US" altLang="en-US" sz="1400" b="0" i="0" u="none" strike="noStrike" cap="none" normalizeH="0" baseline="0" dirty="0">
                <a:ln>
                  <a:noFill/>
                </a:ln>
                <a:solidFill>
                  <a:srgbClr val="0971B2"/>
                </a:solidFill>
                <a:effectLst/>
                <a:latin typeface="Open Sans"/>
                <a:hlinkClick r:id="rId3"/>
              </a:rPr>
              <a:t>CRUD operations</a:t>
            </a:r>
            <a:r>
              <a:rPr kumimoji="0" lang="en-US" altLang="en-US" sz="1400" b="0" i="0" u="none" strike="noStrike" cap="none" normalizeH="0" baseline="0" dirty="0">
                <a:ln>
                  <a:noFill/>
                </a:ln>
                <a:solidFill>
                  <a:srgbClr val="000000"/>
                </a:solidFill>
                <a:effectLst/>
                <a:latin typeface="Open Sans"/>
              </a:rPr>
              <a:t>. Each of these functions returns a </a:t>
            </a:r>
            <a:r>
              <a:rPr kumimoji="0" lang="en-US" altLang="en-US" sz="1400" b="0" i="0" u="none" strike="noStrike" cap="none" normalizeH="0" baseline="0" dirty="0">
                <a:ln>
                  <a:noFill/>
                </a:ln>
                <a:solidFill>
                  <a:srgbClr val="0971B2"/>
                </a:solidFill>
                <a:effectLst/>
                <a:latin typeface="Open Sans"/>
                <a:hlinkClick r:id="rId4"/>
              </a:rPr>
              <a:t>mongoose </a:t>
            </a:r>
            <a:r>
              <a:rPr kumimoji="0" lang="en-US" altLang="en-US" sz="1400" b="0" i="0" u="none" strike="noStrike" cap="none" normalizeH="0" baseline="0" dirty="0">
                <a:ln>
                  <a:noFill/>
                </a:ln>
                <a:solidFill>
                  <a:srgbClr val="880000"/>
                </a:solidFill>
                <a:effectLst/>
                <a:latin typeface="Courier New" panose="02070309020205020404" pitchFamily="49" charset="0"/>
                <a:cs typeface="Courier New" panose="02070309020205020404" pitchFamily="49" charset="0"/>
                <a:hlinkClick r:id="rId4"/>
              </a:rPr>
              <a:t>Query</a:t>
            </a:r>
            <a:r>
              <a:rPr kumimoji="0" lang="en-US" altLang="en-US" sz="1400" b="0" i="0" u="none" strike="noStrike" cap="none" normalizeH="0" baseline="0" dirty="0">
                <a:ln>
                  <a:noFill/>
                </a:ln>
                <a:solidFill>
                  <a:srgbClr val="0971B2"/>
                </a:solidFill>
                <a:effectLst/>
                <a:latin typeface="Open Sans"/>
                <a:hlinkClick r:id="rId4"/>
              </a:rPr>
              <a:t> object</a:t>
            </a:r>
            <a:r>
              <a:rPr kumimoji="0" lang="en-US" altLang="en-US" sz="1400" b="0" i="0" u="none" strike="noStrike" cap="none" normalizeH="0" baseline="0" dirty="0">
                <a:ln>
                  <a:noFill/>
                </a:ln>
                <a:solidFill>
                  <a:srgbClr val="000000"/>
                </a:solidFill>
                <a:effectLst/>
                <a:latin typeface="Open Sans"/>
              </a:rPr>
              <a:t>.</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435C48B7-D186-CA5A-7E5C-B33EA6420216}"/>
              </a:ext>
            </a:extLst>
          </p:cNvPr>
          <p:cNvSpPr txBox="1"/>
          <p:nvPr/>
        </p:nvSpPr>
        <p:spPr>
          <a:xfrm>
            <a:off x="67733" y="416931"/>
            <a:ext cx="12056534" cy="6285695"/>
          </a:xfrm>
          <a:prstGeom prst="rect">
            <a:avLst/>
          </a:prstGeom>
          <a:noFill/>
        </p:spPr>
        <p:txBody>
          <a:bodyPr wrap="square">
            <a:spAutoFit/>
          </a:bodyPr>
          <a:lstStyle/>
          <a:p>
            <a:pPr>
              <a:lnSpc>
                <a:spcPct val="150000"/>
              </a:lnSpc>
            </a:pPr>
            <a:r>
              <a:rPr lang="en-IN" dirty="0" err="1"/>
              <a:t>Model.</a:t>
            </a:r>
            <a:r>
              <a:rPr lang="en-IN" b="1" dirty="0" err="1"/>
              <a:t>deleteMany</a:t>
            </a:r>
            <a:r>
              <a:rPr lang="en-IN" dirty="0"/>
              <a:t>({ age: { $</a:t>
            </a:r>
            <a:r>
              <a:rPr lang="en-IN" dirty="0" err="1"/>
              <a:t>lt</a:t>
            </a:r>
            <a:r>
              <a:rPr lang="en-IN" dirty="0"/>
              <a:t>: 18 } })         		 → Deletes all documents matching the filter.</a:t>
            </a:r>
          </a:p>
          <a:p>
            <a:pPr>
              <a:lnSpc>
                <a:spcPct val="150000"/>
              </a:lnSpc>
            </a:pPr>
            <a:r>
              <a:rPr lang="en-IN" dirty="0" err="1"/>
              <a:t>Model.</a:t>
            </a:r>
            <a:r>
              <a:rPr lang="en-IN" b="1" dirty="0" err="1"/>
              <a:t>deleteOne</a:t>
            </a:r>
            <a:r>
              <a:rPr lang="en-IN" dirty="0"/>
              <a:t>({ username: 'sriram' })   		 → Deletes the first document matching the filter.</a:t>
            </a:r>
          </a:p>
          <a:p>
            <a:pPr>
              <a:lnSpc>
                <a:spcPct val="150000"/>
              </a:lnSpc>
            </a:pPr>
            <a:r>
              <a:rPr lang="en-IN" dirty="0" err="1"/>
              <a:t>Model.</a:t>
            </a:r>
            <a:r>
              <a:rPr lang="en-IN" b="1" dirty="0" err="1"/>
              <a:t>find</a:t>
            </a:r>
            <a:r>
              <a:rPr lang="en-IN" dirty="0"/>
              <a:t>({ active: true })                    			→ Retrieves all documents matching the filter as an array. </a:t>
            </a:r>
            <a:r>
              <a:rPr lang="en-IN" dirty="0" err="1"/>
              <a:t>Model.</a:t>
            </a:r>
            <a:r>
              <a:rPr lang="en-IN" b="1" dirty="0" err="1"/>
              <a:t>findById</a:t>
            </a:r>
            <a:r>
              <a:rPr lang="en-IN" dirty="0"/>
              <a:t>('605c72ef2f1b2c001f6478a9')   	  	 → Finds a single document by its _id. </a:t>
            </a:r>
            <a:r>
              <a:rPr lang="en-IN" dirty="0" err="1"/>
              <a:t>Model.</a:t>
            </a:r>
            <a:r>
              <a:rPr lang="en-IN" b="1" dirty="0" err="1"/>
              <a:t>findByIdAndDelete</a:t>
            </a:r>
            <a:r>
              <a:rPr lang="en-IN" dirty="0"/>
              <a:t>('605c72ef2f1b2c001f6478a9')   	  → Finds a document by _id and deletes it. </a:t>
            </a:r>
            <a:r>
              <a:rPr lang="en-IN" dirty="0" err="1"/>
              <a:t>Model.</a:t>
            </a:r>
            <a:r>
              <a:rPr lang="en-IN" b="1" dirty="0" err="1"/>
              <a:t>findByIdAndUpdate</a:t>
            </a:r>
            <a:r>
              <a:rPr lang="en-IN" dirty="0"/>
              <a:t>('605c72ef2f1b2c001f6478a9', { age: 30 })     → Finds a document by _id and updates it. </a:t>
            </a:r>
            <a:r>
              <a:rPr lang="en-IN" dirty="0" err="1"/>
              <a:t>Model.</a:t>
            </a:r>
            <a:r>
              <a:rPr lang="en-IN" b="1" dirty="0" err="1"/>
              <a:t>findOne</a:t>
            </a:r>
            <a:r>
              <a:rPr lang="en-IN" dirty="0"/>
              <a:t>({ email: 'abc@example.com' })   		  → Finds the first document matching the filter. </a:t>
            </a:r>
            <a:r>
              <a:rPr lang="en-IN" dirty="0" err="1"/>
              <a:t>Model.</a:t>
            </a:r>
            <a:r>
              <a:rPr lang="en-IN" b="1" dirty="0" err="1"/>
              <a:t>findOneAndDelete</a:t>
            </a:r>
            <a:r>
              <a:rPr lang="en-IN" dirty="0"/>
              <a:t>({ username: 'guest' })   	 	 → Finds one document matching the filter and deletes it. </a:t>
            </a:r>
            <a:r>
              <a:rPr lang="en-IN" dirty="0" err="1"/>
              <a:t>Model.</a:t>
            </a:r>
            <a:r>
              <a:rPr lang="en-IN" b="1" dirty="0" err="1"/>
              <a:t>findOneAndReplace</a:t>
            </a:r>
            <a:r>
              <a:rPr lang="en-IN" dirty="0"/>
              <a:t>({ username: 'guest' }, { username: '</a:t>
            </a:r>
            <a:r>
              <a:rPr lang="en-IN" dirty="0" err="1"/>
              <a:t>newUser</a:t>
            </a:r>
            <a:r>
              <a:rPr lang="en-IN" dirty="0"/>
              <a:t>', age: 25 })     → Finds one document matching the filter and replaces it entirely.</a:t>
            </a:r>
          </a:p>
          <a:p>
            <a:pPr>
              <a:lnSpc>
                <a:spcPct val="150000"/>
              </a:lnSpc>
            </a:pPr>
            <a:r>
              <a:rPr lang="en-IN" dirty="0" err="1"/>
              <a:t>Model.</a:t>
            </a:r>
            <a:r>
              <a:rPr lang="en-IN" b="1" dirty="0" err="1"/>
              <a:t>findOneAndUpdate</a:t>
            </a:r>
            <a:r>
              <a:rPr lang="en-IN" dirty="0"/>
              <a:t>({ email: 'abc@example.com' }, { active: false }) → </a:t>
            </a:r>
            <a:r>
              <a:rPr lang="en-IN" sz="1600" dirty="0"/>
              <a:t>Finds one document matching the filter and updates it.</a:t>
            </a:r>
            <a:endParaRPr lang="en-IN" dirty="0"/>
          </a:p>
          <a:p>
            <a:pPr>
              <a:lnSpc>
                <a:spcPct val="150000"/>
              </a:lnSpc>
            </a:pPr>
            <a:r>
              <a:rPr lang="en-IN" dirty="0" err="1"/>
              <a:t>Model.</a:t>
            </a:r>
            <a:r>
              <a:rPr lang="en-IN" b="1" dirty="0" err="1"/>
              <a:t>replaceOne</a:t>
            </a:r>
            <a:r>
              <a:rPr lang="en-IN" dirty="0"/>
              <a:t>({ username: '</a:t>
            </a:r>
            <a:r>
              <a:rPr lang="en-IN" dirty="0" err="1"/>
              <a:t>oldUser</a:t>
            </a:r>
            <a:r>
              <a:rPr lang="en-IN" dirty="0"/>
              <a:t>' }, { username: '</a:t>
            </a:r>
            <a:r>
              <a:rPr lang="en-IN" dirty="0" err="1"/>
              <a:t>newUser</a:t>
            </a:r>
            <a:r>
              <a:rPr lang="en-IN" dirty="0"/>
              <a:t>', age: 25 })     → Replaces the first document matching the filter with a new one. </a:t>
            </a:r>
          </a:p>
          <a:p>
            <a:pPr>
              <a:lnSpc>
                <a:spcPct val="150000"/>
              </a:lnSpc>
            </a:pPr>
            <a:r>
              <a:rPr lang="en-IN" dirty="0" err="1"/>
              <a:t>Model.</a:t>
            </a:r>
            <a:r>
              <a:rPr lang="en-IN" b="1" dirty="0" err="1"/>
              <a:t>updateMany</a:t>
            </a:r>
            <a:r>
              <a:rPr lang="en-IN" dirty="0"/>
              <a:t>({ active: false }, { active: true })     → Updates all documents matching the filter. </a:t>
            </a:r>
          </a:p>
          <a:p>
            <a:pPr>
              <a:lnSpc>
                <a:spcPct val="150000"/>
              </a:lnSpc>
            </a:pPr>
            <a:r>
              <a:rPr lang="en-IN" dirty="0" err="1"/>
              <a:t>Model.</a:t>
            </a:r>
            <a:r>
              <a:rPr lang="en-IN" b="1" dirty="0" err="1"/>
              <a:t>updateOne</a:t>
            </a:r>
            <a:r>
              <a:rPr lang="en-IN" dirty="0"/>
              <a:t>({ username: 'sriram' }, { age: 35 })    		 → Updates the first document matching the filter.</a:t>
            </a:r>
          </a:p>
        </p:txBody>
      </p:sp>
    </p:spTree>
    <p:extLst>
      <p:ext uri="{BB962C8B-B14F-4D97-AF65-F5344CB8AC3E}">
        <p14:creationId xmlns:p14="http://schemas.microsoft.com/office/powerpoint/2010/main" val="28628055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B891A03A-49D8-4EF8-8143-B2E241BBF3A1}"/>
              </a:ext>
            </a:extLst>
          </p:cNvPr>
          <p:cNvSpPr>
            <a:spLocks noGrp="1" noChangeArrowheads="1"/>
          </p:cNvSpPr>
          <p:nvPr>
            <p:ph idx="1"/>
          </p:nvPr>
        </p:nvSpPr>
        <p:spPr bwMode="auto">
          <a:xfrm>
            <a:off x="995844" y="56469"/>
            <a:ext cx="11046544" cy="206719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2696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3A3A3A"/>
                </a:solidFill>
                <a:effectLst/>
                <a:latin typeface="roboto"/>
              </a:rPr>
              <a:t>To start things off, let’s go ahead and create a fresh Node.js project with the appropriate dependencies. From the command line, execute the following: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a:ln>
                  <a:noFill/>
                </a:ln>
                <a:effectLst/>
                <a:highlight>
                  <a:srgbClr val="FFFF00"/>
                </a:highlight>
                <a:latin typeface="Menlo"/>
              </a:rPr>
              <a:t>npm</a:t>
            </a:r>
            <a:r>
              <a:rPr kumimoji="0" lang="en-US" altLang="en-US" sz="1800" b="0" i="0" u="none" strike="noStrike" cap="none" normalizeH="0" baseline="0" dirty="0">
                <a:ln>
                  <a:noFill/>
                </a:ln>
                <a:effectLst/>
                <a:highlight>
                  <a:srgbClr val="FFFF00"/>
                </a:highlight>
                <a:latin typeface="Menlo"/>
              </a:rPr>
              <a:t> </a:t>
            </a:r>
            <a:r>
              <a:rPr kumimoji="0" lang="en-US" altLang="en-US" sz="1800" b="0" i="0" u="none" strike="noStrike" cap="none" normalizeH="0" baseline="0" dirty="0" err="1">
                <a:ln>
                  <a:noFill/>
                </a:ln>
                <a:effectLst/>
                <a:highlight>
                  <a:srgbClr val="FFFF00"/>
                </a:highlight>
                <a:latin typeface="Menlo"/>
              </a:rPr>
              <a:t>init</a:t>
            </a:r>
            <a:r>
              <a:rPr kumimoji="0" lang="en-US" altLang="en-US" sz="1800" b="0" i="0" u="none" strike="noStrike" cap="none" normalizeH="0" baseline="0" dirty="0">
                <a:ln>
                  <a:noFill/>
                </a:ln>
                <a:effectLst/>
                <a:highlight>
                  <a:srgbClr val="FFFF00"/>
                </a:highlight>
                <a:latin typeface="Menlo"/>
              </a:rPr>
              <a:t> </a:t>
            </a:r>
          </a:p>
          <a:p>
            <a:pPr marL="0" lvl="0" indent="0">
              <a:lnSpc>
                <a:spcPct val="100000"/>
              </a:lnSpc>
              <a:buNone/>
            </a:pPr>
            <a:r>
              <a:rPr kumimoji="0" lang="en-US" altLang="en-US" sz="1800" b="0" i="0" u="none" strike="noStrike" cap="none" normalizeH="0" baseline="0" dirty="0" err="1">
                <a:ln>
                  <a:noFill/>
                </a:ln>
                <a:effectLst/>
                <a:highlight>
                  <a:srgbClr val="FFFF00"/>
                </a:highlight>
                <a:latin typeface="Menlo"/>
              </a:rPr>
              <a:t>npm</a:t>
            </a:r>
            <a:r>
              <a:rPr kumimoji="0" lang="en-US" altLang="en-US" sz="1800" b="0" i="0" u="none" strike="noStrike" cap="none" normalizeH="0" baseline="0" dirty="0">
                <a:ln>
                  <a:noFill/>
                </a:ln>
                <a:effectLst/>
                <a:highlight>
                  <a:srgbClr val="FFFF00"/>
                </a:highlight>
                <a:latin typeface="Menlo"/>
              </a:rPr>
              <a:t> install express body-parser mongoose --save   </a:t>
            </a:r>
            <a:r>
              <a:rPr lang="en-US" sz="1800" dirty="0" err="1">
                <a:solidFill>
                  <a:srgbClr val="ABB2BF"/>
                </a:solidFill>
                <a:highlight>
                  <a:srgbClr val="FFFF00"/>
                </a:highlight>
                <a:latin typeface="ui-monospace"/>
              </a:rPr>
              <a:t>npm</a:t>
            </a:r>
            <a:r>
              <a:rPr lang="en-US" sz="1800" dirty="0">
                <a:solidFill>
                  <a:srgbClr val="ABB2BF"/>
                </a:solidFill>
                <a:highlight>
                  <a:srgbClr val="FFFF00"/>
                </a:highlight>
                <a:latin typeface="ui-monospace"/>
              </a:rPr>
              <a:t> </a:t>
            </a:r>
            <a:r>
              <a:rPr lang="en-US" sz="1800" dirty="0" err="1">
                <a:solidFill>
                  <a:srgbClr val="ABB2BF"/>
                </a:solidFill>
                <a:highlight>
                  <a:srgbClr val="FFFF00"/>
                </a:highlight>
                <a:latin typeface="ui-monospace"/>
              </a:rPr>
              <a:t>i</a:t>
            </a:r>
            <a:r>
              <a:rPr lang="en-US" sz="1800" dirty="0">
                <a:solidFill>
                  <a:srgbClr val="ABB2BF"/>
                </a:solidFill>
                <a:highlight>
                  <a:srgbClr val="FFFF00"/>
                </a:highlight>
                <a:latin typeface="ui-monospace"/>
              </a:rPr>
              <a:t> --save </a:t>
            </a:r>
            <a:r>
              <a:rPr lang="en-US" sz="1800" dirty="0" err="1">
                <a:solidFill>
                  <a:srgbClr val="ABB2BF"/>
                </a:solidFill>
                <a:highlight>
                  <a:srgbClr val="FFFF00"/>
                </a:highlight>
                <a:latin typeface="ui-monospace"/>
              </a:rPr>
              <a:t>cors</a:t>
            </a:r>
            <a:endParaRPr kumimoji="0" lang="en-US" altLang="en-US" sz="1800" b="0" i="0" u="none" strike="noStrike" cap="none" normalizeH="0" baseline="0" dirty="0">
              <a:ln>
                <a:noFill/>
              </a:ln>
              <a:effectLst/>
              <a:highlight>
                <a:srgbClr val="FFFF00"/>
              </a:highligh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3A3A3A"/>
                </a:solidFill>
                <a:effectLst/>
                <a:latin typeface="roboto"/>
              </a:rPr>
              <a:t>The above commands will create a new </a:t>
            </a:r>
            <a:r>
              <a:rPr kumimoji="0" lang="en-US" altLang="en-US" sz="1800" b="1" i="0" u="none" strike="noStrike" cap="none" normalizeH="0" baseline="0" dirty="0" err="1">
                <a:ln>
                  <a:noFill/>
                </a:ln>
                <a:solidFill>
                  <a:srgbClr val="3A3A3A"/>
                </a:solidFill>
                <a:effectLst/>
                <a:latin typeface="roboto"/>
              </a:rPr>
              <a:t>package.json</a:t>
            </a:r>
            <a:r>
              <a:rPr kumimoji="0" lang="en-US" altLang="en-US" sz="1800" b="0" i="0" u="none" strike="noStrike" cap="none" normalizeH="0" baseline="0" dirty="0">
                <a:ln>
                  <a:noFill/>
                </a:ln>
                <a:solidFill>
                  <a:srgbClr val="3A3A3A"/>
                </a:solidFill>
                <a:effectLst/>
                <a:latin typeface="roboto"/>
              </a:rPr>
              <a:t> file and install </a:t>
            </a:r>
            <a:r>
              <a:rPr kumimoji="0" lang="en-US" altLang="en-US" sz="1800" b="0" i="0" u="none" strike="noStrike" cap="none" normalizeH="0" baseline="0" dirty="0">
                <a:ln>
                  <a:noFill/>
                </a:ln>
                <a:solidFill>
                  <a:srgbClr val="337AB7"/>
                </a:solidFill>
                <a:effectLst/>
                <a:latin typeface="roboto"/>
                <a:hlinkClick r:id="rId2"/>
              </a:rPr>
              <a:t>Express.js</a:t>
            </a:r>
            <a:r>
              <a:rPr kumimoji="0" lang="en-US" altLang="en-US" sz="1800" b="0" i="0" u="none" strike="noStrike" cap="none" normalizeH="0" baseline="0" dirty="0">
                <a:ln>
                  <a:noFill/>
                </a:ln>
                <a:solidFill>
                  <a:srgbClr val="3A3A3A"/>
                </a:solidFill>
                <a:effectLst/>
                <a:latin typeface="roboto"/>
              </a:rPr>
              <a:t>, </a:t>
            </a:r>
            <a:r>
              <a:rPr kumimoji="0" lang="en-US" altLang="en-US" sz="1800" b="0" i="0" u="none" strike="noStrike" cap="none" normalizeH="0" baseline="0" dirty="0">
                <a:ln>
                  <a:noFill/>
                </a:ln>
                <a:solidFill>
                  <a:srgbClr val="337AB7"/>
                </a:solidFill>
                <a:effectLst/>
                <a:latin typeface="roboto"/>
                <a:hlinkClick r:id="rId3"/>
              </a:rPr>
              <a:t>Mongoose</a:t>
            </a:r>
            <a:r>
              <a:rPr kumimoji="0" lang="en-US" altLang="en-US" sz="1800" b="0" i="0" u="none" strike="noStrike" cap="none" normalizeH="0" baseline="0" dirty="0">
                <a:ln>
                  <a:noFill/>
                </a:ln>
                <a:solidFill>
                  <a:srgbClr val="3A3A3A"/>
                </a:solidFill>
                <a:effectLst/>
                <a:latin typeface="roboto"/>
              </a:rPr>
              <a:t>, and a package that will allow us to pass JSON data around in our requests.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71B24782-24C3-4B54-BE3A-9504357FC6A5}"/>
              </a:ext>
            </a:extLst>
          </p:cNvPr>
          <p:cNvSpPr txBox="1"/>
          <p:nvPr/>
        </p:nvSpPr>
        <p:spPr>
          <a:xfrm>
            <a:off x="0" y="1852925"/>
            <a:ext cx="11530781" cy="646331"/>
          </a:xfrm>
          <a:prstGeom prst="rect">
            <a:avLst/>
          </a:prstGeom>
          <a:noFill/>
        </p:spPr>
        <p:txBody>
          <a:bodyPr wrap="square">
            <a:spAutoFit/>
          </a:bodyPr>
          <a:lstStyle/>
          <a:p>
            <a:r>
              <a:rPr lang="en-US" b="0" i="0" dirty="0">
                <a:solidFill>
                  <a:srgbClr val="3A3A3A"/>
                </a:solidFill>
                <a:effectLst/>
                <a:latin typeface="roboto"/>
              </a:rPr>
              <a:t>For simplicity, we’re going to keep all of our code within a single JavaScript file. Create an </a:t>
            </a:r>
            <a:r>
              <a:rPr lang="en-US" b="1" i="0" dirty="0">
                <a:solidFill>
                  <a:srgbClr val="3A3A3A"/>
                </a:solidFill>
                <a:effectLst/>
                <a:latin typeface="roboto"/>
              </a:rPr>
              <a:t>app.js</a:t>
            </a:r>
            <a:r>
              <a:rPr lang="en-US" b="0" i="0" dirty="0">
                <a:solidFill>
                  <a:srgbClr val="3A3A3A"/>
                </a:solidFill>
                <a:effectLst/>
                <a:latin typeface="roboto"/>
              </a:rPr>
              <a:t> file at the root of your project and include the following boilerplate code:</a:t>
            </a:r>
            <a:endParaRPr lang="en-IN" dirty="0"/>
          </a:p>
        </p:txBody>
      </p:sp>
      <p:sp>
        <p:nvSpPr>
          <p:cNvPr id="10" name="TextBox 9">
            <a:extLst>
              <a:ext uri="{FF2B5EF4-FFF2-40B4-BE49-F238E27FC236}">
                <a16:creationId xmlns:a16="http://schemas.microsoft.com/office/drawing/2014/main" id="{9B9A24EE-F6F6-40A5-BC76-2750EBF15E15}"/>
              </a:ext>
            </a:extLst>
          </p:cNvPr>
          <p:cNvSpPr txBox="1"/>
          <p:nvPr/>
        </p:nvSpPr>
        <p:spPr>
          <a:xfrm>
            <a:off x="127000" y="3522133"/>
            <a:ext cx="12065000" cy="286232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l"/>
            <a:r>
              <a:rPr lang="en-US" b="0" i="0" dirty="0">
                <a:solidFill>
                  <a:srgbClr val="3A3A3A"/>
                </a:solidFill>
                <a:effectLst/>
                <a:latin typeface="roboto"/>
              </a:rPr>
              <a:t>In the above code we are doing a few things.</a:t>
            </a:r>
          </a:p>
          <a:p>
            <a:pPr algn="l"/>
            <a:r>
              <a:rPr lang="en-US" b="0" i="0" dirty="0">
                <a:solidFill>
                  <a:srgbClr val="3A3A3A"/>
                </a:solidFill>
                <a:effectLst/>
                <a:latin typeface="roboto"/>
              </a:rPr>
              <a:t> First we are importing each of the dependencies that we had previously downloaded when creating our project.</a:t>
            </a:r>
          </a:p>
          <a:p>
            <a:pPr algn="l"/>
            <a:endParaRPr lang="en-US" dirty="0">
              <a:solidFill>
                <a:srgbClr val="3A3A3A"/>
              </a:solidFill>
              <a:latin typeface="roboto"/>
            </a:endParaRPr>
          </a:p>
          <a:p>
            <a:pPr algn="l"/>
            <a:r>
              <a:rPr lang="en-US" b="0" i="0" dirty="0">
                <a:solidFill>
                  <a:srgbClr val="3A3A3A"/>
                </a:solidFill>
                <a:effectLst/>
                <a:latin typeface="roboto"/>
              </a:rPr>
              <a:t>Next we are initializing Express Framework and configuring the </a:t>
            </a:r>
            <a:r>
              <a:rPr lang="en-US" b="0" i="0" u="none" strike="noStrike" dirty="0">
                <a:solidFill>
                  <a:srgbClr val="337AB7"/>
                </a:solidFill>
                <a:effectLst/>
                <a:latin typeface="roboto"/>
                <a:hlinkClick r:id="rId4"/>
              </a:rPr>
              <a:t>body-parser</a:t>
            </a:r>
            <a:r>
              <a:rPr lang="en-US" b="0" i="0" dirty="0">
                <a:solidFill>
                  <a:srgbClr val="3A3A3A"/>
                </a:solidFill>
                <a:effectLst/>
                <a:latin typeface="roboto"/>
              </a:rPr>
              <a:t> package so we can receive JSON data in our payloads.</a:t>
            </a:r>
          </a:p>
          <a:p>
            <a:pPr algn="l"/>
            <a:endParaRPr lang="en-US" b="0" i="0" dirty="0">
              <a:solidFill>
                <a:srgbClr val="3A3A3A"/>
              </a:solidFill>
              <a:effectLst/>
              <a:latin typeface="roboto"/>
            </a:endParaRPr>
          </a:p>
          <a:p>
            <a:pPr algn="l"/>
            <a:r>
              <a:rPr lang="en-US" b="0" i="0" dirty="0">
                <a:solidFill>
                  <a:srgbClr val="3A3A3A"/>
                </a:solidFill>
                <a:effectLst/>
                <a:latin typeface="roboto"/>
              </a:rPr>
              <a:t>The API we develop will be create, retrieve, update, and delete (CRUD) oriented hence the five endpoint functions that are prepared. We’ll be adding the MongoDB and Mongoose logic to each of these endpoint functions.</a:t>
            </a:r>
          </a:p>
          <a:p>
            <a:pPr algn="l"/>
            <a:endParaRPr lang="en-US" b="0" i="0" dirty="0">
              <a:solidFill>
                <a:srgbClr val="3A3A3A"/>
              </a:solidFill>
              <a:effectLst/>
              <a:latin typeface="roboto"/>
            </a:endParaRPr>
          </a:p>
          <a:p>
            <a:pPr algn="l"/>
            <a:r>
              <a:rPr lang="en-US" b="0" i="0" dirty="0">
                <a:solidFill>
                  <a:srgbClr val="3A3A3A"/>
                </a:solidFill>
                <a:effectLst/>
                <a:latin typeface="roboto"/>
              </a:rPr>
              <a:t>Finally, we are listening for requests to our application on port 3000.</a:t>
            </a:r>
          </a:p>
        </p:txBody>
      </p:sp>
      <p:sp>
        <p:nvSpPr>
          <p:cNvPr id="3" name="TextBox 2">
            <a:extLst>
              <a:ext uri="{FF2B5EF4-FFF2-40B4-BE49-F238E27FC236}">
                <a16:creationId xmlns:a16="http://schemas.microsoft.com/office/drawing/2014/main" id="{94F1BB60-9885-9252-E9C3-57B7FE6F2F6F}"/>
              </a:ext>
            </a:extLst>
          </p:cNvPr>
          <p:cNvSpPr txBox="1"/>
          <p:nvPr/>
        </p:nvSpPr>
        <p:spPr>
          <a:xfrm>
            <a:off x="1305982" y="2678046"/>
            <a:ext cx="9031817"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app</a:t>
            </a:r>
            <a:r>
              <a:rPr kumimoji="0" lang="en-IN" sz="1800" b="0" i="0" u="none" strike="noStrike" kern="1200" cap="none" spc="0" normalizeH="0" baseline="0" noProof="0" dirty="0" err="1">
                <a:ln>
                  <a:noFill/>
                </a:ln>
                <a:solidFill>
                  <a:srgbClr val="3B3B3B"/>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listen</a:t>
            </a: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098658"/>
                </a:solidFill>
                <a:effectLst/>
                <a:uLnTx/>
                <a:uFillTx/>
                <a:latin typeface="Consolas" panose="020B0609020204030204" pitchFamily="49" charset="0"/>
                <a:ea typeface="+mn-ea"/>
                <a:cs typeface="+mn-cs"/>
              </a:rPr>
              <a:t>8081</a:t>
            </a: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 </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 </a:t>
            </a:r>
            <a:r>
              <a:rPr kumimoji="0" lang="en-IN" sz="18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console</a:t>
            </a: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log</a:t>
            </a: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"Listening at :8081..."</a:t>
            </a: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endParaRPr kumimoji="0" lang="en-IN" sz="1800" b="0" i="0" u="none" strike="noStrike" kern="1200" cap="none" spc="0" normalizeH="0" baseline="0" noProof="0" dirty="0">
              <a:ln>
                <a:noFill/>
              </a:ln>
              <a:solidFill>
                <a:prstClr val="white"/>
              </a:solidFill>
              <a:effectLst/>
              <a:uLnTx/>
              <a:uFillTx/>
              <a:latin typeface="Garamond" panose="02020404030301010803"/>
              <a:ea typeface="+mn-ea"/>
              <a:cs typeface="+mn-cs"/>
            </a:endParaRPr>
          </a:p>
        </p:txBody>
      </p:sp>
    </p:spTree>
    <p:extLst>
      <p:ext uri="{BB962C8B-B14F-4D97-AF65-F5344CB8AC3E}">
        <p14:creationId xmlns:p14="http://schemas.microsoft.com/office/powerpoint/2010/main" val="4691467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96EFD38-EE88-05F8-33F6-3DFE8C68C18F}"/>
              </a:ext>
            </a:extLst>
          </p:cNvPr>
          <p:cNvSpPr txBox="1"/>
          <p:nvPr/>
        </p:nvSpPr>
        <p:spPr>
          <a:xfrm>
            <a:off x="1151468" y="0"/>
            <a:ext cx="11700933" cy="6983963"/>
          </a:xfrm>
          <a:prstGeom prst="rect">
            <a:avLst/>
          </a:prstGeom>
          <a:noFill/>
        </p:spPr>
        <p:txBody>
          <a:bodyPr wrap="square">
            <a:spAutoFit/>
          </a:bodyPr>
          <a:lstStyle/>
          <a:p>
            <a:pPr>
              <a:buNone/>
            </a:pPr>
            <a:r>
              <a:rPr lang="en-IN" sz="1050" b="0" dirty="0" err="1">
                <a:solidFill>
                  <a:srgbClr val="0000FF"/>
                </a:solidFill>
                <a:effectLst/>
                <a:latin typeface="Consolas" panose="020B0609020204030204" pitchFamily="49" charset="0"/>
              </a:rPr>
              <a:t>const</a:t>
            </a:r>
            <a:r>
              <a:rPr lang="en-IN" sz="1050" b="0" dirty="0">
                <a:solidFill>
                  <a:srgbClr val="3B3B3B"/>
                </a:solidFill>
                <a:effectLst/>
                <a:latin typeface="Consolas" panose="020B0609020204030204" pitchFamily="49" charset="0"/>
              </a:rPr>
              <a:t> </a:t>
            </a:r>
            <a:r>
              <a:rPr lang="en-IN" sz="1050" b="0" dirty="0">
                <a:solidFill>
                  <a:srgbClr val="795E26"/>
                </a:solidFill>
                <a:effectLst/>
                <a:latin typeface="Consolas" panose="020B0609020204030204" pitchFamily="49" charset="0"/>
              </a:rPr>
              <a:t>Express</a:t>
            </a:r>
            <a:r>
              <a:rPr lang="en-IN" sz="1050" b="0" dirty="0">
                <a:solidFill>
                  <a:srgbClr val="3B3B3B"/>
                </a:solidFill>
                <a:effectLst/>
                <a:latin typeface="Consolas" panose="020B0609020204030204" pitchFamily="49" charset="0"/>
              </a:rPr>
              <a:t> </a:t>
            </a:r>
            <a:r>
              <a:rPr lang="en-IN" sz="1050" b="0" dirty="0">
                <a:solidFill>
                  <a:srgbClr val="000000"/>
                </a:solidFill>
                <a:effectLst/>
                <a:latin typeface="Consolas" panose="020B0609020204030204" pitchFamily="49" charset="0"/>
              </a:rPr>
              <a:t>=</a:t>
            </a:r>
            <a:r>
              <a:rPr lang="en-IN" sz="1050" b="0" dirty="0">
                <a:solidFill>
                  <a:srgbClr val="3B3B3B"/>
                </a:solidFill>
                <a:effectLst/>
                <a:latin typeface="Consolas" panose="020B0609020204030204" pitchFamily="49" charset="0"/>
              </a:rPr>
              <a:t> </a:t>
            </a:r>
            <a:r>
              <a:rPr lang="en-IN" sz="1050" b="0" dirty="0">
                <a:solidFill>
                  <a:srgbClr val="795E26"/>
                </a:solidFill>
                <a:effectLst/>
                <a:latin typeface="Consolas" panose="020B0609020204030204" pitchFamily="49" charset="0"/>
              </a:rPr>
              <a:t>require</a:t>
            </a:r>
            <a:r>
              <a:rPr lang="en-IN" sz="1050" b="0" dirty="0">
                <a:solidFill>
                  <a:srgbClr val="3B3B3B"/>
                </a:solidFill>
                <a:effectLst/>
                <a:latin typeface="Consolas" panose="020B0609020204030204" pitchFamily="49" charset="0"/>
              </a:rPr>
              <a:t>(</a:t>
            </a:r>
            <a:r>
              <a:rPr lang="en-IN" sz="1050" b="0" dirty="0">
                <a:solidFill>
                  <a:srgbClr val="A31515"/>
                </a:solidFill>
                <a:effectLst/>
                <a:latin typeface="Consolas" panose="020B0609020204030204" pitchFamily="49" charset="0"/>
              </a:rPr>
              <a:t>"express"</a:t>
            </a:r>
            <a:r>
              <a:rPr lang="en-IN" sz="1050" b="0" dirty="0">
                <a:solidFill>
                  <a:srgbClr val="3B3B3B"/>
                </a:solidFill>
                <a:effectLst/>
                <a:latin typeface="Consolas" panose="020B0609020204030204" pitchFamily="49" charset="0"/>
              </a:rPr>
              <a:t>);</a:t>
            </a:r>
          </a:p>
          <a:p>
            <a:pPr>
              <a:lnSpc>
                <a:spcPts val="1425"/>
              </a:lnSpc>
              <a:buNone/>
            </a:pPr>
            <a:r>
              <a:rPr lang="en-IN" sz="1050" b="0" dirty="0">
                <a:solidFill>
                  <a:srgbClr val="3B3B3B"/>
                </a:solidFill>
                <a:effectLst/>
                <a:latin typeface="Consolas" panose="020B0609020204030204" pitchFamily="49" charset="0"/>
              </a:rPr>
              <a:t> </a:t>
            </a:r>
            <a:r>
              <a:rPr lang="en-IN" sz="1050" b="0" dirty="0" err="1">
                <a:solidFill>
                  <a:srgbClr val="0000FF"/>
                </a:solidFill>
                <a:effectLst/>
                <a:latin typeface="Consolas" panose="020B0609020204030204" pitchFamily="49" charset="0"/>
              </a:rPr>
              <a:t>const</a:t>
            </a:r>
            <a:r>
              <a:rPr lang="en-IN" sz="1050" b="0" dirty="0">
                <a:solidFill>
                  <a:srgbClr val="3B3B3B"/>
                </a:solidFill>
                <a:effectLst/>
                <a:latin typeface="Consolas" panose="020B0609020204030204" pitchFamily="49" charset="0"/>
              </a:rPr>
              <a:t> </a:t>
            </a:r>
            <a:r>
              <a:rPr lang="en-IN" sz="1050" b="0" dirty="0">
                <a:solidFill>
                  <a:srgbClr val="267F99"/>
                </a:solidFill>
                <a:effectLst/>
                <a:latin typeface="Consolas" panose="020B0609020204030204" pitchFamily="49" charset="0"/>
              </a:rPr>
              <a:t>Mongoose</a:t>
            </a:r>
            <a:r>
              <a:rPr lang="en-IN" sz="1050" b="0" dirty="0">
                <a:solidFill>
                  <a:srgbClr val="3B3B3B"/>
                </a:solidFill>
                <a:effectLst/>
                <a:latin typeface="Consolas" panose="020B0609020204030204" pitchFamily="49" charset="0"/>
              </a:rPr>
              <a:t> </a:t>
            </a:r>
            <a:r>
              <a:rPr lang="en-IN" sz="1050" b="0" dirty="0">
                <a:solidFill>
                  <a:srgbClr val="000000"/>
                </a:solidFill>
                <a:effectLst/>
                <a:latin typeface="Consolas" panose="020B0609020204030204" pitchFamily="49" charset="0"/>
              </a:rPr>
              <a:t>=</a:t>
            </a:r>
            <a:r>
              <a:rPr lang="en-IN" sz="1050" b="0" dirty="0">
                <a:solidFill>
                  <a:srgbClr val="3B3B3B"/>
                </a:solidFill>
                <a:effectLst/>
                <a:latin typeface="Consolas" panose="020B0609020204030204" pitchFamily="49" charset="0"/>
              </a:rPr>
              <a:t> </a:t>
            </a:r>
            <a:r>
              <a:rPr lang="en-IN" sz="1050" b="0" dirty="0">
                <a:solidFill>
                  <a:srgbClr val="795E26"/>
                </a:solidFill>
                <a:effectLst/>
                <a:latin typeface="Consolas" panose="020B0609020204030204" pitchFamily="49" charset="0"/>
              </a:rPr>
              <a:t>require</a:t>
            </a:r>
            <a:r>
              <a:rPr lang="en-IN" sz="1050" b="0" dirty="0">
                <a:solidFill>
                  <a:srgbClr val="3B3B3B"/>
                </a:solidFill>
                <a:effectLst/>
                <a:latin typeface="Consolas" panose="020B0609020204030204" pitchFamily="49" charset="0"/>
              </a:rPr>
              <a:t>(</a:t>
            </a:r>
            <a:r>
              <a:rPr lang="en-IN" sz="1050" b="0" dirty="0">
                <a:solidFill>
                  <a:srgbClr val="A31515"/>
                </a:solidFill>
                <a:effectLst/>
                <a:latin typeface="Consolas" panose="020B0609020204030204" pitchFamily="49" charset="0"/>
              </a:rPr>
              <a:t>"mongoose"</a:t>
            </a:r>
            <a:r>
              <a:rPr lang="en-IN" sz="1050" b="0" dirty="0">
                <a:solidFill>
                  <a:srgbClr val="3B3B3B"/>
                </a:solidFill>
                <a:effectLst/>
                <a:latin typeface="Consolas" panose="020B0609020204030204" pitchFamily="49" charset="0"/>
              </a:rPr>
              <a:t>); </a:t>
            </a:r>
          </a:p>
          <a:p>
            <a:pPr>
              <a:lnSpc>
                <a:spcPts val="1425"/>
              </a:lnSpc>
              <a:buNone/>
            </a:pPr>
            <a:r>
              <a:rPr lang="en-IN" sz="1050" b="0" dirty="0" err="1">
                <a:solidFill>
                  <a:srgbClr val="0000FF"/>
                </a:solidFill>
                <a:effectLst/>
                <a:latin typeface="Consolas" panose="020B0609020204030204" pitchFamily="49" charset="0"/>
              </a:rPr>
              <a:t>const</a:t>
            </a:r>
            <a:r>
              <a:rPr lang="en-IN" sz="1050" b="0" dirty="0">
                <a:solidFill>
                  <a:srgbClr val="3B3B3B"/>
                </a:solidFill>
                <a:effectLst/>
                <a:latin typeface="Consolas" panose="020B0609020204030204" pitchFamily="49" charset="0"/>
              </a:rPr>
              <a:t> </a:t>
            </a:r>
            <a:r>
              <a:rPr lang="en-IN" sz="1050" b="0" dirty="0" err="1">
                <a:solidFill>
                  <a:srgbClr val="0070C1"/>
                </a:solidFill>
                <a:effectLst/>
                <a:latin typeface="Consolas" panose="020B0609020204030204" pitchFamily="49" charset="0"/>
              </a:rPr>
              <a:t>cors</a:t>
            </a:r>
            <a:r>
              <a:rPr lang="en-IN" sz="1050" b="0" dirty="0">
                <a:solidFill>
                  <a:srgbClr val="3B3B3B"/>
                </a:solidFill>
                <a:effectLst/>
                <a:latin typeface="Consolas" panose="020B0609020204030204" pitchFamily="49" charset="0"/>
              </a:rPr>
              <a:t> </a:t>
            </a:r>
            <a:r>
              <a:rPr lang="en-IN" sz="1050" b="0" dirty="0">
                <a:solidFill>
                  <a:srgbClr val="000000"/>
                </a:solidFill>
                <a:effectLst/>
                <a:latin typeface="Consolas" panose="020B0609020204030204" pitchFamily="49" charset="0"/>
              </a:rPr>
              <a:t>=</a:t>
            </a:r>
            <a:r>
              <a:rPr lang="en-IN" sz="1050" b="0" dirty="0">
                <a:solidFill>
                  <a:srgbClr val="3B3B3B"/>
                </a:solidFill>
                <a:effectLst/>
                <a:latin typeface="Consolas" panose="020B0609020204030204" pitchFamily="49" charset="0"/>
              </a:rPr>
              <a:t> </a:t>
            </a:r>
            <a:r>
              <a:rPr lang="en-IN" sz="1050" b="0" dirty="0">
                <a:solidFill>
                  <a:srgbClr val="795E26"/>
                </a:solidFill>
                <a:effectLst/>
                <a:latin typeface="Consolas" panose="020B0609020204030204" pitchFamily="49" charset="0"/>
              </a:rPr>
              <a:t>require</a:t>
            </a:r>
            <a:r>
              <a:rPr lang="en-IN" sz="1050" b="0" dirty="0">
                <a:solidFill>
                  <a:srgbClr val="3B3B3B"/>
                </a:solidFill>
                <a:effectLst/>
                <a:latin typeface="Consolas" panose="020B0609020204030204" pitchFamily="49" charset="0"/>
              </a:rPr>
              <a:t>(</a:t>
            </a:r>
            <a:r>
              <a:rPr lang="en-IN" sz="1050" b="0" dirty="0">
                <a:solidFill>
                  <a:srgbClr val="A31515"/>
                </a:solidFill>
                <a:effectLst/>
                <a:latin typeface="Consolas" panose="020B0609020204030204" pitchFamily="49" charset="0"/>
              </a:rPr>
              <a:t>'</a:t>
            </a:r>
            <a:r>
              <a:rPr lang="en-IN" sz="1050" b="0" dirty="0" err="1">
                <a:solidFill>
                  <a:srgbClr val="A31515"/>
                </a:solidFill>
                <a:effectLst/>
                <a:latin typeface="Consolas" panose="020B0609020204030204" pitchFamily="49" charset="0"/>
              </a:rPr>
              <a:t>cors'</a:t>
            </a:r>
            <a:r>
              <a:rPr lang="en-IN" sz="1050" b="0" dirty="0">
                <a:solidFill>
                  <a:srgbClr val="3B3B3B"/>
                </a:solidFill>
                <a:effectLst/>
                <a:latin typeface="Consolas" panose="020B0609020204030204" pitchFamily="49" charset="0"/>
              </a:rPr>
              <a:t>); </a:t>
            </a:r>
          </a:p>
          <a:p>
            <a:pPr>
              <a:buNone/>
            </a:pPr>
            <a:r>
              <a:rPr lang="en-IN" sz="1050" b="0" dirty="0" err="1">
                <a:solidFill>
                  <a:srgbClr val="0000FF"/>
                </a:solidFill>
                <a:effectLst/>
                <a:latin typeface="Consolas" panose="020B0609020204030204" pitchFamily="49" charset="0"/>
              </a:rPr>
              <a:t>const</a:t>
            </a:r>
            <a:r>
              <a:rPr lang="en-IN" sz="1050" b="0" dirty="0">
                <a:solidFill>
                  <a:srgbClr val="3B3B3B"/>
                </a:solidFill>
                <a:effectLst/>
                <a:latin typeface="Consolas" panose="020B0609020204030204" pitchFamily="49" charset="0"/>
              </a:rPr>
              <a:t> </a:t>
            </a:r>
            <a:r>
              <a:rPr lang="en-IN" sz="1050" b="0" dirty="0">
                <a:solidFill>
                  <a:srgbClr val="0070C1"/>
                </a:solidFill>
                <a:effectLst/>
                <a:latin typeface="Consolas" panose="020B0609020204030204" pitchFamily="49" charset="0"/>
              </a:rPr>
              <a:t>app</a:t>
            </a:r>
            <a:r>
              <a:rPr lang="en-IN" sz="1050" b="0" dirty="0">
                <a:solidFill>
                  <a:srgbClr val="3B3B3B"/>
                </a:solidFill>
                <a:effectLst/>
                <a:latin typeface="Consolas" panose="020B0609020204030204" pitchFamily="49" charset="0"/>
              </a:rPr>
              <a:t> </a:t>
            </a:r>
            <a:r>
              <a:rPr lang="en-IN" sz="1050" b="0" dirty="0">
                <a:solidFill>
                  <a:srgbClr val="000000"/>
                </a:solidFill>
                <a:effectLst/>
                <a:latin typeface="Consolas" panose="020B0609020204030204" pitchFamily="49" charset="0"/>
              </a:rPr>
              <a:t>=</a:t>
            </a:r>
            <a:r>
              <a:rPr lang="en-IN" sz="1050" b="0" dirty="0">
                <a:solidFill>
                  <a:srgbClr val="3B3B3B"/>
                </a:solidFill>
                <a:effectLst/>
                <a:latin typeface="Consolas" panose="020B0609020204030204" pitchFamily="49" charset="0"/>
              </a:rPr>
              <a:t> </a:t>
            </a:r>
            <a:r>
              <a:rPr lang="en-IN" sz="1050" b="0" dirty="0">
                <a:solidFill>
                  <a:srgbClr val="795E26"/>
                </a:solidFill>
                <a:effectLst/>
                <a:latin typeface="Consolas" panose="020B0609020204030204" pitchFamily="49" charset="0"/>
              </a:rPr>
              <a:t>Express</a:t>
            </a:r>
            <a:r>
              <a:rPr lang="en-IN" sz="1050" b="0" dirty="0">
                <a:solidFill>
                  <a:srgbClr val="3B3B3B"/>
                </a:solidFill>
                <a:effectLst/>
                <a:latin typeface="Consolas" panose="020B0609020204030204" pitchFamily="49" charset="0"/>
              </a:rPr>
              <a:t>(); </a:t>
            </a:r>
          </a:p>
          <a:p>
            <a:pPr>
              <a:buNone/>
            </a:pPr>
            <a:r>
              <a:rPr lang="en-IN" sz="1050" dirty="0">
                <a:solidFill>
                  <a:srgbClr val="3B3B3B"/>
                </a:solidFill>
                <a:latin typeface="Consolas" panose="020B0609020204030204" pitchFamily="49" charset="0"/>
              </a:rPr>
              <a:t>			/</a:t>
            </a:r>
            <a:r>
              <a:rPr lang="en-IN" sz="1050" b="0" dirty="0">
                <a:solidFill>
                  <a:srgbClr val="008000"/>
                </a:solidFill>
                <a:effectLst/>
                <a:latin typeface="Consolas" panose="020B0609020204030204" pitchFamily="49" charset="0"/>
              </a:rPr>
              <a:t>/  Connect to MongoDB with recommended options</a:t>
            </a:r>
            <a:endParaRPr lang="en-IN" sz="1050" b="0" dirty="0">
              <a:solidFill>
                <a:srgbClr val="3B3B3B"/>
              </a:solidFill>
              <a:effectLst/>
              <a:latin typeface="Consolas" panose="020B0609020204030204" pitchFamily="49" charset="0"/>
            </a:endParaRPr>
          </a:p>
          <a:p>
            <a:pPr>
              <a:lnSpc>
                <a:spcPts val="1425"/>
              </a:lnSpc>
              <a:buNone/>
            </a:pPr>
            <a:r>
              <a:rPr lang="en-IN" sz="1050" b="0" dirty="0" err="1">
                <a:solidFill>
                  <a:srgbClr val="267F99"/>
                </a:solidFill>
                <a:effectLst/>
                <a:latin typeface="Consolas" panose="020B0609020204030204" pitchFamily="49" charset="0"/>
              </a:rPr>
              <a:t>mongoose</a:t>
            </a:r>
            <a:r>
              <a:rPr lang="en-IN" sz="1050" b="0" dirty="0" err="1">
                <a:solidFill>
                  <a:srgbClr val="3B3B3B"/>
                </a:solidFill>
                <a:effectLst/>
                <a:latin typeface="Consolas" panose="020B0609020204030204" pitchFamily="49" charset="0"/>
              </a:rPr>
              <a:t>.</a:t>
            </a:r>
            <a:r>
              <a:rPr lang="en-IN" sz="1050" b="0" dirty="0" err="1">
                <a:solidFill>
                  <a:srgbClr val="795E26"/>
                </a:solidFill>
                <a:effectLst/>
                <a:latin typeface="Consolas" panose="020B0609020204030204" pitchFamily="49" charset="0"/>
              </a:rPr>
              <a:t>connect</a:t>
            </a:r>
            <a:r>
              <a:rPr lang="en-IN" sz="1050" b="0" dirty="0">
                <a:solidFill>
                  <a:srgbClr val="3B3B3B"/>
                </a:solidFill>
                <a:effectLst/>
                <a:latin typeface="Consolas" panose="020B0609020204030204" pitchFamily="49" charset="0"/>
              </a:rPr>
              <a:t>(</a:t>
            </a:r>
            <a:r>
              <a:rPr lang="en-IN" sz="1050" b="0" dirty="0">
                <a:solidFill>
                  <a:srgbClr val="A31515"/>
                </a:solidFill>
                <a:effectLst/>
                <a:latin typeface="Consolas" panose="020B0609020204030204" pitchFamily="49" charset="0"/>
              </a:rPr>
              <a:t>"</a:t>
            </a:r>
            <a:r>
              <a:rPr lang="en-IN" sz="1050" b="0" dirty="0" err="1">
                <a:solidFill>
                  <a:srgbClr val="A31515"/>
                </a:solidFill>
                <a:effectLst/>
                <a:latin typeface="Consolas" panose="020B0609020204030204" pitchFamily="49" charset="0"/>
              </a:rPr>
              <a:t>mongodb</a:t>
            </a:r>
            <a:r>
              <a:rPr lang="en-IN" sz="1050" b="0" dirty="0">
                <a:solidFill>
                  <a:srgbClr val="A31515"/>
                </a:solidFill>
                <a:effectLst/>
                <a:latin typeface="Consolas" panose="020B0609020204030204" pitchFamily="49" charset="0"/>
              </a:rPr>
              <a:t>://127.0.0.1:27017/</a:t>
            </a:r>
            <a:r>
              <a:rPr lang="en-IN" sz="1050" b="0" dirty="0" err="1">
                <a:solidFill>
                  <a:srgbClr val="A31515"/>
                </a:solidFill>
                <a:effectLst/>
                <a:latin typeface="Consolas" panose="020B0609020204030204" pitchFamily="49" charset="0"/>
              </a:rPr>
              <a:t>mydb</a:t>
            </a:r>
            <a:r>
              <a:rPr lang="en-IN" sz="1050" b="0" dirty="0">
                <a:solidFill>
                  <a:srgbClr val="A31515"/>
                </a:solidFill>
                <a:effectLst/>
                <a:latin typeface="Consolas" panose="020B0609020204030204" pitchFamily="49" charset="0"/>
              </a:rPr>
              <a:t>"</a:t>
            </a:r>
            <a:r>
              <a:rPr lang="en-IN" sz="1050" b="0" dirty="0">
                <a:solidFill>
                  <a:srgbClr val="3B3B3B"/>
                </a:solidFill>
                <a:effectLst/>
                <a:latin typeface="Consolas" panose="020B0609020204030204" pitchFamily="49" charset="0"/>
              </a:rPr>
              <a:t>)</a:t>
            </a:r>
          </a:p>
          <a:p>
            <a:pPr>
              <a:lnSpc>
                <a:spcPts val="1425"/>
              </a:lnSpc>
              <a:buNone/>
            </a:pPr>
            <a:r>
              <a:rPr lang="en-IN" sz="1050" b="0" dirty="0">
                <a:solidFill>
                  <a:srgbClr val="3B3B3B"/>
                </a:solidFill>
                <a:effectLst/>
                <a:latin typeface="Consolas" panose="020B0609020204030204" pitchFamily="49" charset="0"/>
              </a:rPr>
              <a:t>.</a:t>
            </a:r>
            <a:r>
              <a:rPr lang="en-IN" sz="1050" b="0" dirty="0">
                <a:solidFill>
                  <a:srgbClr val="795E26"/>
                </a:solidFill>
                <a:effectLst/>
                <a:latin typeface="Consolas" panose="020B0609020204030204" pitchFamily="49" charset="0"/>
              </a:rPr>
              <a:t>then</a:t>
            </a:r>
            <a:r>
              <a:rPr lang="en-IN" sz="1050" b="0" dirty="0">
                <a:solidFill>
                  <a:srgbClr val="3B3B3B"/>
                </a:solidFill>
                <a:effectLst/>
                <a:latin typeface="Consolas" panose="020B0609020204030204" pitchFamily="49" charset="0"/>
              </a:rPr>
              <a:t>(() </a:t>
            </a:r>
            <a:r>
              <a:rPr lang="en-IN" sz="1050" b="0" dirty="0">
                <a:solidFill>
                  <a:srgbClr val="0000FF"/>
                </a:solidFill>
                <a:effectLst/>
                <a:latin typeface="Consolas" panose="020B0609020204030204" pitchFamily="49" charset="0"/>
              </a:rPr>
              <a:t>=&gt;</a:t>
            </a:r>
            <a:r>
              <a:rPr lang="en-IN" sz="1050" b="0" dirty="0">
                <a:solidFill>
                  <a:srgbClr val="3B3B3B"/>
                </a:solidFill>
                <a:effectLst/>
                <a:latin typeface="Consolas" panose="020B0609020204030204" pitchFamily="49" charset="0"/>
              </a:rPr>
              <a:t> </a:t>
            </a:r>
            <a:r>
              <a:rPr lang="en-IN" sz="1050" b="0" dirty="0">
                <a:solidFill>
                  <a:srgbClr val="001080"/>
                </a:solidFill>
                <a:effectLst/>
                <a:latin typeface="Consolas" panose="020B0609020204030204" pitchFamily="49" charset="0"/>
              </a:rPr>
              <a:t>console</a:t>
            </a:r>
            <a:r>
              <a:rPr lang="en-IN" sz="1050" b="0" dirty="0">
                <a:solidFill>
                  <a:srgbClr val="3B3B3B"/>
                </a:solidFill>
                <a:effectLst/>
                <a:latin typeface="Consolas" panose="020B0609020204030204" pitchFamily="49" charset="0"/>
              </a:rPr>
              <a:t>.</a:t>
            </a:r>
            <a:r>
              <a:rPr lang="en-IN" sz="1050" b="0" dirty="0">
                <a:solidFill>
                  <a:srgbClr val="795E26"/>
                </a:solidFill>
                <a:effectLst/>
                <a:latin typeface="Consolas" panose="020B0609020204030204" pitchFamily="49" charset="0"/>
              </a:rPr>
              <a:t>log</a:t>
            </a:r>
            <a:r>
              <a:rPr lang="en-IN" sz="1050" b="0" dirty="0">
                <a:solidFill>
                  <a:srgbClr val="3B3B3B"/>
                </a:solidFill>
                <a:effectLst/>
                <a:latin typeface="Consolas" panose="020B0609020204030204" pitchFamily="49" charset="0"/>
              </a:rPr>
              <a:t>(</a:t>
            </a:r>
            <a:r>
              <a:rPr lang="en-IN" sz="1050" b="0" dirty="0">
                <a:solidFill>
                  <a:srgbClr val="A31515"/>
                </a:solidFill>
                <a:effectLst/>
                <a:latin typeface="Consolas" panose="020B0609020204030204" pitchFamily="49" charset="0"/>
              </a:rPr>
              <a:t>" Connected to MongoDB"</a:t>
            </a:r>
            <a:r>
              <a:rPr lang="en-IN" sz="1050" b="0" dirty="0">
                <a:solidFill>
                  <a:srgbClr val="3B3B3B"/>
                </a:solidFill>
                <a:effectLst/>
                <a:latin typeface="Consolas" panose="020B0609020204030204" pitchFamily="49" charset="0"/>
              </a:rPr>
              <a:t>))</a:t>
            </a:r>
          </a:p>
          <a:p>
            <a:pPr>
              <a:lnSpc>
                <a:spcPts val="1425"/>
              </a:lnSpc>
              <a:buNone/>
            </a:pPr>
            <a:r>
              <a:rPr lang="en-IN" sz="1050" b="0" dirty="0">
                <a:solidFill>
                  <a:srgbClr val="3B3B3B"/>
                </a:solidFill>
                <a:effectLst/>
                <a:latin typeface="Consolas" panose="020B0609020204030204" pitchFamily="49" charset="0"/>
              </a:rPr>
              <a:t>.</a:t>
            </a:r>
            <a:r>
              <a:rPr lang="en-IN" sz="1050" b="0" dirty="0">
                <a:solidFill>
                  <a:srgbClr val="795E26"/>
                </a:solidFill>
                <a:effectLst/>
                <a:latin typeface="Consolas" panose="020B0609020204030204" pitchFamily="49" charset="0"/>
              </a:rPr>
              <a:t>catch</a:t>
            </a:r>
            <a:r>
              <a:rPr lang="en-IN" sz="1050" b="0" dirty="0">
                <a:solidFill>
                  <a:srgbClr val="3B3B3B"/>
                </a:solidFill>
                <a:effectLst/>
                <a:latin typeface="Consolas" panose="020B0609020204030204" pitchFamily="49" charset="0"/>
              </a:rPr>
              <a:t>(</a:t>
            </a:r>
            <a:r>
              <a:rPr lang="en-IN" sz="1050" b="0" dirty="0">
                <a:solidFill>
                  <a:srgbClr val="001080"/>
                </a:solidFill>
                <a:effectLst/>
                <a:latin typeface="Consolas" panose="020B0609020204030204" pitchFamily="49" charset="0"/>
              </a:rPr>
              <a:t>err</a:t>
            </a:r>
            <a:r>
              <a:rPr lang="en-IN" sz="1050" b="0" dirty="0">
                <a:solidFill>
                  <a:srgbClr val="3B3B3B"/>
                </a:solidFill>
                <a:effectLst/>
                <a:latin typeface="Consolas" panose="020B0609020204030204" pitchFamily="49" charset="0"/>
              </a:rPr>
              <a:t> </a:t>
            </a:r>
            <a:r>
              <a:rPr lang="en-IN" sz="1050" b="0" dirty="0">
                <a:solidFill>
                  <a:srgbClr val="0000FF"/>
                </a:solidFill>
                <a:effectLst/>
                <a:latin typeface="Consolas" panose="020B0609020204030204" pitchFamily="49" charset="0"/>
              </a:rPr>
              <a:t>=&gt;</a:t>
            </a:r>
            <a:r>
              <a:rPr lang="en-IN" sz="1050" b="0" dirty="0">
                <a:solidFill>
                  <a:srgbClr val="3B3B3B"/>
                </a:solidFill>
                <a:effectLst/>
                <a:latin typeface="Consolas" panose="020B0609020204030204" pitchFamily="49" charset="0"/>
              </a:rPr>
              <a:t> </a:t>
            </a:r>
            <a:r>
              <a:rPr lang="en-IN" sz="1050" b="0" dirty="0" err="1">
                <a:solidFill>
                  <a:srgbClr val="001080"/>
                </a:solidFill>
                <a:effectLst/>
                <a:latin typeface="Consolas" panose="020B0609020204030204" pitchFamily="49" charset="0"/>
              </a:rPr>
              <a:t>console</a:t>
            </a:r>
            <a:r>
              <a:rPr lang="en-IN" sz="1050" b="0" dirty="0" err="1">
                <a:solidFill>
                  <a:srgbClr val="3B3B3B"/>
                </a:solidFill>
                <a:effectLst/>
                <a:latin typeface="Consolas" panose="020B0609020204030204" pitchFamily="49" charset="0"/>
              </a:rPr>
              <a:t>.</a:t>
            </a:r>
            <a:r>
              <a:rPr lang="en-IN" sz="1050" b="0" dirty="0" err="1">
                <a:solidFill>
                  <a:srgbClr val="795E26"/>
                </a:solidFill>
                <a:effectLst/>
                <a:latin typeface="Consolas" panose="020B0609020204030204" pitchFamily="49" charset="0"/>
              </a:rPr>
              <a:t>error</a:t>
            </a:r>
            <a:r>
              <a:rPr lang="en-IN" sz="1050" b="0" dirty="0">
                <a:solidFill>
                  <a:srgbClr val="3B3B3B"/>
                </a:solidFill>
                <a:effectLst/>
                <a:latin typeface="Consolas" panose="020B0609020204030204" pitchFamily="49" charset="0"/>
              </a:rPr>
              <a:t>(</a:t>
            </a:r>
            <a:r>
              <a:rPr lang="en-IN" sz="1050" b="0" dirty="0">
                <a:solidFill>
                  <a:srgbClr val="A31515"/>
                </a:solidFill>
                <a:effectLst/>
                <a:latin typeface="Consolas" panose="020B0609020204030204" pitchFamily="49" charset="0"/>
              </a:rPr>
              <a:t>" MongoDB connection error:"</a:t>
            </a:r>
            <a:r>
              <a:rPr lang="en-IN" sz="1050" b="0" dirty="0">
                <a:solidFill>
                  <a:srgbClr val="3B3B3B"/>
                </a:solidFill>
                <a:effectLst/>
                <a:latin typeface="Consolas" panose="020B0609020204030204" pitchFamily="49" charset="0"/>
              </a:rPr>
              <a:t>, </a:t>
            </a:r>
            <a:r>
              <a:rPr lang="en-IN" sz="1050" b="0" dirty="0">
                <a:solidFill>
                  <a:srgbClr val="001080"/>
                </a:solidFill>
                <a:effectLst/>
                <a:latin typeface="Consolas" panose="020B0609020204030204" pitchFamily="49" charset="0"/>
              </a:rPr>
              <a:t>err</a:t>
            </a:r>
            <a:r>
              <a:rPr lang="en-IN" sz="1050" b="0" dirty="0">
                <a:solidFill>
                  <a:srgbClr val="3B3B3B"/>
                </a:solidFill>
                <a:effectLst/>
                <a:latin typeface="Consolas" panose="020B0609020204030204" pitchFamily="49" charset="0"/>
              </a:rPr>
              <a:t>));</a:t>
            </a:r>
          </a:p>
          <a:p>
            <a:pPr>
              <a:lnSpc>
                <a:spcPts val="1425"/>
              </a:lnSpc>
              <a:buNone/>
            </a:pPr>
            <a:r>
              <a:rPr lang="en-IN" sz="1050" b="0" dirty="0">
                <a:solidFill>
                  <a:srgbClr val="008000"/>
                </a:solidFill>
                <a:effectLst/>
                <a:latin typeface="Consolas" panose="020B0609020204030204" pitchFamily="49" charset="0"/>
              </a:rPr>
              <a:t>			//  Define schema with validation</a:t>
            </a:r>
            <a:endParaRPr lang="en-IN" sz="1050" b="0" dirty="0">
              <a:solidFill>
                <a:srgbClr val="3B3B3B"/>
              </a:solidFill>
              <a:effectLst/>
              <a:latin typeface="Consolas" panose="020B0609020204030204" pitchFamily="49" charset="0"/>
            </a:endParaRPr>
          </a:p>
          <a:p>
            <a:pPr>
              <a:lnSpc>
                <a:spcPts val="1425"/>
              </a:lnSpc>
              <a:buNone/>
            </a:pPr>
            <a:r>
              <a:rPr lang="en-IN" sz="1050" b="0" dirty="0" err="1">
                <a:solidFill>
                  <a:srgbClr val="0000FF"/>
                </a:solidFill>
                <a:effectLst/>
                <a:latin typeface="Consolas" panose="020B0609020204030204" pitchFamily="49" charset="0"/>
              </a:rPr>
              <a:t>const</a:t>
            </a:r>
            <a:r>
              <a:rPr lang="en-IN" sz="1050" b="0" dirty="0">
                <a:solidFill>
                  <a:srgbClr val="3B3B3B"/>
                </a:solidFill>
                <a:effectLst/>
                <a:latin typeface="Consolas" panose="020B0609020204030204" pitchFamily="49" charset="0"/>
              </a:rPr>
              <a:t> </a:t>
            </a:r>
            <a:r>
              <a:rPr lang="en-IN" sz="1050" b="0" dirty="0" err="1">
                <a:solidFill>
                  <a:srgbClr val="0070C1"/>
                </a:solidFill>
                <a:effectLst/>
                <a:latin typeface="Consolas" panose="020B0609020204030204" pitchFamily="49" charset="0"/>
              </a:rPr>
              <a:t>personSchema</a:t>
            </a:r>
            <a:r>
              <a:rPr lang="en-IN" sz="1050" b="0" dirty="0">
                <a:solidFill>
                  <a:srgbClr val="3B3B3B"/>
                </a:solidFill>
                <a:effectLst/>
                <a:latin typeface="Consolas" panose="020B0609020204030204" pitchFamily="49" charset="0"/>
              </a:rPr>
              <a:t> </a:t>
            </a:r>
            <a:r>
              <a:rPr lang="en-IN" sz="1050" b="0" dirty="0">
                <a:solidFill>
                  <a:srgbClr val="000000"/>
                </a:solidFill>
                <a:effectLst/>
                <a:latin typeface="Consolas" panose="020B0609020204030204" pitchFamily="49" charset="0"/>
              </a:rPr>
              <a:t>=</a:t>
            </a:r>
            <a:r>
              <a:rPr lang="en-IN" sz="1050" b="0" dirty="0">
                <a:solidFill>
                  <a:srgbClr val="3B3B3B"/>
                </a:solidFill>
                <a:effectLst/>
                <a:latin typeface="Consolas" panose="020B0609020204030204" pitchFamily="49" charset="0"/>
              </a:rPr>
              <a:t> </a:t>
            </a:r>
            <a:r>
              <a:rPr lang="en-IN" sz="1050" b="0" dirty="0">
                <a:solidFill>
                  <a:srgbClr val="0000FF"/>
                </a:solidFill>
                <a:effectLst/>
                <a:latin typeface="Consolas" panose="020B0609020204030204" pitchFamily="49" charset="0"/>
              </a:rPr>
              <a:t>new</a:t>
            </a:r>
            <a:r>
              <a:rPr lang="en-IN" sz="1050" b="0" dirty="0">
                <a:solidFill>
                  <a:srgbClr val="3B3B3B"/>
                </a:solidFill>
                <a:effectLst/>
                <a:latin typeface="Consolas" panose="020B0609020204030204" pitchFamily="49" charset="0"/>
              </a:rPr>
              <a:t> </a:t>
            </a:r>
            <a:r>
              <a:rPr lang="en-IN" sz="1050" b="0" dirty="0" err="1">
                <a:solidFill>
                  <a:srgbClr val="267F99"/>
                </a:solidFill>
                <a:effectLst/>
                <a:latin typeface="Consolas" panose="020B0609020204030204" pitchFamily="49" charset="0"/>
              </a:rPr>
              <a:t>mongoose</a:t>
            </a:r>
            <a:r>
              <a:rPr lang="en-IN" sz="1050" b="0" dirty="0" err="1">
                <a:solidFill>
                  <a:srgbClr val="3B3B3B"/>
                </a:solidFill>
                <a:effectLst/>
                <a:latin typeface="Consolas" panose="020B0609020204030204" pitchFamily="49" charset="0"/>
              </a:rPr>
              <a:t>.</a:t>
            </a:r>
            <a:r>
              <a:rPr lang="en-IN" sz="1050" b="0" dirty="0" err="1">
                <a:solidFill>
                  <a:srgbClr val="267F99"/>
                </a:solidFill>
                <a:effectLst/>
                <a:latin typeface="Consolas" panose="020B0609020204030204" pitchFamily="49" charset="0"/>
              </a:rPr>
              <a:t>Schema</a:t>
            </a:r>
            <a:r>
              <a:rPr lang="en-IN" sz="1050" b="0" dirty="0">
                <a:solidFill>
                  <a:srgbClr val="3B3B3B"/>
                </a:solidFill>
                <a:effectLst/>
                <a:latin typeface="Consolas" panose="020B0609020204030204" pitchFamily="49" charset="0"/>
              </a:rPr>
              <a:t>({</a:t>
            </a:r>
          </a:p>
          <a:p>
            <a:pPr>
              <a:buNone/>
            </a:pPr>
            <a:r>
              <a:rPr lang="en-IN" sz="1050" b="0" dirty="0">
                <a:solidFill>
                  <a:srgbClr val="3B3B3B"/>
                </a:solidFill>
                <a:effectLst/>
                <a:latin typeface="Consolas" panose="020B0609020204030204" pitchFamily="49" charset="0"/>
              </a:rPr>
              <a:t>  				</a:t>
            </a:r>
            <a:r>
              <a:rPr lang="en-IN" sz="1050" b="0" dirty="0" err="1">
                <a:solidFill>
                  <a:srgbClr val="001080"/>
                </a:solidFill>
                <a:effectLst/>
                <a:latin typeface="Consolas" panose="020B0609020204030204" pitchFamily="49" charset="0"/>
              </a:rPr>
              <a:t>firstname</a:t>
            </a:r>
            <a:r>
              <a:rPr lang="en-IN" sz="1050" b="0" dirty="0">
                <a:solidFill>
                  <a:srgbClr val="001080"/>
                </a:solidFill>
                <a:effectLst/>
                <a:latin typeface="Consolas" panose="020B0609020204030204" pitchFamily="49" charset="0"/>
              </a:rPr>
              <a:t>:</a:t>
            </a:r>
            <a:r>
              <a:rPr lang="en-IN" sz="1050" b="0" dirty="0">
                <a:solidFill>
                  <a:srgbClr val="3B3B3B"/>
                </a:solidFill>
                <a:effectLst/>
                <a:latin typeface="Consolas" panose="020B0609020204030204" pitchFamily="49" charset="0"/>
              </a:rPr>
              <a:t> { </a:t>
            </a:r>
            <a:r>
              <a:rPr lang="en-IN" sz="1050" b="0" dirty="0">
                <a:solidFill>
                  <a:srgbClr val="267F99"/>
                </a:solidFill>
                <a:effectLst/>
                <a:latin typeface="Consolas" panose="020B0609020204030204" pitchFamily="49" charset="0"/>
              </a:rPr>
              <a:t>type</a:t>
            </a:r>
            <a:r>
              <a:rPr lang="en-IN" sz="1050" b="0" dirty="0">
                <a:solidFill>
                  <a:srgbClr val="001080"/>
                </a:solidFill>
                <a:effectLst/>
                <a:latin typeface="Consolas" panose="020B0609020204030204" pitchFamily="49" charset="0"/>
              </a:rPr>
              <a:t>:</a:t>
            </a:r>
            <a:r>
              <a:rPr lang="en-IN" sz="1050" b="0" dirty="0">
                <a:solidFill>
                  <a:srgbClr val="3B3B3B"/>
                </a:solidFill>
                <a:effectLst/>
                <a:latin typeface="Consolas" panose="020B0609020204030204" pitchFamily="49" charset="0"/>
              </a:rPr>
              <a:t> </a:t>
            </a:r>
            <a:r>
              <a:rPr lang="en-IN" sz="1050" b="0" dirty="0">
                <a:solidFill>
                  <a:srgbClr val="267F99"/>
                </a:solidFill>
                <a:effectLst/>
                <a:latin typeface="Consolas" panose="020B0609020204030204" pitchFamily="49" charset="0"/>
              </a:rPr>
              <a:t>String</a:t>
            </a:r>
            <a:r>
              <a:rPr lang="en-IN" sz="1050" b="0" dirty="0">
                <a:solidFill>
                  <a:srgbClr val="3B3B3B"/>
                </a:solidFill>
                <a:effectLst/>
                <a:latin typeface="Consolas" panose="020B0609020204030204" pitchFamily="49" charset="0"/>
              </a:rPr>
              <a:t>, </a:t>
            </a:r>
            <a:r>
              <a:rPr lang="en-IN" sz="1050" b="0" dirty="0">
                <a:solidFill>
                  <a:srgbClr val="001080"/>
                </a:solidFill>
                <a:effectLst/>
                <a:latin typeface="Consolas" panose="020B0609020204030204" pitchFamily="49" charset="0"/>
              </a:rPr>
              <a:t>required:</a:t>
            </a:r>
            <a:r>
              <a:rPr lang="en-IN" sz="1050" b="0" dirty="0">
                <a:solidFill>
                  <a:srgbClr val="3B3B3B"/>
                </a:solidFill>
                <a:effectLst/>
                <a:latin typeface="Consolas" panose="020B0609020204030204" pitchFamily="49" charset="0"/>
              </a:rPr>
              <a:t> </a:t>
            </a:r>
            <a:r>
              <a:rPr lang="en-IN" sz="1050" b="0" dirty="0">
                <a:solidFill>
                  <a:srgbClr val="0000FF"/>
                </a:solidFill>
                <a:effectLst/>
                <a:latin typeface="Consolas" panose="020B0609020204030204" pitchFamily="49" charset="0"/>
              </a:rPr>
              <a:t>true</a:t>
            </a:r>
            <a:r>
              <a:rPr lang="en-IN" sz="1050" b="0" dirty="0">
                <a:solidFill>
                  <a:srgbClr val="3B3B3B"/>
                </a:solidFill>
                <a:effectLst/>
                <a:latin typeface="Consolas" panose="020B0609020204030204" pitchFamily="49" charset="0"/>
              </a:rPr>
              <a:t> },</a:t>
            </a:r>
          </a:p>
          <a:p>
            <a:pPr>
              <a:buNone/>
            </a:pPr>
            <a:r>
              <a:rPr lang="en-IN" sz="1050" b="0" dirty="0">
                <a:solidFill>
                  <a:srgbClr val="3B3B3B"/>
                </a:solidFill>
                <a:effectLst/>
                <a:latin typeface="Consolas" panose="020B0609020204030204" pitchFamily="49" charset="0"/>
              </a:rPr>
              <a:t>  				</a:t>
            </a:r>
            <a:r>
              <a:rPr lang="en-IN" sz="1050" b="0" dirty="0" err="1">
                <a:solidFill>
                  <a:srgbClr val="001080"/>
                </a:solidFill>
                <a:effectLst/>
                <a:latin typeface="Consolas" panose="020B0609020204030204" pitchFamily="49" charset="0"/>
              </a:rPr>
              <a:t>lastname</a:t>
            </a:r>
            <a:r>
              <a:rPr lang="en-IN" sz="1050" b="0" dirty="0">
                <a:solidFill>
                  <a:srgbClr val="001080"/>
                </a:solidFill>
                <a:effectLst/>
                <a:latin typeface="Consolas" panose="020B0609020204030204" pitchFamily="49" charset="0"/>
              </a:rPr>
              <a:t>:</a:t>
            </a:r>
            <a:r>
              <a:rPr lang="en-IN" sz="1050" b="0" dirty="0">
                <a:solidFill>
                  <a:srgbClr val="3B3B3B"/>
                </a:solidFill>
                <a:effectLst/>
                <a:latin typeface="Consolas" panose="020B0609020204030204" pitchFamily="49" charset="0"/>
              </a:rPr>
              <a:t> { </a:t>
            </a:r>
            <a:r>
              <a:rPr lang="en-IN" sz="1050" b="0" dirty="0">
                <a:solidFill>
                  <a:srgbClr val="267F99"/>
                </a:solidFill>
                <a:effectLst/>
                <a:latin typeface="Consolas" panose="020B0609020204030204" pitchFamily="49" charset="0"/>
              </a:rPr>
              <a:t>type</a:t>
            </a:r>
            <a:r>
              <a:rPr lang="en-IN" sz="1050" b="0" dirty="0">
                <a:solidFill>
                  <a:srgbClr val="001080"/>
                </a:solidFill>
                <a:effectLst/>
                <a:latin typeface="Consolas" panose="020B0609020204030204" pitchFamily="49" charset="0"/>
              </a:rPr>
              <a:t>:</a:t>
            </a:r>
            <a:r>
              <a:rPr lang="en-IN" sz="1050" b="0" dirty="0">
                <a:solidFill>
                  <a:srgbClr val="3B3B3B"/>
                </a:solidFill>
                <a:effectLst/>
                <a:latin typeface="Consolas" panose="020B0609020204030204" pitchFamily="49" charset="0"/>
              </a:rPr>
              <a:t> </a:t>
            </a:r>
            <a:r>
              <a:rPr lang="en-IN" sz="1050" b="0" dirty="0">
                <a:solidFill>
                  <a:srgbClr val="267F99"/>
                </a:solidFill>
                <a:effectLst/>
                <a:latin typeface="Consolas" panose="020B0609020204030204" pitchFamily="49" charset="0"/>
              </a:rPr>
              <a:t>String</a:t>
            </a:r>
            <a:r>
              <a:rPr lang="en-IN" sz="1050" b="0" dirty="0">
                <a:solidFill>
                  <a:srgbClr val="3B3B3B"/>
                </a:solidFill>
                <a:effectLst/>
                <a:latin typeface="Consolas" panose="020B0609020204030204" pitchFamily="49" charset="0"/>
              </a:rPr>
              <a:t>, </a:t>
            </a:r>
            <a:r>
              <a:rPr lang="en-IN" sz="1050" b="0" dirty="0">
                <a:solidFill>
                  <a:srgbClr val="001080"/>
                </a:solidFill>
                <a:effectLst/>
                <a:latin typeface="Consolas" panose="020B0609020204030204" pitchFamily="49" charset="0"/>
              </a:rPr>
              <a:t>required:</a:t>
            </a:r>
            <a:r>
              <a:rPr lang="en-IN" sz="1050" b="0" dirty="0">
                <a:solidFill>
                  <a:srgbClr val="3B3B3B"/>
                </a:solidFill>
                <a:effectLst/>
                <a:latin typeface="Consolas" panose="020B0609020204030204" pitchFamily="49" charset="0"/>
              </a:rPr>
              <a:t> </a:t>
            </a:r>
            <a:r>
              <a:rPr lang="en-IN" sz="1050" b="0" dirty="0">
                <a:solidFill>
                  <a:srgbClr val="0000FF"/>
                </a:solidFill>
                <a:effectLst/>
                <a:latin typeface="Consolas" panose="020B0609020204030204" pitchFamily="49" charset="0"/>
              </a:rPr>
              <a:t>true</a:t>
            </a:r>
            <a:r>
              <a:rPr lang="en-IN" sz="1050" b="0" dirty="0">
                <a:solidFill>
                  <a:srgbClr val="3B3B3B"/>
                </a:solidFill>
                <a:effectLst/>
                <a:latin typeface="Consolas" panose="020B0609020204030204" pitchFamily="49" charset="0"/>
              </a:rPr>
              <a:t> }</a:t>
            </a:r>
          </a:p>
          <a:p>
            <a:pPr>
              <a:lnSpc>
                <a:spcPts val="1425"/>
              </a:lnSpc>
              <a:buNone/>
            </a:pPr>
            <a:r>
              <a:rPr lang="en-IN" sz="1050" b="0" dirty="0">
                <a:solidFill>
                  <a:srgbClr val="3B3B3B"/>
                </a:solidFill>
                <a:effectLst/>
                <a:latin typeface="Consolas" panose="020B0609020204030204" pitchFamily="49" charset="0"/>
              </a:rPr>
              <a:t>			});</a:t>
            </a:r>
          </a:p>
          <a:p>
            <a:pPr>
              <a:lnSpc>
                <a:spcPts val="1425"/>
              </a:lnSpc>
              <a:buNone/>
            </a:pPr>
            <a:r>
              <a:rPr lang="en-US" sz="1050" b="0" dirty="0">
                <a:solidFill>
                  <a:srgbClr val="008000"/>
                </a:solidFill>
                <a:effectLst/>
                <a:latin typeface="Consolas" panose="020B0609020204030204" pitchFamily="49" charset="0"/>
              </a:rPr>
              <a:t>		//  Create model (collection will be `customers`)</a:t>
            </a:r>
            <a:endParaRPr lang="en-US" sz="1050" b="0" dirty="0">
              <a:solidFill>
                <a:srgbClr val="3B3B3B"/>
              </a:solidFill>
              <a:effectLst/>
              <a:latin typeface="Consolas" panose="020B0609020204030204" pitchFamily="49" charset="0"/>
            </a:endParaRPr>
          </a:p>
          <a:p>
            <a:pPr>
              <a:lnSpc>
                <a:spcPts val="1425"/>
              </a:lnSpc>
              <a:buNone/>
            </a:pPr>
            <a:r>
              <a:rPr lang="en-US" sz="1050" b="0" dirty="0">
                <a:solidFill>
                  <a:srgbClr val="0000FF"/>
                </a:solidFill>
                <a:effectLst/>
                <a:latin typeface="Consolas" panose="020B0609020204030204" pitchFamily="49" charset="0"/>
              </a:rPr>
              <a:t>const</a:t>
            </a:r>
            <a:r>
              <a:rPr lang="en-US" sz="1050" b="0" dirty="0">
                <a:solidFill>
                  <a:srgbClr val="3B3B3B"/>
                </a:solidFill>
                <a:effectLst/>
                <a:latin typeface="Consolas" panose="020B0609020204030204" pitchFamily="49" charset="0"/>
              </a:rPr>
              <a:t> </a:t>
            </a:r>
            <a:r>
              <a:rPr lang="en-US" sz="1050" b="0" dirty="0" err="1">
                <a:solidFill>
                  <a:srgbClr val="267F99"/>
                </a:solidFill>
                <a:effectLst/>
                <a:latin typeface="Consolas" panose="020B0609020204030204" pitchFamily="49" charset="0"/>
              </a:rPr>
              <a:t>PersonModel</a:t>
            </a:r>
            <a:r>
              <a:rPr lang="en-US" sz="1050" b="0" dirty="0">
                <a:solidFill>
                  <a:srgbClr val="3B3B3B"/>
                </a:solidFill>
                <a:effectLst/>
                <a:latin typeface="Consolas" panose="020B0609020204030204" pitchFamily="49" charset="0"/>
              </a:rPr>
              <a:t> </a:t>
            </a:r>
            <a:r>
              <a:rPr lang="en-US" sz="1050" b="0" dirty="0">
                <a:solidFill>
                  <a:srgbClr val="000000"/>
                </a:solidFill>
                <a:effectLst/>
                <a:latin typeface="Consolas" panose="020B0609020204030204" pitchFamily="49" charset="0"/>
              </a:rPr>
              <a:t>=</a:t>
            </a:r>
            <a:r>
              <a:rPr lang="en-US" sz="1050" b="0" dirty="0">
                <a:solidFill>
                  <a:srgbClr val="3B3B3B"/>
                </a:solidFill>
                <a:effectLst/>
                <a:latin typeface="Consolas" panose="020B0609020204030204" pitchFamily="49" charset="0"/>
              </a:rPr>
              <a:t> </a:t>
            </a:r>
            <a:r>
              <a:rPr lang="en-US" sz="1050" b="0" dirty="0" err="1">
                <a:solidFill>
                  <a:srgbClr val="267F99"/>
                </a:solidFill>
                <a:effectLst/>
                <a:latin typeface="Consolas" panose="020B0609020204030204" pitchFamily="49" charset="0"/>
              </a:rPr>
              <a:t>mongoose</a:t>
            </a:r>
            <a:r>
              <a:rPr lang="en-US" sz="1050" b="0" dirty="0" err="1">
                <a:solidFill>
                  <a:srgbClr val="3B3B3B"/>
                </a:solidFill>
                <a:effectLst/>
                <a:latin typeface="Consolas" panose="020B0609020204030204" pitchFamily="49" charset="0"/>
              </a:rPr>
              <a:t>.</a:t>
            </a:r>
            <a:r>
              <a:rPr lang="en-US" sz="1050" b="0" dirty="0" err="1">
                <a:solidFill>
                  <a:srgbClr val="795E26"/>
                </a:solidFill>
                <a:effectLst/>
                <a:latin typeface="Consolas" panose="020B0609020204030204" pitchFamily="49" charset="0"/>
              </a:rPr>
              <a:t>model</a:t>
            </a:r>
            <a:r>
              <a:rPr lang="en-US" sz="1050" b="0" dirty="0">
                <a:solidFill>
                  <a:srgbClr val="3B3B3B"/>
                </a:solidFill>
                <a:effectLst/>
                <a:latin typeface="Consolas" panose="020B0609020204030204" pitchFamily="49" charset="0"/>
              </a:rPr>
              <a:t>(</a:t>
            </a:r>
            <a:r>
              <a:rPr lang="en-US" sz="1050" b="0" dirty="0">
                <a:solidFill>
                  <a:srgbClr val="A31515"/>
                </a:solidFill>
                <a:effectLst/>
                <a:latin typeface="Consolas" panose="020B0609020204030204" pitchFamily="49" charset="0"/>
              </a:rPr>
              <a:t>"customer"</a:t>
            </a:r>
            <a:r>
              <a:rPr lang="en-US" sz="1050" b="0" dirty="0">
                <a:solidFill>
                  <a:srgbClr val="3B3B3B"/>
                </a:solidFill>
                <a:effectLst/>
                <a:latin typeface="Consolas" panose="020B0609020204030204" pitchFamily="49" charset="0"/>
              </a:rPr>
              <a:t>, </a:t>
            </a:r>
            <a:r>
              <a:rPr lang="en-US" sz="1050" b="0" dirty="0" err="1">
                <a:solidFill>
                  <a:srgbClr val="0070C1"/>
                </a:solidFill>
                <a:effectLst/>
                <a:latin typeface="Consolas" panose="020B0609020204030204" pitchFamily="49" charset="0"/>
              </a:rPr>
              <a:t>personSchema</a:t>
            </a:r>
            <a:r>
              <a:rPr lang="en-US" sz="1050" b="0" dirty="0">
                <a:solidFill>
                  <a:srgbClr val="3B3B3B"/>
                </a:solidFill>
                <a:effectLst/>
                <a:latin typeface="Consolas" panose="020B0609020204030204" pitchFamily="49" charset="0"/>
              </a:rPr>
              <a:t>);</a:t>
            </a:r>
            <a:endParaRPr lang="en-IN" sz="1050" b="0" dirty="0">
              <a:solidFill>
                <a:srgbClr val="3B3B3B"/>
              </a:solidFill>
              <a:effectLst/>
              <a:latin typeface="Consolas" panose="020B0609020204030204" pitchFamily="49" charset="0"/>
            </a:endParaRPr>
          </a:p>
          <a:p>
            <a:pPr>
              <a:lnSpc>
                <a:spcPts val="1425"/>
              </a:lnSpc>
              <a:spcAft>
                <a:spcPts val="800"/>
              </a:spcAft>
              <a:buNone/>
            </a:pPr>
            <a:r>
              <a:rPr lang="en-IN" sz="1050" kern="0" dirty="0">
                <a:solidFill>
                  <a:srgbClr val="0000FF"/>
                </a:solidFill>
                <a:effectLst/>
                <a:latin typeface="Consolas" panose="020B0609020204030204" pitchFamily="49" charset="0"/>
                <a:ea typeface="Times New Roman" panose="02020603050405020304" pitchFamily="18" charset="0"/>
                <a:cs typeface="Times New Roman" panose="02020603050405020304" pitchFamily="18" charset="0"/>
              </a:rPr>
              <a:t>var</a:t>
            </a:r>
            <a:r>
              <a:rPr lang="en-IN" sz="1050" kern="0" dirty="0">
                <a:solidFill>
                  <a:srgbClr val="3B3B3B"/>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sz="1050" kern="0"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corsOptions</a:t>
            </a:r>
            <a:r>
              <a:rPr lang="en-IN" sz="1050" kern="0" dirty="0">
                <a:solidFill>
                  <a:srgbClr val="3B3B3B"/>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sz="105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sz="1050" kern="0" dirty="0">
                <a:solidFill>
                  <a:srgbClr val="3B3B3B"/>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buNone/>
            </a:pPr>
            <a:r>
              <a:rPr lang="en-IN" sz="1050" kern="0" dirty="0">
                <a:solidFill>
                  <a:srgbClr val="3B3B3B"/>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sz="1050" kern="0" dirty="0">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origin:</a:t>
            </a:r>
            <a:r>
              <a:rPr lang="en-IN" sz="1050" kern="0" dirty="0">
                <a:solidFill>
                  <a:srgbClr val="3B3B3B"/>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sz="1050" kern="0" dirty="0">
                <a:solidFill>
                  <a:srgbClr val="A31515"/>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sz="1050" kern="0" dirty="0">
                <a:solidFill>
                  <a:srgbClr val="3B3B3B"/>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buNone/>
            </a:pPr>
            <a:r>
              <a:rPr lang="en-IN" sz="1050" kern="0" dirty="0">
                <a:solidFill>
                  <a:srgbClr val="3B3B3B"/>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sz="1050" kern="0"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optionsSuccessStatus</a:t>
            </a:r>
            <a:r>
              <a:rPr lang="en-IN" sz="1050" kern="0" dirty="0">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sz="1050" kern="0" dirty="0">
                <a:solidFill>
                  <a:srgbClr val="3B3B3B"/>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sz="1050" kern="0" dirty="0">
                <a:solidFill>
                  <a:srgbClr val="098658"/>
                </a:solidFill>
                <a:effectLst/>
                <a:latin typeface="Consolas" panose="020B0609020204030204" pitchFamily="49" charset="0"/>
                <a:ea typeface="Times New Roman" panose="02020603050405020304" pitchFamily="18" charset="0"/>
                <a:cs typeface="Times New Roman" panose="02020603050405020304" pitchFamily="18" charset="0"/>
              </a:rPr>
              <a:t>200</a:t>
            </a:r>
            <a:r>
              <a:rPr lang="en-IN" sz="1050" kern="0" dirty="0">
                <a:solidFill>
                  <a:srgbClr val="3B3B3B"/>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sz="1050" kern="0" dirty="0">
                <a:solidFill>
                  <a:srgbClr val="008000"/>
                </a:solidFill>
                <a:effectLst/>
                <a:latin typeface="Consolas" panose="020B0609020204030204" pitchFamily="49" charset="0"/>
                <a:ea typeface="Times New Roman" panose="02020603050405020304" pitchFamily="18" charset="0"/>
                <a:cs typeface="Times New Roman" panose="02020603050405020304" pitchFamily="18" charset="0"/>
              </a:rPr>
              <a:t>// For legacy browser support</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buNone/>
            </a:pPr>
            <a:r>
              <a:rPr lang="en-IN" sz="1050" kern="0" dirty="0">
                <a:solidFill>
                  <a:srgbClr val="3B3B3B"/>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sz="1050" kern="0" dirty="0">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methods:</a:t>
            </a:r>
            <a:r>
              <a:rPr lang="en-IN" sz="1050" kern="0" dirty="0">
                <a:solidFill>
                  <a:srgbClr val="3B3B3B"/>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sz="1050" kern="0" dirty="0">
                <a:solidFill>
                  <a:srgbClr val="A31515"/>
                </a:solidFill>
                <a:effectLst/>
                <a:latin typeface="Consolas" panose="020B0609020204030204" pitchFamily="49" charset="0"/>
                <a:ea typeface="Times New Roman" panose="02020603050405020304" pitchFamily="18" charset="0"/>
                <a:cs typeface="Times New Roman" panose="02020603050405020304" pitchFamily="18" charset="0"/>
              </a:rPr>
              <a:t>"GET, PUT, DELETE, POST"</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buNone/>
            </a:pPr>
            <a:r>
              <a:rPr lang="en-IN" sz="1050" kern="0" dirty="0">
                <a:solidFill>
                  <a:srgbClr val="3B3B3B"/>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buNone/>
            </a:pPr>
            <a:r>
              <a:rPr lang="en-IN" sz="1050" kern="0" dirty="0" err="1">
                <a:solidFill>
                  <a:srgbClr val="0070C1"/>
                </a:solidFill>
                <a:effectLst/>
                <a:latin typeface="Consolas" panose="020B0609020204030204" pitchFamily="49" charset="0"/>
                <a:ea typeface="Times New Roman" panose="02020603050405020304" pitchFamily="18" charset="0"/>
                <a:cs typeface="Times New Roman" panose="02020603050405020304" pitchFamily="18" charset="0"/>
              </a:rPr>
              <a:t>app</a:t>
            </a:r>
            <a:r>
              <a:rPr lang="en-IN" sz="1050" kern="0" dirty="0" err="1">
                <a:solidFill>
                  <a:srgbClr val="3B3B3B"/>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sz="1050" kern="0" dirty="0" err="1">
                <a:solidFill>
                  <a:srgbClr val="795E26"/>
                </a:solidFill>
                <a:effectLst/>
                <a:latin typeface="Consolas" panose="020B0609020204030204" pitchFamily="49" charset="0"/>
                <a:ea typeface="Times New Roman" panose="02020603050405020304" pitchFamily="18" charset="0"/>
                <a:cs typeface="Times New Roman" panose="02020603050405020304" pitchFamily="18" charset="0"/>
              </a:rPr>
              <a:t>use</a:t>
            </a:r>
            <a:r>
              <a:rPr lang="en-IN" sz="1050" kern="0" dirty="0">
                <a:solidFill>
                  <a:srgbClr val="3B3B3B"/>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sz="1050" kern="0" dirty="0" err="1">
                <a:solidFill>
                  <a:srgbClr val="795E26"/>
                </a:solidFill>
                <a:effectLst/>
                <a:latin typeface="Consolas" panose="020B0609020204030204" pitchFamily="49" charset="0"/>
                <a:ea typeface="Times New Roman" panose="02020603050405020304" pitchFamily="18" charset="0"/>
                <a:cs typeface="Times New Roman" panose="02020603050405020304" pitchFamily="18" charset="0"/>
              </a:rPr>
              <a:t>cors</a:t>
            </a:r>
            <a:r>
              <a:rPr lang="en-IN" sz="1050" kern="0" dirty="0">
                <a:solidFill>
                  <a:srgbClr val="3B3B3B"/>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sz="1050" kern="0"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corsOptions</a:t>
            </a:r>
            <a:r>
              <a:rPr lang="en-IN" sz="1050" kern="0" dirty="0">
                <a:solidFill>
                  <a:srgbClr val="3B3B3B"/>
                </a:solidFill>
                <a:effectLst/>
                <a:latin typeface="Consolas" panose="020B0609020204030204" pitchFamily="49" charset="0"/>
                <a:ea typeface="Times New Roman" panose="02020603050405020304" pitchFamily="18" charset="0"/>
                <a:cs typeface="Times New Roman" panose="02020603050405020304" pitchFamily="18" charset="0"/>
              </a:rPr>
              <a:t>));</a:t>
            </a:r>
          </a:p>
          <a:p>
            <a:pPr>
              <a:lnSpc>
                <a:spcPts val="1425"/>
              </a:lnSpc>
              <a:spcAft>
                <a:spcPts val="800"/>
              </a:spcAft>
              <a:buNone/>
            </a:pPr>
            <a:r>
              <a:rPr lang="en-IN" sz="1050" b="0" dirty="0" err="1">
                <a:solidFill>
                  <a:srgbClr val="0070C1"/>
                </a:solidFill>
                <a:effectLst/>
                <a:latin typeface="Consolas" panose="020B0609020204030204" pitchFamily="49" charset="0"/>
              </a:rPr>
              <a:t>app</a:t>
            </a:r>
            <a:r>
              <a:rPr lang="en-IN" sz="1050" b="0" dirty="0" err="1">
                <a:solidFill>
                  <a:srgbClr val="3B3B3B"/>
                </a:solidFill>
                <a:effectLst/>
                <a:latin typeface="Consolas" panose="020B0609020204030204" pitchFamily="49" charset="0"/>
              </a:rPr>
              <a:t>.</a:t>
            </a:r>
            <a:r>
              <a:rPr lang="en-IN" sz="1050" b="0" dirty="0" err="1">
                <a:solidFill>
                  <a:srgbClr val="795E26"/>
                </a:solidFill>
                <a:effectLst/>
                <a:latin typeface="Consolas" panose="020B0609020204030204" pitchFamily="49" charset="0"/>
              </a:rPr>
              <a:t>use</a:t>
            </a:r>
            <a:r>
              <a:rPr lang="en-IN" sz="1050" b="0" dirty="0">
                <a:solidFill>
                  <a:srgbClr val="3B3B3B"/>
                </a:solidFill>
                <a:effectLst/>
                <a:latin typeface="Consolas" panose="020B0609020204030204" pitchFamily="49" charset="0"/>
              </a:rPr>
              <a:t>(</a:t>
            </a:r>
            <a:r>
              <a:rPr lang="en-IN" sz="1050" b="0" dirty="0" err="1">
                <a:solidFill>
                  <a:srgbClr val="795E26"/>
                </a:solidFill>
                <a:effectLst/>
                <a:latin typeface="Consolas" panose="020B0609020204030204" pitchFamily="49" charset="0"/>
              </a:rPr>
              <a:t>Express</a:t>
            </a:r>
            <a:r>
              <a:rPr lang="en-IN" sz="1050" b="0" dirty="0" err="1">
                <a:solidFill>
                  <a:srgbClr val="3B3B3B"/>
                </a:solidFill>
                <a:effectLst/>
                <a:latin typeface="Consolas" panose="020B0609020204030204" pitchFamily="49" charset="0"/>
              </a:rPr>
              <a:t>.</a:t>
            </a:r>
            <a:r>
              <a:rPr lang="en-IN" sz="1050" b="0" dirty="0" err="1">
                <a:solidFill>
                  <a:srgbClr val="795E26"/>
                </a:solidFill>
                <a:effectLst/>
                <a:latin typeface="Consolas" panose="020B0609020204030204" pitchFamily="49" charset="0"/>
              </a:rPr>
              <a:t>json</a:t>
            </a:r>
            <a:r>
              <a:rPr lang="en-IN" sz="1050" b="0" dirty="0">
                <a:solidFill>
                  <a:srgbClr val="3B3B3B"/>
                </a:solidFill>
                <a:effectLst/>
                <a:latin typeface="Consolas" panose="020B0609020204030204" pitchFamily="49" charset="0"/>
              </a:rPr>
              <a:t>()); </a:t>
            </a:r>
          </a:p>
          <a:p>
            <a:pPr>
              <a:buNone/>
            </a:pPr>
            <a:r>
              <a:rPr lang="en-IN" sz="1050" b="0" dirty="0" err="1">
                <a:solidFill>
                  <a:srgbClr val="0070C1"/>
                </a:solidFill>
                <a:effectLst/>
                <a:latin typeface="Consolas" panose="020B0609020204030204" pitchFamily="49" charset="0"/>
              </a:rPr>
              <a:t>app</a:t>
            </a:r>
            <a:r>
              <a:rPr lang="en-IN" sz="1050" b="0" dirty="0" err="1">
                <a:solidFill>
                  <a:srgbClr val="3B3B3B"/>
                </a:solidFill>
                <a:effectLst/>
                <a:latin typeface="Consolas" panose="020B0609020204030204" pitchFamily="49" charset="0"/>
              </a:rPr>
              <a:t>.</a:t>
            </a:r>
            <a:r>
              <a:rPr lang="en-IN" sz="1050" b="0" dirty="0" err="1">
                <a:solidFill>
                  <a:srgbClr val="795E26"/>
                </a:solidFill>
                <a:effectLst/>
                <a:latin typeface="Consolas" panose="020B0609020204030204" pitchFamily="49" charset="0"/>
              </a:rPr>
              <a:t>get</a:t>
            </a:r>
            <a:r>
              <a:rPr lang="en-IN" sz="1050" b="0" dirty="0">
                <a:solidFill>
                  <a:srgbClr val="3B3B3B"/>
                </a:solidFill>
                <a:effectLst/>
                <a:latin typeface="Consolas" panose="020B0609020204030204" pitchFamily="49" charset="0"/>
              </a:rPr>
              <a:t>(</a:t>
            </a:r>
            <a:r>
              <a:rPr lang="en-IN" sz="1050" b="0" dirty="0">
                <a:solidFill>
                  <a:srgbClr val="A31515"/>
                </a:solidFill>
                <a:effectLst/>
                <a:latin typeface="Consolas" panose="020B0609020204030204" pitchFamily="49" charset="0"/>
              </a:rPr>
              <a:t>"/person"</a:t>
            </a:r>
            <a:r>
              <a:rPr lang="en-IN" sz="1050" b="0" dirty="0">
                <a:solidFill>
                  <a:srgbClr val="3B3B3B"/>
                </a:solidFill>
                <a:effectLst/>
                <a:latin typeface="Consolas" panose="020B0609020204030204" pitchFamily="49" charset="0"/>
              </a:rPr>
              <a:t>, </a:t>
            </a:r>
            <a:r>
              <a:rPr lang="en-IN" sz="1050" b="0" dirty="0">
                <a:solidFill>
                  <a:srgbClr val="0000FF"/>
                </a:solidFill>
                <a:effectLst/>
                <a:latin typeface="Consolas" panose="020B0609020204030204" pitchFamily="49" charset="0"/>
              </a:rPr>
              <a:t>async</a:t>
            </a:r>
            <a:r>
              <a:rPr lang="en-IN" sz="1050" b="0" dirty="0">
                <a:solidFill>
                  <a:srgbClr val="3B3B3B"/>
                </a:solidFill>
                <a:effectLst/>
                <a:latin typeface="Consolas" panose="020B0609020204030204" pitchFamily="49" charset="0"/>
              </a:rPr>
              <a:t> (</a:t>
            </a:r>
            <a:r>
              <a:rPr lang="en-IN" sz="1050" b="0" dirty="0">
                <a:solidFill>
                  <a:srgbClr val="001080"/>
                </a:solidFill>
                <a:effectLst/>
                <a:latin typeface="Consolas" panose="020B0609020204030204" pitchFamily="49" charset="0"/>
              </a:rPr>
              <a:t>request</a:t>
            </a:r>
            <a:r>
              <a:rPr lang="en-IN" sz="1050" b="0" dirty="0">
                <a:solidFill>
                  <a:srgbClr val="3B3B3B"/>
                </a:solidFill>
                <a:effectLst/>
                <a:latin typeface="Consolas" panose="020B0609020204030204" pitchFamily="49" charset="0"/>
              </a:rPr>
              <a:t>, </a:t>
            </a:r>
            <a:r>
              <a:rPr lang="en-IN" sz="1050" b="0" dirty="0">
                <a:solidFill>
                  <a:srgbClr val="001080"/>
                </a:solidFill>
                <a:effectLst/>
                <a:latin typeface="Consolas" panose="020B0609020204030204" pitchFamily="49" charset="0"/>
              </a:rPr>
              <a:t>response</a:t>
            </a:r>
            <a:r>
              <a:rPr lang="en-IN" sz="1050" b="0" dirty="0">
                <a:solidFill>
                  <a:srgbClr val="3B3B3B"/>
                </a:solidFill>
                <a:effectLst/>
                <a:latin typeface="Consolas" panose="020B0609020204030204" pitchFamily="49" charset="0"/>
              </a:rPr>
              <a:t>) </a:t>
            </a:r>
            <a:r>
              <a:rPr lang="en-IN" sz="1050" b="0" dirty="0">
                <a:solidFill>
                  <a:srgbClr val="0000FF"/>
                </a:solidFill>
                <a:effectLst/>
                <a:latin typeface="Consolas" panose="020B0609020204030204" pitchFamily="49" charset="0"/>
              </a:rPr>
              <a:t>=&gt;</a:t>
            </a:r>
            <a:r>
              <a:rPr lang="en-IN" sz="1050" b="0" dirty="0">
                <a:solidFill>
                  <a:srgbClr val="3B3B3B"/>
                </a:solidFill>
                <a:effectLst/>
                <a:latin typeface="Consolas" panose="020B0609020204030204" pitchFamily="49" charset="0"/>
              </a:rPr>
              <a:t> {</a:t>
            </a:r>
          </a:p>
          <a:p>
            <a:pPr>
              <a:buNone/>
            </a:pPr>
            <a:r>
              <a:rPr lang="en-IN" sz="1050" b="0" dirty="0">
                <a:solidFill>
                  <a:srgbClr val="3B3B3B"/>
                </a:solidFill>
                <a:effectLst/>
                <a:latin typeface="Consolas" panose="020B0609020204030204" pitchFamily="49" charset="0"/>
              </a:rPr>
              <a:t>    </a:t>
            </a:r>
            <a:r>
              <a:rPr lang="en-IN" sz="1050" b="0" dirty="0">
                <a:solidFill>
                  <a:srgbClr val="AF00DB"/>
                </a:solidFill>
                <a:effectLst/>
                <a:latin typeface="Consolas" panose="020B0609020204030204" pitchFamily="49" charset="0"/>
              </a:rPr>
              <a:t>try</a:t>
            </a:r>
            <a:r>
              <a:rPr lang="en-IN" sz="1050" b="0" dirty="0">
                <a:solidFill>
                  <a:srgbClr val="3B3B3B"/>
                </a:solidFill>
                <a:effectLst/>
                <a:latin typeface="Consolas" panose="020B0609020204030204" pitchFamily="49" charset="0"/>
              </a:rPr>
              <a:t> {</a:t>
            </a:r>
          </a:p>
          <a:p>
            <a:pPr>
              <a:buNone/>
            </a:pPr>
            <a:r>
              <a:rPr lang="en-IN" sz="1050" b="0" dirty="0">
                <a:solidFill>
                  <a:srgbClr val="3B3B3B"/>
                </a:solidFill>
                <a:effectLst/>
                <a:latin typeface="Consolas" panose="020B0609020204030204" pitchFamily="49" charset="0"/>
              </a:rPr>
              <a:t>        </a:t>
            </a:r>
            <a:r>
              <a:rPr lang="en-IN" sz="1050" b="0" dirty="0" err="1">
                <a:solidFill>
                  <a:srgbClr val="0000FF"/>
                </a:solidFill>
                <a:effectLst/>
                <a:latin typeface="Consolas" panose="020B0609020204030204" pitchFamily="49" charset="0"/>
              </a:rPr>
              <a:t>const</a:t>
            </a:r>
            <a:r>
              <a:rPr lang="en-IN" sz="1050" b="0" dirty="0">
                <a:solidFill>
                  <a:srgbClr val="3B3B3B"/>
                </a:solidFill>
                <a:effectLst/>
                <a:latin typeface="Consolas" panose="020B0609020204030204" pitchFamily="49" charset="0"/>
              </a:rPr>
              <a:t> </a:t>
            </a:r>
            <a:r>
              <a:rPr lang="en-IN" sz="1050" b="0" dirty="0">
                <a:solidFill>
                  <a:srgbClr val="0070C1"/>
                </a:solidFill>
                <a:effectLst/>
                <a:latin typeface="Consolas" panose="020B0609020204030204" pitchFamily="49" charset="0"/>
              </a:rPr>
              <a:t>result</a:t>
            </a:r>
            <a:r>
              <a:rPr lang="en-IN" sz="1050" b="0" dirty="0">
                <a:solidFill>
                  <a:srgbClr val="3B3B3B"/>
                </a:solidFill>
                <a:effectLst/>
                <a:latin typeface="Consolas" panose="020B0609020204030204" pitchFamily="49" charset="0"/>
              </a:rPr>
              <a:t> </a:t>
            </a:r>
            <a:r>
              <a:rPr lang="en-IN" sz="1050" b="0" dirty="0">
                <a:solidFill>
                  <a:srgbClr val="000000"/>
                </a:solidFill>
                <a:effectLst/>
                <a:latin typeface="Consolas" panose="020B0609020204030204" pitchFamily="49" charset="0"/>
              </a:rPr>
              <a:t>=</a:t>
            </a:r>
            <a:r>
              <a:rPr lang="en-IN" sz="1050" b="0" dirty="0">
                <a:solidFill>
                  <a:srgbClr val="3B3B3B"/>
                </a:solidFill>
                <a:effectLst/>
                <a:latin typeface="Consolas" panose="020B0609020204030204" pitchFamily="49" charset="0"/>
              </a:rPr>
              <a:t> </a:t>
            </a:r>
            <a:r>
              <a:rPr lang="en-IN" sz="1050" b="0" dirty="0">
                <a:solidFill>
                  <a:srgbClr val="AF00DB"/>
                </a:solidFill>
                <a:effectLst/>
                <a:latin typeface="Consolas" panose="020B0609020204030204" pitchFamily="49" charset="0"/>
              </a:rPr>
              <a:t>await</a:t>
            </a:r>
            <a:r>
              <a:rPr lang="en-IN" sz="1050" b="0" dirty="0">
                <a:solidFill>
                  <a:srgbClr val="3B3B3B"/>
                </a:solidFill>
                <a:effectLst/>
                <a:latin typeface="Consolas" panose="020B0609020204030204" pitchFamily="49" charset="0"/>
              </a:rPr>
              <a:t> </a:t>
            </a:r>
            <a:r>
              <a:rPr lang="en-IN" sz="1050" b="0" dirty="0" err="1">
                <a:solidFill>
                  <a:srgbClr val="267F99"/>
                </a:solidFill>
                <a:effectLst/>
                <a:latin typeface="Consolas" panose="020B0609020204030204" pitchFamily="49" charset="0"/>
              </a:rPr>
              <a:t>PersonModel</a:t>
            </a:r>
            <a:r>
              <a:rPr lang="en-IN" sz="1050" b="0" dirty="0" err="1">
                <a:solidFill>
                  <a:srgbClr val="3B3B3B"/>
                </a:solidFill>
                <a:effectLst/>
                <a:latin typeface="Consolas" panose="020B0609020204030204" pitchFamily="49" charset="0"/>
              </a:rPr>
              <a:t>.</a:t>
            </a:r>
            <a:r>
              <a:rPr lang="en-IN" sz="1050" b="0" dirty="0" err="1">
                <a:solidFill>
                  <a:srgbClr val="795E26"/>
                </a:solidFill>
                <a:effectLst/>
                <a:latin typeface="Consolas" panose="020B0609020204030204" pitchFamily="49" charset="0"/>
              </a:rPr>
              <a:t>find</a:t>
            </a:r>
            <a:r>
              <a:rPr lang="en-IN" sz="1050" b="0" dirty="0">
                <a:solidFill>
                  <a:srgbClr val="3B3B3B"/>
                </a:solidFill>
                <a:effectLst/>
                <a:latin typeface="Consolas" panose="020B0609020204030204" pitchFamily="49" charset="0"/>
              </a:rPr>
              <a:t>().</a:t>
            </a:r>
            <a:r>
              <a:rPr lang="en-IN" sz="1050" b="0" dirty="0">
                <a:solidFill>
                  <a:srgbClr val="795E26"/>
                </a:solidFill>
                <a:effectLst/>
                <a:latin typeface="Consolas" panose="020B0609020204030204" pitchFamily="49" charset="0"/>
              </a:rPr>
              <a:t>exec</a:t>
            </a:r>
            <a:r>
              <a:rPr lang="en-IN" sz="1050" b="0" dirty="0">
                <a:solidFill>
                  <a:srgbClr val="3B3B3B"/>
                </a:solidFill>
                <a:effectLst/>
                <a:latin typeface="Consolas" panose="020B0609020204030204" pitchFamily="49" charset="0"/>
              </a:rPr>
              <a:t>();</a:t>
            </a:r>
          </a:p>
          <a:p>
            <a:pPr>
              <a:buNone/>
            </a:pPr>
            <a:r>
              <a:rPr lang="en-IN" sz="1050" b="0" dirty="0">
                <a:solidFill>
                  <a:srgbClr val="3B3B3B"/>
                </a:solidFill>
                <a:effectLst/>
                <a:latin typeface="Consolas" panose="020B0609020204030204" pitchFamily="49" charset="0"/>
              </a:rPr>
              <a:t>        </a:t>
            </a:r>
            <a:r>
              <a:rPr lang="en-IN" sz="1050" b="0" dirty="0" err="1">
                <a:solidFill>
                  <a:srgbClr val="001080"/>
                </a:solidFill>
                <a:effectLst/>
                <a:latin typeface="Consolas" panose="020B0609020204030204" pitchFamily="49" charset="0"/>
              </a:rPr>
              <a:t>response</a:t>
            </a:r>
            <a:r>
              <a:rPr lang="en-IN" sz="1050" b="0" dirty="0" err="1">
                <a:solidFill>
                  <a:srgbClr val="3B3B3B"/>
                </a:solidFill>
                <a:effectLst/>
                <a:latin typeface="Consolas" panose="020B0609020204030204" pitchFamily="49" charset="0"/>
              </a:rPr>
              <a:t>.</a:t>
            </a:r>
            <a:r>
              <a:rPr lang="en-IN" sz="1050" b="0" dirty="0" err="1">
                <a:solidFill>
                  <a:srgbClr val="795E26"/>
                </a:solidFill>
                <a:effectLst/>
                <a:latin typeface="Consolas" panose="020B0609020204030204" pitchFamily="49" charset="0"/>
              </a:rPr>
              <a:t>json</a:t>
            </a:r>
            <a:r>
              <a:rPr lang="en-IN" sz="1050" b="0" dirty="0">
                <a:solidFill>
                  <a:srgbClr val="3B3B3B"/>
                </a:solidFill>
                <a:effectLst/>
                <a:latin typeface="Consolas" panose="020B0609020204030204" pitchFamily="49" charset="0"/>
              </a:rPr>
              <a:t>(</a:t>
            </a:r>
            <a:r>
              <a:rPr lang="en-IN" sz="1050" b="0" dirty="0">
                <a:solidFill>
                  <a:srgbClr val="0070C1"/>
                </a:solidFill>
                <a:effectLst/>
                <a:latin typeface="Consolas" panose="020B0609020204030204" pitchFamily="49" charset="0"/>
              </a:rPr>
              <a:t>result</a:t>
            </a:r>
            <a:r>
              <a:rPr lang="en-IN" sz="1050" b="0" dirty="0">
                <a:solidFill>
                  <a:srgbClr val="3B3B3B"/>
                </a:solidFill>
                <a:effectLst/>
                <a:latin typeface="Consolas" panose="020B0609020204030204" pitchFamily="49" charset="0"/>
              </a:rPr>
              <a:t>);</a:t>
            </a:r>
          </a:p>
          <a:p>
            <a:pPr>
              <a:buNone/>
            </a:pPr>
            <a:r>
              <a:rPr lang="en-IN" sz="1050" b="0" dirty="0">
                <a:solidFill>
                  <a:srgbClr val="3B3B3B"/>
                </a:solidFill>
                <a:effectLst/>
                <a:latin typeface="Consolas" panose="020B0609020204030204" pitchFamily="49" charset="0"/>
              </a:rPr>
              <a:t>    } </a:t>
            </a:r>
            <a:r>
              <a:rPr lang="en-IN" sz="1050" b="0" dirty="0">
                <a:solidFill>
                  <a:srgbClr val="AF00DB"/>
                </a:solidFill>
                <a:effectLst/>
                <a:latin typeface="Consolas" panose="020B0609020204030204" pitchFamily="49" charset="0"/>
              </a:rPr>
              <a:t>catch</a:t>
            </a:r>
            <a:r>
              <a:rPr lang="en-IN" sz="1050" b="0" dirty="0">
                <a:solidFill>
                  <a:srgbClr val="3B3B3B"/>
                </a:solidFill>
                <a:effectLst/>
                <a:latin typeface="Consolas" panose="020B0609020204030204" pitchFamily="49" charset="0"/>
              </a:rPr>
              <a:t> (</a:t>
            </a:r>
            <a:r>
              <a:rPr lang="en-IN" sz="1050" b="0" dirty="0">
                <a:solidFill>
                  <a:srgbClr val="001080"/>
                </a:solidFill>
                <a:effectLst/>
                <a:latin typeface="Consolas" panose="020B0609020204030204" pitchFamily="49" charset="0"/>
              </a:rPr>
              <a:t>error</a:t>
            </a:r>
            <a:r>
              <a:rPr lang="en-IN" sz="1050" b="0" dirty="0">
                <a:solidFill>
                  <a:srgbClr val="3B3B3B"/>
                </a:solidFill>
                <a:effectLst/>
                <a:latin typeface="Consolas" panose="020B0609020204030204" pitchFamily="49" charset="0"/>
              </a:rPr>
              <a:t>) {</a:t>
            </a:r>
          </a:p>
          <a:p>
            <a:pPr>
              <a:buNone/>
            </a:pPr>
            <a:r>
              <a:rPr lang="en-IN" sz="1050" b="0" dirty="0">
                <a:solidFill>
                  <a:srgbClr val="3B3B3B"/>
                </a:solidFill>
                <a:effectLst/>
                <a:latin typeface="Consolas" panose="020B0609020204030204" pitchFamily="49" charset="0"/>
              </a:rPr>
              <a:t>        </a:t>
            </a:r>
            <a:r>
              <a:rPr lang="en-IN" sz="1050" b="0" dirty="0" err="1">
                <a:solidFill>
                  <a:srgbClr val="001080"/>
                </a:solidFill>
                <a:effectLst/>
                <a:latin typeface="Consolas" panose="020B0609020204030204" pitchFamily="49" charset="0"/>
              </a:rPr>
              <a:t>response</a:t>
            </a:r>
            <a:r>
              <a:rPr lang="en-IN" sz="1050" b="0" dirty="0" err="1">
                <a:solidFill>
                  <a:srgbClr val="3B3B3B"/>
                </a:solidFill>
                <a:effectLst/>
                <a:latin typeface="Consolas" panose="020B0609020204030204" pitchFamily="49" charset="0"/>
              </a:rPr>
              <a:t>.</a:t>
            </a:r>
            <a:r>
              <a:rPr lang="en-IN" sz="1050" b="0" dirty="0" err="1">
                <a:solidFill>
                  <a:srgbClr val="795E26"/>
                </a:solidFill>
                <a:effectLst/>
                <a:latin typeface="Consolas" panose="020B0609020204030204" pitchFamily="49" charset="0"/>
              </a:rPr>
              <a:t>status</a:t>
            </a:r>
            <a:r>
              <a:rPr lang="en-IN" sz="1050" b="0" dirty="0">
                <a:solidFill>
                  <a:srgbClr val="3B3B3B"/>
                </a:solidFill>
                <a:effectLst/>
                <a:latin typeface="Consolas" panose="020B0609020204030204" pitchFamily="49" charset="0"/>
              </a:rPr>
              <a:t>(</a:t>
            </a:r>
            <a:r>
              <a:rPr lang="en-IN" sz="1050" b="0" dirty="0">
                <a:solidFill>
                  <a:srgbClr val="098658"/>
                </a:solidFill>
                <a:effectLst/>
                <a:latin typeface="Consolas" panose="020B0609020204030204" pitchFamily="49" charset="0"/>
              </a:rPr>
              <a:t>500</a:t>
            </a:r>
            <a:r>
              <a:rPr lang="en-IN" sz="1050" b="0" dirty="0">
                <a:solidFill>
                  <a:srgbClr val="3B3B3B"/>
                </a:solidFill>
                <a:effectLst/>
                <a:latin typeface="Consolas" panose="020B0609020204030204" pitchFamily="49" charset="0"/>
              </a:rPr>
              <a:t>).</a:t>
            </a:r>
            <a:r>
              <a:rPr lang="en-IN" sz="1050" b="0" dirty="0">
                <a:solidFill>
                  <a:srgbClr val="795E26"/>
                </a:solidFill>
                <a:effectLst/>
                <a:latin typeface="Consolas" panose="020B0609020204030204" pitchFamily="49" charset="0"/>
              </a:rPr>
              <a:t>send</a:t>
            </a:r>
            <a:r>
              <a:rPr lang="en-IN" sz="1050" b="0" dirty="0">
                <a:solidFill>
                  <a:srgbClr val="3B3B3B"/>
                </a:solidFill>
                <a:effectLst/>
                <a:latin typeface="Consolas" panose="020B0609020204030204" pitchFamily="49" charset="0"/>
              </a:rPr>
              <a:t>(</a:t>
            </a:r>
            <a:r>
              <a:rPr lang="en-IN" sz="1050" b="0" dirty="0">
                <a:solidFill>
                  <a:srgbClr val="001080"/>
                </a:solidFill>
                <a:effectLst/>
                <a:latin typeface="Consolas" panose="020B0609020204030204" pitchFamily="49" charset="0"/>
              </a:rPr>
              <a:t>error</a:t>
            </a:r>
            <a:r>
              <a:rPr lang="en-IN" sz="1050" b="0" dirty="0">
                <a:solidFill>
                  <a:srgbClr val="3B3B3B"/>
                </a:solidFill>
                <a:effectLst/>
                <a:latin typeface="Consolas" panose="020B0609020204030204" pitchFamily="49" charset="0"/>
              </a:rPr>
              <a:t>);</a:t>
            </a:r>
          </a:p>
          <a:p>
            <a:pPr>
              <a:buNone/>
            </a:pPr>
            <a:r>
              <a:rPr lang="en-IN" sz="1050" b="0" dirty="0">
                <a:solidFill>
                  <a:srgbClr val="3B3B3B"/>
                </a:solidFill>
                <a:effectLst/>
                <a:latin typeface="Consolas" panose="020B0609020204030204" pitchFamily="49" charset="0"/>
              </a:rPr>
              <a:t>    }</a:t>
            </a:r>
          </a:p>
          <a:p>
            <a:pPr>
              <a:buNone/>
            </a:pPr>
            <a:r>
              <a:rPr lang="en-IN" sz="1050" b="0" dirty="0">
                <a:solidFill>
                  <a:srgbClr val="3B3B3B"/>
                </a:solidFill>
                <a:effectLst/>
                <a:latin typeface="Consolas" panose="020B0609020204030204" pitchFamily="49" charset="0"/>
              </a:rPr>
              <a:t>});</a:t>
            </a:r>
          </a:p>
          <a:p>
            <a:pPr>
              <a:buNone/>
            </a:pPr>
            <a:r>
              <a:rPr lang="en-IN" sz="1050" b="0" dirty="0" err="1">
                <a:solidFill>
                  <a:srgbClr val="0070C1"/>
                </a:solidFill>
                <a:effectLst/>
                <a:latin typeface="Consolas" panose="020B0609020204030204" pitchFamily="49" charset="0"/>
              </a:rPr>
              <a:t>app</a:t>
            </a:r>
            <a:r>
              <a:rPr lang="en-IN" sz="1050" b="0" dirty="0" err="1">
                <a:solidFill>
                  <a:srgbClr val="3B3B3B"/>
                </a:solidFill>
                <a:effectLst/>
                <a:latin typeface="Consolas" panose="020B0609020204030204" pitchFamily="49" charset="0"/>
              </a:rPr>
              <a:t>.</a:t>
            </a:r>
            <a:r>
              <a:rPr lang="en-IN" sz="1050" b="0" dirty="0" err="1">
                <a:solidFill>
                  <a:srgbClr val="795E26"/>
                </a:solidFill>
                <a:effectLst/>
                <a:latin typeface="Consolas" panose="020B0609020204030204" pitchFamily="49" charset="0"/>
              </a:rPr>
              <a:t>post</a:t>
            </a:r>
            <a:r>
              <a:rPr lang="en-IN" sz="1050" b="0" dirty="0">
                <a:solidFill>
                  <a:srgbClr val="3B3B3B"/>
                </a:solidFill>
                <a:effectLst/>
                <a:latin typeface="Consolas" panose="020B0609020204030204" pitchFamily="49" charset="0"/>
              </a:rPr>
              <a:t>(</a:t>
            </a:r>
            <a:r>
              <a:rPr lang="en-IN" sz="1050" b="0" dirty="0">
                <a:solidFill>
                  <a:srgbClr val="A31515"/>
                </a:solidFill>
                <a:effectLst/>
                <a:latin typeface="Consolas" panose="020B0609020204030204" pitchFamily="49" charset="0"/>
              </a:rPr>
              <a:t>"/person"</a:t>
            </a:r>
            <a:r>
              <a:rPr lang="en-IN" sz="1050" b="0" dirty="0">
                <a:solidFill>
                  <a:srgbClr val="3B3B3B"/>
                </a:solidFill>
                <a:effectLst/>
                <a:latin typeface="Consolas" panose="020B0609020204030204" pitchFamily="49" charset="0"/>
              </a:rPr>
              <a:t>, </a:t>
            </a:r>
            <a:r>
              <a:rPr lang="en-IN" sz="1050" b="0" dirty="0">
                <a:solidFill>
                  <a:srgbClr val="0000FF"/>
                </a:solidFill>
                <a:effectLst/>
                <a:latin typeface="Consolas" panose="020B0609020204030204" pitchFamily="49" charset="0"/>
              </a:rPr>
              <a:t>async</a:t>
            </a:r>
            <a:r>
              <a:rPr lang="en-IN" sz="1050" b="0" dirty="0">
                <a:solidFill>
                  <a:srgbClr val="3B3B3B"/>
                </a:solidFill>
                <a:effectLst/>
                <a:latin typeface="Consolas" panose="020B0609020204030204" pitchFamily="49" charset="0"/>
              </a:rPr>
              <a:t> (</a:t>
            </a:r>
            <a:r>
              <a:rPr lang="en-IN" sz="1050" b="0" dirty="0">
                <a:solidFill>
                  <a:srgbClr val="001080"/>
                </a:solidFill>
                <a:effectLst/>
                <a:latin typeface="Consolas" panose="020B0609020204030204" pitchFamily="49" charset="0"/>
              </a:rPr>
              <a:t>request</a:t>
            </a:r>
            <a:r>
              <a:rPr lang="en-IN" sz="1050" b="0" dirty="0">
                <a:solidFill>
                  <a:srgbClr val="3B3B3B"/>
                </a:solidFill>
                <a:effectLst/>
                <a:latin typeface="Consolas" panose="020B0609020204030204" pitchFamily="49" charset="0"/>
              </a:rPr>
              <a:t>, </a:t>
            </a:r>
            <a:r>
              <a:rPr lang="en-IN" sz="1050" b="0" dirty="0">
                <a:solidFill>
                  <a:srgbClr val="001080"/>
                </a:solidFill>
                <a:effectLst/>
                <a:latin typeface="Consolas" panose="020B0609020204030204" pitchFamily="49" charset="0"/>
              </a:rPr>
              <a:t>response</a:t>
            </a:r>
            <a:r>
              <a:rPr lang="en-IN" sz="1050" b="0" dirty="0">
                <a:solidFill>
                  <a:srgbClr val="3B3B3B"/>
                </a:solidFill>
                <a:effectLst/>
                <a:latin typeface="Consolas" panose="020B0609020204030204" pitchFamily="49" charset="0"/>
              </a:rPr>
              <a:t>) </a:t>
            </a:r>
            <a:r>
              <a:rPr lang="en-IN" sz="1050" b="0" dirty="0">
                <a:solidFill>
                  <a:srgbClr val="0000FF"/>
                </a:solidFill>
                <a:effectLst/>
                <a:latin typeface="Consolas" panose="020B0609020204030204" pitchFamily="49" charset="0"/>
              </a:rPr>
              <a:t>=&gt;</a:t>
            </a:r>
            <a:r>
              <a:rPr lang="en-IN" sz="1050" b="0" dirty="0">
                <a:solidFill>
                  <a:srgbClr val="3B3B3B"/>
                </a:solidFill>
                <a:effectLst/>
                <a:latin typeface="Consolas" panose="020B0609020204030204" pitchFamily="49" charset="0"/>
              </a:rPr>
              <a:t> {</a:t>
            </a:r>
          </a:p>
          <a:p>
            <a:pPr>
              <a:buNone/>
            </a:pPr>
            <a:r>
              <a:rPr lang="en-IN" sz="1050" b="0" dirty="0">
                <a:solidFill>
                  <a:srgbClr val="3B3B3B"/>
                </a:solidFill>
                <a:effectLst/>
                <a:latin typeface="Consolas" panose="020B0609020204030204" pitchFamily="49" charset="0"/>
              </a:rPr>
              <a:t>    </a:t>
            </a:r>
            <a:r>
              <a:rPr lang="en-IN" sz="1050" b="0" dirty="0">
                <a:solidFill>
                  <a:srgbClr val="AF00DB"/>
                </a:solidFill>
                <a:effectLst/>
                <a:latin typeface="Consolas" panose="020B0609020204030204" pitchFamily="49" charset="0"/>
              </a:rPr>
              <a:t>try</a:t>
            </a:r>
            <a:r>
              <a:rPr lang="en-IN" sz="1050" b="0" dirty="0">
                <a:solidFill>
                  <a:srgbClr val="3B3B3B"/>
                </a:solidFill>
                <a:effectLst/>
                <a:latin typeface="Consolas" panose="020B0609020204030204" pitchFamily="49" charset="0"/>
              </a:rPr>
              <a:t> {        </a:t>
            </a:r>
            <a:r>
              <a:rPr lang="en-IN" sz="1050" b="0" dirty="0" err="1">
                <a:solidFill>
                  <a:srgbClr val="0000FF"/>
                </a:solidFill>
                <a:effectLst/>
                <a:latin typeface="Consolas" panose="020B0609020204030204" pitchFamily="49" charset="0"/>
              </a:rPr>
              <a:t>const</a:t>
            </a:r>
            <a:r>
              <a:rPr lang="en-IN" sz="1050" b="0" dirty="0">
                <a:solidFill>
                  <a:srgbClr val="3B3B3B"/>
                </a:solidFill>
                <a:effectLst/>
                <a:latin typeface="Consolas" panose="020B0609020204030204" pitchFamily="49" charset="0"/>
              </a:rPr>
              <a:t> </a:t>
            </a:r>
            <a:r>
              <a:rPr lang="en-IN" sz="1050" b="0" dirty="0">
                <a:solidFill>
                  <a:srgbClr val="0070C1"/>
                </a:solidFill>
                <a:effectLst/>
                <a:latin typeface="Consolas" panose="020B0609020204030204" pitchFamily="49" charset="0"/>
              </a:rPr>
              <a:t>person</a:t>
            </a:r>
            <a:r>
              <a:rPr lang="en-IN" sz="1050" b="0" dirty="0">
                <a:solidFill>
                  <a:srgbClr val="3B3B3B"/>
                </a:solidFill>
                <a:effectLst/>
                <a:latin typeface="Consolas" panose="020B0609020204030204" pitchFamily="49" charset="0"/>
              </a:rPr>
              <a:t> </a:t>
            </a:r>
            <a:r>
              <a:rPr lang="en-IN" sz="1050" b="0" dirty="0">
                <a:solidFill>
                  <a:srgbClr val="000000"/>
                </a:solidFill>
                <a:effectLst/>
                <a:latin typeface="Consolas" panose="020B0609020204030204" pitchFamily="49" charset="0"/>
              </a:rPr>
              <a:t>=</a:t>
            </a:r>
            <a:r>
              <a:rPr lang="en-IN" sz="1050" b="0" dirty="0">
                <a:solidFill>
                  <a:srgbClr val="3B3B3B"/>
                </a:solidFill>
                <a:effectLst/>
                <a:latin typeface="Consolas" panose="020B0609020204030204" pitchFamily="49" charset="0"/>
              </a:rPr>
              <a:t> </a:t>
            </a:r>
            <a:r>
              <a:rPr lang="en-IN" sz="1050" b="0" dirty="0">
                <a:solidFill>
                  <a:srgbClr val="0000FF"/>
                </a:solidFill>
                <a:effectLst/>
                <a:latin typeface="Consolas" panose="020B0609020204030204" pitchFamily="49" charset="0"/>
              </a:rPr>
              <a:t>new</a:t>
            </a:r>
            <a:r>
              <a:rPr lang="en-IN" sz="1050" b="0" dirty="0">
                <a:solidFill>
                  <a:srgbClr val="3B3B3B"/>
                </a:solidFill>
                <a:effectLst/>
                <a:latin typeface="Consolas" panose="020B0609020204030204" pitchFamily="49" charset="0"/>
              </a:rPr>
              <a:t> </a:t>
            </a:r>
            <a:r>
              <a:rPr lang="en-IN" sz="1050" b="0" dirty="0" err="1">
                <a:solidFill>
                  <a:srgbClr val="267F99"/>
                </a:solidFill>
                <a:effectLst/>
                <a:latin typeface="Consolas" panose="020B0609020204030204" pitchFamily="49" charset="0"/>
              </a:rPr>
              <a:t>PersonModel</a:t>
            </a:r>
            <a:r>
              <a:rPr lang="en-IN" sz="1050" b="0" dirty="0">
                <a:solidFill>
                  <a:srgbClr val="3B3B3B"/>
                </a:solidFill>
                <a:effectLst/>
                <a:latin typeface="Consolas" panose="020B0609020204030204" pitchFamily="49" charset="0"/>
              </a:rPr>
              <a:t>(</a:t>
            </a:r>
            <a:r>
              <a:rPr lang="en-IN" sz="1050" b="0" dirty="0" err="1">
                <a:solidFill>
                  <a:srgbClr val="001080"/>
                </a:solidFill>
                <a:effectLst/>
                <a:latin typeface="Consolas" panose="020B0609020204030204" pitchFamily="49" charset="0"/>
              </a:rPr>
              <a:t>request</a:t>
            </a:r>
            <a:r>
              <a:rPr lang="en-IN" sz="1050" b="0" dirty="0" err="1">
                <a:solidFill>
                  <a:srgbClr val="3B3B3B"/>
                </a:solidFill>
                <a:effectLst/>
                <a:latin typeface="Consolas" panose="020B0609020204030204" pitchFamily="49" charset="0"/>
              </a:rPr>
              <a:t>.</a:t>
            </a:r>
            <a:r>
              <a:rPr lang="en-IN" sz="1050" b="0" dirty="0" err="1">
                <a:solidFill>
                  <a:srgbClr val="001080"/>
                </a:solidFill>
                <a:effectLst/>
                <a:latin typeface="Consolas" panose="020B0609020204030204" pitchFamily="49" charset="0"/>
              </a:rPr>
              <a:t>body</a:t>
            </a:r>
            <a:r>
              <a:rPr lang="en-IN" sz="1050" b="0" dirty="0">
                <a:solidFill>
                  <a:srgbClr val="3B3B3B"/>
                </a:solidFill>
                <a:effectLst/>
                <a:latin typeface="Consolas" panose="020B0609020204030204" pitchFamily="49" charset="0"/>
              </a:rPr>
              <a:t>);</a:t>
            </a:r>
          </a:p>
          <a:p>
            <a:pPr>
              <a:buNone/>
            </a:pPr>
            <a:r>
              <a:rPr lang="en-IN" sz="1050" b="0" dirty="0">
                <a:solidFill>
                  <a:srgbClr val="3B3B3B"/>
                </a:solidFill>
                <a:effectLst/>
                <a:latin typeface="Consolas" panose="020B0609020204030204" pitchFamily="49" charset="0"/>
              </a:rPr>
              <a:t>        </a:t>
            </a:r>
            <a:r>
              <a:rPr lang="en-IN" sz="1050" b="0" dirty="0" err="1">
                <a:solidFill>
                  <a:srgbClr val="0000FF"/>
                </a:solidFill>
                <a:effectLst/>
                <a:latin typeface="Consolas" panose="020B0609020204030204" pitchFamily="49" charset="0"/>
              </a:rPr>
              <a:t>const</a:t>
            </a:r>
            <a:r>
              <a:rPr lang="en-IN" sz="1050" b="0" dirty="0">
                <a:solidFill>
                  <a:srgbClr val="3B3B3B"/>
                </a:solidFill>
                <a:effectLst/>
                <a:latin typeface="Consolas" panose="020B0609020204030204" pitchFamily="49" charset="0"/>
              </a:rPr>
              <a:t> </a:t>
            </a:r>
            <a:r>
              <a:rPr lang="en-IN" sz="1050" b="0" dirty="0">
                <a:solidFill>
                  <a:srgbClr val="0070C1"/>
                </a:solidFill>
                <a:effectLst/>
                <a:latin typeface="Consolas" panose="020B0609020204030204" pitchFamily="49" charset="0"/>
              </a:rPr>
              <a:t>result</a:t>
            </a:r>
            <a:r>
              <a:rPr lang="en-IN" sz="1050" b="0" dirty="0">
                <a:solidFill>
                  <a:srgbClr val="3B3B3B"/>
                </a:solidFill>
                <a:effectLst/>
                <a:latin typeface="Consolas" panose="020B0609020204030204" pitchFamily="49" charset="0"/>
              </a:rPr>
              <a:t> </a:t>
            </a:r>
            <a:r>
              <a:rPr lang="en-IN" sz="1050" b="0" dirty="0">
                <a:solidFill>
                  <a:srgbClr val="000000"/>
                </a:solidFill>
                <a:effectLst/>
                <a:latin typeface="Consolas" panose="020B0609020204030204" pitchFamily="49" charset="0"/>
              </a:rPr>
              <a:t>=</a:t>
            </a:r>
            <a:r>
              <a:rPr lang="en-IN" sz="1050" b="0" dirty="0">
                <a:solidFill>
                  <a:srgbClr val="3B3B3B"/>
                </a:solidFill>
                <a:effectLst/>
                <a:latin typeface="Consolas" panose="020B0609020204030204" pitchFamily="49" charset="0"/>
              </a:rPr>
              <a:t> </a:t>
            </a:r>
            <a:r>
              <a:rPr lang="en-IN" sz="1050" b="0" dirty="0">
                <a:solidFill>
                  <a:srgbClr val="AF00DB"/>
                </a:solidFill>
                <a:effectLst/>
                <a:latin typeface="Consolas" panose="020B0609020204030204" pitchFamily="49" charset="0"/>
              </a:rPr>
              <a:t>await</a:t>
            </a:r>
            <a:r>
              <a:rPr lang="en-IN" sz="1050" b="0" dirty="0">
                <a:solidFill>
                  <a:srgbClr val="3B3B3B"/>
                </a:solidFill>
                <a:effectLst/>
                <a:latin typeface="Consolas" panose="020B0609020204030204" pitchFamily="49" charset="0"/>
              </a:rPr>
              <a:t> </a:t>
            </a:r>
            <a:r>
              <a:rPr lang="en-IN" sz="1050" b="0" dirty="0" err="1">
                <a:solidFill>
                  <a:srgbClr val="0070C1"/>
                </a:solidFill>
                <a:effectLst/>
                <a:latin typeface="Consolas" panose="020B0609020204030204" pitchFamily="49" charset="0"/>
              </a:rPr>
              <a:t>person</a:t>
            </a:r>
            <a:r>
              <a:rPr lang="en-IN" sz="1050" b="0" dirty="0" err="1">
                <a:solidFill>
                  <a:srgbClr val="3B3B3B"/>
                </a:solidFill>
                <a:effectLst/>
                <a:latin typeface="Consolas" panose="020B0609020204030204" pitchFamily="49" charset="0"/>
              </a:rPr>
              <a:t>.</a:t>
            </a:r>
            <a:r>
              <a:rPr lang="en-IN" sz="1050" b="0" dirty="0" err="1">
                <a:solidFill>
                  <a:srgbClr val="795E26"/>
                </a:solidFill>
                <a:effectLst/>
                <a:latin typeface="Consolas" panose="020B0609020204030204" pitchFamily="49" charset="0"/>
              </a:rPr>
              <a:t>save</a:t>
            </a:r>
            <a:r>
              <a:rPr lang="en-IN" sz="1050" b="0" dirty="0">
                <a:solidFill>
                  <a:srgbClr val="3B3B3B"/>
                </a:solidFill>
                <a:effectLst/>
                <a:latin typeface="Consolas" panose="020B0609020204030204" pitchFamily="49" charset="0"/>
              </a:rPr>
              <a:t>();</a:t>
            </a:r>
          </a:p>
          <a:p>
            <a:pPr>
              <a:buNone/>
            </a:pPr>
            <a:r>
              <a:rPr lang="en-IN" sz="1050" b="0" dirty="0">
                <a:solidFill>
                  <a:srgbClr val="3B3B3B"/>
                </a:solidFill>
                <a:effectLst/>
                <a:latin typeface="Consolas" panose="020B0609020204030204" pitchFamily="49" charset="0"/>
              </a:rPr>
              <a:t>        </a:t>
            </a:r>
            <a:r>
              <a:rPr lang="en-IN" sz="1050" b="0" dirty="0" err="1">
                <a:solidFill>
                  <a:srgbClr val="001080"/>
                </a:solidFill>
                <a:effectLst/>
                <a:latin typeface="Consolas" panose="020B0609020204030204" pitchFamily="49" charset="0"/>
              </a:rPr>
              <a:t>response</a:t>
            </a:r>
            <a:r>
              <a:rPr lang="en-IN" sz="1050" b="0" dirty="0" err="1">
                <a:solidFill>
                  <a:srgbClr val="3B3B3B"/>
                </a:solidFill>
                <a:effectLst/>
                <a:latin typeface="Consolas" panose="020B0609020204030204" pitchFamily="49" charset="0"/>
              </a:rPr>
              <a:t>.</a:t>
            </a:r>
            <a:r>
              <a:rPr lang="en-IN" sz="1050" b="0" dirty="0" err="1">
                <a:solidFill>
                  <a:srgbClr val="795E26"/>
                </a:solidFill>
                <a:effectLst/>
                <a:latin typeface="Consolas" panose="020B0609020204030204" pitchFamily="49" charset="0"/>
              </a:rPr>
              <a:t>json</a:t>
            </a:r>
            <a:r>
              <a:rPr lang="en-IN" sz="1050" b="0" dirty="0">
                <a:solidFill>
                  <a:srgbClr val="3B3B3B"/>
                </a:solidFill>
                <a:effectLst/>
                <a:latin typeface="Consolas" panose="020B0609020204030204" pitchFamily="49" charset="0"/>
              </a:rPr>
              <a:t>(</a:t>
            </a:r>
            <a:r>
              <a:rPr lang="en-IN" sz="1050" b="0" dirty="0">
                <a:solidFill>
                  <a:srgbClr val="0070C1"/>
                </a:solidFill>
                <a:effectLst/>
                <a:latin typeface="Consolas" panose="020B0609020204030204" pitchFamily="49" charset="0"/>
              </a:rPr>
              <a:t>result</a:t>
            </a:r>
            <a:r>
              <a:rPr lang="en-IN" sz="1050" b="0" dirty="0">
                <a:solidFill>
                  <a:srgbClr val="3B3B3B"/>
                </a:solidFill>
                <a:effectLst/>
                <a:latin typeface="Consolas" panose="020B0609020204030204" pitchFamily="49" charset="0"/>
              </a:rPr>
              <a:t>);</a:t>
            </a:r>
          </a:p>
          <a:p>
            <a:pPr>
              <a:buNone/>
            </a:pPr>
            <a:r>
              <a:rPr lang="en-IN" sz="1050" b="0" dirty="0">
                <a:solidFill>
                  <a:srgbClr val="3B3B3B"/>
                </a:solidFill>
                <a:effectLst/>
                <a:latin typeface="Consolas" panose="020B0609020204030204" pitchFamily="49" charset="0"/>
              </a:rPr>
              <a:t>    } </a:t>
            </a:r>
            <a:r>
              <a:rPr lang="en-IN" sz="1050" b="0" dirty="0">
                <a:solidFill>
                  <a:srgbClr val="AF00DB"/>
                </a:solidFill>
                <a:effectLst/>
                <a:latin typeface="Consolas" panose="020B0609020204030204" pitchFamily="49" charset="0"/>
              </a:rPr>
              <a:t>catch</a:t>
            </a:r>
            <a:r>
              <a:rPr lang="en-IN" sz="1050" b="0" dirty="0">
                <a:solidFill>
                  <a:srgbClr val="3B3B3B"/>
                </a:solidFill>
                <a:effectLst/>
                <a:latin typeface="Consolas" panose="020B0609020204030204" pitchFamily="49" charset="0"/>
              </a:rPr>
              <a:t> (</a:t>
            </a:r>
            <a:r>
              <a:rPr lang="en-IN" sz="1050" b="0" dirty="0">
                <a:solidFill>
                  <a:srgbClr val="001080"/>
                </a:solidFill>
                <a:effectLst/>
                <a:latin typeface="Consolas" panose="020B0609020204030204" pitchFamily="49" charset="0"/>
              </a:rPr>
              <a:t>error</a:t>
            </a:r>
            <a:r>
              <a:rPr lang="en-IN" sz="1050" b="0" dirty="0">
                <a:solidFill>
                  <a:srgbClr val="3B3B3B"/>
                </a:solidFill>
                <a:effectLst/>
                <a:latin typeface="Consolas" panose="020B0609020204030204" pitchFamily="49" charset="0"/>
              </a:rPr>
              <a:t>) {</a:t>
            </a:r>
          </a:p>
          <a:p>
            <a:pPr>
              <a:buNone/>
            </a:pPr>
            <a:r>
              <a:rPr lang="en-IN" sz="1050" b="0" dirty="0">
                <a:solidFill>
                  <a:srgbClr val="3B3B3B"/>
                </a:solidFill>
                <a:effectLst/>
                <a:latin typeface="Consolas" panose="020B0609020204030204" pitchFamily="49" charset="0"/>
              </a:rPr>
              <a:t>        </a:t>
            </a:r>
            <a:r>
              <a:rPr lang="en-IN" sz="1050" b="0" dirty="0" err="1">
                <a:solidFill>
                  <a:srgbClr val="001080"/>
                </a:solidFill>
                <a:effectLst/>
                <a:latin typeface="Consolas" panose="020B0609020204030204" pitchFamily="49" charset="0"/>
              </a:rPr>
              <a:t>response</a:t>
            </a:r>
            <a:r>
              <a:rPr lang="en-IN" sz="1050" b="0" dirty="0" err="1">
                <a:solidFill>
                  <a:srgbClr val="3B3B3B"/>
                </a:solidFill>
                <a:effectLst/>
                <a:latin typeface="Consolas" panose="020B0609020204030204" pitchFamily="49" charset="0"/>
              </a:rPr>
              <a:t>.</a:t>
            </a:r>
            <a:r>
              <a:rPr lang="en-IN" sz="1050" b="0" dirty="0" err="1">
                <a:solidFill>
                  <a:srgbClr val="795E26"/>
                </a:solidFill>
                <a:effectLst/>
                <a:latin typeface="Consolas" panose="020B0609020204030204" pitchFamily="49" charset="0"/>
              </a:rPr>
              <a:t>status</a:t>
            </a:r>
            <a:r>
              <a:rPr lang="en-IN" sz="1050" b="0" dirty="0">
                <a:solidFill>
                  <a:srgbClr val="3B3B3B"/>
                </a:solidFill>
                <a:effectLst/>
                <a:latin typeface="Consolas" panose="020B0609020204030204" pitchFamily="49" charset="0"/>
              </a:rPr>
              <a:t>(</a:t>
            </a:r>
            <a:r>
              <a:rPr lang="en-IN" sz="1050" b="0" dirty="0">
                <a:solidFill>
                  <a:srgbClr val="098658"/>
                </a:solidFill>
                <a:effectLst/>
                <a:latin typeface="Consolas" panose="020B0609020204030204" pitchFamily="49" charset="0"/>
              </a:rPr>
              <a:t>500</a:t>
            </a:r>
            <a:r>
              <a:rPr lang="en-IN" sz="1050" b="0" dirty="0">
                <a:solidFill>
                  <a:srgbClr val="3B3B3B"/>
                </a:solidFill>
                <a:effectLst/>
                <a:latin typeface="Consolas" panose="020B0609020204030204" pitchFamily="49" charset="0"/>
              </a:rPr>
              <a:t>).</a:t>
            </a:r>
            <a:r>
              <a:rPr lang="en-IN" sz="1050" b="0" dirty="0">
                <a:solidFill>
                  <a:srgbClr val="795E26"/>
                </a:solidFill>
                <a:effectLst/>
                <a:latin typeface="Consolas" panose="020B0609020204030204" pitchFamily="49" charset="0"/>
              </a:rPr>
              <a:t>send</a:t>
            </a:r>
            <a:r>
              <a:rPr lang="en-IN" sz="1050" b="0" dirty="0">
                <a:solidFill>
                  <a:srgbClr val="3B3B3B"/>
                </a:solidFill>
                <a:effectLst/>
                <a:latin typeface="Consolas" panose="020B0609020204030204" pitchFamily="49" charset="0"/>
              </a:rPr>
              <a:t>(</a:t>
            </a:r>
            <a:r>
              <a:rPr lang="en-IN" sz="1050" b="0" dirty="0">
                <a:solidFill>
                  <a:srgbClr val="001080"/>
                </a:solidFill>
                <a:effectLst/>
                <a:latin typeface="Consolas" panose="020B0609020204030204" pitchFamily="49" charset="0"/>
              </a:rPr>
              <a:t>error</a:t>
            </a:r>
            <a:r>
              <a:rPr lang="en-IN" sz="1050" b="0" dirty="0">
                <a:solidFill>
                  <a:srgbClr val="3B3B3B"/>
                </a:solidFill>
                <a:effectLst/>
                <a:latin typeface="Consolas" panose="020B0609020204030204" pitchFamily="49" charset="0"/>
              </a:rPr>
              <a:t>);</a:t>
            </a:r>
          </a:p>
          <a:p>
            <a:pPr>
              <a:buNone/>
            </a:pPr>
            <a:r>
              <a:rPr lang="en-IN" sz="1050" b="0" dirty="0">
                <a:solidFill>
                  <a:srgbClr val="3B3B3B"/>
                </a:solidFill>
                <a:effectLst/>
                <a:latin typeface="Consolas" panose="020B0609020204030204" pitchFamily="49" charset="0"/>
              </a:rPr>
              <a:t>    }</a:t>
            </a:r>
          </a:p>
          <a:p>
            <a:pPr>
              <a:buNone/>
            </a:pPr>
            <a:r>
              <a:rPr lang="en-IN" sz="1050" b="0" dirty="0">
                <a:solidFill>
                  <a:srgbClr val="3B3B3B"/>
                </a:solidFill>
                <a:effectLst/>
                <a:latin typeface="Consolas" panose="020B0609020204030204" pitchFamily="49" charset="0"/>
              </a:rPr>
              <a:t>});</a:t>
            </a:r>
          </a:p>
        </p:txBody>
      </p:sp>
      <p:sp>
        <p:nvSpPr>
          <p:cNvPr id="2" name="TextBox 1">
            <a:extLst>
              <a:ext uri="{FF2B5EF4-FFF2-40B4-BE49-F238E27FC236}">
                <a16:creationId xmlns:a16="http://schemas.microsoft.com/office/drawing/2014/main" id="{C2552856-0EE6-D381-A5BB-180F11593C1A}"/>
              </a:ext>
            </a:extLst>
          </p:cNvPr>
          <p:cNvSpPr txBox="1"/>
          <p:nvPr/>
        </p:nvSpPr>
        <p:spPr>
          <a:xfrm>
            <a:off x="7679267" y="8467"/>
            <a:ext cx="3581400" cy="369332"/>
          </a:xfrm>
          <a:prstGeom prst="rect">
            <a:avLst/>
          </a:prstGeom>
          <a:noFill/>
        </p:spPr>
        <p:txBody>
          <a:bodyPr wrap="square" rtlCol="0">
            <a:spAutoFit/>
          </a:bodyPr>
          <a:lstStyle/>
          <a:p>
            <a:r>
              <a:rPr lang="en-IN" dirty="0"/>
              <a:t>Complete Demo</a:t>
            </a:r>
          </a:p>
        </p:txBody>
      </p:sp>
    </p:spTree>
    <p:extLst>
      <p:ext uri="{BB962C8B-B14F-4D97-AF65-F5344CB8AC3E}">
        <p14:creationId xmlns:p14="http://schemas.microsoft.com/office/powerpoint/2010/main" val="1211986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9D4864E-A53E-594F-93F2-10DE063DE208}"/>
              </a:ext>
            </a:extLst>
          </p:cNvPr>
          <p:cNvSpPr txBox="1"/>
          <p:nvPr/>
        </p:nvSpPr>
        <p:spPr>
          <a:xfrm>
            <a:off x="1246716" y="0"/>
            <a:ext cx="10742084" cy="677108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app</a:t>
            </a:r>
            <a:r>
              <a:rPr kumimoji="0" lang="en-IN" sz="1400" b="0" i="0" u="none" strike="noStrike" kern="1200" cap="none" spc="0" normalizeH="0" baseline="0" noProof="0" dirty="0" err="1">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get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"/person/:id"</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async</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request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response</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try</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person</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await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267F99"/>
                </a:solidFill>
                <a:effectLst/>
                <a:uLnTx/>
                <a:uFillTx/>
                <a:latin typeface="Consolas" panose="020B0609020204030204" pitchFamily="49" charset="0"/>
                <a:ea typeface="+mn-ea"/>
                <a:cs typeface="+mn-cs"/>
              </a:rPr>
              <a:t>PersonModel</a:t>
            </a:r>
            <a:r>
              <a:rPr kumimoji="0" lang="en-IN" sz="1400" b="0" i="0" u="none" strike="noStrike" kern="1200" cap="none" spc="0" normalizeH="0" baseline="0" noProof="0" dirty="0" err="1">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findById</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request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params</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id</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exec</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response</a:t>
            </a:r>
            <a:r>
              <a:rPr kumimoji="0" lang="en-IN" sz="1400" b="0" i="0" u="none" strike="noStrike" kern="1200" cap="none" spc="0" normalizeH="0" baseline="0" noProof="0" dirty="0" err="1">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json</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person</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catch</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error</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response</a:t>
            </a:r>
            <a:r>
              <a:rPr kumimoji="0" lang="en-IN" sz="1400" b="0" i="0" u="none" strike="noStrike" kern="1200" cap="none" spc="0" normalizeH="0" baseline="0" noProof="0" dirty="0" err="1">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status</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98658"/>
                </a:solidFill>
                <a:effectLst/>
                <a:uLnTx/>
                <a:uFillTx/>
                <a:latin typeface="Consolas" panose="020B0609020204030204" pitchFamily="49" charset="0"/>
                <a:ea typeface="+mn-ea"/>
                <a:cs typeface="+mn-cs"/>
              </a:rPr>
              <a:t>500</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json</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error</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app</a:t>
            </a:r>
            <a:r>
              <a:rPr kumimoji="0" lang="en-IN" sz="1400" b="0" i="0" u="none" strike="noStrike" kern="1200" cap="none" spc="0" normalizeH="0" baseline="0" noProof="0" dirty="0" err="1">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put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"/person/:id"</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async</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request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response</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try</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person</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await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267F99"/>
                </a:solidFill>
                <a:effectLst/>
                <a:uLnTx/>
                <a:uFillTx/>
                <a:latin typeface="Consolas" panose="020B0609020204030204" pitchFamily="49" charset="0"/>
                <a:ea typeface="+mn-ea"/>
                <a:cs typeface="+mn-cs"/>
              </a:rPr>
              <a:t>PersonModel</a:t>
            </a:r>
            <a:r>
              <a:rPr kumimoji="0" lang="en-IN" sz="1400" b="0" i="0" u="none" strike="noStrike" kern="1200" cap="none" spc="0" normalizeH="0" baseline="0" noProof="0" dirty="0" err="1">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findById</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request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params</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id</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exec</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person</a:t>
            </a:r>
            <a:r>
              <a:rPr kumimoji="0" lang="en-IN" sz="1400" b="0" i="0" u="none" strike="noStrike" kern="1200" cap="none" spc="0" normalizeH="0" baseline="0" noProof="0" dirty="0" err="1">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set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request</a:t>
            </a:r>
            <a:r>
              <a:rPr kumimoji="0" lang="en-IN" sz="1400" b="0" i="0" u="none" strike="noStrike" kern="1200" cap="none" spc="0" normalizeH="0" baseline="0" noProof="0" dirty="0" err="1">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body</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result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await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person</a:t>
            </a:r>
            <a:r>
              <a:rPr kumimoji="0" lang="en-IN" sz="1400" b="0" i="0" u="none" strike="noStrike" kern="1200" cap="none" spc="0" normalizeH="0" baseline="0" noProof="0" dirty="0" err="1">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save</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response</a:t>
            </a:r>
            <a:r>
              <a:rPr kumimoji="0" lang="en-IN" sz="1400" b="0" i="0" u="none" strike="noStrike" kern="1200" cap="none" spc="0" normalizeH="0" baseline="0" noProof="0" dirty="0" err="1">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send</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result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catch</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error</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response</a:t>
            </a:r>
            <a:r>
              <a:rPr kumimoji="0" lang="en-IN" sz="1400" b="0" i="0" u="none" strike="noStrike" kern="1200" cap="none" spc="0" normalizeH="0" baseline="0" noProof="0" dirty="0" err="1">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status</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98658"/>
                </a:solidFill>
                <a:effectLst/>
                <a:uLnTx/>
                <a:uFillTx/>
                <a:latin typeface="Consolas" panose="020B0609020204030204" pitchFamily="49" charset="0"/>
                <a:ea typeface="+mn-ea"/>
                <a:cs typeface="+mn-cs"/>
              </a:rPr>
              <a:t>500</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json</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error</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app</a:t>
            </a:r>
            <a:r>
              <a:rPr kumimoji="0" lang="en-IN" sz="1400" b="0" i="0" u="none" strike="noStrike" kern="1200" cap="none" spc="0" normalizeH="0" baseline="0" noProof="0" dirty="0" err="1">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delete</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"/person/:id"</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async</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request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response</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try</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result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await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267F99"/>
                </a:solidFill>
                <a:effectLst/>
                <a:uLnTx/>
                <a:uFillTx/>
                <a:latin typeface="Consolas" panose="020B0609020204030204" pitchFamily="49" charset="0"/>
                <a:ea typeface="+mn-ea"/>
                <a:cs typeface="+mn-cs"/>
              </a:rPr>
              <a:t>PersonModel</a:t>
            </a:r>
            <a:r>
              <a:rPr kumimoji="0" lang="en-IN" sz="1400" b="0" i="0" u="none" strike="noStrike" kern="1200" cap="none" spc="0" normalizeH="0" baseline="0" noProof="0" dirty="0" err="1">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deleteOne</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_id:</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request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params</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id</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exec</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response</a:t>
            </a:r>
            <a:r>
              <a:rPr kumimoji="0" lang="en-IN" sz="1400" b="0" i="0" u="none" strike="noStrike" kern="1200" cap="none" spc="0" normalizeH="0" baseline="0" noProof="0" dirty="0" err="1">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json</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result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catch</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error</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response</a:t>
            </a:r>
            <a:r>
              <a:rPr kumimoji="0" lang="en-IN" sz="1400" b="0" i="0" u="none" strike="noStrike" kern="1200" cap="none" spc="0" normalizeH="0" baseline="0" noProof="0" dirty="0" err="1">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status</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98658"/>
                </a:solidFill>
                <a:effectLst/>
                <a:uLnTx/>
                <a:uFillTx/>
                <a:latin typeface="Consolas" panose="020B0609020204030204" pitchFamily="49" charset="0"/>
                <a:ea typeface="+mn-ea"/>
                <a:cs typeface="+mn-cs"/>
              </a:rPr>
              <a:t>500</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json</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error</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app</a:t>
            </a:r>
            <a:r>
              <a:rPr kumimoji="0" lang="en-IN" sz="1400" b="0" i="0" u="none" strike="noStrike" kern="1200" cap="none" spc="0" normalizeH="0" baseline="0" noProof="0" dirty="0" err="1">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listen</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98658"/>
                </a:solidFill>
                <a:effectLst/>
                <a:uLnTx/>
                <a:uFillTx/>
                <a:latin typeface="Consolas" panose="020B0609020204030204" pitchFamily="49" charset="0"/>
                <a:ea typeface="+mn-ea"/>
                <a:cs typeface="+mn-cs"/>
              </a:rPr>
              <a:t>8081</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console</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log</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"Listening at :8081..."</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p:txBody>
      </p:sp>
    </p:spTree>
    <p:extLst>
      <p:ext uri="{BB962C8B-B14F-4D97-AF65-F5344CB8AC3E}">
        <p14:creationId xmlns:p14="http://schemas.microsoft.com/office/powerpoint/2010/main" val="7438230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EB34B5-7305-4AAF-DF64-3FDD3A781AF9}"/>
              </a:ext>
            </a:extLst>
          </p:cNvPr>
          <p:cNvSpPr txBox="1"/>
          <p:nvPr/>
        </p:nvSpPr>
        <p:spPr>
          <a:xfrm>
            <a:off x="404314" y="756401"/>
            <a:ext cx="10716684" cy="3970318"/>
          </a:xfrm>
          <a:prstGeom prst="rect">
            <a:avLst/>
          </a:prstGeom>
          <a:noFill/>
        </p:spPr>
        <p:txBody>
          <a:bodyPr wrap="square">
            <a:spAutoFit/>
          </a:bodyPr>
          <a:lstStyle/>
          <a:p>
            <a:pPr>
              <a:buNone/>
            </a:pPr>
            <a:r>
              <a:rPr lang="en-IN" b="0" dirty="0">
                <a:solidFill>
                  <a:srgbClr val="0000FF"/>
                </a:solidFill>
                <a:effectLst/>
                <a:latin typeface="Consolas" panose="020B0609020204030204" pitchFamily="49" charset="0"/>
              </a:rPr>
              <a:t>//</a:t>
            </a:r>
            <a:r>
              <a:rPr lang="en-US" altLang="en-US" dirty="0">
                <a:latin typeface="Arial" panose="020B0604020202020204" pitchFamily="34" charset="0"/>
              </a:rPr>
              <a:t> Loads the </a:t>
            </a:r>
            <a:r>
              <a:rPr lang="en-US" altLang="en-US" b="1" dirty="0">
                <a:latin typeface="Arial" panose="020B0604020202020204" pitchFamily="34" charset="0"/>
              </a:rPr>
              <a:t>Express framework</a:t>
            </a:r>
            <a:r>
              <a:rPr lang="en-US" altLang="en-US" dirty="0">
                <a:latin typeface="Arial" panose="020B0604020202020204" pitchFamily="34" charset="0"/>
              </a:rPr>
              <a:t> into your project</a:t>
            </a:r>
            <a:endParaRPr lang="en-IN" b="0" dirty="0">
              <a:solidFill>
                <a:srgbClr val="0000FF"/>
              </a:solidFill>
              <a:effectLst/>
              <a:latin typeface="Consolas" panose="020B0609020204030204" pitchFamily="49" charset="0"/>
            </a:endParaRPr>
          </a:p>
          <a:p>
            <a:pPr>
              <a:buNone/>
            </a:pPr>
            <a:r>
              <a:rPr lang="en-IN" b="0" dirty="0" err="1">
                <a:solidFill>
                  <a:srgbClr val="0000FF"/>
                </a:solidFill>
                <a:effectLst/>
                <a:latin typeface="Consolas" panose="020B0609020204030204" pitchFamily="49" charset="0"/>
              </a:rPr>
              <a:t>const</a:t>
            </a:r>
            <a:r>
              <a:rPr lang="en-IN" b="0" dirty="0">
                <a:solidFill>
                  <a:srgbClr val="3B3B3B"/>
                </a:solidFill>
                <a:effectLst/>
                <a:latin typeface="Consolas" panose="020B0609020204030204" pitchFamily="49" charset="0"/>
              </a:rPr>
              <a:t> </a:t>
            </a:r>
            <a:r>
              <a:rPr lang="en-IN" b="0" dirty="0">
                <a:solidFill>
                  <a:srgbClr val="795E26"/>
                </a:solidFill>
                <a:effectLst/>
                <a:latin typeface="Consolas" panose="020B0609020204030204" pitchFamily="49" charset="0"/>
              </a:rPr>
              <a:t>express</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795E26"/>
                </a:solidFill>
                <a:effectLst/>
                <a:latin typeface="Consolas" panose="020B0609020204030204" pitchFamily="49" charset="0"/>
              </a:rPr>
              <a:t>require</a:t>
            </a:r>
            <a:r>
              <a:rPr lang="en-IN" b="0" dirty="0">
                <a:solidFill>
                  <a:srgbClr val="3B3B3B"/>
                </a:solidFill>
                <a:effectLst/>
                <a:latin typeface="Consolas" panose="020B0609020204030204" pitchFamily="49" charset="0"/>
              </a:rPr>
              <a:t>(</a:t>
            </a:r>
            <a:r>
              <a:rPr lang="en-IN" b="0" dirty="0">
                <a:solidFill>
                  <a:srgbClr val="A31515"/>
                </a:solidFill>
                <a:effectLst/>
                <a:latin typeface="Consolas" panose="020B0609020204030204" pitchFamily="49" charset="0"/>
              </a:rPr>
              <a:t>"express"</a:t>
            </a:r>
            <a:r>
              <a:rPr lang="en-IN" b="0" dirty="0">
                <a:solidFill>
                  <a:srgbClr val="3B3B3B"/>
                </a:solidFill>
                <a:effectLst/>
                <a:latin typeface="Consolas" panose="020B0609020204030204" pitchFamily="49" charset="0"/>
              </a:rPr>
              <a:t>);</a:t>
            </a:r>
          </a:p>
          <a:p>
            <a:pPr>
              <a:buNone/>
            </a:pPr>
            <a:endParaRPr lang="en-IN" b="0" dirty="0">
              <a:solidFill>
                <a:srgbClr val="3B3B3B"/>
              </a:solidFill>
              <a:effectLst/>
              <a:latin typeface="Consolas" panose="020B0609020204030204" pitchFamily="49" charset="0"/>
            </a:endParaRPr>
          </a:p>
          <a:p>
            <a:pPr lvl="0" eaLnBrk="0" fontAlgn="base" hangingPunct="0">
              <a:spcBef>
                <a:spcPct val="0"/>
              </a:spcBef>
              <a:spcAft>
                <a:spcPct val="0"/>
              </a:spcAft>
              <a:buFontTx/>
              <a:buChar char="•"/>
            </a:pPr>
            <a:r>
              <a:rPr lang="en-IN" dirty="0">
                <a:solidFill>
                  <a:srgbClr val="3B3B3B"/>
                </a:solidFill>
                <a:latin typeface="Consolas" panose="020B0609020204030204" pitchFamily="49" charset="0"/>
              </a:rPr>
              <a:t>//</a:t>
            </a:r>
            <a:r>
              <a:rPr lang="en-US" altLang="en-US" dirty="0">
                <a:latin typeface="Arial" panose="020B0604020202020204" pitchFamily="34" charset="0"/>
              </a:rPr>
              <a:t>Loads the </a:t>
            </a:r>
            <a:r>
              <a:rPr lang="en-US" altLang="en-US" b="1" dirty="0">
                <a:latin typeface="Arial" panose="020B0604020202020204" pitchFamily="34" charset="0"/>
              </a:rPr>
              <a:t>Mongoose library</a:t>
            </a:r>
            <a:r>
              <a:rPr lang="en-US" altLang="en-US" dirty="0">
                <a:latin typeface="Arial" panose="020B0604020202020204" pitchFamily="34" charset="0"/>
              </a:rPr>
              <a:t>, which is an Object Data Modeling (ODM) tool for MongoDB. </a:t>
            </a:r>
          </a:p>
          <a:p>
            <a:pPr>
              <a:buNone/>
            </a:pPr>
            <a:r>
              <a:rPr lang="en-IN" b="0" dirty="0" err="1">
                <a:solidFill>
                  <a:srgbClr val="0000FF"/>
                </a:solidFill>
                <a:effectLst/>
                <a:latin typeface="Consolas" panose="020B0609020204030204" pitchFamily="49" charset="0"/>
              </a:rPr>
              <a:t>const</a:t>
            </a:r>
            <a:r>
              <a:rPr lang="en-IN" b="0" dirty="0">
                <a:solidFill>
                  <a:srgbClr val="3B3B3B"/>
                </a:solidFill>
                <a:effectLst/>
                <a:latin typeface="Consolas" panose="020B0609020204030204" pitchFamily="49" charset="0"/>
              </a:rPr>
              <a:t> </a:t>
            </a:r>
            <a:r>
              <a:rPr lang="en-IN" b="0" dirty="0">
                <a:solidFill>
                  <a:srgbClr val="267F99"/>
                </a:solidFill>
                <a:effectLst/>
                <a:latin typeface="Consolas" panose="020B0609020204030204" pitchFamily="49" charset="0"/>
              </a:rPr>
              <a:t>mongoose</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795E26"/>
                </a:solidFill>
                <a:effectLst/>
                <a:latin typeface="Consolas" panose="020B0609020204030204" pitchFamily="49" charset="0"/>
              </a:rPr>
              <a:t>require</a:t>
            </a:r>
            <a:r>
              <a:rPr lang="en-IN" b="0" dirty="0">
                <a:solidFill>
                  <a:srgbClr val="3B3B3B"/>
                </a:solidFill>
                <a:effectLst/>
                <a:latin typeface="Consolas" panose="020B0609020204030204" pitchFamily="49" charset="0"/>
              </a:rPr>
              <a:t>(</a:t>
            </a:r>
            <a:r>
              <a:rPr lang="en-IN" b="0" dirty="0">
                <a:solidFill>
                  <a:srgbClr val="A31515"/>
                </a:solidFill>
                <a:effectLst/>
                <a:latin typeface="Consolas" panose="020B0609020204030204" pitchFamily="49" charset="0"/>
              </a:rPr>
              <a:t>"mongoose"</a:t>
            </a:r>
            <a:r>
              <a:rPr lang="en-IN" b="0" dirty="0">
                <a:solidFill>
                  <a:srgbClr val="3B3B3B"/>
                </a:solidFill>
                <a:effectLst/>
                <a:latin typeface="Consolas" panose="020B0609020204030204" pitchFamily="49" charset="0"/>
              </a:rPr>
              <a:t>);</a:t>
            </a:r>
          </a:p>
          <a:p>
            <a:endParaRPr lang="en-IN" b="0" dirty="0">
              <a:solidFill>
                <a:srgbClr val="3B3B3B"/>
              </a:solidFill>
              <a:effectLst/>
              <a:latin typeface="Consolas" panose="020B0609020204030204" pitchFamily="49" charset="0"/>
            </a:endParaRPr>
          </a:p>
          <a:p>
            <a:r>
              <a:rPr lang="en-IN" b="0" dirty="0">
                <a:solidFill>
                  <a:srgbClr val="3B3B3B"/>
                </a:solidFill>
                <a:effectLst/>
                <a:latin typeface="Consolas" panose="020B0609020204030204" pitchFamily="49" charset="0"/>
              </a:rPr>
              <a:t>//</a:t>
            </a:r>
            <a:r>
              <a:rPr lang="en-US" dirty="0"/>
              <a:t>Creates an Express application instance.</a:t>
            </a:r>
          </a:p>
          <a:p>
            <a:pPr>
              <a:buNone/>
            </a:pPr>
            <a:r>
              <a:rPr lang="en-IN" b="0" dirty="0" err="1">
                <a:solidFill>
                  <a:srgbClr val="0000FF"/>
                </a:solidFill>
                <a:effectLst/>
                <a:latin typeface="Consolas" panose="020B0609020204030204" pitchFamily="49" charset="0"/>
              </a:rPr>
              <a:t>const</a:t>
            </a:r>
            <a:r>
              <a:rPr lang="en-IN" b="0" dirty="0">
                <a:solidFill>
                  <a:srgbClr val="3B3B3B"/>
                </a:solidFill>
                <a:effectLst/>
                <a:latin typeface="Consolas" panose="020B0609020204030204" pitchFamily="49" charset="0"/>
              </a:rPr>
              <a:t> </a:t>
            </a:r>
            <a:r>
              <a:rPr lang="en-IN" b="0" dirty="0">
                <a:solidFill>
                  <a:srgbClr val="0070C1"/>
                </a:solidFill>
                <a:effectLst/>
                <a:latin typeface="Consolas" panose="020B0609020204030204" pitchFamily="49" charset="0"/>
              </a:rPr>
              <a:t>app</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795E26"/>
                </a:solidFill>
                <a:effectLst/>
                <a:latin typeface="Consolas" panose="020B0609020204030204" pitchFamily="49" charset="0"/>
              </a:rPr>
              <a:t>express</a:t>
            </a:r>
            <a:r>
              <a:rPr lang="en-IN" b="0" dirty="0">
                <a:solidFill>
                  <a:srgbClr val="3B3B3B"/>
                </a:solidFill>
                <a:effectLst/>
                <a:latin typeface="Consolas" panose="020B0609020204030204" pitchFamily="49" charset="0"/>
              </a:rPr>
              <a:t>();</a:t>
            </a:r>
          </a:p>
          <a:p>
            <a:pPr>
              <a:buNone/>
            </a:pPr>
            <a:endParaRPr lang="en-IN" b="0" dirty="0">
              <a:solidFill>
                <a:srgbClr val="3B3B3B"/>
              </a:solidFill>
              <a:effectLst/>
              <a:latin typeface="Consolas" panose="020B0609020204030204" pitchFamily="49" charset="0"/>
            </a:endParaRPr>
          </a:p>
          <a:p>
            <a:pPr>
              <a:buNone/>
            </a:pPr>
            <a:endParaRPr lang="en-IN" b="0" dirty="0">
              <a:solidFill>
                <a:srgbClr val="3B3B3B"/>
              </a:solidFill>
              <a:effectLst/>
              <a:latin typeface="Consolas" panose="020B0609020204030204" pitchFamily="49" charset="0"/>
            </a:endParaRPr>
          </a:p>
          <a:p>
            <a:pPr>
              <a:buNone/>
            </a:pPr>
            <a:r>
              <a:rPr lang="en-IN" b="0" dirty="0">
                <a:solidFill>
                  <a:srgbClr val="008000"/>
                </a:solidFill>
                <a:effectLst/>
                <a:latin typeface="Consolas" panose="020B0609020204030204" pitchFamily="49" charset="0"/>
              </a:rPr>
              <a:t>//  Connect to MongoDB with recommended options</a:t>
            </a:r>
            <a:endParaRPr lang="en-IN" b="0" dirty="0">
              <a:solidFill>
                <a:srgbClr val="3B3B3B"/>
              </a:solidFill>
              <a:effectLst/>
              <a:latin typeface="Consolas" panose="020B0609020204030204" pitchFamily="49" charset="0"/>
            </a:endParaRPr>
          </a:p>
          <a:p>
            <a:pPr>
              <a:buNone/>
            </a:pPr>
            <a:r>
              <a:rPr lang="en-IN" b="0" dirty="0" err="1">
                <a:solidFill>
                  <a:srgbClr val="267F99"/>
                </a:solidFill>
                <a:effectLst/>
                <a:latin typeface="Consolas" panose="020B0609020204030204" pitchFamily="49" charset="0"/>
              </a:rPr>
              <a:t>mongoose</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connect</a:t>
            </a:r>
            <a:r>
              <a:rPr lang="en-IN" b="0" dirty="0">
                <a:solidFill>
                  <a:srgbClr val="3B3B3B"/>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mongodb</a:t>
            </a:r>
            <a:r>
              <a:rPr lang="en-IN" b="0" dirty="0">
                <a:solidFill>
                  <a:srgbClr val="A31515"/>
                </a:solidFill>
                <a:effectLst/>
                <a:latin typeface="Consolas" panose="020B0609020204030204" pitchFamily="49" charset="0"/>
              </a:rPr>
              <a:t>://127.0.0.1:27017/</a:t>
            </a:r>
            <a:r>
              <a:rPr lang="en-IN" b="0" dirty="0" err="1">
                <a:solidFill>
                  <a:srgbClr val="A31515"/>
                </a:solidFill>
                <a:effectLst/>
                <a:latin typeface="Consolas" panose="020B0609020204030204" pitchFamily="49" charset="0"/>
              </a:rPr>
              <a:t>mydb</a:t>
            </a:r>
            <a:r>
              <a:rPr lang="en-IN" b="0" dirty="0">
                <a:solidFill>
                  <a:srgbClr val="A31515"/>
                </a:solidFill>
                <a:effectLst/>
                <a:latin typeface="Consolas" panose="020B0609020204030204" pitchFamily="49" charset="0"/>
              </a:rPr>
              <a:t>"</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a:t>
            </a:r>
            <a:r>
              <a:rPr lang="en-IN" b="0" dirty="0">
                <a:solidFill>
                  <a:srgbClr val="795E26"/>
                </a:solidFill>
                <a:effectLst/>
                <a:latin typeface="Consolas" panose="020B0609020204030204" pitchFamily="49" charset="0"/>
              </a:rPr>
              <a:t>then</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console</a:t>
            </a:r>
            <a:r>
              <a:rPr lang="en-IN" b="0" dirty="0">
                <a:solidFill>
                  <a:srgbClr val="3B3B3B"/>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3B3B3B"/>
                </a:solidFill>
                <a:effectLst/>
                <a:latin typeface="Consolas" panose="020B0609020204030204" pitchFamily="49" charset="0"/>
              </a:rPr>
              <a:t>(</a:t>
            </a:r>
            <a:r>
              <a:rPr lang="en-IN" b="0" dirty="0">
                <a:solidFill>
                  <a:srgbClr val="A31515"/>
                </a:solidFill>
                <a:effectLst/>
                <a:latin typeface="Consolas" panose="020B0609020204030204" pitchFamily="49" charset="0"/>
              </a:rPr>
              <a:t>" Connected to MongoDB"</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a:t>
            </a:r>
            <a:r>
              <a:rPr lang="en-IN" b="0" dirty="0">
                <a:solidFill>
                  <a:srgbClr val="795E26"/>
                </a:solidFill>
                <a:effectLst/>
                <a:latin typeface="Consolas" panose="020B0609020204030204" pitchFamily="49" charset="0"/>
              </a:rPr>
              <a:t>catch</a:t>
            </a:r>
            <a:r>
              <a:rPr lang="en-IN" b="0" dirty="0">
                <a:solidFill>
                  <a:srgbClr val="3B3B3B"/>
                </a:solidFill>
                <a:effectLst/>
                <a:latin typeface="Consolas" panose="020B0609020204030204" pitchFamily="49" charset="0"/>
              </a:rPr>
              <a:t>(</a:t>
            </a:r>
            <a:r>
              <a:rPr lang="en-IN" b="0" dirty="0">
                <a:solidFill>
                  <a:srgbClr val="001080"/>
                </a:solidFill>
                <a:effectLst/>
                <a:latin typeface="Consolas" panose="020B0609020204030204" pitchFamily="49" charset="0"/>
              </a:rPr>
              <a:t>err</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3B3B3B"/>
                </a:solidFill>
                <a:effectLst/>
                <a:latin typeface="Consolas" panose="020B0609020204030204" pitchFamily="49" charset="0"/>
              </a:rPr>
              <a:t> </a:t>
            </a:r>
            <a:r>
              <a:rPr lang="en-IN" b="0" dirty="0" err="1">
                <a:solidFill>
                  <a:srgbClr val="001080"/>
                </a:solidFill>
                <a:effectLst/>
                <a:latin typeface="Consolas" panose="020B0609020204030204" pitchFamily="49" charset="0"/>
              </a:rPr>
              <a:t>console</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error</a:t>
            </a:r>
            <a:r>
              <a:rPr lang="en-IN" b="0" dirty="0">
                <a:solidFill>
                  <a:srgbClr val="3B3B3B"/>
                </a:solidFill>
                <a:effectLst/>
                <a:latin typeface="Consolas" panose="020B0609020204030204" pitchFamily="49" charset="0"/>
              </a:rPr>
              <a:t>(</a:t>
            </a:r>
            <a:r>
              <a:rPr lang="en-IN" b="0" dirty="0">
                <a:solidFill>
                  <a:srgbClr val="A31515"/>
                </a:solidFill>
                <a:effectLst/>
                <a:latin typeface="Consolas" panose="020B0609020204030204" pitchFamily="49" charset="0"/>
              </a:rPr>
              <a:t>" MongoDB connection error:"</a:t>
            </a: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err</a:t>
            </a:r>
            <a:r>
              <a:rPr lang="en-IN" b="0" dirty="0">
                <a:solidFill>
                  <a:srgbClr val="3B3B3B"/>
                </a:solidFill>
                <a:effectLst/>
                <a:latin typeface="Consolas" panose="020B0609020204030204" pitchFamily="49" charset="0"/>
              </a:rPr>
              <a:t>));</a:t>
            </a:r>
          </a:p>
        </p:txBody>
      </p:sp>
      <p:sp>
        <p:nvSpPr>
          <p:cNvPr id="13" name="Rectangle 8">
            <a:extLst>
              <a:ext uri="{FF2B5EF4-FFF2-40B4-BE49-F238E27FC236}">
                <a16:creationId xmlns:a16="http://schemas.microsoft.com/office/drawing/2014/main" id="{060D5DB7-ACC7-1545-2546-F5C675B7F2F7}"/>
              </a:ext>
            </a:extLst>
          </p:cNvPr>
          <p:cNvSpPr>
            <a:spLocks noChangeArrowheads="1"/>
          </p:cNvSpPr>
          <p:nvPr/>
        </p:nvSpPr>
        <p:spPr bwMode="auto">
          <a:xfrm>
            <a:off x="404314" y="5266713"/>
            <a:ext cx="9422674" cy="707886"/>
          </a:xfrm>
          <a:prstGeom prst="rect">
            <a:avLst/>
          </a:prstGeom>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mj-lt"/>
              </a:rPr>
              <a:t>Connects to a MongoDB database named </a:t>
            </a:r>
            <a:r>
              <a:rPr kumimoji="0" lang="en-US" altLang="en-US" sz="2000" i="0" u="none" strike="noStrike" cap="none" normalizeH="0" baseline="0" dirty="0" err="1">
                <a:ln>
                  <a:noFill/>
                </a:ln>
                <a:solidFill>
                  <a:schemeClr val="tx1"/>
                </a:solidFill>
                <a:effectLst/>
                <a:latin typeface="+mj-lt"/>
              </a:rPr>
              <a:t>mydb</a:t>
            </a:r>
            <a:r>
              <a:rPr kumimoji="0" lang="en-US" altLang="en-US" sz="2000" i="0" u="none" strike="noStrike" cap="none" normalizeH="0" baseline="0" dirty="0">
                <a:ln>
                  <a:noFill/>
                </a:ln>
                <a:solidFill>
                  <a:schemeClr val="tx1"/>
                </a:solidFill>
                <a:effectLst/>
                <a:latin typeface="+mj-lt"/>
              </a:rPr>
              <a:t> running locally on port 27017.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921818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E2C6D2A-8740-4B29-5576-5F33B32218A1}"/>
              </a:ext>
            </a:extLst>
          </p:cNvPr>
          <p:cNvSpPr txBox="1"/>
          <p:nvPr/>
        </p:nvSpPr>
        <p:spPr>
          <a:xfrm>
            <a:off x="931576" y="41129"/>
            <a:ext cx="10744200" cy="147732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buNone/>
            </a:pPr>
            <a:r>
              <a:rPr lang="en-US" b="0" dirty="0">
                <a:solidFill>
                  <a:srgbClr val="008000"/>
                </a:solidFill>
                <a:effectLst/>
                <a:latin typeface="Consolas" panose="020B0609020204030204" pitchFamily="49" charset="0"/>
              </a:rPr>
              <a:t>//  Middleware</a:t>
            </a:r>
            <a:endParaRPr lang="en-US" b="0" dirty="0">
              <a:solidFill>
                <a:srgbClr val="3B3B3B"/>
              </a:solidFill>
              <a:effectLst/>
              <a:latin typeface="Consolas" panose="020B0609020204030204" pitchFamily="49" charset="0"/>
            </a:endParaRPr>
          </a:p>
          <a:p>
            <a:pPr>
              <a:buNone/>
            </a:pPr>
            <a:r>
              <a:rPr lang="en-US" b="0" dirty="0">
                <a:solidFill>
                  <a:srgbClr val="000000"/>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Adds</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middleware</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to</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parse</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incoming</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JSON</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request</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bodies</a:t>
            </a:r>
            <a:r>
              <a:rPr lang="en-US" b="0" dirty="0">
                <a:solidFill>
                  <a:srgbClr val="3B3B3B"/>
                </a:solidFill>
                <a:effectLst/>
                <a:latin typeface="Consolas" panose="020B0609020204030204" pitchFamily="49" charset="0"/>
              </a:rPr>
              <a:t>.</a:t>
            </a:r>
          </a:p>
          <a:p>
            <a:pPr marL="285750" indent="-285750">
              <a:buFontTx/>
              <a:buChar char="-"/>
            </a:pPr>
            <a:r>
              <a:rPr lang="en-US" b="0" dirty="0">
                <a:solidFill>
                  <a:srgbClr val="001080"/>
                </a:solidFill>
                <a:effectLst/>
                <a:latin typeface="Consolas" panose="020B0609020204030204" pitchFamily="49" charset="0"/>
              </a:rPr>
              <a:t>Without</a:t>
            </a:r>
            <a:r>
              <a:rPr lang="en-US" b="0" dirty="0">
                <a:solidFill>
                  <a:srgbClr val="3B3B3B"/>
                </a:solidFill>
                <a:effectLst/>
                <a:latin typeface="Consolas" panose="020B0609020204030204" pitchFamily="49" charset="0"/>
              </a:rPr>
              <a:t> </a:t>
            </a:r>
            <a:r>
              <a:rPr lang="en-US" b="0" dirty="0">
                <a:solidFill>
                  <a:srgbClr val="0000FF"/>
                </a:solidFill>
                <a:effectLst/>
                <a:latin typeface="Consolas" panose="020B0609020204030204" pitchFamily="49" charset="0"/>
              </a:rPr>
              <a:t>this</a:t>
            </a:r>
            <a:r>
              <a:rPr lang="en-US" b="0" dirty="0">
                <a:solidFill>
                  <a:srgbClr val="3B3B3B"/>
                </a:solidFill>
                <a:effectLst/>
                <a:latin typeface="Consolas" panose="020B0609020204030204" pitchFamily="49" charset="0"/>
              </a:rPr>
              <a:t>, </a:t>
            </a:r>
            <a:r>
              <a:rPr lang="en-US" b="0" dirty="0" err="1">
                <a:solidFill>
                  <a:srgbClr val="001080"/>
                </a:solidFill>
                <a:effectLst/>
                <a:latin typeface="Consolas" panose="020B0609020204030204" pitchFamily="49" charset="0"/>
              </a:rPr>
              <a:t>req</a:t>
            </a:r>
            <a:r>
              <a:rPr lang="en-US" b="0" dirty="0" err="1">
                <a:solidFill>
                  <a:srgbClr val="3B3B3B"/>
                </a:solidFill>
                <a:effectLst/>
                <a:latin typeface="Consolas" panose="020B0609020204030204" pitchFamily="49" charset="0"/>
              </a:rPr>
              <a:t>.</a:t>
            </a:r>
            <a:r>
              <a:rPr lang="en-US" b="0" dirty="0" err="1">
                <a:solidFill>
                  <a:srgbClr val="001080"/>
                </a:solidFill>
                <a:effectLst/>
                <a:latin typeface="Consolas" panose="020B0609020204030204" pitchFamily="49" charset="0"/>
              </a:rPr>
              <a:t>body</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would</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be</a:t>
            </a:r>
            <a:r>
              <a:rPr lang="en-US" b="0" dirty="0">
                <a:solidFill>
                  <a:srgbClr val="3B3B3B"/>
                </a:solidFill>
                <a:effectLst/>
                <a:latin typeface="Consolas" panose="020B0609020204030204" pitchFamily="49" charset="0"/>
              </a:rPr>
              <a:t> </a:t>
            </a:r>
            <a:r>
              <a:rPr lang="en-US" b="0" dirty="0">
                <a:solidFill>
                  <a:srgbClr val="0000FF"/>
                </a:solidFill>
                <a:effectLst/>
                <a:latin typeface="Consolas" panose="020B0609020204030204" pitchFamily="49" charset="0"/>
              </a:rPr>
              <a:t>undefined</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when</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you</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send</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JSON</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data</a:t>
            </a:r>
            <a:r>
              <a:rPr lang="en-US" b="0" dirty="0">
                <a:solidFill>
                  <a:srgbClr val="3B3B3B"/>
                </a:solidFill>
                <a:effectLst/>
                <a:latin typeface="Consolas" panose="020B0609020204030204" pitchFamily="49" charset="0"/>
              </a:rPr>
              <a:t> </a:t>
            </a:r>
            <a:r>
              <a:rPr lang="en-US" b="0" dirty="0">
                <a:solidFill>
                  <a:srgbClr val="0000FF"/>
                </a:solidFill>
                <a:effectLst/>
                <a:latin typeface="Consolas" panose="020B0609020204030204" pitchFamily="49" charset="0"/>
              </a:rPr>
              <a:t>in</a:t>
            </a:r>
            <a:r>
              <a:rPr lang="en-US" b="0" dirty="0">
                <a:solidFill>
                  <a:srgbClr val="3B3B3B"/>
                </a:solidFill>
                <a:effectLst/>
                <a:latin typeface="Consolas" panose="020B0609020204030204" pitchFamily="49" charset="0"/>
              </a:rPr>
              <a:t> </a:t>
            </a:r>
            <a:r>
              <a:rPr lang="en-US" b="0" dirty="0">
                <a:solidFill>
                  <a:srgbClr val="0070C1"/>
                </a:solidFill>
                <a:effectLst/>
                <a:latin typeface="Consolas" panose="020B0609020204030204" pitchFamily="49" charset="0"/>
              </a:rPr>
              <a:t>POST</a:t>
            </a:r>
            <a:r>
              <a:rPr lang="en-US" b="0" dirty="0">
                <a:solidFill>
                  <a:srgbClr val="000000"/>
                </a:solidFill>
                <a:effectLst/>
                <a:latin typeface="Consolas" panose="020B0609020204030204" pitchFamily="49" charset="0"/>
              </a:rPr>
              <a:t>/</a:t>
            </a:r>
            <a:r>
              <a:rPr lang="en-US" b="0" dirty="0">
                <a:solidFill>
                  <a:srgbClr val="0070C1"/>
                </a:solidFill>
                <a:effectLst/>
                <a:latin typeface="Consolas" panose="020B0609020204030204" pitchFamily="49" charset="0"/>
              </a:rPr>
              <a:t>PUT</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requests</a:t>
            </a:r>
            <a:r>
              <a:rPr lang="en-US" b="0" dirty="0">
                <a:solidFill>
                  <a:srgbClr val="3B3B3B"/>
                </a:solidFill>
                <a:effectLst/>
                <a:latin typeface="Consolas" panose="020B0609020204030204" pitchFamily="49" charset="0"/>
              </a:rPr>
              <a:t>.</a:t>
            </a:r>
          </a:p>
          <a:p>
            <a:pPr marL="285750" indent="-285750">
              <a:buFontTx/>
              <a:buChar char="-"/>
            </a:pPr>
            <a:r>
              <a:rPr lang="en-IN" dirty="0" err="1">
                <a:solidFill>
                  <a:srgbClr val="0070C1"/>
                </a:solidFill>
                <a:latin typeface="Consolas" panose="020B0609020204030204" pitchFamily="49" charset="0"/>
              </a:rPr>
              <a:t>app</a:t>
            </a:r>
            <a:r>
              <a:rPr lang="en-IN" dirty="0" err="1">
                <a:solidFill>
                  <a:srgbClr val="3B3B3B"/>
                </a:solidFill>
                <a:latin typeface="Consolas" panose="020B0609020204030204" pitchFamily="49" charset="0"/>
              </a:rPr>
              <a:t>.</a:t>
            </a:r>
            <a:r>
              <a:rPr lang="en-IN" dirty="0" err="1">
                <a:solidFill>
                  <a:srgbClr val="795E26"/>
                </a:solidFill>
                <a:latin typeface="Consolas" panose="020B0609020204030204" pitchFamily="49" charset="0"/>
              </a:rPr>
              <a:t>use</a:t>
            </a:r>
            <a:r>
              <a:rPr lang="en-IN" dirty="0">
                <a:solidFill>
                  <a:srgbClr val="3B3B3B"/>
                </a:solidFill>
                <a:latin typeface="Consolas" panose="020B0609020204030204" pitchFamily="49" charset="0"/>
              </a:rPr>
              <a:t>(</a:t>
            </a:r>
            <a:r>
              <a:rPr lang="en-IN" dirty="0" err="1">
                <a:solidFill>
                  <a:srgbClr val="795E26"/>
                </a:solidFill>
                <a:latin typeface="Consolas" panose="020B0609020204030204" pitchFamily="49" charset="0"/>
              </a:rPr>
              <a:t>express</a:t>
            </a:r>
            <a:r>
              <a:rPr lang="en-IN" dirty="0" err="1">
                <a:solidFill>
                  <a:srgbClr val="3B3B3B"/>
                </a:solidFill>
                <a:latin typeface="Consolas" panose="020B0609020204030204" pitchFamily="49" charset="0"/>
              </a:rPr>
              <a:t>.</a:t>
            </a:r>
            <a:r>
              <a:rPr lang="en-IN" dirty="0" err="1">
                <a:solidFill>
                  <a:srgbClr val="795E26"/>
                </a:solidFill>
                <a:latin typeface="Consolas" panose="020B0609020204030204" pitchFamily="49" charset="0"/>
              </a:rPr>
              <a:t>json</a:t>
            </a:r>
            <a:r>
              <a:rPr lang="en-IN" dirty="0">
                <a:solidFill>
                  <a:srgbClr val="3B3B3B"/>
                </a:solidFill>
                <a:latin typeface="Consolas" panose="020B0609020204030204" pitchFamily="49" charset="0"/>
              </a:rPr>
              <a:t>());</a:t>
            </a:r>
            <a:endParaRPr lang="en-US" b="0" dirty="0">
              <a:solidFill>
                <a:srgbClr val="3B3B3B"/>
              </a:solidFill>
              <a:effectLst/>
              <a:latin typeface="Consolas" panose="020B0609020204030204" pitchFamily="49" charset="0"/>
            </a:endParaRPr>
          </a:p>
        </p:txBody>
      </p:sp>
      <p:sp>
        <p:nvSpPr>
          <p:cNvPr id="9" name="TextBox 8">
            <a:extLst>
              <a:ext uri="{FF2B5EF4-FFF2-40B4-BE49-F238E27FC236}">
                <a16:creationId xmlns:a16="http://schemas.microsoft.com/office/drawing/2014/main" id="{66961B0E-E8E3-BC82-1CF6-ED4C43BBA1A7}"/>
              </a:ext>
            </a:extLst>
          </p:cNvPr>
          <p:cNvSpPr txBox="1"/>
          <p:nvPr/>
        </p:nvSpPr>
        <p:spPr>
          <a:xfrm>
            <a:off x="0" y="1443841"/>
            <a:ext cx="7973786" cy="2862322"/>
          </a:xfrm>
          <a:prstGeom prst="rect">
            <a:avLst/>
          </a:prstGeom>
          <a:noFill/>
        </p:spPr>
        <p:txBody>
          <a:bodyPr wrap="square">
            <a:spAutoFit/>
          </a:bodyPr>
          <a:lstStyle/>
          <a:p>
            <a:pPr>
              <a:buNone/>
            </a:pPr>
            <a:br>
              <a:rPr lang="en-IN" b="0" dirty="0">
                <a:solidFill>
                  <a:srgbClr val="3B3B3B"/>
                </a:solidFill>
                <a:effectLst/>
                <a:latin typeface="Consolas" panose="020B0609020204030204" pitchFamily="49" charset="0"/>
              </a:rPr>
            </a:br>
            <a:endParaRPr lang="en-IN" b="0" dirty="0">
              <a:solidFill>
                <a:srgbClr val="3B3B3B"/>
              </a:solidFill>
              <a:effectLst/>
              <a:latin typeface="Consolas" panose="020B0609020204030204" pitchFamily="49" charset="0"/>
            </a:endParaRPr>
          </a:p>
          <a:p>
            <a:pPr>
              <a:buNone/>
            </a:pPr>
            <a:r>
              <a:rPr lang="en-IN" b="0" dirty="0">
                <a:solidFill>
                  <a:srgbClr val="008000"/>
                </a:solidFill>
                <a:effectLst/>
                <a:latin typeface="Consolas" panose="020B0609020204030204" pitchFamily="49" charset="0"/>
              </a:rPr>
              <a:t>//  Define schema with validation</a:t>
            </a:r>
            <a:endParaRPr lang="en-IN" b="0" dirty="0">
              <a:solidFill>
                <a:srgbClr val="3B3B3B"/>
              </a:solidFill>
              <a:effectLst/>
              <a:latin typeface="Consolas" panose="020B0609020204030204" pitchFamily="49" charset="0"/>
            </a:endParaRPr>
          </a:p>
          <a:p>
            <a:pPr>
              <a:buNone/>
            </a:pPr>
            <a:r>
              <a:rPr lang="en-IN" b="0" dirty="0" err="1">
                <a:solidFill>
                  <a:srgbClr val="0000FF"/>
                </a:solidFill>
                <a:effectLst/>
                <a:latin typeface="Consolas" panose="020B0609020204030204" pitchFamily="49" charset="0"/>
              </a:rPr>
              <a:t>const</a:t>
            </a:r>
            <a:r>
              <a:rPr lang="en-IN" b="0" dirty="0">
                <a:solidFill>
                  <a:srgbClr val="3B3B3B"/>
                </a:solidFill>
                <a:effectLst/>
                <a:latin typeface="Consolas" panose="020B0609020204030204" pitchFamily="49" charset="0"/>
              </a:rPr>
              <a:t> </a:t>
            </a:r>
            <a:r>
              <a:rPr lang="en-IN" b="0" dirty="0" err="1">
                <a:solidFill>
                  <a:srgbClr val="0070C1"/>
                </a:solidFill>
                <a:effectLst/>
                <a:latin typeface="Consolas" panose="020B0609020204030204" pitchFamily="49" charset="0"/>
              </a:rPr>
              <a:t>personSchema</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new</a:t>
            </a:r>
            <a:r>
              <a:rPr lang="en-IN" b="0" dirty="0">
                <a:solidFill>
                  <a:srgbClr val="3B3B3B"/>
                </a:solidFill>
                <a:effectLst/>
                <a:latin typeface="Consolas" panose="020B0609020204030204" pitchFamily="49" charset="0"/>
              </a:rPr>
              <a:t> </a:t>
            </a:r>
            <a:r>
              <a:rPr lang="en-IN" b="0" dirty="0" err="1">
                <a:solidFill>
                  <a:srgbClr val="267F99"/>
                </a:solidFill>
                <a:effectLst/>
                <a:latin typeface="Consolas" panose="020B0609020204030204" pitchFamily="49" charset="0"/>
              </a:rPr>
              <a:t>mongoose</a:t>
            </a:r>
            <a:r>
              <a:rPr lang="en-IN" b="0" dirty="0" err="1">
                <a:solidFill>
                  <a:srgbClr val="3B3B3B"/>
                </a:solidFill>
                <a:effectLst/>
                <a:latin typeface="Consolas" panose="020B0609020204030204" pitchFamily="49" charset="0"/>
              </a:rPr>
              <a:t>.</a:t>
            </a:r>
            <a:r>
              <a:rPr lang="en-IN" b="0" dirty="0" err="1">
                <a:solidFill>
                  <a:srgbClr val="267F99"/>
                </a:solidFill>
                <a:effectLst/>
                <a:latin typeface="Consolas" panose="020B0609020204030204" pitchFamily="49" charset="0"/>
              </a:rPr>
              <a:t>Schema</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r>
              <a:rPr lang="en-IN" b="0" dirty="0" err="1">
                <a:solidFill>
                  <a:srgbClr val="001080"/>
                </a:solidFill>
                <a:effectLst/>
                <a:latin typeface="Consolas" panose="020B0609020204030204" pitchFamily="49" charset="0"/>
              </a:rPr>
              <a:t>firstname</a:t>
            </a:r>
            <a:r>
              <a:rPr lang="en-IN" b="0" dirty="0">
                <a:solidFill>
                  <a:srgbClr val="001080"/>
                </a:solidFill>
                <a:effectLst/>
                <a:latin typeface="Consolas" panose="020B0609020204030204" pitchFamily="49" charset="0"/>
              </a:rPr>
              <a:t>:</a:t>
            </a:r>
            <a:r>
              <a:rPr lang="en-IN" b="0" dirty="0">
                <a:solidFill>
                  <a:srgbClr val="3B3B3B"/>
                </a:solidFill>
                <a:effectLst/>
                <a:latin typeface="Consolas" panose="020B0609020204030204" pitchFamily="49" charset="0"/>
              </a:rPr>
              <a:t> { </a:t>
            </a:r>
            <a:r>
              <a:rPr lang="en-IN" b="0" dirty="0">
                <a:solidFill>
                  <a:srgbClr val="267F99"/>
                </a:solidFill>
                <a:effectLst/>
                <a:latin typeface="Consolas" panose="020B0609020204030204" pitchFamily="49" charset="0"/>
              </a:rPr>
              <a:t>type</a:t>
            </a:r>
            <a:r>
              <a:rPr lang="en-IN" b="0" dirty="0">
                <a:solidFill>
                  <a:srgbClr val="00108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267F99"/>
                </a:solidFill>
                <a:effectLst/>
                <a:latin typeface="Consolas" panose="020B0609020204030204" pitchFamily="49" charset="0"/>
              </a:rPr>
              <a:t>String</a:t>
            </a: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required:</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true</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err="1">
                <a:solidFill>
                  <a:srgbClr val="001080"/>
                </a:solidFill>
                <a:effectLst/>
                <a:latin typeface="Consolas" panose="020B0609020204030204" pitchFamily="49" charset="0"/>
              </a:rPr>
              <a:t>lastname</a:t>
            </a:r>
            <a:r>
              <a:rPr lang="en-IN" b="0" dirty="0">
                <a:solidFill>
                  <a:srgbClr val="001080"/>
                </a:solidFill>
                <a:effectLst/>
                <a:latin typeface="Consolas" panose="020B0609020204030204" pitchFamily="49" charset="0"/>
              </a:rPr>
              <a:t>:</a:t>
            </a:r>
            <a:r>
              <a:rPr lang="en-IN" b="0" dirty="0">
                <a:solidFill>
                  <a:srgbClr val="3B3B3B"/>
                </a:solidFill>
                <a:effectLst/>
                <a:latin typeface="Consolas" panose="020B0609020204030204" pitchFamily="49" charset="0"/>
              </a:rPr>
              <a:t> { </a:t>
            </a:r>
            <a:r>
              <a:rPr lang="en-IN" b="0" dirty="0">
                <a:solidFill>
                  <a:srgbClr val="267F99"/>
                </a:solidFill>
                <a:effectLst/>
                <a:latin typeface="Consolas" panose="020B0609020204030204" pitchFamily="49" charset="0"/>
              </a:rPr>
              <a:t>type</a:t>
            </a:r>
            <a:r>
              <a:rPr lang="en-IN" b="0" dirty="0">
                <a:solidFill>
                  <a:srgbClr val="00108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267F99"/>
                </a:solidFill>
                <a:effectLst/>
                <a:latin typeface="Consolas" panose="020B0609020204030204" pitchFamily="49" charset="0"/>
              </a:rPr>
              <a:t>String</a:t>
            </a: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required:</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true</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a:t>
            </a:r>
          </a:p>
          <a:p>
            <a:pPr>
              <a:buNone/>
            </a:pPr>
            <a:br>
              <a:rPr lang="en-IN" b="0" dirty="0">
                <a:solidFill>
                  <a:srgbClr val="3B3B3B"/>
                </a:solidFill>
                <a:effectLst/>
                <a:latin typeface="Consolas" panose="020B0609020204030204" pitchFamily="49" charset="0"/>
              </a:rPr>
            </a:br>
            <a:r>
              <a:rPr lang="en-IN" b="0" dirty="0">
                <a:solidFill>
                  <a:srgbClr val="008000"/>
                </a:solidFill>
                <a:effectLst/>
                <a:latin typeface="Consolas" panose="020B0609020204030204" pitchFamily="49" charset="0"/>
              </a:rPr>
              <a:t>//  Create model (collection will be `customers`)</a:t>
            </a:r>
            <a:endParaRPr lang="en-IN" b="0" dirty="0">
              <a:solidFill>
                <a:srgbClr val="3B3B3B"/>
              </a:solidFill>
              <a:effectLst/>
              <a:latin typeface="Consolas" panose="020B0609020204030204" pitchFamily="49" charset="0"/>
            </a:endParaRPr>
          </a:p>
          <a:p>
            <a:pPr>
              <a:buNone/>
            </a:pPr>
            <a:r>
              <a:rPr lang="en-IN" b="0" dirty="0" err="1">
                <a:solidFill>
                  <a:srgbClr val="0000FF"/>
                </a:solidFill>
                <a:effectLst/>
                <a:latin typeface="Consolas" panose="020B0609020204030204" pitchFamily="49" charset="0"/>
              </a:rPr>
              <a:t>const</a:t>
            </a:r>
            <a:r>
              <a:rPr lang="en-IN" b="0" dirty="0">
                <a:solidFill>
                  <a:srgbClr val="3B3B3B"/>
                </a:solidFill>
                <a:effectLst/>
                <a:latin typeface="Consolas" panose="020B0609020204030204" pitchFamily="49" charset="0"/>
              </a:rPr>
              <a:t> </a:t>
            </a:r>
            <a:r>
              <a:rPr lang="en-IN" b="0" dirty="0" err="1">
                <a:solidFill>
                  <a:srgbClr val="267F99"/>
                </a:solidFill>
                <a:effectLst/>
                <a:latin typeface="Consolas" panose="020B0609020204030204" pitchFamily="49" charset="0"/>
              </a:rPr>
              <a:t>PersonModel</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err="1">
                <a:solidFill>
                  <a:srgbClr val="267F99"/>
                </a:solidFill>
                <a:effectLst/>
                <a:latin typeface="Consolas" panose="020B0609020204030204" pitchFamily="49" charset="0"/>
              </a:rPr>
              <a:t>mongoose</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model</a:t>
            </a:r>
            <a:r>
              <a:rPr lang="en-IN" b="0" dirty="0">
                <a:solidFill>
                  <a:srgbClr val="3B3B3B"/>
                </a:solidFill>
                <a:effectLst/>
                <a:latin typeface="Consolas" panose="020B0609020204030204" pitchFamily="49" charset="0"/>
              </a:rPr>
              <a:t>(</a:t>
            </a:r>
            <a:r>
              <a:rPr lang="en-IN" b="0" dirty="0">
                <a:solidFill>
                  <a:srgbClr val="A31515"/>
                </a:solidFill>
                <a:effectLst/>
                <a:latin typeface="Consolas" panose="020B0609020204030204" pitchFamily="49" charset="0"/>
              </a:rPr>
              <a:t>"customer"</a:t>
            </a:r>
            <a:r>
              <a:rPr lang="en-IN" b="0" dirty="0">
                <a:solidFill>
                  <a:srgbClr val="3B3B3B"/>
                </a:solidFill>
                <a:effectLst/>
                <a:latin typeface="Consolas" panose="020B0609020204030204" pitchFamily="49" charset="0"/>
              </a:rPr>
              <a:t>, </a:t>
            </a:r>
            <a:r>
              <a:rPr lang="en-IN" b="0" dirty="0" err="1">
                <a:solidFill>
                  <a:srgbClr val="0070C1"/>
                </a:solidFill>
                <a:effectLst/>
                <a:latin typeface="Consolas" panose="020B0609020204030204" pitchFamily="49" charset="0"/>
              </a:rPr>
              <a:t>personSchema</a:t>
            </a:r>
            <a:r>
              <a:rPr lang="en-IN" b="0" dirty="0">
                <a:solidFill>
                  <a:srgbClr val="3B3B3B"/>
                </a:solidFill>
                <a:effectLst/>
                <a:latin typeface="Consolas" panose="020B0609020204030204" pitchFamily="49" charset="0"/>
              </a:rPr>
              <a:t>);</a:t>
            </a:r>
          </a:p>
        </p:txBody>
      </p:sp>
      <p:sp>
        <p:nvSpPr>
          <p:cNvPr id="11" name="TextBox 10">
            <a:extLst>
              <a:ext uri="{FF2B5EF4-FFF2-40B4-BE49-F238E27FC236}">
                <a16:creationId xmlns:a16="http://schemas.microsoft.com/office/drawing/2014/main" id="{F7BF57EF-3B79-1667-5D9D-6C1B93199FB1}"/>
              </a:ext>
            </a:extLst>
          </p:cNvPr>
          <p:cNvSpPr txBox="1"/>
          <p:nvPr/>
        </p:nvSpPr>
        <p:spPr>
          <a:xfrm>
            <a:off x="6564087" y="1174069"/>
            <a:ext cx="5479867" cy="2585323"/>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 → This creates a blueprint (schema) for documents in a MongoDB collection.</a:t>
            </a:r>
          </a:p>
          <a:p>
            <a:r>
              <a:rPr lang="en-US" dirty="0"/>
              <a:t> 	:</a:t>
            </a:r>
          </a:p>
          <a:p>
            <a:r>
              <a:rPr lang="en-IN" dirty="0" err="1">
                <a:solidFill>
                  <a:srgbClr val="001080"/>
                </a:solidFill>
                <a:latin typeface="Consolas" panose="020B0609020204030204" pitchFamily="49" charset="0"/>
              </a:rPr>
              <a:t>firstname</a:t>
            </a:r>
            <a:r>
              <a:rPr lang="en-IN" dirty="0">
                <a:solidFill>
                  <a:srgbClr val="001080"/>
                </a:solidFill>
                <a:latin typeface="Consolas" panose="020B0609020204030204" pitchFamily="49" charset="0"/>
              </a:rPr>
              <a:t> </a:t>
            </a:r>
            <a:r>
              <a:rPr lang="en-US" dirty="0"/>
              <a:t> → The field must be a string.</a:t>
            </a:r>
          </a:p>
          <a:p>
            <a:r>
              <a:rPr lang="en-US" dirty="0"/>
              <a:t> 	 → This field is mandatory; </a:t>
            </a:r>
          </a:p>
          <a:p>
            <a:r>
              <a:rPr lang="en-US" dirty="0"/>
              <a:t>MongoDB will reject documents without it.</a:t>
            </a:r>
          </a:p>
          <a:p>
            <a:endParaRPr lang="en-US" dirty="0"/>
          </a:p>
          <a:p>
            <a:r>
              <a:rPr lang="en-US" dirty="0"/>
              <a:t>Together, this schema enforces validation rules so every document must have both  and  as strings.</a:t>
            </a:r>
            <a:endParaRPr lang="en-IN" dirty="0"/>
          </a:p>
        </p:txBody>
      </p:sp>
      <p:cxnSp>
        <p:nvCxnSpPr>
          <p:cNvPr id="13" name="Straight Arrow Connector 12">
            <a:extLst>
              <a:ext uri="{FF2B5EF4-FFF2-40B4-BE49-F238E27FC236}">
                <a16:creationId xmlns:a16="http://schemas.microsoft.com/office/drawing/2014/main" id="{D418F99B-1F47-9F77-92D1-FB4336DB7B3C}"/>
              </a:ext>
            </a:extLst>
          </p:cNvPr>
          <p:cNvCxnSpPr>
            <a:cxnSpLocks/>
          </p:cNvCxnSpPr>
          <p:nvPr/>
        </p:nvCxnSpPr>
        <p:spPr>
          <a:xfrm flipV="1">
            <a:off x="4605867" y="1727200"/>
            <a:ext cx="2446866" cy="1168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C732218A-84F8-5EEF-2194-D7C0C33F754E}"/>
              </a:ext>
            </a:extLst>
          </p:cNvPr>
          <p:cNvSpPr txBox="1"/>
          <p:nvPr/>
        </p:nvSpPr>
        <p:spPr>
          <a:xfrm>
            <a:off x="3176996" y="4377369"/>
            <a:ext cx="9015004" cy="240065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 </a:t>
            </a:r>
            <a:r>
              <a:rPr lang="en-US" dirty="0" err="1"/>
              <a:t>mongoose.model</a:t>
            </a:r>
            <a:r>
              <a:rPr lang="en-US" dirty="0"/>
              <a:t>() → Converts the schema into a Model.</a:t>
            </a:r>
          </a:p>
          <a:p>
            <a:r>
              <a:rPr lang="en-US" dirty="0"/>
              <a:t>- Parameters:</a:t>
            </a:r>
          </a:p>
          <a:p>
            <a:r>
              <a:rPr lang="en-US" dirty="0"/>
              <a:t>- "customer" → The model name. Mongoose automatically pluralizes this to create the collection name.</a:t>
            </a:r>
          </a:p>
          <a:p>
            <a:r>
              <a:rPr lang="en-US" dirty="0"/>
              <a:t>- So "customer" → customer</a:t>
            </a:r>
            <a:r>
              <a:rPr lang="en-US" sz="2400" b="1" dirty="0">
                <a:solidFill>
                  <a:srgbClr val="FF0000"/>
                </a:solidFill>
              </a:rPr>
              <a:t>s</a:t>
            </a:r>
            <a:r>
              <a:rPr lang="en-US" dirty="0"/>
              <a:t> collection in MongoDB.</a:t>
            </a:r>
          </a:p>
          <a:p>
            <a:r>
              <a:rPr lang="en-US" dirty="0"/>
              <a:t>- </a:t>
            </a:r>
            <a:r>
              <a:rPr lang="en-US" dirty="0" err="1"/>
              <a:t>personSchema</a:t>
            </a:r>
            <a:r>
              <a:rPr lang="en-US" dirty="0"/>
              <a:t> → The schema you defined earlier.</a:t>
            </a:r>
          </a:p>
          <a:p>
            <a:r>
              <a:rPr lang="en-US" dirty="0"/>
              <a:t>- </a:t>
            </a:r>
            <a:r>
              <a:rPr lang="en-US" dirty="0" err="1"/>
              <a:t>PersonModel</a:t>
            </a:r>
            <a:r>
              <a:rPr lang="en-US" dirty="0"/>
              <a:t> → This is the actual JavaScript class you’ll use to interact with the customers collection.</a:t>
            </a:r>
          </a:p>
        </p:txBody>
      </p:sp>
      <p:cxnSp>
        <p:nvCxnSpPr>
          <p:cNvPr id="18" name="Straight Arrow Connector 17">
            <a:extLst>
              <a:ext uri="{FF2B5EF4-FFF2-40B4-BE49-F238E27FC236}">
                <a16:creationId xmlns:a16="http://schemas.microsoft.com/office/drawing/2014/main" id="{EE37A5B0-D792-9310-0860-B51E3D009D0E}"/>
              </a:ext>
            </a:extLst>
          </p:cNvPr>
          <p:cNvCxnSpPr/>
          <p:nvPr/>
        </p:nvCxnSpPr>
        <p:spPr>
          <a:xfrm>
            <a:off x="2844800" y="4131733"/>
            <a:ext cx="880533" cy="364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33340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E118461-1A6B-3C0D-C890-2F1F845B73F9}"/>
              </a:ext>
            </a:extLst>
          </p:cNvPr>
          <p:cNvSpPr txBox="1"/>
          <p:nvPr/>
        </p:nvSpPr>
        <p:spPr>
          <a:xfrm>
            <a:off x="996950" y="64744"/>
            <a:ext cx="8147050" cy="230832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buNone/>
            </a:pPr>
            <a:r>
              <a:rPr lang="en-IN" b="0" dirty="0" err="1">
                <a:solidFill>
                  <a:srgbClr val="0070C1"/>
                </a:solidFill>
                <a:effectLst/>
                <a:latin typeface="Consolas" panose="020B0609020204030204" pitchFamily="49" charset="0"/>
              </a:rPr>
              <a:t>app</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get</a:t>
            </a:r>
            <a:r>
              <a:rPr lang="en-IN" b="0" dirty="0">
                <a:solidFill>
                  <a:srgbClr val="3B3B3B"/>
                </a:solidFill>
                <a:effectLst/>
                <a:latin typeface="Consolas" panose="020B0609020204030204" pitchFamily="49" charset="0"/>
              </a:rPr>
              <a:t>(</a:t>
            </a:r>
            <a:r>
              <a:rPr lang="en-IN" b="0" dirty="0">
                <a:solidFill>
                  <a:srgbClr val="A31515"/>
                </a:solidFill>
                <a:effectLst/>
                <a:latin typeface="Consolas" panose="020B0609020204030204" pitchFamily="49" charset="0"/>
              </a:rPr>
              <a:t>"/person"</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async</a:t>
            </a:r>
            <a:r>
              <a:rPr lang="en-IN" b="0" dirty="0">
                <a:solidFill>
                  <a:srgbClr val="3B3B3B"/>
                </a:solidFill>
                <a:effectLst/>
                <a:latin typeface="Consolas" panose="020B0609020204030204" pitchFamily="49" charset="0"/>
              </a:rPr>
              <a:t> (</a:t>
            </a:r>
            <a:r>
              <a:rPr lang="en-IN" b="0" dirty="0" err="1">
                <a:solidFill>
                  <a:srgbClr val="001080"/>
                </a:solidFill>
                <a:effectLst/>
                <a:latin typeface="Consolas" panose="020B0609020204030204" pitchFamily="49" charset="0"/>
              </a:rPr>
              <a:t>req</a:t>
            </a: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res</a:t>
            </a:r>
            <a:r>
              <a:rPr lang="en-IN" b="0" dirty="0">
                <a:solidFill>
                  <a:srgbClr val="3B3B3B"/>
                </a:solidFill>
                <a:effectLst/>
                <a:latin typeface="Consolas" panose="020B0609020204030204" pitchFamily="49" charset="0"/>
              </a:rPr>
              <a:t>, </a:t>
            </a:r>
            <a:r>
              <a:rPr lang="en-IN" b="0" dirty="0">
                <a:solidFill>
                  <a:srgbClr val="795E26"/>
                </a:solidFill>
                <a:effectLst/>
                <a:latin typeface="Consolas" panose="020B0609020204030204" pitchFamily="49" charset="0"/>
              </a:rPr>
              <a:t>next</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a:solidFill>
                  <a:srgbClr val="AF00DB"/>
                </a:solidFill>
                <a:effectLst/>
                <a:latin typeface="Consolas" panose="020B0609020204030204" pitchFamily="49" charset="0"/>
              </a:rPr>
              <a:t>try</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3B3B3B"/>
                </a:solidFill>
                <a:effectLst/>
                <a:latin typeface="Consolas" panose="020B0609020204030204" pitchFamily="49" charset="0"/>
              </a:rPr>
              <a:t> </a:t>
            </a:r>
            <a:r>
              <a:rPr lang="en-IN" b="0" dirty="0">
                <a:solidFill>
                  <a:srgbClr val="0070C1"/>
                </a:solidFill>
                <a:effectLst/>
                <a:latin typeface="Consolas" panose="020B0609020204030204" pitchFamily="49" charset="0"/>
              </a:rPr>
              <a:t>result</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AF00DB"/>
                </a:solidFill>
                <a:effectLst/>
                <a:latin typeface="Consolas" panose="020B0609020204030204" pitchFamily="49" charset="0"/>
              </a:rPr>
              <a:t>await</a:t>
            </a:r>
            <a:r>
              <a:rPr lang="en-IN" b="0" dirty="0">
                <a:solidFill>
                  <a:srgbClr val="3B3B3B"/>
                </a:solidFill>
                <a:effectLst/>
                <a:latin typeface="Consolas" panose="020B0609020204030204" pitchFamily="49" charset="0"/>
              </a:rPr>
              <a:t> </a:t>
            </a:r>
            <a:r>
              <a:rPr lang="en-IN" b="0" dirty="0" err="1">
                <a:solidFill>
                  <a:srgbClr val="267F99"/>
                </a:solidFill>
                <a:effectLst/>
                <a:latin typeface="Consolas" panose="020B0609020204030204" pitchFamily="49" charset="0"/>
              </a:rPr>
              <a:t>PersonModel</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find</a:t>
            </a:r>
            <a:r>
              <a:rPr lang="en-IN" b="0" dirty="0">
                <a:solidFill>
                  <a:srgbClr val="3B3B3B"/>
                </a:solidFill>
                <a:effectLst/>
                <a:latin typeface="Consolas" panose="020B0609020204030204" pitchFamily="49" charset="0"/>
              </a:rPr>
              <a:t>().</a:t>
            </a:r>
            <a:r>
              <a:rPr lang="en-IN" b="0" dirty="0">
                <a:solidFill>
                  <a:srgbClr val="795E26"/>
                </a:solidFill>
                <a:effectLst/>
                <a:latin typeface="Consolas" panose="020B0609020204030204" pitchFamily="49" charset="0"/>
              </a:rPr>
              <a:t>exec</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r>
              <a:rPr lang="en-IN" b="0" dirty="0" err="1">
                <a:solidFill>
                  <a:srgbClr val="001080"/>
                </a:solidFill>
                <a:effectLst/>
                <a:latin typeface="Consolas" panose="020B0609020204030204" pitchFamily="49" charset="0"/>
              </a:rPr>
              <a:t>res</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json</a:t>
            </a:r>
            <a:r>
              <a:rPr lang="en-IN" b="0" dirty="0">
                <a:solidFill>
                  <a:srgbClr val="3B3B3B"/>
                </a:solidFill>
                <a:effectLst/>
                <a:latin typeface="Consolas" panose="020B0609020204030204" pitchFamily="49" charset="0"/>
              </a:rPr>
              <a:t>(</a:t>
            </a:r>
            <a:r>
              <a:rPr lang="en-IN" b="0" dirty="0">
                <a:solidFill>
                  <a:srgbClr val="0070C1"/>
                </a:solidFill>
                <a:effectLst/>
                <a:latin typeface="Consolas" panose="020B0609020204030204" pitchFamily="49" charset="0"/>
              </a:rPr>
              <a:t>result</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 </a:t>
            </a:r>
            <a:r>
              <a:rPr lang="en-IN" b="0" dirty="0">
                <a:solidFill>
                  <a:srgbClr val="AF00DB"/>
                </a:solidFill>
                <a:effectLst/>
                <a:latin typeface="Consolas" panose="020B0609020204030204" pitchFamily="49" charset="0"/>
              </a:rPr>
              <a:t>catch</a:t>
            </a: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error</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a:solidFill>
                  <a:srgbClr val="795E26"/>
                </a:solidFill>
                <a:effectLst/>
                <a:latin typeface="Consolas" panose="020B0609020204030204" pitchFamily="49" charset="0"/>
              </a:rPr>
              <a:t>next</a:t>
            </a:r>
            <a:r>
              <a:rPr lang="en-IN" b="0" dirty="0">
                <a:solidFill>
                  <a:srgbClr val="3B3B3B"/>
                </a:solidFill>
                <a:effectLst/>
                <a:latin typeface="Consolas" panose="020B0609020204030204" pitchFamily="49" charset="0"/>
              </a:rPr>
              <a:t>(</a:t>
            </a:r>
            <a:r>
              <a:rPr lang="en-IN" b="0" dirty="0">
                <a:solidFill>
                  <a:srgbClr val="001080"/>
                </a:solidFill>
                <a:effectLst/>
                <a:latin typeface="Consolas" panose="020B0609020204030204" pitchFamily="49" charset="0"/>
              </a:rPr>
              <a:t>error</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a:t>
            </a:r>
          </a:p>
        </p:txBody>
      </p:sp>
      <p:sp>
        <p:nvSpPr>
          <p:cNvPr id="7" name="TextBox 6">
            <a:extLst>
              <a:ext uri="{FF2B5EF4-FFF2-40B4-BE49-F238E27FC236}">
                <a16:creationId xmlns:a16="http://schemas.microsoft.com/office/drawing/2014/main" id="{BA15AFE8-BC97-5BA4-1B66-2E77EF16623C}"/>
              </a:ext>
            </a:extLst>
          </p:cNvPr>
          <p:cNvSpPr txBox="1"/>
          <p:nvPr/>
        </p:nvSpPr>
        <p:spPr>
          <a:xfrm>
            <a:off x="659341" y="2822433"/>
            <a:ext cx="10716684" cy="120032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 </a:t>
            </a:r>
            <a:r>
              <a:rPr lang="en-US" dirty="0" err="1"/>
              <a:t>PersonModel.find</a:t>
            </a:r>
            <a:r>
              <a:rPr lang="en-US" dirty="0"/>
              <a:t>() → Queries the customers collection (remember, your model was customer) for all documents.</a:t>
            </a:r>
          </a:p>
          <a:p>
            <a:r>
              <a:rPr lang="en-US" dirty="0"/>
              <a:t>- .exec() → Executes the query and returns a real Promise.</a:t>
            </a:r>
          </a:p>
          <a:p>
            <a:r>
              <a:rPr lang="en-US" dirty="0"/>
              <a:t>- await → Pauses execution until the query finishes.</a:t>
            </a:r>
          </a:p>
          <a:p>
            <a:r>
              <a:rPr lang="en-US" dirty="0"/>
              <a:t>- result → Will contain an array of person objects from MongoDB.</a:t>
            </a:r>
          </a:p>
        </p:txBody>
      </p:sp>
      <p:sp>
        <p:nvSpPr>
          <p:cNvPr id="9" name="TextBox 8">
            <a:extLst>
              <a:ext uri="{FF2B5EF4-FFF2-40B4-BE49-F238E27FC236}">
                <a16:creationId xmlns:a16="http://schemas.microsoft.com/office/drawing/2014/main" id="{263DF2FB-8C44-CE04-3DC5-678229B6503C}"/>
              </a:ext>
            </a:extLst>
          </p:cNvPr>
          <p:cNvSpPr txBox="1"/>
          <p:nvPr/>
        </p:nvSpPr>
        <p:spPr>
          <a:xfrm>
            <a:off x="5327651" y="1105005"/>
            <a:ext cx="6134100" cy="369332"/>
          </a:xfrm>
          <a:prstGeom prst="rect">
            <a:avLst/>
          </a:prstGeom>
          <a:noFill/>
        </p:spPr>
        <p:txBody>
          <a:bodyPr wrap="square">
            <a:spAutoFit/>
          </a:bodyPr>
          <a:lstStyle/>
          <a:p>
            <a:r>
              <a:rPr lang="en-US" dirty="0"/>
              <a:t>- Sends the query result back to the client as a JSON response.</a:t>
            </a:r>
          </a:p>
        </p:txBody>
      </p:sp>
      <p:cxnSp>
        <p:nvCxnSpPr>
          <p:cNvPr id="11" name="Straight Arrow Connector 10">
            <a:extLst>
              <a:ext uri="{FF2B5EF4-FFF2-40B4-BE49-F238E27FC236}">
                <a16:creationId xmlns:a16="http://schemas.microsoft.com/office/drawing/2014/main" id="{795211AB-8238-FD65-F7F1-716F6724D612}"/>
              </a:ext>
            </a:extLst>
          </p:cNvPr>
          <p:cNvCxnSpPr>
            <a:cxnSpLocks/>
          </p:cNvCxnSpPr>
          <p:nvPr/>
        </p:nvCxnSpPr>
        <p:spPr>
          <a:xfrm>
            <a:off x="3547533" y="1105005"/>
            <a:ext cx="1871134" cy="859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40582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A32FEB8E-E505-11C9-1AB8-7AB3EB997DF9}"/>
              </a:ext>
            </a:extLst>
          </p:cNvPr>
          <p:cNvSpPr txBox="1"/>
          <p:nvPr/>
        </p:nvSpPr>
        <p:spPr>
          <a:xfrm>
            <a:off x="608541" y="897762"/>
            <a:ext cx="10457392" cy="3416320"/>
          </a:xfrm>
          <a:prstGeom prst="rect">
            <a:avLst/>
          </a:prstGeom>
          <a:noFill/>
        </p:spPr>
        <p:txBody>
          <a:bodyPr wrap="square">
            <a:spAutoFit/>
          </a:bodyPr>
          <a:lstStyle/>
          <a:p>
            <a:pPr>
              <a:buNone/>
            </a:pPr>
            <a:r>
              <a:rPr lang="en-IN" b="0" dirty="0" err="1">
                <a:solidFill>
                  <a:srgbClr val="0070C1"/>
                </a:solidFill>
                <a:effectLst/>
                <a:latin typeface="Consolas" panose="020B0609020204030204" pitchFamily="49" charset="0"/>
              </a:rPr>
              <a:t>app</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get</a:t>
            </a:r>
            <a:r>
              <a:rPr lang="en-IN" b="0" dirty="0">
                <a:solidFill>
                  <a:srgbClr val="3B3B3B"/>
                </a:solidFill>
                <a:effectLst/>
                <a:latin typeface="Consolas" panose="020B0609020204030204" pitchFamily="49" charset="0"/>
              </a:rPr>
              <a:t>(</a:t>
            </a:r>
            <a:r>
              <a:rPr lang="en-IN" b="0" dirty="0">
                <a:solidFill>
                  <a:srgbClr val="A31515"/>
                </a:solidFill>
                <a:effectLst/>
                <a:latin typeface="Consolas" panose="020B0609020204030204" pitchFamily="49" charset="0"/>
              </a:rPr>
              <a:t>"/person/:id"</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async</a:t>
            </a:r>
            <a:r>
              <a:rPr lang="en-IN" b="0" dirty="0">
                <a:solidFill>
                  <a:srgbClr val="3B3B3B"/>
                </a:solidFill>
                <a:effectLst/>
                <a:latin typeface="Consolas" panose="020B0609020204030204" pitchFamily="49" charset="0"/>
              </a:rPr>
              <a:t> (</a:t>
            </a:r>
            <a:r>
              <a:rPr lang="en-IN" b="0" dirty="0" err="1">
                <a:solidFill>
                  <a:srgbClr val="001080"/>
                </a:solidFill>
                <a:effectLst/>
                <a:latin typeface="Consolas" panose="020B0609020204030204" pitchFamily="49" charset="0"/>
              </a:rPr>
              <a:t>req</a:t>
            </a: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res</a:t>
            </a:r>
            <a:r>
              <a:rPr lang="en-IN" b="0" dirty="0">
                <a:solidFill>
                  <a:srgbClr val="3B3B3B"/>
                </a:solidFill>
                <a:effectLst/>
                <a:latin typeface="Consolas" panose="020B0609020204030204" pitchFamily="49" charset="0"/>
              </a:rPr>
              <a:t>, </a:t>
            </a:r>
            <a:r>
              <a:rPr lang="en-IN" b="0" dirty="0">
                <a:solidFill>
                  <a:srgbClr val="795E26"/>
                </a:solidFill>
                <a:effectLst/>
                <a:latin typeface="Consolas" panose="020B0609020204030204" pitchFamily="49" charset="0"/>
              </a:rPr>
              <a:t>next</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a:solidFill>
                  <a:srgbClr val="AF00DB"/>
                </a:solidFill>
                <a:effectLst/>
                <a:latin typeface="Consolas" panose="020B0609020204030204" pitchFamily="49" charset="0"/>
              </a:rPr>
              <a:t>try</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3B3B3B"/>
                </a:solidFill>
                <a:effectLst/>
                <a:latin typeface="Consolas" panose="020B0609020204030204" pitchFamily="49" charset="0"/>
              </a:rPr>
              <a:t> </a:t>
            </a:r>
            <a:r>
              <a:rPr lang="en-IN" b="0" dirty="0">
                <a:solidFill>
                  <a:srgbClr val="0070C1"/>
                </a:solidFill>
                <a:effectLst/>
                <a:latin typeface="Consolas" panose="020B0609020204030204" pitchFamily="49" charset="0"/>
              </a:rPr>
              <a:t>person</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AF00DB"/>
                </a:solidFill>
                <a:effectLst/>
                <a:latin typeface="Consolas" panose="020B0609020204030204" pitchFamily="49" charset="0"/>
              </a:rPr>
              <a:t>await</a:t>
            </a:r>
            <a:r>
              <a:rPr lang="en-IN" b="0" dirty="0">
                <a:solidFill>
                  <a:srgbClr val="3B3B3B"/>
                </a:solidFill>
                <a:effectLst/>
                <a:latin typeface="Consolas" panose="020B0609020204030204" pitchFamily="49" charset="0"/>
              </a:rPr>
              <a:t> </a:t>
            </a:r>
            <a:r>
              <a:rPr lang="en-IN" b="0" dirty="0" err="1">
                <a:solidFill>
                  <a:srgbClr val="267F99"/>
                </a:solidFill>
                <a:effectLst/>
                <a:latin typeface="Consolas" panose="020B0609020204030204" pitchFamily="49" charset="0"/>
              </a:rPr>
              <a:t>PersonModel</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findById</a:t>
            </a:r>
            <a:r>
              <a:rPr lang="en-IN" b="0" dirty="0">
                <a:solidFill>
                  <a:srgbClr val="3B3B3B"/>
                </a:solidFill>
                <a:effectLst/>
                <a:latin typeface="Consolas" panose="020B0609020204030204" pitchFamily="49" charset="0"/>
              </a:rPr>
              <a:t>(</a:t>
            </a:r>
            <a:r>
              <a:rPr lang="en-IN" b="0" dirty="0">
                <a:solidFill>
                  <a:srgbClr val="001080"/>
                </a:solidFill>
                <a:effectLst/>
                <a:latin typeface="Consolas" panose="020B0609020204030204" pitchFamily="49" charset="0"/>
              </a:rPr>
              <a:t>req</a:t>
            </a:r>
            <a:r>
              <a:rPr lang="en-IN" b="0" dirty="0">
                <a:solidFill>
                  <a:srgbClr val="3B3B3B"/>
                </a:solidFill>
                <a:effectLst/>
                <a:latin typeface="Consolas" panose="020B0609020204030204" pitchFamily="49" charset="0"/>
              </a:rPr>
              <a:t>.</a:t>
            </a:r>
            <a:r>
              <a:rPr lang="en-IN" b="0" dirty="0">
                <a:solidFill>
                  <a:srgbClr val="001080"/>
                </a:solidFill>
                <a:effectLst/>
                <a:latin typeface="Consolas" panose="020B0609020204030204" pitchFamily="49" charset="0"/>
              </a:rPr>
              <a:t>params</a:t>
            </a:r>
            <a:r>
              <a:rPr lang="en-IN" b="0" dirty="0">
                <a:solidFill>
                  <a:srgbClr val="3B3B3B"/>
                </a:solidFill>
                <a:effectLst/>
                <a:latin typeface="Consolas" panose="020B0609020204030204" pitchFamily="49" charset="0"/>
              </a:rPr>
              <a:t>.</a:t>
            </a:r>
            <a:r>
              <a:rPr lang="en-IN" b="0" dirty="0">
                <a:solidFill>
                  <a:srgbClr val="001080"/>
                </a:solidFill>
                <a:effectLst/>
                <a:latin typeface="Consolas" panose="020B0609020204030204" pitchFamily="49" charset="0"/>
              </a:rPr>
              <a:t>id</a:t>
            </a:r>
            <a:r>
              <a:rPr lang="en-IN" b="0" dirty="0">
                <a:solidFill>
                  <a:srgbClr val="3B3B3B"/>
                </a:solidFill>
                <a:effectLst/>
                <a:latin typeface="Consolas" panose="020B0609020204030204" pitchFamily="49" charset="0"/>
              </a:rPr>
              <a:t>).</a:t>
            </a:r>
            <a:r>
              <a:rPr lang="en-IN" b="0" dirty="0">
                <a:solidFill>
                  <a:srgbClr val="795E26"/>
                </a:solidFill>
                <a:effectLst/>
                <a:latin typeface="Consolas" panose="020B0609020204030204" pitchFamily="49" charset="0"/>
              </a:rPr>
              <a:t>exec</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r>
              <a:rPr lang="en-IN" b="0" dirty="0">
                <a:solidFill>
                  <a:srgbClr val="AF00DB"/>
                </a:solidFill>
                <a:effectLst/>
                <a:latin typeface="Consolas" panose="020B0609020204030204" pitchFamily="49" charset="0"/>
              </a:rPr>
              <a:t>if</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0070C1"/>
                </a:solidFill>
                <a:effectLst/>
                <a:latin typeface="Consolas" panose="020B0609020204030204" pitchFamily="49" charset="0"/>
              </a:rPr>
              <a:t>person</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r>
              <a:rPr lang="en-IN" b="0" dirty="0">
                <a:solidFill>
                  <a:srgbClr val="AF00DB"/>
                </a:solidFill>
                <a:effectLst/>
                <a:latin typeface="Consolas" panose="020B0609020204030204" pitchFamily="49" charset="0"/>
              </a:rPr>
              <a:t>return</a:t>
            </a:r>
            <a:r>
              <a:rPr lang="en-IN" b="0" dirty="0">
                <a:solidFill>
                  <a:srgbClr val="3B3B3B"/>
                </a:solidFill>
                <a:effectLst/>
                <a:latin typeface="Consolas" panose="020B0609020204030204" pitchFamily="49" charset="0"/>
              </a:rPr>
              <a:t>    </a:t>
            </a:r>
            <a:r>
              <a:rPr lang="en-IN" b="0" dirty="0" err="1">
                <a:solidFill>
                  <a:srgbClr val="001080"/>
                </a:solidFill>
                <a:effectLst/>
                <a:latin typeface="Consolas" panose="020B0609020204030204" pitchFamily="49" charset="0"/>
              </a:rPr>
              <a:t>res</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status</a:t>
            </a:r>
            <a:r>
              <a:rPr lang="en-IN" b="0" dirty="0">
                <a:solidFill>
                  <a:srgbClr val="3B3B3B"/>
                </a:solidFill>
                <a:effectLst/>
                <a:latin typeface="Consolas" panose="020B0609020204030204" pitchFamily="49" charset="0"/>
              </a:rPr>
              <a:t>(</a:t>
            </a:r>
            <a:r>
              <a:rPr lang="en-IN" b="0" dirty="0">
                <a:solidFill>
                  <a:srgbClr val="098658"/>
                </a:solidFill>
                <a:effectLst/>
                <a:latin typeface="Consolas" panose="020B0609020204030204" pitchFamily="49" charset="0"/>
              </a:rPr>
              <a:t>404</a:t>
            </a:r>
            <a:r>
              <a:rPr lang="en-IN" b="0" dirty="0">
                <a:solidFill>
                  <a:srgbClr val="3B3B3B"/>
                </a:solidFill>
                <a:effectLst/>
                <a:latin typeface="Consolas" panose="020B0609020204030204" pitchFamily="49" charset="0"/>
              </a:rPr>
              <a:t>).</a:t>
            </a:r>
            <a:r>
              <a:rPr lang="en-IN" b="0" dirty="0">
                <a:solidFill>
                  <a:srgbClr val="795E26"/>
                </a:solidFill>
                <a:effectLst/>
                <a:latin typeface="Consolas" panose="020B0609020204030204" pitchFamily="49" charset="0"/>
              </a:rPr>
              <a:t>send</a:t>
            </a:r>
            <a:r>
              <a:rPr lang="en-IN" b="0" dirty="0">
                <a:solidFill>
                  <a:srgbClr val="3B3B3B"/>
                </a:solidFill>
                <a:effectLst/>
                <a:latin typeface="Consolas" panose="020B0609020204030204" pitchFamily="49" charset="0"/>
              </a:rPr>
              <a:t>(</a:t>
            </a:r>
            <a:r>
              <a:rPr lang="en-IN" b="0" dirty="0">
                <a:solidFill>
                  <a:srgbClr val="A31515"/>
                </a:solidFill>
                <a:effectLst/>
                <a:latin typeface="Consolas" panose="020B0609020204030204" pitchFamily="49" charset="0"/>
              </a:rPr>
              <a:t>"Person not found"</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r>
              <a:rPr lang="en-IN" b="0" dirty="0" err="1">
                <a:solidFill>
                  <a:srgbClr val="001080"/>
                </a:solidFill>
                <a:effectLst/>
                <a:latin typeface="Consolas" panose="020B0609020204030204" pitchFamily="49" charset="0"/>
              </a:rPr>
              <a:t>res</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json</a:t>
            </a:r>
            <a:r>
              <a:rPr lang="en-IN" b="0" dirty="0">
                <a:solidFill>
                  <a:srgbClr val="3B3B3B"/>
                </a:solidFill>
                <a:effectLst/>
                <a:latin typeface="Consolas" panose="020B0609020204030204" pitchFamily="49" charset="0"/>
              </a:rPr>
              <a:t>(</a:t>
            </a:r>
            <a:r>
              <a:rPr lang="en-IN" b="0" dirty="0">
                <a:solidFill>
                  <a:srgbClr val="0070C1"/>
                </a:solidFill>
                <a:effectLst/>
                <a:latin typeface="Consolas" panose="020B0609020204030204" pitchFamily="49" charset="0"/>
              </a:rPr>
              <a:t>person</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 </a:t>
            </a:r>
            <a:r>
              <a:rPr lang="en-IN" b="0" dirty="0">
                <a:solidFill>
                  <a:srgbClr val="AF00DB"/>
                </a:solidFill>
                <a:effectLst/>
                <a:latin typeface="Consolas" panose="020B0609020204030204" pitchFamily="49" charset="0"/>
              </a:rPr>
              <a:t>catch</a:t>
            </a: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error</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a:solidFill>
                  <a:srgbClr val="795E26"/>
                </a:solidFill>
                <a:effectLst/>
                <a:latin typeface="Consolas" panose="020B0609020204030204" pitchFamily="49" charset="0"/>
              </a:rPr>
              <a:t>next</a:t>
            </a:r>
            <a:r>
              <a:rPr lang="en-IN" b="0" dirty="0">
                <a:solidFill>
                  <a:srgbClr val="3B3B3B"/>
                </a:solidFill>
                <a:effectLst/>
                <a:latin typeface="Consolas" panose="020B0609020204030204" pitchFamily="49" charset="0"/>
              </a:rPr>
              <a:t>(</a:t>
            </a:r>
            <a:r>
              <a:rPr lang="en-IN" b="0" dirty="0">
                <a:solidFill>
                  <a:srgbClr val="001080"/>
                </a:solidFill>
                <a:effectLst/>
                <a:latin typeface="Consolas" panose="020B0609020204030204" pitchFamily="49" charset="0"/>
              </a:rPr>
              <a:t>error</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a:t>
            </a:r>
          </a:p>
          <a:p>
            <a:pPr>
              <a:buNone/>
            </a:pPr>
            <a:br>
              <a:rPr lang="en-IN" b="0" dirty="0">
                <a:solidFill>
                  <a:srgbClr val="3B3B3B"/>
                </a:solidFill>
                <a:effectLst/>
                <a:latin typeface="Consolas" panose="020B0609020204030204" pitchFamily="49" charset="0"/>
              </a:rPr>
            </a:br>
            <a:endParaRPr lang="en-IN" b="0" dirty="0">
              <a:solidFill>
                <a:srgbClr val="3B3B3B"/>
              </a:solidFill>
              <a:effectLst/>
              <a:latin typeface="Consolas" panose="020B0609020204030204" pitchFamily="49" charset="0"/>
            </a:endParaRPr>
          </a:p>
        </p:txBody>
      </p:sp>
      <p:sp>
        <p:nvSpPr>
          <p:cNvPr id="5" name="TextBox 4">
            <a:extLst>
              <a:ext uri="{FF2B5EF4-FFF2-40B4-BE49-F238E27FC236}">
                <a16:creationId xmlns:a16="http://schemas.microsoft.com/office/drawing/2014/main" id="{9D34FDEF-5916-8827-8BE0-F0281F2F7DA9}"/>
              </a:ext>
            </a:extLst>
          </p:cNvPr>
          <p:cNvSpPr txBox="1"/>
          <p:nvPr/>
        </p:nvSpPr>
        <p:spPr>
          <a:xfrm>
            <a:off x="1907116" y="4005071"/>
            <a:ext cx="8887883" cy="147732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 → Queries the  collection for a document with the given .</a:t>
            </a:r>
          </a:p>
          <a:p>
            <a:r>
              <a:rPr lang="en-US" dirty="0"/>
              <a:t> → Extracts the ID from the URL.</a:t>
            </a:r>
          </a:p>
          <a:p>
            <a:r>
              <a:rPr lang="en-US" dirty="0"/>
              <a:t> → Executes the query and returns a real Promise.</a:t>
            </a:r>
          </a:p>
          <a:p>
            <a:r>
              <a:rPr lang="en-US" dirty="0"/>
              <a:t> → Waits until the query finishes.</a:t>
            </a:r>
          </a:p>
          <a:p>
            <a:r>
              <a:rPr lang="en-US" dirty="0"/>
              <a:t> → Will be either the found document or  if no match exists.</a:t>
            </a:r>
            <a:endParaRPr lang="en-IN" dirty="0"/>
          </a:p>
        </p:txBody>
      </p:sp>
    </p:spTree>
    <p:extLst>
      <p:ext uri="{BB962C8B-B14F-4D97-AF65-F5344CB8AC3E}">
        <p14:creationId xmlns:p14="http://schemas.microsoft.com/office/powerpoint/2010/main" val="22530071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D39D357-AE10-CFE6-C328-07A4A8440C44}"/>
              </a:ext>
            </a:extLst>
          </p:cNvPr>
          <p:cNvSpPr txBox="1"/>
          <p:nvPr/>
        </p:nvSpPr>
        <p:spPr>
          <a:xfrm>
            <a:off x="1331382" y="0"/>
            <a:ext cx="10090150" cy="3970318"/>
          </a:xfrm>
          <a:prstGeom prst="rect">
            <a:avLst/>
          </a:prstGeom>
          <a:noFill/>
        </p:spPr>
        <p:txBody>
          <a:bodyPr wrap="square">
            <a:spAutoFit/>
          </a:bodyPr>
          <a:lstStyle/>
          <a:p>
            <a:pPr>
              <a:buNone/>
            </a:pPr>
            <a:r>
              <a:rPr lang="en-IN" b="0" dirty="0">
                <a:solidFill>
                  <a:srgbClr val="008000"/>
                </a:solidFill>
                <a:effectLst/>
                <a:latin typeface="Consolas" panose="020B0609020204030204" pitchFamily="49" charset="0"/>
              </a:rPr>
              <a:t>// PUT update person by ID</a:t>
            </a:r>
            <a:endParaRPr lang="en-IN" b="0" dirty="0">
              <a:solidFill>
                <a:srgbClr val="3B3B3B"/>
              </a:solidFill>
              <a:effectLst/>
              <a:latin typeface="Consolas" panose="020B0609020204030204" pitchFamily="49" charset="0"/>
            </a:endParaRPr>
          </a:p>
          <a:p>
            <a:pPr>
              <a:buNone/>
            </a:pPr>
            <a:r>
              <a:rPr lang="en-IN" b="0" dirty="0" err="1">
                <a:solidFill>
                  <a:srgbClr val="0070C1"/>
                </a:solidFill>
                <a:effectLst/>
                <a:latin typeface="Consolas" panose="020B0609020204030204" pitchFamily="49" charset="0"/>
              </a:rPr>
              <a:t>app</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put</a:t>
            </a:r>
            <a:r>
              <a:rPr lang="en-IN" b="0" dirty="0">
                <a:solidFill>
                  <a:srgbClr val="3B3B3B"/>
                </a:solidFill>
                <a:effectLst/>
                <a:latin typeface="Consolas" panose="020B0609020204030204" pitchFamily="49" charset="0"/>
              </a:rPr>
              <a:t>(</a:t>
            </a:r>
            <a:r>
              <a:rPr lang="en-IN" b="0" dirty="0">
                <a:solidFill>
                  <a:srgbClr val="A31515"/>
                </a:solidFill>
                <a:effectLst/>
                <a:latin typeface="Consolas" panose="020B0609020204030204" pitchFamily="49" charset="0"/>
              </a:rPr>
              <a:t>"/person/:id"</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async</a:t>
            </a:r>
            <a:r>
              <a:rPr lang="en-IN" b="0" dirty="0">
                <a:solidFill>
                  <a:srgbClr val="3B3B3B"/>
                </a:solidFill>
                <a:effectLst/>
                <a:latin typeface="Consolas" panose="020B0609020204030204" pitchFamily="49" charset="0"/>
              </a:rPr>
              <a:t> (</a:t>
            </a:r>
            <a:r>
              <a:rPr lang="en-IN" b="0" dirty="0" err="1">
                <a:solidFill>
                  <a:srgbClr val="001080"/>
                </a:solidFill>
                <a:effectLst/>
                <a:latin typeface="Consolas" panose="020B0609020204030204" pitchFamily="49" charset="0"/>
              </a:rPr>
              <a:t>req</a:t>
            </a: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res</a:t>
            </a:r>
            <a:r>
              <a:rPr lang="en-IN" b="0" dirty="0">
                <a:solidFill>
                  <a:srgbClr val="3B3B3B"/>
                </a:solidFill>
                <a:effectLst/>
                <a:latin typeface="Consolas" panose="020B0609020204030204" pitchFamily="49" charset="0"/>
              </a:rPr>
              <a:t>, </a:t>
            </a:r>
            <a:r>
              <a:rPr lang="en-IN" b="0" dirty="0">
                <a:solidFill>
                  <a:srgbClr val="795E26"/>
                </a:solidFill>
                <a:effectLst/>
                <a:latin typeface="Consolas" panose="020B0609020204030204" pitchFamily="49" charset="0"/>
              </a:rPr>
              <a:t>next</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a:solidFill>
                  <a:srgbClr val="AF00DB"/>
                </a:solidFill>
                <a:effectLst/>
                <a:latin typeface="Consolas" panose="020B0609020204030204" pitchFamily="49" charset="0"/>
              </a:rPr>
              <a:t>try</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3B3B3B"/>
                </a:solidFill>
                <a:effectLst/>
                <a:latin typeface="Consolas" panose="020B0609020204030204" pitchFamily="49" charset="0"/>
              </a:rPr>
              <a:t> </a:t>
            </a:r>
            <a:r>
              <a:rPr lang="en-IN" b="0" dirty="0">
                <a:solidFill>
                  <a:srgbClr val="0070C1"/>
                </a:solidFill>
                <a:effectLst/>
                <a:latin typeface="Consolas" panose="020B0609020204030204" pitchFamily="49" charset="0"/>
              </a:rPr>
              <a:t>person</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AF00DB"/>
                </a:solidFill>
                <a:effectLst/>
                <a:latin typeface="Consolas" panose="020B0609020204030204" pitchFamily="49" charset="0"/>
              </a:rPr>
              <a:t>await</a:t>
            </a:r>
            <a:r>
              <a:rPr lang="en-IN" b="0" dirty="0">
                <a:solidFill>
                  <a:srgbClr val="3B3B3B"/>
                </a:solidFill>
                <a:effectLst/>
                <a:latin typeface="Consolas" panose="020B0609020204030204" pitchFamily="49" charset="0"/>
              </a:rPr>
              <a:t> </a:t>
            </a:r>
            <a:r>
              <a:rPr lang="en-IN" b="0" dirty="0" err="1">
                <a:solidFill>
                  <a:srgbClr val="267F99"/>
                </a:solidFill>
                <a:effectLst/>
                <a:latin typeface="Consolas" panose="020B0609020204030204" pitchFamily="49" charset="0"/>
              </a:rPr>
              <a:t>PersonModel</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findById</a:t>
            </a:r>
            <a:r>
              <a:rPr lang="en-IN" b="0" dirty="0">
                <a:solidFill>
                  <a:srgbClr val="3B3B3B"/>
                </a:solidFill>
                <a:effectLst/>
                <a:latin typeface="Consolas" panose="020B0609020204030204" pitchFamily="49" charset="0"/>
              </a:rPr>
              <a:t>(</a:t>
            </a:r>
            <a:r>
              <a:rPr lang="en-IN" b="0" dirty="0">
                <a:solidFill>
                  <a:srgbClr val="001080"/>
                </a:solidFill>
                <a:effectLst/>
                <a:latin typeface="Consolas" panose="020B0609020204030204" pitchFamily="49" charset="0"/>
              </a:rPr>
              <a:t>req</a:t>
            </a:r>
            <a:r>
              <a:rPr lang="en-IN" b="0" dirty="0">
                <a:solidFill>
                  <a:srgbClr val="3B3B3B"/>
                </a:solidFill>
                <a:effectLst/>
                <a:latin typeface="Consolas" panose="020B0609020204030204" pitchFamily="49" charset="0"/>
              </a:rPr>
              <a:t>.</a:t>
            </a:r>
            <a:r>
              <a:rPr lang="en-IN" b="0" dirty="0">
                <a:solidFill>
                  <a:srgbClr val="001080"/>
                </a:solidFill>
                <a:effectLst/>
                <a:latin typeface="Consolas" panose="020B0609020204030204" pitchFamily="49" charset="0"/>
              </a:rPr>
              <a:t>params</a:t>
            </a:r>
            <a:r>
              <a:rPr lang="en-IN" b="0" dirty="0">
                <a:solidFill>
                  <a:srgbClr val="3B3B3B"/>
                </a:solidFill>
                <a:effectLst/>
                <a:latin typeface="Consolas" panose="020B0609020204030204" pitchFamily="49" charset="0"/>
              </a:rPr>
              <a:t>.</a:t>
            </a:r>
            <a:r>
              <a:rPr lang="en-IN" b="0" dirty="0">
                <a:solidFill>
                  <a:srgbClr val="001080"/>
                </a:solidFill>
                <a:effectLst/>
                <a:latin typeface="Consolas" panose="020B0609020204030204" pitchFamily="49" charset="0"/>
              </a:rPr>
              <a:t>id</a:t>
            </a:r>
            <a:r>
              <a:rPr lang="en-IN" b="0" dirty="0">
                <a:solidFill>
                  <a:srgbClr val="3B3B3B"/>
                </a:solidFill>
                <a:effectLst/>
                <a:latin typeface="Consolas" panose="020B0609020204030204" pitchFamily="49" charset="0"/>
              </a:rPr>
              <a:t>).</a:t>
            </a:r>
            <a:r>
              <a:rPr lang="en-IN" b="0" dirty="0">
                <a:solidFill>
                  <a:srgbClr val="795E26"/>
                </a:solidFill>
                <a:effectLst/>
                <a:latin typeface="Consolas" panose="020B0609020204030204" pitchFamily="49" charset="0"/>
              </a:rPr>
              <a:t>exec</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r>
              <a:rPr lang="en-IN" b="0" dirty="0">
                <a:solidFill>
                  <a:srgbClr val="AF00DB"/>
                </a:solidFill>
                <a:effectLst/>
                <a:latin typeface="Consolas" panose="020B0609020204030204" pitchFamily="49" charset="0"/>
              </a:rPr>
              <a:t>if</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0070C1"/>
                </a:solidFill>
                <a:effectLst/>
                <a:latin typeface="Consolas" panose="020B0609020204030204" pitchFamily="49" charset="0"/>
              </a:rPr>
              <a:t>person</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r>
              <a:rPr lang="en-IN" b="0" dirty="0">
                <a:solidFill>
                  <a:srgbClr val="AF00DB"/>
                </a:solidFill>
                <a:effectLst/>
                <a:latin typeface="Consolas" panose="020B0609020204030204" pitchFamily="49" charset="0"/>
              </a:rPr>
              <a:t>return</a:t>
            </a:r>
            <a:r>
              <a:rPr lang="en-IN" b="0" dirty="0">
                <a:solidFill>
                  <a:srgbClr val="3B3B3B"/>
                </a:solidFill>
                <a:effectLst/>
                <a:latin typeface="Consolas" panose="020B0609020204030204" pitchFamily="49" charset="0"/>
              </a:rPr>
              <a:t>   </a:t>
            </a:r>
            <a:r>
              <a:rPr lang="en-IN" b="0" dirty="0" err="1">
                <a:solidFill>
                  <a:srgbClr val="001080"/>
                </a:solidFill>
                <a:effectLst/>
                <a:latin typeface="Consolas" panose="020B0609020204030204" pitchFamily="49" charset="0"/>
              </a:rPr>
              <a:t>res</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status</a:t>
            </a:r>
            <a:r>
              <a:rPr lang="en-IN" b="0" dirty="0">
                <a:solidFill>
                  <a:srgbClr val="3B3B3B"/>
                </a:solidFill>
                <a:effectLst/>
                <a:latin typeface="Consolas" panose="020B0609020204030204" pitchFamily="49" charset="0"/>
              </a:rPr>
              <a:t>(</a:t>
            </a:r>
            <a:r>
              <a:rPr lang="en-IN" b="0" dirty="0">
                <a:solidFill>
                  <a:srgbClr val="098658"/>
                </a:solidFill>
                <a:effectLst/>
                <a:latin typeface="Consolas" panose="020B0609020204030204" pitchFamily="49" charset="0"/>
              </a:rPr>
              <a:t>404</a:t>
            </a:r>
            <a:r>
              <a:rPr lang="en-IN" b="0" dirty="0">
                <a:solidFill>
                  <a:srgbClr val="3B3B3B"/>
                </a:solidFill>
                <a:effectLst/>
                <a:latin typeface="Consolas" panose="020B0609020204030204" pitchFamily="49" charset="0"/>
              </a:rPr>
              <a:t>).</a:t>
            </a:r>
            <a:r>
              <a:rPr lang="en-IN" b="0" dirty="0">
                <a:solidFill>
                  <a:srgbClr val="795E26"/>
                </a:solidFill>
                <a:effectLst/>
                <a:latin typeface="Consolas" panose="020B0609020204030204" pitchFamily="49" charset="0"/>
              </a:rPr>
              <a:t>send</a:t>
            </a:r>
            <a:r>
              <a:rPr lang="en-IN" b="0" dirty="0">
                <a:solidFill>
                  <a:srgbClr val="3B3B3B"/>
                </a:solidFill>
                <a:effectLst/>
                <a:latin typeface="Consolas" panose="020B0609020204030204" pitchFamily="49" charset="0"/>
              </a:rPr>
              <a:t>(</a:t>
            </a:r>
            <a:r>
              <a:rPr lang="en-IN" b="0" dirty="0">
                <a:solidFill>
                  <a:srgbClr val="A31515"/>
                </a:solidFill>
                <a:effectLst/>
                <a:latin typeface="Consolas" panose="020B0609020204030204" pitchFamily="49" charset="0"/>
              </a:rPr>
              <a:t>"Person not found"</a:t>
            </a:r>
            <a:r>
              <a:rPr lang="en-IN" b="0" dirty="0">
                <a:solidFill>
                  <a:srgbClr val="3B3B3B"/>
                </a:solidFill>
                <a:effectLst/>
                <a:latin typeface="Consolas" panose="020B0609020204030204" pitchFamily="49" charset="0"/>
              </a:rPr>
              <a:t>);</a:t>
            </a:r>
            <a:br>
              <a:rPr lang="en-IN" b="0" dirty="0">
                <a:solidFill>
                  <a:srgbClr val="3B3B3B"/>
                </a:solidFill>
                <a:effectLst/>
                <a:latin typeface="Consolas" panose="020B0609020204030204" pitchFamily="49" charset="0"/>
              </a:rPr>
            </a:br>
            <a:endParaRPr lang="en-IN" b="0" dirty="0">
              <a:solidFill>
                <a:srgbClr val="3B3B3B"/>
              </a:solidFill>
              <a:effectLst/>
              <a:latin typeface="Consolas" panose="020B0609020204030204" pitchFamily="49" charset="0"/>
            </a:endParaRPr>
          </a:p>
          <a:p>
            <a:pPr>
              <a:buNone/>
            </a:pPr>
            <a:r>
              <a:rPr lang="en-IN" b="0" dirty="0">
                <a:solidFill>
                  <a:srgbClr val="3B3B3B"/>
                </a:solidFill>
                <a:effectLst/>
                <a:latin typeface="Consolas" panose="020B0609020204030204" pitchFamily="49" charset="0"/>
              </a:rPr>
              <a:t>    </a:t>
            </a:r>
            <a:r>
              <a:rPr lang="en-IN" b="0" dirty="0" err="1">
                <a:solidFill>
                  <a:srgbClr val="0070C1"/>
                </a:solidFill>
                <a:effectLst/>
                <a:latin typeface="Consolas" panose="020B0609020204030204" pitchFamily="49" charset="0"/>
              </a:rPr>
              <a:t>person</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set</a:t>
            </a:r>
            <a:r>
              <a:rPr lang="en-IN" b="0" dirty="0">
                <a:solidFill>
                  <a:srgbClr val="3B3B3B"/>
                </a:solidFill>
                <a:effectLst/>
                <a:latin typeface="Consolas" panose="020B0609020204030204" pitchFamily="49" charset="0"/>
              </a:rPr>
              <a:t>(</a:t>
            </a:r>
            <a:r>
              <a:rPr lang="en-IN" b="0" dirty="0" err="1">
                <a:solidFill>
                  <a:srgbClr val="001080"/>
                </a:solidFill>
                <a:effectLst/>
                <a:latin typeface="Consolas" panose="020B0609020204030204" pitchFamily="49" charset="0"/>
              </a:rPr>
              <a:t>req</a:t>
            </a:r>
            <a:r>
              <a:rPr lang="en-IN" b="0" dirty="0" err="1">
                <a:solidFill>
                  <a:srgbClr val="3B3B3B"/>
                </a:solidFill>
                <a:effectLst/>
                <a:latin typeface="Consolas" panose="020B0609020204030204" pitchFamily="49" charset="0"/>
              </a:rPr>
              <a:t>.</a:t>
            </a:r>
            <a:r>
              <a:rPr lang="en-IN" b="0" dirty="0" err="1">
                <a:solidFill>
                  <a:srgbClr val="001080"/>
                </a:solidFill>
                <a:effectLst/>
                <a:latin typeface="Consolas" panose="020B0609020204030204" pitchFamily="49" charset="0"/>
              </a:rPr>
              <a:t>body</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3B3B3B"/>
                </a:solidFill>
                <a:effectLst/>
                <a:latin typeface="Consolas" panose="020B0609020204030204" pitchFamily="49" charset="0"/>
              </a:rPr>
              <a:t> </a:t>
            </a:r>
            <a:r>
              <a:rPr lang="en-IN" b="0" dirty="0">
                <a:solidFill>
                  <a:srgbClr val="0070C1"/>
                </a:solidFill>
                <a:effectLst/>
                <a:latin typeface="Consolas" panose="020B0609020204030204" pitchFamily="49" charset="0"/>
              </a:rPr>
              <a:t>result</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AF00DB"/>
                </a:solidFill>
                <a:effectLst/>
                <a:latin typeface="Consolas" panose="020B0609020204030204" pitchFamily="49" charset="0"/>
              </a:rPr>
              <a:t>await</a:t>
            </a:r>
            <a:r>
              <a:rPr lang="en-IN" b="0" dirty="0">
                <a:solidFill>
                  <a:srgbClr val="3B3B3B"/>
                </a:solidFill>
                <a:effectLst/>
                <a:latin typeface="Consolas" panose="020B0609020204030204" pitchFamily="49" charset="0"/>
              </a:rPr>
              <a:t> </a:t>
            </a:r>
            <a:r>
              <a:rPr lang="en-IN" b="0" dirty="0" err="1">
                <a:solidFill>
                  <a:srgbClr val="0070C1"/>
                </a:solidFill>
                <a:effectLst/>
                <a:latin typeface="Consolas" panose="020B0609020204030204" pitchFamily="49" charset="0"/>
              </a:rPr>
              <a:t>person</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save</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r>
              <a:rPr lang="en-IN" b="0" dirty="0" err="1">
                <a:solidFill>
                  <a:srgbClr val="001080"/>
                </a:solidFill>
                <a:effectLst/>
                <a:latin typeface="Consolas" panose="020B0609020204030204" pitchFamily="49" charset="0"/>
              </a:rPr>
              <a:t>res</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json</a:t>
            </a:r>
            <a:r>
              <a:rPr lang="en-IN" b="0" dirty="0">
                <a:solidFill>
                  <a:srgbClr val="3B3B3B"/>
                </a:solidFill>
                <a:effectLst/>
                <a:latin typeface="Consolas" panose="020B0609020204030204" pitchFamily="49" charset="0"/>
              </a:rPr>
              <a:t>(</a:t>
            </a:r>
            <a:r>
              <a:rPr lang="en-IN" b="0" dirty="0">
                <a:solidFill>
                  <a:srgbClr val="0070C1"/>
                </a:solidFill>
                <a:effectLst/>
                <a:latin typeface="Consolas" panose="020B0609020204030204" pitchFamily="49" charset="0"/>
              </a:rPr>
              <a:t>result</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 </a:t>
            </a:r>
            <a:r>
              <a:rPr lang="en-IN" b="0" dirty="0">
                <a:solidFill>
                  <a:srgbClr val="AF00DB"/>
                </a:solidFill>
                <a:effectLst/>
                <a:latin typeface="Consolas" panose="020B0609020204030204" pitchFamily="49" charset="0"/>
              </a:rPr>
              <a:t>catch</a:t>
            </a: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error</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a:solidFill>
                  <a:srgbClr val="795E26"/>
                </a:solidFill>
                <a:effectLst/>
                <a:latin typeface="Consolas" panose="020B0609020204030204" pitchFamily="49" charset="0"/>
              </a:rPr>
              <a:t>next</a:t>
            </a:r>
            <a:r>
              <a:rPr lang="en-IN" b="0" dirty="0">
                <a:solidFill>
                  <a:srgbClr val="3B3B3B"/>
                </a:solidFill>
                <a:effectLst/>
                <a:latin typeface="Consolas" panose="020B0609020204030204" pitchFamily="49" charset="0"/>
              </a:rPr>
              <a:t>(</a:t>
            </a:r>
            <a:r>
              <a:rPr lang="en-IN" b="0" dirty="0">
                <a:solidFill>
                  <a:srgbClr val="001080"/>
                </a:solidFill>
                <a:effectLst/>
                <a:latin typeface="Consolas" panose="020B0609020204030204" pitchFamily="49" charset="0"/>
              </a:rPr>
              <a:t>error</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a:t>
            </a:r>
          </a:p>
        </p:txBody>
      </p:sp>
      <p:sp>
        <p:nvSpPr>
          <p:cNvPr id="7" name="TextBox 6">
            <a:extLst>
              <a:ext uri="{FF2B5EF4-FFF2-40B4-BE49-F238E27FC236}">
                <a16:creationId xmlns:a16="http://schemas.microsoft.com/office/drawing/2014/main" id="{314BEEDD-21D1-AAEC-FCF8-2C76AE911F97}"/>
              </a:ext>
            </a:extLst>
          </p:cNvPr>
          <p:cNvSpPr txBox="1"/>
          <p:nvPr/>
        </p:nvSpPr>
        <p:spPr>
          <a:xfrm>
            <a:off x="2244724" y="3800984"/>
            <a:ext cx="9057217" cy="2585323"/>
          </a:xfrm>
          <a:prstGeom prst="rect">
            <a:avLst/>
          </a:prstGeom>
          <a:noFill/>
        </p:spPr>
        <p:txBody>
          <a:bodyPr wrap="square">
            <a:spAutoFit/>
          </a:bodyPr>
          <a:lstStyle/>
          <a:p>
            <a:pPr marL="285750" indent="-285750">
              <a:buFontTx/>
              <a:buChar char="-"/>
            </a:pPr>
            <a:r>
              <a:rPr lang="en-US" dirty="0" err="1"/>
              <a:t>PersonModel.findById</a:t>
            </a:r>
            <a:r>
              <a:rPr lang="en-US" dirty="0"/>
              <a:t>() → Searches the customers collection for a document with the given _id.</a:t>
            </a:r>
          </a:p>
          <a:p>
            <a:pPr marL="285750" indent="-285750">
              <a:buFontTx/>
              <a:buChar char="-"/>
            </a:pPr>
            <a:endParaRPr lang="en-US" dirty="0"/>
          </a:p>
          <a:p>
            <a:pPr marL="285750" indent="-285750">
              <a:buFontTx/>
              <a:buChar char="-"/>
            </a:pPr>
            <a:r>
              <a:rPr lang="en-US" dirty="0"/>
              <a:t>req.params.id → Extracts the ID from the URL.</a:t>
            </a:r>
          </a:p>
          <a:p>
            <a:pPr marL="285750" indent="-285750">
              <a:buFontTx/>
              <a:buChar char="-"/>
            </a:pPr>
            <a:endParaRPr lang="en-US" dirty="0"/>
          </a:p>
          <a:p>
            <a:pPr marL="285750" indent="-285750">
              <a:buFontTx/>
              <a:buChar char="-"/>
            </a:pPr>
            <a:r>
              <a:rPr lang="en-US" dirty="0"/>
              <a:t>.exec() → Executes the query and returns a real Promise.</a:t>
            </a:r>
          </a:p>
          <a:p>
            <a:pPr marL="285750" indent="-285750">
              <a:buFontTx/>
              <a:buChar char="-"/>
            </a:pPr>
            <a:endParaRPr lang="en-US" dirty="0"/>
          </a:p>
          <a:p>
            <a:pPr marL="285750" indent="-285750">
              <a:buFontTx/>
              <a:buChar char="-"/>
            </a:pPr>
            <a:r>
              <a:rPr lang="en-US" dirty="0"/>
              <a:t>await → Waits until the query finishes.</a:t>
            </a:r>
          </a:p>
          <a:p>
            <a:pPr marL="285750" indent="-285750">
              <a:buFontTx/>
              <a:buChar char="-"/>
            </a:pPr>
            <a:endParaRPr lang="en-US" dirty="0"/>
          </a:p>
          <a:p>
            <a:r>
              <a:rPr lang="en-US" dirty="0"/>
              <a:t>- person → Will be either the found document or null if no match exists.</a:t>
            </a:r>
          </a:p>
        </p:txBody>
      </p:sp>
    </p:spTree>
    <p:extLst>
      <p:ext uri="{BB962C8B-B14F-4D97-AF65-F5344CB8AC3E}">
        <p14:creationId xmlns:p14="http://schemas.microsoft.com/office/powerpoint/2010/main" val="25556823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B927D6E-3346-1A3B-C70D-62E99E198E8D}"/>
              </a:ext>
            </a:extLst>
          </p:cNvPr>
          <p:cNvSpPr txBox="1"/>
          <p:nvPr/>
        </p:nvSpPr>
        <p:spPr>
          <a:xfrm>
            <a:off x="1314448" y="111107"/>
            <a:ext cx="9336617" cy="2862322"/>
          </a:xfrm>
          <a:prstGeom prst="rect">
            <a:avLst/>
          </a:prstGeom>
          <a:noFill/>
        </p:spPr>
        <p:txBody>
          <a:bodyPr wrap="square">
            <a:spAutoFit/>
          </a:bodyPr>
          <a:lstStyle/>
          <a:p>
            <a:pPr>
              <a:buNone/>
            </a:pPr>
            <a:r>
              <a:rPr lang="en-IN" b="0" dirty="0">
                <a:solidFill>
                  <a:srgbClr val="008000"/>
                </a:solidFill>
                <a:effectLst/>
                <a:latin typeface="Consolas" panose="020B0609020204030204" pitchFamily="49" charset="0"/>
              </a:rPr>
              <a:t>// POST new person</a:t>
            </a:r>
            <a:endParaRPr lang="en-IN" b="0" dirty="0">
              <a:solidFill>
                <a:srgbClr val="3B3B3B"/>
              </a:solidFill>
              <a:effectLst/>
              <a:latin typeface="Consolas" panose="020B0609020204030204" pitchFamily="49" charset="0"/>
            </a:endParaRPr>
          </a:p>
          <a:p>
            <a:pPr>
              <a:buNone/>
            </a:pPr>
            <a:r>
              <a:rPr lang="en-IN" b="0" dirty="0" err="1">
                <a:solidFill>
                  <a:srgbClr val="0070C1"/>
                </a:solidFill>
                <a:effectLst/>
                <a:latin typeface="Consolas" panose="020B0609020204030204" pitchFamily="49" charset="0"/>
              </a:rPr>
              <a:t>app</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post</a:t>
            </a:r>
            <a:r>
              <a:rPr lang="en-IN" b="0" dirty="0">
                <a:solidFill>
                  <a:srgbClr val="3B3B3B"/>
                </a:solidFill>
                <a:effectLst/>
                <a:latin typeface="Consolas" panose="020B0609020204030204" pitchFamily="49" charset="0"/>
              </a:rPr>
              <a:t>(</a:t>
            </a:r>
            <a:r>
              <a:rPr lang="en-IN" b="0" dirty="0">
                <a:solidFill>
                  <a:srgbClr val="A31515"/>
                </a:solidFill>
                <a:effectLst/>
                <a:latin typeface="Consolas" panose="020B0609020204030204" pitchFamily="49" charset="0"/>
              </a:rPr>
              <a:t>"/person"</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async</a:t>
            </a:r>
            <a:r>
              <a:rPr lang="en-IN" b="0" dirty="0">
                <a:solidFill>
                  <a:srgbClr val="3B3B3B"/>
                </a:solidFill>
                <a:effectLst/>
                <a:latin typeface="Consolas" panose="020B0609020204030204" pitchFamily="49" charset="0"/>
              </a:rPr>
              <a:t> (</a:t>
            </a:r>
            <a:r>
              <a:rPr lang="en-IN" b="0" dirty="0" err="1">
                <a:solidFill>
                  <a:srgbClr val="001080"/>
                </a:solidFill>
                <a:effectLst/>
                <a:latin typeface="Consolas" panose="020B0609020204030204" pitchFamily="49" charset="0"/>
              </a:rPr>
              <a:t>req</a:t>
            </a: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res</a:t>
            </a:r>
            <a:r>
              <a:rPr lang="en-IN" b="0" dirty="0">
                <a:solidFill>
                  <a:srgbClr val="3B3B3B"/>
                </a:solidFill>
                <a:effectLst/>
                <a:latin typeface="Consolas" panose="020B0609020204030204" pitchFamily="49" charset="0"/>
              </a:rPr>
              <a:t>, </a:t>
            </a:r>
            <a:r>
              <a:rPr lang="en-IN" b="0" dirty="0">
                <a:solidFill>
                  <a:srgbClr val="795E26"/>
                </a:solidFill>
                <a:effectLst/>
                <a:latin typeface="Consolas" panose="020B0609020204030204" pitchFamily="49" charset="0"/>
              </a:rPr>
              <a:t>next</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a:solidFill>
                  <a:srgbClr val="AF00DB"/>
                </a:solidFill>
                <a:effectLst/>
                <a:latin typeface="Consolas" panose="020B0609020204030204" pitchFamily="49" charset="0"/>
              </a:rPr>
              <a:t>try</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3B3B3B"/>
                </a:solidFill>
                <a:effectLst/>
                <a:latin typeface="Consolas" panose="020B0609020204030204" pitchFamily="49" charset="0"/>
              </a:rPr>
              <a:t> </a:t>
            </a:r>
            <a:r>
              <a:rPr lang="en-IN" b="0" dirty="0">
                <a:solidFill>
                  <a:srgbClr val="0070C1"/>
                </a:solidFill>
                <a:effectLst/>
                <a:latin typeface="Consolas" panose="020B0609020204030204" pitchFamily="49" charset="0"/>
              </a:rPr>
              <a:t>person</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new</a:t>
            </a:r>
            <a:r>
              <a:rPr lang="en-IN" b="0" dirty="0">
                <a:solidFill>
                  <a:srgbClr val="3B3B3B"/>
                </a:solidFill>
                <a:effectLst/>
                <a:latin typeface="Consolas" panose="020B0609020204030204" pitchFamily="49" charset="0"/>
              </a:rPr>
              <a:t> </a:t>
            </a:r>
            <a:r>
              <a:rPr lang="en-IN" b="0" dirty="0" err="1">
                <a:solidFill>
                  <a:srgbClr val="267F99"/>
                </a:solidFill>
                <a:effectLst/>
                <a:latin typeface="Consolas" panose="020B0609020204030204" pitchFamily="49" charset="0"/>
              </a:rPr>
              <a:t>PersonModel</a:t>
            </a:r>
            <a:r>
              <a:rPr lang="en-IN" b="0" dirty="0">
                <a:solidFill>
                  <a:srgbClr val="3B3B3B"/>
                </a:solidFill>
                <a:effectLst/>
                <a:latin typeface="Consolas" panose="020B0609020204030204" pitchFamily="49" charset="0"/>
              </a:rPr>
              <a:t>(</a:t>
            </a:r>
            <a:r>
              <a:rPr lang="en-IN" b="0" dirty="0" err="1">
                <a:solidFill>
                  <a:srgbClr val="001080"/>
                </a:solidFill>
                <a:effectLst/>
                <a:latin typeface="Consolas" panose="020B0609020204030204" pitchFamily="49" charset="0"/>
              </a:rPr>
              <a:t>req</a:t>
            </a:r>
            <a:r>
              <a:rPr lang="en-IN" b="0" dirty="0" err="1">
                <a:solidFill>
                  <a:srgbClr val="3B3B3B"/>
                </a:solidFill>
                <a:effectLst/>
                <a:latin typeface="Consolas" panose="020B0609020204030204" pitchFamily="49" charset="0"/>
              </a:rPr>
              <a:t>.</a:t>
            </a:r>
            <a:r>
              <a:rPr lang="en-IN" b="0" dirty="0" err="1">
                <a:solidFill>
                  <a:srgbClr val="001080"/>
                </a:solidFill>
                <a:effectLst/>
                <a:latin typeface="Consolas" panose="020B0609020204030204" pitchFamily="49" charset="0"/>
              </a:rPr>
              <a:t>body</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3B3B3B"/>
                </a:solidFill>
                <a:effectLst/>
                <a:latin typeface="Consolas" panose="020B0609020204030204" pitchFamily="49" charset="0"/>
              </a:rPr>
              <a:t> </a:t>
            </a:r>
            <a:r>
              <a:rPr lang="en-IN" b="0" dirty="0">
                <a:solidFill>
                  <a:srgbClr val="0070C1"/>
                </a:solidFill>
                <a:effectLst/>
                <a:latin typeface="Consolas" panose="020B0609020204030204" pitchFamily="49" charset="0"/>
              </a:rPr>
              <a:t>result</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AF00DB"/>
                </a:solidFill>
                <a:effectLst/>
                <a:latin typeface="Consolas" panose="020B0609020204030204" pitchFamily="49" charset="0"/>
              </a:rPr>
              <a:t>await</a:t>
            </a:r>
            <a:r>
              <a:rPr lang="en-IN" b="0" dirty="0">
                <a:solidFill>
                  <a:srgbClr val="3B3B3B"/>
                </a:solidFill>
                <a:effectLst/>
                <a:latin typeface="Consolas" panose="020B0609020204030204" pitchFamily="49" charset="0"/>
              </a:rPr>
              <a:t> </a:t>
            </a:r>
            <a:r>
              <a:rPr lang="en-IN" b="0" dirty="0" err="1">
                <a:solidFill>
                  <a:srgbClr val="0070C1"/>
                </a:solidFill>
                <a:effectLst/>
                <a:latin typeface="Consolas" panose="020B0609020204030204" pitchFamily="49" charset="0"/>
              </a:rPr>
              <a:t>person</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save</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r>
              <a:rPr lang="en-IN" b="0" dirty="0" err="1">
                <a:solidFill>
                  <a:srgbClr val="001080"/>
                </a:solidFill>
                <a:effectLst/>
                <a:latin typeface="Consolas" panose="020B0609020204030204" pitchFamily="49" charset="0"/>
              </a:rPr>
              <a:t>res</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status</a:t>
            </a:r>
            <a:r>
              <a:rPr lang="en-IN" b="0" dirty="0">
                <a:solidFill>
                  <a:srgbClr val="3B3B3B"/>
                </a:solidFill>
                <a:effectLst/>
                <a:latin typeface="Consolas" panose="020B0609020204030204" pitchFamily="49" charset="0"/>
              </a:rPr>
              <a:t>(</a:t>
            </a:r>
            <a:r>
              <a:rPr lang="en-IN" b="0" dirty="0">
                <a:solidFill>
                  <a:srgbClr val="098658"/>
                </a:solidFill>
                <a:effectLst/>
                <a:latin typeface="Consolas" panose="020B0609020204030204" pitchFamily="49" charset="0"/>
              </a:rPr>
              <a:t>201</a:t>
            </a:r>
            <a:r>
              <a:rPr lang="en-IN" b="0" dirty="0">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json</a:t>
            </a:r>
            <a:r>
              <a:rPr lang="en-IN" b="0" dirty="0">
                <a:solidFill>
                  <a:srgbClr val="3B3B3B"/>
                </a:solidFill>
                <a:effectLst/>
                <a:latin typeface="Consolas" panose="020B0609020204030204" pitchFamily="49" charset="0"/>
              </a:rPr>
              <a:t>(</a:t>
            </a:r>
            <a:r>
              <a:rPr lang="en-IN" b="0" dirty="0">
                <a:solidFill>
                  <a:srgbClr val="0070C1"/>
                </a:solidFill>
                <a:effectLst/>
                <a:latin typeface="Consolas" panose="020B0609020204030204" pitchFamily="49" charset="0"/>
              </a:rPr>
              <a:t>result</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 </a:t>
            </a:r>
            <a:r>
              <a:rPr lang="en-IN" b="0" dirty="0">
                <a:solidFill>
                  <a:srgbClr val="AF00DB"/>
                </a:solidFill>
                <a:effectLst/>
                <a:latin typeface="Consolas" panose="020B0609020204030204" pitchFamily="49" charset="0"/>
              </a:rPr>
              <a:t>catch</a:t>
            </a: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error</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a:solidFill>
                  <a:srgbClr val="795E26"/>
                </a:solidFill>
                <a:effectLst/>
                <a:latin typeface="Consolas" panose="020B0609020204030204" pitchFamily="49" charset="0"/>
              </a:rPr>
              <a:t>next</a:t>
            </a:r>
            <a:r>
              <a:rPr lang="en-IN" b="0" dirty="0">
                <a:solidFill>
                  <a:srgbClr val="3B3B3B"/>
                </a:solidFill>
                <a:effectLst/>
                <a:latin typeface="Consolas" panose="020B0609020204030204" pitchFamily="49" charset="0"/>
              </a:rPr>
              <a:t>(</a:t>
            </a:r>
            <a:r>
              <a:rPr lang="en-IN" b="0" dirty="0">
                <a:solidFill>
                  <a:srgbClr val="001080"/>
                </a:solidFill>
                <a:effectLst/>
                <a:latin typeface="Consolas" panose="020B0609020204030204" pitchFamily="49" charset="0"/>
              </a:rPr>
              <a:t>error</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a:t>
            </a:r>
          </a:p>
        </p:txBody>
      </p:sp>
      <p:sp>
        <p:nvSpPr>
          <p:cNvPr id="9" name="TextBox 8">
            <a:extLst>
              <a:ext uri="{FF2B5EF4-FFF2-40B4-BE49-F238E27FC236}">
                <a16:creationId xmlns:a16="http://schemas.microsoft.com/office/drawing/2014/main" id="{05EDA22B-D382-6955-F6A2-C47B00A6D0C6}"/>
              </a:ext>
            </a:extLst>
          </p:cNvPr>
          <p:cNvSpPr txBox="1"/>
          <p:nvPr/>
        </p:nvSpPr>
        <p:spPr>
          <a:xfrm>
            <a:off x="493184" y="3128692"/>
            <a:ext cx="8117416" cy="1477328"/>
          </a:xfrm>
          <a:prstGeom prst="rect">
            <a:avLst/>
          </a:prstGeom>
          <a:noFill/>
        </p:spPr>
        <p:txBody>
          <a:bodyPr wrap="square">
            <a:spAutoFit/>
          </a:bodyPr>
          <a:lstStyle/>
          <a:p>
            <a:r>
              <a:rPr lang="en-IN" dirty="0"/>
              <a:t>Creates a new Mongoose document using the .</a:t>
            </a:r>
            <a:r>
              <a:rPr lang="en-IN" dirty="0">
                <a:solidFill>
                  <a:srgbClr val="0000FF"/>
                </a:solidFill>
                <a:latin typeface="Consolas" panose="020B0609020204030204" pitchFamily="49" charset="0"/>
              </a:rPr>
              <a:t> new</a:t>
            </a:r>
            <a:r>
              <a:rPr lang="en-IN" dirty="0">
                <a:solidFill>
                  <a:srgbClr val="3B3B3B"/>
                </a:solidFill>
                <a:latin typeface="Consolas" panose="020B0609020204030204" pitchFamily="49" charset="0"/>
              </a:rPr>
              <a:t> </a:t>
            </a:r>
            <a:r>
              <a:rPr lang="en-IN" dirty="0" err="1">
                <a:solidFill>
                  <a:srgbClr val="267F99"/>
                </a:solidFill>
                <a:latin typeface="Consolas" panose="020B0609020204030204" pitchFamily="49" charset="0"/>
              </a:rPr>
              <a:t>PersonModel</a:t>
            </a:r>
            <a:r>
              <a:rPr lang="en-IN" dirty="0">
                <a:solidFill>
                  <a:srgbClr val="3B3B3B"/>
                </a:solidFill>
                <a:latin typeface="Consolas" panose="020B0609020204030204" pitchFamily="49" charset="0"/>
              </a:rPr>
              <a:t>(</a:t>
            </a:r>
            <a:r>
              <a:rPr lang="en-IN" dirty="0" err="1">
                <a:solidFill>
                  <a:srgbClr val="001080"/>
                </a:solidFill>
                <a:latin typeface="Consolas" panose="020B0609020204030204" pitchFamily="49" charset="0"/>
              </a:rPr>
              <a:t>req</a:t>
            </a:r>
            <a:r>
              <a:rPr lang="en-IN" dirty="0" err="1">
                <a:solidFill>
                  <a:srgbClr val="3B3B3B"/>
                </a:solidFill>
                <a:latin typeface="Consolas" panose="020B0609020204030204" pitchFamily="49" charset="0"/>
              </a:rPr>
              <a:t>.</a:t>
            </a:r>
            <a:r>
              <a:rPr lang="en-IN" dirty="0" err="1">
                <a:solidFill>
                  <a:srgbClr val="001080"/>
                </a:solidFill>
                <a:latin typeface="Consolas" panose="020B0609020204030204" pitchFamily="49" charset="0"/>
              </a:rPr>
              <a:t>body</a:t>
            </a:r>
            <a:r>
              <a:rPr lang="en-IN" dirty="0">
                <a:solidFill>
                  <a:srgbClr val="3B3B3B"/>
                </a:solidFill>
                <a:latin typeface="Consolas" panose="020B0609020204030204" pitchFamily="49" charset="0"/>
              </a:rPr>
              <a:t>);</a:t>
            </a:r>
            <a:endParaRPr lang="en-IN" dirty="0"/>
          </a:p>
          <a:p>
            <a:r>
              <a:rPr lang="en-IN" dirty="0"/>
              <a:t>• </a:t>
            </a:r>
            <a:r>
              <a:rPr lang="en-IN" dirty="0" err="1">
                <a:solidFill>
                  <a:srgbClr val="001080"/>
                </a:solidFill>
                <a:latin typeface="Consolas" panose="020B0609020204030204" pitchFamily="49" charset="0"/>
              </a:rPr>
              <a:t>req</a:t>
            </a:r>
            <a:r>
              <a:rPr lang="en-IN" dirty="0" err="1">
                <a:solidFill>
                  <a:srgbClr val="3B3B3B"/>
                </a:solidFill>
                <a:latin typeface="Consolas" panose="020B0609020204030204" pitchFamily="49" charset="0"/>
              </a:rPr>
              <a:t>.</a:t>
            </a:r>
            <a:r>
              <a:rPr lang="en-IN" dirty="0" err="1">
                <a:solidFill>
                  <a:srgbClr val="001080"/>
                </a:solidFill>
                <a:latin typeface="Consolas" panose="020B0609020204030204" pitchFamily="49" charset="0"/>
              </a:rPr>
              <a:t>body</a:t>
            </a:r>
            <a:r>
              <a:rPr lang="en-IN" dirty="0">
                <a:solidFill>
                  <a:srgbClr val="001080"/>
                </a:solidFill>
                <a:latin typeface="Consolas" panose="020B0609020204030204" pitchFamily="49" charset="0"/>
              </a:rPr>
              <a:t> </a:t>
            </a:r>
            <a:r>
              <a:rPr lang="en-IN" dirty="0"/>
              <a:t> contains the JSON data sent by the client.</a:t>
            </a:r>
          </a:p>
          <a:p>
            <a:r>
              <a:rPr lang="en-IN" dirty="0"/>
              <a:t>• Example: If the client sends , {“</a:t>
            </a:r>
            <a:r>
              <a:rPr lang="en-IN" dirty="0" err="1"/>
              <a:t>firstname</a:t>
            </a:r>
            <a:r>
              <a:rPr lang="en-IN" dirty="0"/>
              <a:t>”  :  ”vita”,”</a:t>
            </a:r>
            <a:r>
              <a:rPr lang="en-IN" dirty="0" err="1"/>
              <a:t>lastname</a:t>
            </a:r>
            <a:r>
              <a:rPr lang="en-IN" dirty="0"/>
              <a:t>” :  ”vidya”}</a:t>
            </a:r>
          </a:p>
          <a:p>
            <a:r>
              <a:rPr lang="en-IN" dirty="0"/>
              <a:t>this line builds a new document with those values.</a:t>
            </a:r>
          </a:p>
          <a:p>
            <a:r>
              <a:rPr lang="en-IN" dirty="0"/>
              <a:t>• 	Validation rules from the schema ( and  required) are applied here.</a:t>
            </a:r>
          </a:p>
        </p:txBody>
      </p:sp>
      <p:sp>
        <p:nvSpPr>
          <p:cNvPr id="11" name="TextBox 10">
            <a:extLst>
              <a:ext uri="{FF2B5EF4-FFF2-40B4-BE49-F238E27FC236}">
                <a16:creationId xmlns:a16="http://schemas.microsoft.com/office/drawing/2014/main" id="{85109E3D-12CD-43C1-CA7D-08347801AFD8}"/>
              </a:ext>
            </a:extLst>
          </p:cNvPr>
          <p:cNvSpPr txBox="1"/>
          <p:nvPr/>
        </p:nvSpPr>
        <p:spPr>
          <a:xfrm>
            <a:off x="416983" y="4761283"/>
            <a:ext cx="9912349" cy="1200329"/>
          </a:xfrm>
          <a:prstGeom prst="rect">
            <a:avLst/>
          </a:prstGeom>
          <a:noFill/>
        </p:spPr>
        <p:txBody>
          <a:bodyPr wrap="square">
            <a:spAutoFit/>
          </a:bodyPr>
          <a:lstStyle/>
          <a:p>
            <a:r>
              <a:rPr lang="en-US" dirty="0"/>
              <a:t>- </a:t>
            </a:r>
            <a:r>
              <a:rPr lang="en-IN" dirty="0">
                <a:solidFill>
                  <a:srgbClr val="3B3B3B"/>
                </a:solidFill>
                <a:latin typeface="Consolas" panose="020B0609020204030204" pitchFamily="49" charset="0"/>
              </a:rPr>
              <a:t>    </a:t>
            </a:r>
            <a:r>
              <a:rPr lang="en-IN" dirty="0" err="1">
                <a:solidFill>
                  <a:srgbClr val="0000FF"/>
                </a:solidFill>
                <a:latin typeface="Consolas" panose="020B0609020204030204" pitchFamily="49" charset="0"/>
              </a:rPr>
              <a:t>const</a:t>
            </a:r>
            <a:r>
              <a:rPr lang="en-IN" dirty="0">
                <a:solidFill>
                  <a:srgbClr val="3B3B3B"/>
                </a:solidFill>
                <a:latin typeface="Consolas" panose="020B0609020204030204" pitchFamily="49" charset="0"/>
              </a:rPr>
              <a:t> </a:t>
            </a:r>
            <a:r>
              <a:rPr lang="en-IN" dirty="0">
                <a:solidFill>
                  <a:srgbClr val="0070C1"/>
                </a:solidFill>
                <a:latin typeface="Consolas" panose="020B0609020204030204" pitchFamily="49" charset="0"/>
              </a:rPr>
              <a:t>result</a:t>
            </a:r>
            <a:r>
              <a:rPr lang="en-IN" dirty="0">
                <a:solidFill>
                  <a:srgbClr val="3B3B3B"/>
                </a:solidFill>
                <a:latin typeface="Consolas" panose="020B0609020204030204" pitchFamily="49" charset="0"/>
              </a:rPr>
              <a:t> </a:t>
            </a:r>
            <a:r>
              <a:rPr lang="en-IN" dirty="0">
                <a:solidFill>
                  <a:srgbClr val="000000"/>
                </a:solidFill>
                <a:latin typeface="Consolas" panose="020B0609020204030204" pitchFamily="49" charset="0"/>
              </a:rPr>
              <a:t>=</a:t>
            </a:r>
            <a:r>
              <a:rPr lang="en-IN" dirty="0">
                <a:solidFill>
                  <a:srgbClr val="3B3B3B"/>
                </a:solidFill>
                <a:latin typeface="Consolas" panose="020B0609020204030204" pitchFamily="49" charset="0"/>
              </a:rPr>
              <a:t> </a:t>
            </a:r>
            <a:r>
              <a:rPr lang="en-IN" dirty="0">
                <a:solidFill>
                  <a:srgbClr val="AF00DB"/>
                </a:solidFill>
                <a:latin typeface="Consolas" panose="020B0609020204030204" pitchFamily="49" charset="0"/>
              </a:rPr>
              <a:t>await</a:t>
            </a:r>
            <a:r>
              <a:rPr lang="en-IN" dirty="0">
                <a:solidFill>
                  <a:srgbClr val="3B3B3B"/>
                </a:solidFill>
                <a:latin typeface="Consolas" panose="020B0609020204030204" pitchFamily="49" charset="0"/>
              </a:rPr>
              <a:t> </a:t>
            </a:r>
            <a:r>
              <a:rPr lang="en-IN" dirty="0" err="1">
                <a:solidFill>
                  <a:srgbClr val="0070C1"/>
                </a:solidFill>
                <a:latin typeface="Consolas" panose="020B0609020204030204" pitchFamily="49" charset="0"/>
              </a:rPr>
              <a:t>person</a:t>
            </a:r>
            <a:r>
              <a:rPr lang="en-IN" dirty="0" err="1">
                <a:solidFill>
                  <a:srgbClr val="3B3B3B"/>
                </a:solidFill>
                <a:latin typeface="Consolas" panose="020B0609020204030204" pitchFamily="49" charset="0"/>
              </a:rPr>
              <a:t>.</a:t>
            </a:r>
            <a:r>
              <a:rPr lang="en-IN" dirty="0" err="1">
                <a:solidFill>
                  <a:srgbClr val="795E26"/>
                </a:solidFill>
                <a:latin typeface="Consolas" panose="020B0609020204030204" pitchFamily="49" charset="0"/>
              </a:rPr>
              <a:t>save</a:t>
            </a:r>
            <a:r>
              <a:rPr lang="en-IN" dirty="0">
                <a:solidFill>
                  <a:srgbClr val="3B3B3B"/>
                </a:solidFill>
                <a:latin typeface="Consolas" panose="020B0609020204030204" pitchFamily="49" charset="0"/>
              </a:rPr>
              <a:t>();</a:t>
            </a:r>
            <a:endParaRPr lang="en-US" dirty="0"/>
          </a:p>
          <a:p>
            <a:r>
              <a:rPr lang="en-US" dirty="0"/>
              <a:t>Saves the new document into the </a:t>
            </a:r>
            <a:r>
              <a:rPr lang="en-US" b="1" dirty="0"/>
              <a:t>customers</a:t>
            </a:r>
            <a:r>
              <a:rPr lang="en-US" dirty="0"/>
              <a:t> collection in MongoDB.</a:t>
            </a:r>
          </a:p>
          <a:p>
            <a:r>
              <a:rPr lang="en-US" dirty="0"/>
              <a:t>- </a:t>
            </a:r>
            <a:r>
              <a:rPr lang="en-US" b="1" dirty="0"/>
              <a:t>await</a:t>
            </a:r>
            <a:r>
              <a:rPr lang="en-US" dirty="0"/>
              <a:t> ensures the save completes before moving on.</a:t>
            </a:r>
          </a:p>
          <a:p>
            <a:r>
              <a:rPr lang="en-US" dirty="0"/>
              <a:t>- </a:t>
            </a:r>
            <a:r>
              <a:rPr lang="en-US" b="1" dirty="0"/>
              <a:t>result</a:t>
            </a:r>
            <a:r>
              <a:rPr lang="en-US" dirty="0"/>
              <a:t> contains the saved document, including MongoDB-generated fields like _id</a:t>
            </a:r>
          </a:p>
        </p:txBody>
      </p:sp>
      <p:sp>
        <p:nvSpPr>
          <p:cNvPr id="13" name="TextBox 12">
            <a:extLst>
              <a:ext uri="{FF2B5EF4-FFF2-40B4-BE49-F238E27FC236}">
                <a16:creationId xmlns:a16="http://schemas.microsoft.com/office/drawing/2014/main" id="{97A0BCD4-6726-2822-6D34-F1ED9303208E}"/>
              </a:ext>
            </a:extLst>
          </p:cNvPr>
          <p:cNvSpPr txBox="1"/>
          <p:nvPr/>
        </p:nvSpPr>
        <p:spPr>
          <a:xfrm>
            <a:off x="4521200" y="2298469"/>
            <a:ext cx="7670800" cy="615553"/>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 </a:t>
            </a:r>
            <a:r>
              <a:rPr lang="en-US" sz="1600" dirty="0"/>
              <a:t>Sends a 201 Created status code (best practice for successful POST that creates a resource).</a:t>
            </a:r>
          </a:p>
          <a:p>
            <a:r>
              <a:rPr lang="en-US" sz="1600" dirty="0"/>
              <a:t>- Responds with the saved document as JSON</a:t>
            </a:r>
          </a:p>
        </p:txBody>
      </p:sp>
      <p:cxnSp>
        <p:nvCxnSpPr>
          <p:cNvPr id="15" name="Straight Arrow Connector 14">
            <a:extLst>
              <a:ext uri="{FF2B5EF4-FFF2-40B4-BE49-F238E27FC236}">
                <a16:creationId xmlns:a16="http://schemas.microsoft.com/office/drawing/2014/main" id="{872377EB-D9BD-3590-ABE7-B664CC39CCB0}"/>
              </a:ext>
            </a:extLst>
          </p:cNvPr>
          <p:cNvCxnSpPr/>
          <p:nvPr/>
        </p:nvCxnSpPr>
        <p:spPr>
          <a:xfrm>
            <a:off x="3716867" y="1693333"/>
            <a:ext cx="1312333" cy="7535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39139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B137C78-9C46-E98B-68A1-6F26EE9889ED}"/>
              </a:ext>
            </a:extLst>
          </p:cNvPr>
          <p:cNvSpPr txBox="1"/>
          <p:nvPr/>
        </p:nvSpPr>
        <p:spPr>
          <a:xfrm>
            <a:off x="1195917" y="-264319"/>
            <a:ext cx="10615083" cy="3693319"/>
          </a:xfrm>
          <a:prstGeom prst="rect">
            <a:avLst/>
          </a:prstGeom>
          <a:noFill/>
        </p:spPr>
        <p:txBody>
          <a:bodyPr wrap="square">
            <a:spAutoFit/>
          </a:bodyPr>
          <a:lstStyle/>
          <a:p>
            <a:pPr>
              <a:buNone/>
            </a:pPr>
            <a:endParaRPr lang="en-IN" b="0" dirty="0">
              <a:solidFill>
                <a:srgbClr val="3B3B3B"/>
              </a:solidFill>
              <a:effectLst/>
              <a:latin typeface="Consolas" panose="020B0609020204030204" pitchFamily="49" charset="0"/>
            </a:endParaRPr>
          </a:p>
          <a:p>
            <a:pPr>
              <a:buNone/>
            </a:pPr>
            <a:r>
              <a:rPr lang="en-IN" b="0" dirty="0">
                <a:solidFill>
                  <a:srgbClr val="008000"/>
                </a:solidFill>
                <a:effectLst/>
                <a:latin typeface="Consolas" panose="020B0609020204030204" pitchFamily="49" charset="0"/>
              </a:rPr>
              <a:t>// DELETE person by ID</a:t>
            </a:r>
            <a:endParaRPr lang="en-IN" b="0" dirty="0">
              <a:solidFill>
                <a:srgbClr val="3B3B3B"/>
              </a:solidFill>
              <a:effectLst/>
              <a:latin typeface="Consolas" panose="020B0609020204030204" pitchFamily="49" charset="0"/>
            </a:endParaRPr>
          </a:p>
          <a:p>
            <a:pPr>
              <a:buNone/>
            </a:pPr>
            <a:r>
              <a:rPr lang="en-IN" b="0" dirty="0" err="1">
                <a:solidFill>
                  <a:srgbClr val="0070C1"/>
                </a:solidFill>
                <a:effectLst/>
                <a:latin typeface="Consolas" panose="020B0609020204030204" pitchFamily="49" charset="0"/>
              </a:rPr>
              <a:t>app</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delete</a:t>
            </a:r>
            <a:r>
              <a:rPr lang="en-IN" b="0" dirty="0">
                <a:solidFill>
                  <a:srgbClr val="3B3B3B"/>
                </a:solidFill>
                <a:effectLst/>
                <a:latin typeface="Consolas" panose="020B0609020204030204" pitchFamily="49" charset="0"/>
              </a:rPr>
              <a:t>(</a:t>
            </a:r>
            <a:r>
              <a:rPr lang="en-IN" b="0" dirty="0">
                <a:solidFill>
                  <a:srgbClr val="A31515"/>
                </a:solidFill>
                <a:effectLst/>
                <a:latin typeface="Consolas" panose="020B0609020204030204" pitchFamily="49" charset="0"/>
              </a:rPr>
              <a:t>"/person/:id"</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async</a:t>
            </a:r>
            <a:r>
              <a:rPr lang="en-IN" b="0" dirty="0">
                <a:solidFill>
                  <a:srgbClr val="3B3B3B"/>
                </a:solidFill>
                <a:effectLst/>
                <a:latin typeface="Consolas" panose="020B0609020204030204" pitchFamily="49" charset="0"/>
              </a:rPr>
              <a:t> (</a:t>
            </a:r>
            <a:r>
              <a:rPr lang="en-IN" b="0" dirty="0" err="1">
                <a:solidFill>
                  <a:srgbClr val="001080"/>
                </a:solidFill>
                <a:effectLst/>
                <a:latin typeface="Consolas" panose="020B0609020204030204" pitchFamily="49" charset="0"/>
              </a:rPr>
              <a:t>req</a:t>
            </a: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res</a:t>
            </a:r>
            <a:r>
              <a:rPr lang="en-IN" b="0" dirty="0">
                <a:solidFill>
                  <a:srgbClr val="3B3B3B"/>
                </a:solidFill>
                <a:effectLst/>
                <a:latin typeface="Consolas" panose="020B0609020204030204" pitchFamily="49" charset="0"/>
              </a:rPr>
              <a:t>, </a:t>
            </a:r>
            <a:r>
              <a:rPr lang="en-IN" b="0" dirty="0">
                <a:solidFill>
                  <a:srgbClr val="795E26"/>
                </a:solidFill>
                <a:effectLst/>
                <a:latin typeface="Consolas" panose="020B0609020204030204" pitchFamily="49" charset="0"/>
              </a:rPr>
              <a:t>next</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a:solidFill>
                  <a:srgbClr val="AF00DB"/>
                </a:solidFill>
                <a:effectLst/>
                <a:latin typeface="Consolas" panose="020B0609020204030204" pitchFamily="49" charset="0"/>
              </a:rPr>
              <a:t>try</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3B3B3B"/>
                </a:solidFill>
                <a:effectLst/>
                <a:latin typeface="Consolas" panose="020B0609020204030204" pitchFamily="49" charset="0"/>
              </a:rPr>
              <a:t> </a:t>
            </a:r>
            <a:r>
              <a:rPr lang="en-IN" b="0" dirty="0">
                <a:solidFill>
                  <a:srgbClr val="0070C1"/>
                </a:solidFill>
                <a:effectLst/>
                <a:latin typeface="Consolas" panose="020B0609020204030204" pitchFamily="49" charset="0"/>
              </a:rPr>
              <a:t>result</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AF00DB"/>
                </a:solidFill>
                <a:effectLst/>
                <a:latin typeface="Consolas" panose="020B0609020204030204" pitchFamily="49" charset="0"/>
              </a:rPr>
              <a:t>await</a:t>
            </a:r>
            <a:r>
              <a:rPr lang="en-IN" b="0" dirty="0">
                <a:solidFill>
                  <a:srgbClr val="3B3B3B"/>
                </a:solidFill>
                <a:effectLst/>
                <a:latin typeface="Consolas" panose="020B0609020204030204" pitchFamily="49" charset="0"/>
              </a:rPr>
              <a:t> </a:t>
            </a:r>
            <a:r>
              <a:rPr lang="en-IN" b="0" dirty="0" err="1">
                <a:solidFill>
                  <a:srgbClr val="267F99"/>
                </a:solidFill>
                <a:effectLst/>
                <a:latin typeface="Consolas" panose="020B0609020204030204" pitchFamily="49" charset="0"/>
              </a:rPr>
              <a:t>PersonModel</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deleteOne</a:t>
            </a: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_id:</a:t>
            </a: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req</a:t>
            </a:r>
            <a:r>
              <a:rPr lang="en-IN" b="0" dirty="0">
                <a:solidFill>
                  <a:srgbClr val="3B3B3B"/>
                </a:solidFill>
                <a:effectLst/>
                <a:latin typeface="Consolas" panose="020B0609020204030204" pitchFamily="49" charset="0"/>
              </a:rPr>
              <a:t>.</a:t>
            </a:r>
            <a:r>
              <a:rPr lang="en-IN" b="0" dirty="0">
                <a:solidFill>
                  <a:srgbClr val="001080"/>
                </a:solidFill>
                <a:effectLst/>
                <a:latin typeface="Consolas" panose="020B0609020204030204" pitchFamily="49" charset="0"/>
              </a:rPr>
              <a:t>params</a:t>
            </a:r>
            <a:r>
              <a:rPr lang="en-IN" b="0" dirty="0">
                <a:solidFill>
                  <a:srgbClr val="3B3B3B"/>
                </a:solidFill>
                <a:effectLst/>
                <a:latin typeface="Consolas" panose="020B0609020204030204" pitchFamily="49" charset="0"/>
              </a:rPr>
              <a:t>.</a:t>
            </a:r>
            <a:r>
              <a:rPr lang="en-IN" b="0" dirty="0">
                <a:solidFill>
                  <a:srgbClr val="001080"/>
                </a:solidFill>
                <a:effectLst/>
                <a:latin typeface="Consolas" panose="020B0609020204030204" pitchFamily="49" charset="0"/>
              </a:rPr>
              <a:t>id</a:t>
            </a:r>
            <a:r>
              <a:rPr lang="en-IN" b="0" dirty="0">
                <a:solidFill>
                  <a:srgbClr val="3B3B3B"/>
                </a:solidFill>
                <a:effectLst/>
                <a:latin typeface="Consolas" panose="020B0609020204030204" pitchFamily="49" charset="0"/>
              </a:rPr>
              <a:t> }).</a:t>
            </a:r>
            <a:r>
              <a:rPr lang="en-IN" b="0" dirty="0">
                <a:solidFill>
                  <a:srgbClr val="795E26"/>
                </a:solidFill>
                <a:effectLst/>
                <a:latin typeface="Consolas" panose="020B0609020204030204" pitchFamily="49" charset="0"/>
              </a:rPr>
              <a:t>exec</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r>
              <a:rPr lang="en-IN" b="0" dirty="0">
                <a:solidFill>
                  <a:srgbClr val="AF00DB"/>
                </a:solidFill>
                <a:effectLst/>
                <a:latin typeface="Consolas" panose="020B0609020204030204" pitchFamily="49" charset="0"/>
              </a:rPr>
              <a:t>if</a:t>
            </a:r>
            <a:r>
              <a:rPr lang="en-IN" b="0" dirty="0">
                <a:solidFill>
                  <a:srgbClr val="3B3B3B"/>
                </a:solidFill>
                <a:effectLst/>
                <a:latin typeface="Consolas" panose="020B0609020204030204" pitchFamily="49" charset="0"/>
              </a:rPr>
              <a:t> (</a:t>
            </a:r>
            <a:r>
              <a:rPr lang="en-IN" b="0" dirty="0" err="1">
                <a:solidFill>
                  <a:srgbClr val="0070C1"/>
                </a:solidFill>
                <a:effectLst/>
                <a:latin typeface="Consolas" panose="020B0609020204030204" pitchFamily="49" charset="0"/>
              </a:rPr>
              <a:t>result</a:t>
            </a:r>
            <a:r>
              <a:rPr lang="en-IN" b="0" dirty="0" err="1">
                <a:solidFill>
                  <a:srgbClr val="3B3B3B"/>
                </a:solidFill>
                <a:effectLst/>
                <a:latin typeface="Consolas" panose="020B0609020204030204" pitchFamily="49" charset="0"/>
              </a:rPr>
              <a:t>.</a:t>
            </a:r>
            <a:r>
              <a:rPr lang="en-IN" b="0" dirty="0" err="1">
                <a:solidFill>
                  <a:srgbClr val="001080"/>
                </a:solidFill>
                <a:effectLst/>
                <a:latin typeface="Consolas" panose="020B0609020204030204" pitchFamily="49" charset="0"/>
              </a:rPr>
              <a:t>deletedCount</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098658"/>
                </a:solidFill>
                <a:effectLst/>
                <a:latin typeface="Consolas" panose="020B0609020204030204" pitchFamily="49" charset="0"/>
              </a:rPr>
              <a:t>0</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a:solidFill>
                  <a:srgbClr val="AF00DB"/>
                </a:solidFill>
                <a:effectLst/>
                <a:latin typeface="Consolas" panose="020B0609020204030204" pitchFamily="49" charset="0"/>
              </a:rPr>
              <a:t>return</a:t>
            </a:r>
            <a:r>
              <a:rPr lang="en-IN" b="0" dirty="0">
                <a:solidFill>
                  <a:srgbClr val="3B3B3B"/>
                </a:solidFill>
                <a:effectLst/>
                <a:latin typeface="Consolas" panose="020B0609020204030204" pitchFamily="49" charset="0"/>
              </a:rPr>
              <a:t> </a:t>
            </a:r>
            <a:r>
              <a:rPr lang="en-IN" b="0" dirty="0" err="1">
                <a:solidFill>
                  <a:srgbClr val="001080"/>
                </a:solidFill>
                <a:effectLst/>
                <a:latin typeface="Consolas" panose="020B0609020204030204" pitchFamily="49" charset="0"/>
              </a:rPr>
              <a:t>res</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status</a:t>
            </a:r>
            <a:r>
              <a:rPr lang="en-IN" b="0" dirty="0">
                <a:solidFill>
                  <a:srgbClr val="3B3B3B"/>
                </a:solidFill>
                <a:effectLst/>
                <a:latin typeface="Consolas" panose="020B0609020204030204" pitchFamily="49" charset="0"/>
              </a:rPr>
              <a:t>(</a:t>
            </a:r>
            <a:r>
              <a:rPr lang="en-IN" b="0" dirty="0">
                <a:solidFill>
                  <a:srgbClr val="098658"/>
                </a:solidFill>
                <a:effectLst/>
                <a:latin typeface="Consolas" panose="020B0609020204030204" pitchFamily="49" charset="0"/>
              </a:rPr>
              <a:t>404</a:t>
            </a:r>
            <a:r>
              <a:rPr lang="en-IN" b="0" dirty="0">
                <a:solidFill>
                  <a:srgbClr val="3B3B3B"/>
                </a:solidFill>
                <a:effectLst/>
                <a:latin typeface="Consolas" panose="020B0609020204030204" pitchFamily="49" charset="0"/>
              </a:rPr>
              <a:t>).</a:t>
            </a:r>
            <a:r>
              <a:rPr lang="en-IN" b="0" dirty="0">
                <a:solidFill>
                  <a:srgbClr val="795E26"/>
                </a:solidFill>
                <a:effectLst/>
                <a:latin typeface="Consolas" panose="020B0609020204030204" pitchFamily="49" charset="0"/>
              </a:rPr>
              <a:t>send</a:t>
            </a:r>
            <a:r>
              <a:rPr lang="en-IN" b="0" dirty="0">
                <a:solidFill>
                  <a:srgbClr val="3B3B3B"/>
                </a:solidFill>
                <a:effectLst/>
                <a:latin typeface="Consolas" panose="020B0609020204030204" pitchFamily="49" charset="0"/>
              </a:rPr>
              <a:t>(</a:t>
            </a:r>
            <a:r>
              <a:rPr lang="en-IN" b="0" dirty="0">
                <a:solidFill>
                  <a:srgbClr val="A31515"/>
                </a:solidFill>
                <a:effectLst/>
                <a:latin typeface="Consolas" panose="020B0609020204030204" pitchFamily="49" charset="0"/>
              </a:rPr>
              <a:t>"Person not found"</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err="1">
                <a:solidFill>
                  <a:srgbClr val="001080"/>
                </a:solidFill>
                <a:effectLst/>
                <a:latin typeface="Consolas" panose="020B0609020204030204" pitchFamily="49" charset="0"/>
              </a:rPr>
              <a:t>res</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send</a:t>
            </a:r>
            <a:r>
              <a:rPr lang="en-IN" b="0" dirty="0">
                <a:solidFill>
                  <a:srgbClr val="3B3B3B"/>
                </a:solidFill>
                <a:effectLst/>
                <a:latin typeface="Consolas" panose="020B0609020204030204" pitchFamily="49" charset="0"/>
              </a:rPr>
              <a:t>(</a:t>
            </a:r>
            <a:r>
              <a:rPr lang="en-IN" b="0" dirty="0">
                <a:solidFill>
                  <a:srgbClr val="A31515"/>
                </a:solidFill>
                <a:effectLst/>
                <a:latin typeface="Consolas" panose="020B0609020204030204" pitchFamily="49" charset="0"/>
              </a:rPr>
              <a:t>"Person deleted successfully"</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 </a:t>
            </a:r>
            <a:r>
              <a:rPr lang="en-IN" b="0" dirty="0">
                <a:solidFill>
                  <a:srgbClr val="AF00DB"/>
                </a:solidFill>
                <a:effectLst/>
                <a:latin typeface="Consolas" panose="020B0609020204030204" pitchFamily="49" charset="0"/>
              </a:rPr>
              <a:t>catch</a:t>
            </a: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error</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a:solidFill>
                  <a:srgbClr val="795E26"/>
                </a:solidFill>
                <a:effectLst/>
                <a:latin typeface="Consolas" panose="020B0609020204030204" pitchFamily="49" charset="0"/>
              </a:rPr>
              <a:t>next</a:t>
            </a:r>
            <a:r>
              <a:rPr lang="en-IN" b="0" dirty="0">
                <a:solidFill>
                  <a:srgbClr val="3B3B3B"/>
                </a:solidFill>
                <a:effectLst/>
                <a:latin typeface="Consolas" panose="020B0609020204030204" pitchFamily="49" charset="0"/>
              </a:rPr>
              <a:t>(</a:t>
            </a:r>
            <a:r>
              <a:rPr lang="en-IN" b="0" dirty="0">
                <a:solidFill>
                  <a:srgbClr val="001080"/>
                </a:solidFill>
                <a:effectLst/>
                <a:latin typeface="Consolas" panose="020B0609020204030204" pitchFamily="49" charset="0"/>
              </a:rPr>
              <a:t>error</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a:t>
            </a:r>
          </a:p>
        </p:txBody>
      </p:sp>
      <p:sp>
        <p:nvSpPr>
          <p:cNvPr id="7" name="TextBox 6">
            <a:extLst>
              <a:ext uri="{FF2B5EF4-FFF2-40B4-BE49-F238E27FC236}">
                <a16:creationId xmlns:a16="http://schemas.microsoft.com/office/drawing/2014/main" id="{9C157E41-133D-A053-3B3A-065419632593}"/>
              </a:ext>
            </a:extLst>
          </p:cNvPr>
          <p:cNvSpPr txBox="1"/>
          <p:nvPr/>
        </p:nvSpPr>
        <p:spPr>
          <a:xfrm>
            <a:off x="301624" y="3573271"/>
            <a:ext cx="11229976" cy="1754326"/>
          </a:xfrm>
          <a:prstGeom prst="rect">
            <a:avLst/>
          </a:prstGeom>
          <a:noFill/>
        </p:spPr>
        <p:txBody>
          <a:bodyPr wrap="square">
            <a:spAutoFit/>
          </a:bodyPr>
          <a:lstStyle/>
          <a:p>
            <a:r>
              <a:rPr lang="en-IN" dirty="0"/>
              <a:t>- </a:t>
            </a:r>
            <a:r>
              <a:rPr lang="en-IN" dirty="0" err="1"/>
              <a:t>PersonModel.deleteOne</a:t>
            </a:r>
            <a:r>
              <a:rPr lang="en-IN" dirty="0"/>
              <a:t>() → Attempts to delete a single document from the customers collection where _id matches req.params.id.</a:t>
            </a:r>
          </a:p>
          <a:p>
            <a:r>
              <a:rPr lang="en-IN" dirty="0"/>
              <a:t>- .exec() → Executes the query and returns a Promise.</a:t>
            </a:r>
          </a:p>
          <a:p>
            <a:r>
              <a:rPr lang="en-IN" dirty="0"/>
              <a:t>- await → Waits until the deletion completes.</a:t>
            </a:r>
          </a:p>
          <a:p>
            <a:pPr marL="285750" indent="-285750">
              <a:buFontTx/>
              <a:buChar char="-"/>
            </a:pPr>
            <a:r>
              <a:rPr lang="en-IN" dirty="0"/>
              <a:t>result → Contains metadata about the deletion, not the document itself. Example</a:t>
            </a:r>
          </a:p>
          <a:p>
            <a:pPr marL="285750" indent="-285750">
              <a:buFontTx/>
              <a:buChar char="-"/>
            </a:pPr>
            <a:r>
              <a:rPr lang="en-IN" dirty="0">
                <a:highlight>
                  <a:srgbClr val="FFFF00"/>
                </a:highlight>
              </a:rPr>
              <a:t>{ "acknowledged": </a:t>
            </a:r>
            <a:r>
              <a:rPr lang="en-IN" b="1" dirty="0">
                <a:solidFill>
                  <a:srgbClr val="FF0000"/>
                </a:solidFill>
                <a:highlight>
                  <a:srgbClr val="FFFF00"/>
                </a:highlight>
              </a:rPr>
              <a:t>true</a:t>
            </a:r>
            <a:r>
              <a:rPr lang="en-IN" dirty="0">
                <a:highlight>
                  <a:srgbClr val="FFFF00"/>
                </a:highlight>
              </a:rPr>
              <a:t>, "</a:t>
            </a:r>
            <a:r>
              <a:rPr lang="en-IN" dirty="0" err="1">
                <a:highlight>
                  <a:srgbClr val="FFFF00"/>
                </a:highlight>
              </a:rPr>
              <a:t>deletedCount</a:t>
            </a:r>
            <a:r>
              <a:rPr lang="en-IN" dirty="0">
                <a:highlight>
                  <a:srgbClr val="FFFF00"/>
                </a:highlight>
              </a:rPr>
              <a:t>": </a:t>
            </a:r>
            <a:r>
              <a:rPr lang="en-IN" b="1" dirty="0">
                <a:solidFill>
                  <a:srgbClr val="FF0000"/>
                </a:solidFill>
                <a:highlight>
                  <a:srgbClr val="FFFF00"/>
                </a:highlight>
              </a:rPr>
              <a:t>1</a:t>
            </a:r>
            <a:r>
              <a:rPr lang="en-IN" dirty="0">
                <a:solidFill>
                  <a:srgbClr val="FF0000"/>
                </a:solidFill>
                <a:highlight>
                  <a:srgbClr val="FFFF00"/>
                </a:highlight>
              </a:rPr>
              <a:t> </a:t>
            </a:r>
            <a:r>
              <a:rPr lang="en-IN" dirty="0">
                <a:highlight>
                  <a:srgbClr val="FFFF00"/>
                </a:highlight>
              </a:rPr>
              <a:t>}</a:t>
            </a:r>
          </a:p>
        </p:txBody>
      </p:sp>
      <p:sp>
        <p:nvSpPr>
          <p:cNvPr id="9" name="TextBox 8">
            <a:extLst>
              <a:ext uri="{FF2B5EF4-FFF2-40B4-BE49-F238E27FC236}">
                <a16:creationId xmlns:a16="http://schemas.microsoft.com/office/drawing/2014/main" id="{6874D3B1-1BC1-6C4D-D2B8-767FEC44B08A}"/>
              </a:ext>
            </a:extLst>
          </p:cNvPr>
          <p:cNvSpPr txBox="1"/>
          <p:nvPr/>
        </p:nvSpPr>
        <p:spPr>
          <a:xfrm>
            <a:off x="137583" y="5327597"/>
            <a:ext cx="11229976" cy="2031325"/>
          </a:xfrm>
          <a:prstGeom prst="rect">
            <a:avLst/>
          </a:prstGeom>
          <a:noFill/>
        </p:spPr>
        <p:txBody>
          <a:bodyPr wrap="square">
            <a:spAutoFit/>
          </a:bodyPr>
          <a:lstStyle/>
          <a:p>
            <a:r>
              <a:rPr lang="en-US" dirty="0"/>
              <a:t>- Checks if no document was deleted (</a:t>
            </a:r>
            <a:r>
              <a:rPr lang="en-US" dirty="0" err="1"/>
              <a:t>deletedCount</a:t>
            </a:r>
            <a:r>
              <a:rPr lang="en-US" dirty="0"/>
              <a:t> === 0).</a:t>
            </a:r>
          </a:p>
          <a:p>
            <a:r>
              <a:rPr lang="en-US" dirty="0"/>
              <a:t>- If true, sends a 404 Not Found response with "Person not found".</a:t>
            </a:r>
          </a:p>
          <a:p>
            <a:r>
              <a:rPr lang="en-US" dirty="0"/>
              <a:t>- The return ensures the function stops here.</a:t>
            </a:r>
          </a:p>
          <a:p>
            <a:r>
              <a:rPr lang="en-US" dirty="0"/>
              <a:t>    </a:t>
            </a:r>
            <a:r>
              <a:rPr lang="en-US" dirty="0" err="1"/>
              <a:t>res.send</a:t>
            </a:r>
            <a:r>
              <a:rPr lang="en-US" dirty="0"/>
              <a:t>("Person deleted successfully");</a:t>
            </a:r>
          </a:p>
          <a:p>
            <a:endParaRPr lang="en-US" dirty="0"/>
          </a:p>
          <a:p>
            <a:endParaRPr lang="en-US" dirty="0"/>
          </a:p>
          <a:p>
            <a:r>
              <a:rPr lang="en-US" dirty="0"/>
              <a:t>- </a:t>
            </a:r>
          </a:p>
        </p:txBody>
      </p:sp>
    </p:spTree>
    <p:extLst>
      <p:ext uri="{BB962C8B-B14F-4D97-AF65-F5344CB8AC3E}">
        <p14:creationId xmlns:p14="http://schemas.microsoft.com/office/powerpoint/2010/main" val="37901166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D5A55C2-9E84-FD8B-234D-3EC2DC83F06C}"/>
              </a:ext>
            </a:extLst>
          </p:cNvPr>
          <p:cNvSpPr txBox="1"/>
          <p:nvPr/>
        </p:nvSpPr>
        <p:spPr>
          <a:xfrm>
            <a:off x="728133" y="2867504"/>
            <a:ext cx="9920817" cy="1754326"/>
          </a:xfrm>
          <a:prstGeom prst="rect">
            <a:avLst/>
          </a:prstGeom>
          <a:noFill/>
        </p:spPr>
        <p:txBody>
          <a:bodyPr wrap="square">
            <a:spAutoFit/>
          </a:bodyPr>
          <a:lstStyle/>
          <a:p>
            <a:r>
              <a:rPr lang="en-US" b="0" i="0" dirty="0">
                <a:solidFill>
                  <a:srgbClr val="181818"/>
                </a:solidFill>
                <a:effectLst/>
                <a:latin typeface="Open Sans" panose="020B0606030504020204" pitchFamily="34" charset="0"/>
              </a:rPr>
              <a:t>Error-handling middleware always takes </a:t>
            </a:r>
            <a:r>
              <a:rPr lang="en-US" b="1" i="1" dirty="0">
                <a:solidFill>
                  <a:srgbClr val="383838"/>
                </a:solidFill>
                <a:effectLst/>
                <a:latin typeface="Open Sans" panose="020B0606030504020204" pitchFamily="34" charset="0"/>
              </a:rPr>
              <a:t>four</a:t>
            </a:r>
            <a:r>
              <a:rPr lang="en-US" b="0" i="0" dirty="0">
                <a:solidFill>
                  <a:srgbClr val="181818"/>
                </a:solidFill>
                <a:effectLst/>
                <a:latin typeface="Open Sans" panose="020B0606030504020204" pitchFamily="34" charset="0"/>
              </a:rPr>
              <a:t> arguments. </a:t>
            </a:r>
          </a:p>
          <a:p>
            <a:endParaRPr lang="en-US" dirty="0">
              <a:solidFill>
                <a:srgbClr val="181818"/>
              </a:solidFill>
              <a:latin typeface="Open Sans" panose="020B0606030504020204" pitchFamily="34" charset="0"/>
            </a:endParaRPr>
          </a:p>
          <a:p>
            <a:r>
              <a:rPr lang="en-US" b="0" i="0" dirty="0">
                <a:solidFill>
                  <a:srgbClr val="181818"/>
                </a:solidFill>
                <a:effectLst/>
                <a:latin typeface="Open Sans" panose="020B0606030504020204" pitchFamily="34" charset="0"/>
              </a:rPr>
              <a:t>You must provide four arguments to identify it as an error-handling middleware function. Even if you don’t need to use the </a:t>
            </a:r>
            <a:r>
              <a:rPr lang="en-US" b="0" i="0" dirty="0">
                <a:solidFill>
                  <a:srgbClr val="383838"/>
                </a:solidFill>
                <a:effectLst/>
                <a:latin typeface="Courier New" panose="02070309020205020404" pitchFamily="49" charset="0"/>
              </a:rPr>
              <a:t>next</a:t>
            </a:r>
            <a:r>
              <a:rPr lang="en-US" b="0" i="0" dirty="0">
                <a:solidFill>
                  <a:srgbClr val="181818"/>
                </a:solidFill>
                <a:effectLst/>
                <a:latin typeface="Open Sans" panose="020B0606030504020204" pitchFamily="34" charset="0"/>
              </a:rPr>
              <a:t> object, you must specify it to maintain the signature. Otherwise, the </a:t>
            </a:r>
            <a:r>
              <a:rPr lang="en-US" b="0" i="0" dirty="0">
                <a:solidFill>
                  <a:srgbClr val="383838"/>
                </a:solidFill>
                <a:effectLst/>
                <a:latin typeface="Courier New" panose="02070309020205020404" pitchFamily="49" charset="0"/>
              </a:rPr>
              <a:t>next</a:t>
            </a:r>
            <a:r>
              <a:rPr lang="en-US" b="0" i="0" dirty="0">
                <a:solidFill>
                  <a:srgbClr val="181818"/>
                </a:solidFill>
                <a:effectLst/>
                <a:latin typeface="Open Sans" panose="020B0606030504020204" pitchFamily="34" charset="0"/>
              </a:rPr>
              <a:t> object will be interpreted as regular middleware and will fail to handle errors.</a:t>
            </a:r>
            <a:endParaRPr lang="en-IN" dirty="0"/>
          </a:p>
        </p:txBody>
      </p:sp>
      <p:sp>
        <p:nvSpPr>
          <p:cNvPr id="7" name="TextBox 6">
            <a:extLst>
              <a:ext uri="{FF2B5EF4-FFF2-40B4-BE49-F238E27FC236}">
                <a16:creationId xmlns:a16="http://schemas.microsoft.com/office/drawing/2014/main" id="{D6702186-191A-4E95-8E6C-B332FE283301}"/>
              </a:ext>
            </a:extLst>
          </p:cNvPr>
          <p:cNvSpPr txBox="1"/>
          <p:nvPr/>
        </p:nvSpPr>
        <p:spPr>
          <a:xfrm>
            <a:off x="1136650" y="282181"/>
            <a:ext cx="9048750" cy="2031325"/>
          </a:xfrm>
          <a:prstGeom prst="rect">
            <a:avLst/>
          </a:prstGeom>
          <a:noFill/>
        </p:spPr>
        <p:txBody>
          <a:bodyPr wrap="square">
            <a:spAutoFit/>
          </a:bodyPr>
          <a:lstStyle/>
          <a:p>
            <a:pPr>
              <a:buNone/>
            </a:pPr>
            <a:br>
              <a:rPr lang="en-IN" b="0" dirty="0">
                <a:solidFill>
                  <a:srgbClr val="3B3B3B"/>
                </a:solidFill>
                <a:effectLst/>
                <a:latin typeface="Consolas" panose="020B0609020204030204" pitchFamily="49" charset="0"/>
              </a:rPr>
            </a:br>
            <a:endParaRPr lang="en-IN" b="0" dirty="0">
              <a:solidFill>
                <a:srgbClr val="3B3B3B"/>
              </a:solidFill>
              <a:effectLst/>
              <a:latin typeface="Consolas" panose="020B0609020204030204" pitchFamily="49" charset="0"/>
            </a:endParaRPr>
          </a:p>
          <a:p>
            <a:pPr>
              <a:buNone/>
            </a:pPr>
            <a:r>
              <a:rPr lang="en-IN" b="0" dirty="0">
                <a:solidFill>
                  <a:srgbClr val="008000"/>
                </a:solidFill>
                <a:effectLst/>
                <a:latin typeface="Consolas" panose="020B0609020204030204" pitchFamily="49" charset="0"/>
              </a:rPr>
              <a:t>// ------------------- ERROR HANDLER -------------------</a:t>
            </a:r>
            <a:endParaRPr lang="en-IN" b="0" dirty="0">
              <a:solidFill>
                <a:srgbClr val="3B3B3B"/>
              </a:solidFill>
              <a:effectLst/>
              <a:latin typeface="Consolas" panose="020B0609020204030204" pitchFamily="49" charset="0"/>
            </a:endParaRPr>
          </a:p>
          <a:p>
            <a:pPr>
              <a:buNone/>
            </a:pPr>
            <a:r>
              <a:rPr lang="en-IN" b="0" dirty="0" err="1">
                <a:solidFill>
                  <a:srgbClr val="001080"/>
                </a:solidFill>
                <a:effectLst/>
                <a:latin typeface="Consolas" panose="020B0609020204030204" pitchFamily="49" charset="0"/>
              </a:rPr>
              <a:t>app</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use</a:t>
            </a:r>
            <a:r>
              <a:rPr lang="en-IN" b="0" dirty="0">
                <a:solidFill>
                  <a:srgbClr val="3B3B3B"/>
                </a:solidFill>
                <a:effectLst/>
                <a:latin typeface="Consolas" panose="020B0609020204030204" pitchFamily="49" charset="0"/>
              </a:rPr>
              <a:t>((</a:t>
            </a:r>
            <a:r>
              <a:rPr lang="en-IN" b="1" dirty="0">
                <a:solidFill>
                  <a:srgbClr val="001080"/>
                </a:solidFill>
                <a:effectLst/>
                <a:latin typeface="Consolas" panose="020B0609020204030204" pitchFamily="49" charset="0"/>
              </a:rPr>
              <a:t>err</a:t>
            </a:r>
            <a:r>
              <a:rPr lang="en-IN" b="0" dirty="0">
                <a:solidFill>
                  <a:srgbClr val="3B3B3B"/>
                </a:solidFill>
                <a:effectLst/>
                <a:latin typeface="Consolas" panose="020B0609020204030204" pitchFamily="49" charset="0"/>
              </a:rPr>
              <a:t>, </a:t>
            </a:r>
            <a:r>
              <a:rPr lang="en-IN" b="0" dirty="0" err="1">
                <a:solidFill>
                  <a:srgbClr val="001080"/>
                </a:solidFill>
                <a:effectLst/>
                <a:latin typeface="Consolas" panose="020B0609020204030204" pitchFamily="49" charset="0"/>
              </a:rPr>
              <a:t>req</a:t>
            </a: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res</a:t>
            </a: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next</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err="1">
                <a:solidFill>
                  <a:srgbClr val="001080"/>
                </a:solidFill>
                <a:effectLst/>
                <a:latin typeface="Consolas" panose="020B0609020204030204" pitchFamily="49" charset="0"/>
              </a:rPr>
              <a:t>console</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error</a:t>
            </a:r>
            <a:r>
              <a:rPr lang="en-IN" b="0" dirty="0">
                <a:solidFill>
                  <a:srgbClr val="3B3B3B"/>
                </a:solidFill>
                <a:effectLst/>
                <a:latin typeface="Consolas" panose="020B0609020204030204" pitchFamily="49" charset="0"/>
              </a:rPr>
              <a:t>(</a:t>
            </a:r>
            <a:r>
              <a:rPr lang="en-IN" b="0" dirty="0" err="1">
                <a:solidFill>
                  <a:srgbClr val="001080"/>
                </a:solidFill>
                <a:effectLst/>
                <a:latin typeface="Consolas" panose="020B0609020204030204" pitchFamily="49" charset="0"/>
              </a:rPr>
              <a:t>err</a:t>
            </a:r>
            <a:r>
              <a:rPr lang="en-IN" b="0" dirty="0" err="1">
                <a:solidFill>
                  <a:srgbClr val="3B3B3B"/>
                </a:solidFill>
                <a:effectLst/>
                <a:latin typeface="Consolas" panose="020B0609020204030204" pitchFamily="49" charset="0"/>
              </a:rPr>
              <a:t>.</a:t>
            </a:r>
            <a:r>
              <a:rPr lang="en-IN" b="0" dirty="0" err="1">
                <a:solidFill>
                  <a:srgbClr val="001080"/>
                </a:solidFill>
                <a:effectLst/>
                <a:latin typeface="Consolas" panose="020B0609020204030204" pitchFamily="49" charset="0"/>
              </a:rPr>
              <a:t>stack</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r>
              <a:rPr lang="en-IN" b="0" dirty="0" err="1">
                <a:solidFill>
                  <a:srgbClr val="001080"/>
                </a:solidFill>
                <a:effectLst/>
                <a:latin typeface="Consolas" panose="020B0609020204030204" pitchFamily="49" charset="0"/>
              </a:rPr>
              <a:t>res</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status</a:t>
            </a:r>
            <a:r>
              <a:rPr lang="en-IN" b="0" dirty="0">
                <a:solidFill>
                  <a:srgbClr val="3B3B3B"/>
                </a:solidFill>
                <a:effectLst/>
                <a:latin typeface="Consolas" panose="020B0609020204030204" pitchFamily="49" charset="0"/>
              </a:rPr>
              <a:t>(</a:t>
            </a:r>
            <a:r>
              <a:rPr lang="en-IN" b="0" dirty="0">
                <a:solidFill>
                  <a:srgbClr val="098658"/>
                </a:solidFill>
                <a:effectLst/>
                <a:latin typeface="Consolas" panose="020B0609020204030204" pitchFamily="49" charset="0"/>
              </a:rPr>
              <a:t>500</a:t>
            </a:r>
            <a:r>
              <a:rPr lang="en-IN" b="0" dirty="0">
                <a:solidFill>
                  <a:srgbClr val="3B3B3B"/>
                </a:solidFill>
                <a:effectLst/>
                <a:latin typeface="Consolas" panose="020B0609020204030204" pitchFamily="49" charset="0"/>
              </a:rPr>
              <a:t>).</a:t>
            </a:r>
            <a:r>
              <a:rPr lang="en-IN" b="0" dirty="0">
                <a:solidFill>
                  <a:srgbClr val="795E26"/>
                </a:solidFill>
                <a:effectLst/>
                <a:latin typeface="Consolas" panose="020B0609020204030204" pitchFamily="49" charset="0"/>
              </a:rPr>
              <a:t>send</a:t>
            </a:r>
            <a:r>
              <a:rPr lang="en-IN" b="0" dirty="0">
                <a:solidFill>
                  <a:srgbClr val="3B3B3B"/>
                </a:solidFill>
                <a:effectLst/>
                <a:latin typeface="Consolas" panose="020B0609020204030204" pitchFamily="49" charset="0"/>
              </a:rPr>
              <a:t>({</a:t>
            </a:r>
            <a:r>
              <a:rPr lang="en-IN" b="0" dirty="0" err="1">
                <a:solidFill>
                  <a:srgbClr val="001080"/>
                </a:solidFill>
                <a:effectLst/>
                <a:latin typeface="Consolas" panose="020B0609020204030204" pitchFamily="49" charset="0"/>
              </a:rPr>
              <a:t>err:</a:t>
            </a:r>
            <a:r>
              <a:rPr lang="en-IN" b="0" dirty="0" err="1">
                <a:solidFill>
                  <a:srgbClr val="A31515"/>
                </a:solidFill>
                <a:effectLst/>
                <a:latin typeface="Consolas" panose="020B0609020204030204" pitchFamily="49" charset="0"/>
              </a:rPr>
              <a:t>"Something</a:t>
            </a:r>
            <a:r>
              <a:rPr lang="en-IN" b="0" dirty="0">
                <a:solidFill>
                  <a:srgbClr val="A31515"/>
                </a:solidFill>
                <a:effectLst/>
                <a:latin typeface="Consolas" panose="020B0609020204030204" pitchFamily="49" charset="0"/>
              </a:rPr>
              <a:t> went wrong!"</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a:t>
            </a:r>
          </a:p>
        </p:txBody>
      </p:sp>
    </p:spTree>
    <p:extLst>
      <p:ext uri="{BB962C8B-B14F-4D97-AF65-F5344CB8AC3E}">
        <p14:creationId xmlns:p14="http://schemas.microsoft.com/office/powerpoint/2010/main" val="27971788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9F84235-565C-2B7C-BDDD-62A0429F8E86}"/>
              </a:ext>
            </a:extLst>
          </p:cNvPr>
          <p:cNvPicPr>
            <a:picLocks noChangeAspect="1"/>
          </p:cNvPicPr>
          <p:nvPr/>
        </p:nvPicPr>
        <p:blipFill>
          <a:blip r:embed="rId2"/>
          <a:stretch>
            <a:fillRect/>
          </a:stretch>
        </p:blipFill>
        <p:spPr>
          <a:xfrm>
            <a:off x="1251961" y="382267"/>
            <a:ext cx="8535140" cy="5159187"/>
          </a:xfrm>
          <a:prstGeom prst="rect">
            <a:avLst/>
          </a:prstGeom>
        </p:spPr>
      </p:pic>
    </p:spTree>
    <p:extLst>
      <p:ext uri="{BB962C8B-B14F-4D97-AF65-F5344CB8AC3E}">
        <p14:creationId xmlns:p14="http://schemas.microsoft.com/office/powerpoint/2010/main" val="27157638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4588C8-866A-4E99-A3B3-87BDAE6820DB}"/>
              </a:ext>
            </a:extLst>
          </p:cNvPr>
          <p:cNvSpPr>
            <a:spLocks noGrp="1"/>
          </p:cNvSpPr>
          <p:nvPr>
            <p:ph idx="1"/>
          </p:nvPr>
        </p:nvSpPr>
        <p:spPr>
          <a:xfrm>
            <a:off x="436880" y="711200"/>
            <a:ext cx="10916920" cy="5465763"/>
          </a:xfrm>
        </p:spPr>
        <p:txBody>
          <a:bodyPr/>
          <a:lstStyle/>
          <a:p>
            <a:pPr algn="l"/>
            <a:r>
              <a:rPr lang="en-US" b="1" i="0" dirty="0">
                <a:solidFill>
                  <a:srgbClr val="DA4453"/>
                </a:solidFill>
                <a:effectLst/>
                <a:latin typeface="roboto"/>
              </a:rPr>
              <a:t>Interacting with MongoDB using the Mongoose ODM</a:t>
            </a:r>
          </a:p>
          <a:p>
            <a:pPr algn="l"/>
            <a:r>
              <a:rPr lang="en-US" b="0" i="0" dirty="0">
                <a:solidFill>
                  <a:srgbClr val="3A3A3A"/>
                </a:solidFill>
                <a:effectLst/>
                <a:latin typeface="roboto"/>
              </a:rPr>
              <a:t>With the foundation of our REST API in place, we can focus on the database logic. Within the project’s </a:t>
            </a:r>
            <a:r>
              <a:rPr lang="en-US" b="1" i="0" dirty="0">
                <a:solidFill>
                  <a:srgbClr val="3A3A3A"/>
                </a:solidFill>
                <a:effectLst/>
                <a:latin typeface="roboto"/>
              </a:rPr>
              <a:t>app.js</a:t>
            </a:r>
            <a:r>
              <a:rPr lang="en-US" b="0" i="0" dirty="0">
                <a:solidFill>
                  <a:srgbClr val="3A3A3A"/>
                </a:solidFill>
                <a:effectLst/>
                <a:latin typeface="roboto"/>
              </a:rPr>
              <a:t> file include the following near where you initialized Express Framework:</a:t>
            </a:r>
          </a:p>
          <a:p>
            <a:pPr marL="0" indent="0">
              <a:buNone/>
            </a:pPr>
            <a:r>
              <a:rPr lang="en-US" b="0" i="0" dirty="0" err="1">
                <a:solidFill>
                  <a:srgbClr val="A6E22E"/>
                </a:solidFill>
                <a:effectLst/>
                <a:highlight>
                  <a:srgbClr val="000000"/>
                </a:highlight>
                <a:latin typeface="Menlo"/>
              </a:rPr>
              <a:t>Mongoose</a:t>
            </a:r>
            <a:r>
              <a:rPr lang="en-US" b="0" i="0" dirty="0" err="1">
                <a:solidFill>
                  <a:srgbClr val="F8F8F2"/>
                </a:solidFill>
                <a:effectLst/>
                <a:highlight>
                  <a:srgbClr val="000000"/>
                </a:highlight>
                <a:latin typeface="Menlo"/>
              </a:rPr>
              <a:t>.</a:t>
            </a:r>
            <a:r>
              <a:rPr lang="en-US" b="0" i="0" dirty="0" err="1">
                <a:solidFill>
                  <a:srgbClr val="A6E22E"/>
                </a:solidFill>
                <a:effectLst/>
                <a:highlight>
                  <a:srgbClr val="000000"/>
                </a:highlight>
                <a:latin typeface="Menlo"/>
              </a:rPr>
              <a:t>connect</a:t>
            </a:r>
            <a:r>
              <a:rPr lang="en-US" b="0" i="0" dirty="0">
                <a:solidFill>
                  <a:srgbClr val="F8F8F2"/>
                </a:solidFill>
                <a:effectLst/>
                <a:highlight>
                  <a:srgbClr val="000000"/>
                </a:highlight>
                <a:latin typeface="Menlo"/>
              </a:rPr>
              <a:t>(</a:t>
            </a:r>
            <a:r>
              <a:rPr lang="en-US" b="0" i="0" dirty="0">
                <a:solidFill>
                  <a:srgbClr val="E6DB74"/>
                </a:solidFill>
                <a:effectLst/>
                <a:highlight>
                  <a:srgbClr val="000000"/>
                </a:highlight>
                <a:latin typeface="Menlo"/>
              </a:rPr>
              <a:t>"</a:t>
            </a:r>
            <a:r>
              <a:rPr lang="en-US" b="0" i="0" dirty="0" err="1">
                <a:solidFill>
                  <a:srgbClr val="E6DB74"/>
                </a:solidFill>
                <a:effectLst/>
                <a:highlight>
                  <a:srgbClr val="000000"/>
                </a:highlight>
                <a:latin typeface="Menlo"/>
              </a:rPr>
              <a:t>mongodb</a:t>
            </a:r>
            <a:r>
              <a:rPr lang="en-US" b="0" i="0" dirty="0">
                <a:solidFill>
                  <a:srgbClr val="E6DB74"/>
                </a:solidFill>
                <a:effectLst/>
                <a:highlight>
                  <a:srgbClr val="000000"/>
                </a:highlight>
                <a:latin typeface="Menlo"/>
              </a:rPr>
              <a:t>://localhost:27017/</a:t>
            </a:r>
            <a:r>
              <a:rPr lang="en-US" b="0" i="0" dirty="0" err="1">
                <a:solidFill>
                  <a:srgbClr val="E6DB74"/>
                </a:solidFill>
                <a:effectLst/>
                <a:highlight>
                  <a:srgbClr val="000000"/>
                </a:highlight>
                <a:latin typeface="Menlo"/>
              </a:rPr>
              <a:t>empdb</a:t>
            </a:r>
            <a:r>
              <a:rPr lang="en-US" b="0" i="0" dirty="0">
                <a:solidFill>
                  <a:srgbClr val="E6DB74"/>
                </a:solidFill>
                <a:effectLst/>
                <a:highlight>
                  <a:srgbClr val="000000"/>
                </a:highlight>
                <a:latin typeface="Menlo"/>
              </a:rPr>
              <a:t>"</a:t>
            </a:r>
            <a:r>
              <a:rPr lang="en-US" b="0" i="0" dirty="0">
                <a:solidFill>
                  <a:srgbClr val="F8F8F2"/>
                </a:solidFill>
                <a:effectLst/>
                <a:highlight>
                  <a:srgbClr val="000000"/>
                </a:highlight>
                <a:latin typeface="Menlo"/>
              </a:rPr>
              <a:t>);</a:t>
            </a:r>
          </a:p>
          <a:p>
            <a:pPr marL="0" indent="0">
              <a:buNone/>
            </a:pPr>
            <a:r>
              <a:rPr lang="en-US" dirty="0"/>
              <a:t>The above line will connect to our MongoDB instance running on localhost and it will either use or create a </a:t>
            </a:r>
            <a:r>
              <a:rPr lang="en-US" dirty="0" err="1"/>
              <a:t>empdb</a:t>
            </a:r>
            <a:r>
              <a:rPr lang="en-US" dirty="0"/>
              <a:t> database.</a:t>
            </a:r>
            <a:endParaRPr lang="en-IN" dirty="0"/>
          </a:p>
        </p:txBody>
      </p:sp>
      <p:sp>
        <p:nvSpPr>
          <p:cNvPr id="4" name="TextBox 3">
            <a:extLst>
              <a:ext uri="{FF2B5EF4-FFF2-40B4-BE49-F238E27FC236}">
                <a16:creationId xmlns:a16="http://schemas.microsoft.com/office/drawing/2014/main" id="{BAD44143-CAB2-E584-1F82-CAA4ED259630}"/>
              </a:ext>
            </a:extLst>
          </p:cNvPr>
          <p:cNvSpPr txBox="1"/>
          <p:nvPr/>
        </p:nvSpPr>
        <p:spPr>
          <a:xfrm>
            <a:off x="1488385" y="4527130"/>
            <a:ext cx="7049327"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b="0" dirty="0" err="1">
                <a:solidFill>
                  <a:srgbClr val="000000"/>
                </a:solidFill>
                <a:effectLst/>
                <a:latin typeface="Consolas" panose="020B0609020204030204" pitchFamily="49" charset="0"/>
              </a:rPr>
              <a:t>Mongoose.connect</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mongodb</a:t>
            </a:r>
            <a:r>
              <a:rPr lang="en-US" b="0" dirty="0">
                <a:solidFill>
                  <a:srgbClr val="A31515"/>
                </a:solidFill>
                <a:effectLst/>
                <a:latin typeface="Consolas" panose="020B0609020204030204" pitchFamily="49" charset="0"/>
              </a:rPr>
              <a:t>://127.0.0.1:27017/</a:t>
            </a:r>
            <a:r>
              <a:rPr lang="en-US" b="0" dirty="0" err="1">
                <a:solidFill>
                  <a:srgbClr val="A31515"/>
                </a:solidFill>
                <a:effectLst/>
                <a:latin typeface="Consolas" panose="020B0609020204030204" pitchFamily="49" charset="0"/>
              </a:rPr>
              <a:t>mydb</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7638314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84425C7-4209-CF01-0956-FEBB0577B144}"/>
              </a:ext>
            </a:extLst>
          </p:cNvPr>
          <p:cNvPicPr>
            <a:picLocks noChangeAspect="1"/>
          </p:cNvPicPr>
          <p:nvPr/>
        </p:nvPicPr>
        <p:blipFill>
          <a:blip r:embed="rId2"/>
          <a:stretch>
            <a:fillRect/>
          </a:stretch>
        </p:blipFill>
        <p:spPr>
          <a:xfrm>
            <a:off x="1460198" y="255397"/>
            <a:ext cx="8237934" cy="4717189"/>
          </a:xfrm>
          <a:prstGeom prst="rect">
            <a:avLst/>
          </a:prstGeom>
        </p:spPr>
      </p:pic>
    </p:spTree>
    <p:extLst>
      <p:ext uri="{BB962C8B-B14F-4D97-AF65-F5344CB8AC3E}">
        <p14:creationId xmlns:p14="http://schemas.microsoft.com/office/powerpoint/2010/main" val="26056213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D3598DA-4416-316E-0145-4C54F38C9821}"/>
              </a:ext>
            </a:extLst>
          </p:cNvPr>
          <p:cNvPicPr>
            <a:picLocks noChangeAspect="1"/>
          </p:cNvPicPr>
          <p:nvPr/>
        </p:nvPicPr>
        <p:blipFill>
          <a:blip r:embed="rId2"/>
          <a:stretch>
            <a:fillRect/>
          </a:stretch>
        </p:blipFill>
        <p:spPr>
          <a:xfrm>
            <a:off x="1619386" y="696347"/>
            <a:ext cx="8337002" cy="5067739"/>
          </a:xfrm>
          <a:prstGeom prst="rect">
            <a:avLst/>
          </a:prstGeom>
        </p:spPr>
      </p:pic>
    </p:spTree>
    <p:extLst>
      <p:ext uri="{BB962C8B-B14F-4D97-AF65-F5344CB8AC3E}">
        <p14:creationId xmlns:p14="http://schemas.microsoft.com/office/powerpoint/2010/main" val="37587083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D1B3211-89D3-CC74-2B6F-F3FFE9D15446}"/>
              </a:ext>
            </a:extLst>
          </p:cNvPr>
          <p:cNvPicPr>
            <a:picLocks noChangeAspect="1"/>
          </p:cNvPicPr>
          <p:nvPr/>
        </p:nvPicPr>
        <p:blipFill>
          <a:blip r:embed="rId2"/>
          <a:stretch>
            <a:fillRect/>
          </a:stretch>
        </p:blipFill>
        <p:spPr>
          <a:xfrm>
            <a:off x="1674384" y="548268"/>
            <a:ext cx="8306520" cy="4747671"/>
          </a:xfrm>
          <a:prstGeom prst="rect">
            <a:avLst/>
          </a:prstGeom>
        </p:spPr>
      </p:pic>
    </p:spTree>
    <p:extLst>
      <p:ext uri="{BB962C8B-B14F-4D97-AF65-F5344CB8AC3E}">
        <p14:creationId xmlns:p14="http://schemas.microsoft.com/office/powerpoint/2010/main" val="26779940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398F33A-0CF9-4391-043E-0EDA23DC97FA}"/>
              </a:ext>
            </a:extLst>
          </p:cNvPr>
          <p:cNvPicPr>
            <a:picLocks noChangeAspect="1"/>
          </p:cNvPicPr>
          <p:nvPr/>
        </p:nvPicPr>
        <p:blipFill>
          <a:blip r:embed="rId2"/>
          <a:stretch>
            <a:fillRect/>
          </a:stretch>
        </p:blipFill>
        <p:spPr>
          <a:xfrm>
            <a:off x="1904637" y="1340939"/>
            <a:ext cx="8382726" cy="4176122"/>
          </a:xfrm>
          <a:prstGeom prst="rect">
            <a:avLst/>
          </a:prstGeom>
        </p:spPr>
      </p:pic>
    </p:spTree>
    <p:extLst>
      <p:ext uri="{BB962C8B-B14F-4D97-AF65-F5344CB8AC3E}">
        <p14:creationId xmlns:p14="http://schemas.microsoft.com/office/powerpoint/2010/main" val="14152307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6342</TotalTime>
  <Words>2660</Words>
  <Application>Microsoft Office PowerPoint</Application>
  <PresentationFormat>Widescreen</PresentationFormat>
  <Paragraphs>254</Paragraphs>
  <Slides>20</Slides>
  <Notes>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20</vt:i4>
      </vt:variant>
    </vt:vector>
  </HeadingPairs>
  <TitlesOfParts>
    <vt:vector size="32" baseType="lpstr">
      <vt:lpstr>Arial</vt:lpstr>
      <vt:lpstr>Arial</vt:lpstr>
      <vt:lpstr>Calibri</vt:lpstr>
      <vt:lpstr>Cambria</vt:lpstr>
      <vt:lpstr>Consolas</vt:lpstr>
      <vt:lpstr>Courier New</vt:lpstr>
      <vt:lpstr>Garamond</vt:lpstr>
      <vt:lpstr>Menlo</vt:lpstr>
      <vt:lpstr>Open Sans</vt:lpstr>
      <vt:lpstr>roboto</vt:lpstr>
      <vt:lpstr>ui-monospace</vt:lpstr>
      <vt:lpstr>Office Theme</vt:lpstr>
      <vt:lpstr>PowerPoint Presentation</vt:lpstr>
      <vt:lpstr>Mongoose/ ODM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sriram mantri vidyanidhi infotech academy</cp:lastModifiedBy>
  <cp:revision>269</cp:revision>
  <dcterms:created xsi:type="dcterms:W3CDTF">2020-12-02T06:26:25Z</dcterms:created>
  <dcterms:modified xsi:type="dcterms:W3CDTF">2026-04-20T04:30:27Z</dcterms:modified>
</cp:coreProperties>
</file>