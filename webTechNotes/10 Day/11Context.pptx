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CA2F-93FA-4D5B-A25D-3F14ECF591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D7F806-C284-4431-8E14-26968A422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AD9AD5-7003-4B37-9ADF-D14CC9B8E78B}"/>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5" name="Footer Placeholder 4">
            <a:extLst>
              <a:ext uri="{FF2B5EF4-FFF2-40B4-BE49-F238E27FC236}">
                <a16:creationId xmlns:a16="http://schemas.microsoft.com/office/drawing/2014/main" id="{E8D37D9E-95C3-48E1-BAB4-52E3B06F76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C8E709-F006-44B8-A1EC-A912291F30CF}"/>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87758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D215-F206-4D45-9B25-C5CC96CBC4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21316D-7B7C-43B8-BDDB-A34C2E16D6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8808F-AD02-442E-98DA-81576C88881E}"/>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5" name="Footer Placeholder 4">
            <a:extLst>
              <a:ext uri="{FF2B5EF4-FFF2-40B4-BE49-F238E27FC236}">
                <a16:creationId xmlns:a16="http://schemas.microsoft.com/office/drawing/2014/main" id="{76928B27-3089-4FE8-9D09-B530928B94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3F06D0-3CDD-43EB-BE88-F045D34029C4}"/>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21621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F90D-8826-4863-833A-B178D7C5A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ECB02A-19E7-4048-ACD8-EEFB99765C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D4BEBB-7521-4A91-BC25-74234058B4A6}"/>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5" name="Footer Placeholder 4">
            <a:extLst>
              <a:ext uri="{FF2B5EF4-FFF2-40B4-BE49-F238E27FC236}">
                <a16:creationId xmlns:a16="http://schemas.microsoft.com/office/drawing/2014/main" id="{EB65AB21-5EF6-4527-94D3-7CEB5AEFE5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152C96-0EBC-425C-9AE4-5B16E4A9E8DF}"/>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675644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79005-E9A9-4A7D-B52A-A2ABAC4A07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F7A6C7-E5D0-49E5-A41B-2A619C843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8CED39-301B-4868-9843-B8FA507C2F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5ECAFC-BD41-4FC5-9DFB-9F33F212E6D7}"/>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6" name="Footer Placeholder 5">
            <a:extLst>
              <a:ext uri="{FF2B5EF4-FFF2-40B4-BE49-F238E27FC236}">
                <a16:creationId xmlns:a16="http://schemas.microsoft.com/office/drawing/2014/main" id="{06C3FA30-7133-41BE-A81B-8BC3CF9CE1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A3076E-8D0A-4A6A-AFBB-850EEBECA3DE}"/>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2595250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9310E-CEDD-4A9D-BCBD-8927AD0874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8DF07B-9EE6-468C-8290-FCDAB14F7D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7EB8E4-7843-4F8E-990E-1F0FD4942E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D07E59-E001-425A-9138-3547FEAA77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1B9954-9F2C-49A4-B673-5926147D83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93E9C7-3953-408F-9C65-43E5736BA08F}"/>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8" name="Footer Placeholder 7">
            <a:extLst>
              <a:ext uri="{FF2B5EF4-FFF2-40B4-BE49-F238E27FC236}">
                <a16:creationId xmlns:a16="http://schemas.microsoft.com/office/drawing/2014/main" id="{D246A6D0-A569-4FCC-BAE3-811376CB38A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59F997-6BB7-4D06-9D87-FAC0D55804B7}"/>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419509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73F6-E8C0-4D65-A859-198B692975F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56262E-54CE-4EF5-B0DC-B1E105B7800B}"/>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4" name="Footer Placeholder 3">
            <a:extLst>
              <a:ext uri="{FF2B5EF4-FFF2-40B4-BE49-F238E27FC236}">
                <a16:creationId xmlns:a16="http://schemas.microsoft.com/office/drawing/2014/main" id="{08A7388A-7BCF-464A-A303-B5D29AA7DA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4CAFC7-BEF5-46E0-9600-02E3F94B8EC3}"/>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263887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831BB3-A8EF-4FCE-BCA8-2EE74775F280}"/>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3" name="Footer Placeholder 2">
            <a:extLst>
              <a:ext uri="{FF2B5EF4-FFF2-40B4-BE49-F238E27FC236}">
                <a16:creationId xmlns:a16="http://schemas.microsoft.com/office/drawing/2014/main" id="{54B3F0F1-BECB-496A-A49A-D507BC8D60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21B588-3108-4ABD-AA4B-5D6ACAC38414}"/>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001064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902E-EC66-46CF-AB42-77BFCEA36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A68822-5980-479B-A8E3-8DBD2CFED3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9E38DE-9D0C-455F-957D-3C9965D72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B3814A-3377-4F61-BECB-93908E8C3FB3}"/>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6" name="Footer Placeholder 5">
            <a:extLst>
              <a:ext uri="{FF2B5EF4-FFF2-40B4-BE49-F238E27FC236}">
                <a16:creationId xmlns:a16="http://schemas.microsoft.com/office/drawing/2014/main" id="{B2771E75-29B1-4141-A286-1FD5C84E8A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243F52-0806-4DC4-BA6F-B8665C8309A0}"/>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321626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AFC95-9A05-408C-9DCF-067362E99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FC83CD-0801-4EBF-9539-A08CC4A742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495BC9-A096-4866-9883-C014990D3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DACC18-85F3-4E69-9939-BF906FF4227B}"/>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6" name="Footer Placeholder 5">
            <a:extLst>
              <a:ext uri="{FF2B5EF4-FFF2-40B4-BE49-F238E27FC236}">
                <a16:creationId xmlns:a16="http://schemas.microsoft.com/office/drawing/2014/main" id="{387581C5-242A-477E-A51C-97C5CD438F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13D304-6F35-4C1A-BDC5-E704D72D1805}"/>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4025820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B74BF-3947-4EA4-83BE-83104D2BD9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52B28D-E81B-4AC8-9E77-82DCA8FE13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6D2A64-7053-45F9-B51B-A030D521F5FE}"/>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5" name="Footer Placeholder 4">
            <a:extLst>
              <a:ext uri="{FF2B5EF4-FFF2-40B4-BE49-F238E27FC236}">
                <a16:creationId xmlns:a16="http://schemas.microsoft.com/office/drawing/2014/main" id="{96558E23-2633-4127-BF8C-57B6D0F9AE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6A71F6-ACB6-465C-9A34-72D19B347F50}"/>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014993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AE649B-71EE-48CF-8360-5180A0C84D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73BB50-1FBC-4B9B-B329-A20A37D87B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366DEB-0A60-44C0-9A2E-2AAFA86B635C}"/>
              </a:ext>
            </a:extLst>
          </p:cNvPr>
          <p:cNvSpPr>
            <a:spLocks noGrp="1"/>
          </p:cNvSpPr>
          <p:nvPr>
            <p:ph type="dt" sz="half" idx="10"/>
          </p:nvPr>
        </p:nvSpPr>
        <p:spPr/>
        <p:txBody>
          <a:bodyPr/>
          <a:lstStyle/>
          <a:p>
            <a:fld id="{8F45C40B-A26C-4E2B-9D4C-82A83A6D00A2}" type="datetimeFigureOut">
              <a:rPr lang="en-IN" smtClean="0"/>
              <a:t>19-12-2022</a:t>
            </a:fld>
            <a:endParaRPr lang="en-IN"/>
          </a:p>
        </p:txBody>
      </p:sp>
      <p:sp>
        <p:nvSpPr>
          <p:cNvPr id="5" name="Footer Placeholder 4">
            <a:extLst>
              <a:ext uri="{FF2B5EF4-FFF2-40B4-BE49-F238E27FC236}">
                <a16:creationId xmlns:a16="http://schemas.microsoft.com/office/drawing/2014/main" id="{3088A292-9050-4C1E-B7F8-45790AA227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DEC8C4-2320-46F7-97A8-E5E4BC103519}"/>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889343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02F89F-D520-476F-8049-CC92F980EE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493EDD-016F-4D68-8D43-7D3F62759B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7712D0-8F8C-4F1D-83D9-1034B42F04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45C40B-A26C-4E2B-9D4C-82A83A6D00A2}" type="datetimeFigureOut">
              <a:rPr lang="en-IN" smtClean="0"/>
              <a:t>19-12-2022</a:t>
            </a:fld>
            <a:endParaRPr lang="en-IN"/>
          </a:p>
        </p:txBody>
      </p:sp>
      <p:sp>
        <p:nvSpPr>
          <p:cNvPr id="5" name="Footer Placeholder 4">
            <a:extLst>
              <a:ext uri="{FF2B5EF4-FFF2-40B4-BE49-F238E27FC236}">
                <a16:creationId xmlns:a16="http://schemas.microsoft.com/office/drawing/2014/main" id="{E4F78E1C-AF6F-4C02-81DE-57C6C3E263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BD00085-4FB3-408C-A4A0-6D4D6A4D8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31E9E5-E20C-4BE4-96A5-96776124C699}" type="slidenum">
              <a:rPr lang="en-IN" smtClean="0"/>
              <a:t>‹#›</a:t>
            </a:fld>
            <a:endParaRPr lang="en-IN"/>
          </a:p>
        </p:txBody>
      </p:sp>
    </p:spTree>
    <p:extLst>
      <p:ext uri="{BB962C8B-B14F-4D97-AF65-F5344CB8AC3E}">
        <p14:creationId xmlns:p14="http://schemas.microsoft.com/office/powerpoint/2010/main" val="579035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C66E1-A424-4701-804C-99EDE50E1422}"/>
              </a:ext>
            </a:extLst>
          </p:cNvPr>
          <p:cNvSpPr>
            <a:spLocks noGrp="1"/>
          </p:cNvSpPr>
          <p:nvPr>
            <p:ph type="title"/>
          </p:nvPr>
        </p:nvSpPr>
        <p:spPr>
          <a:xfrm>
            <a:off x="838200" y="148817"/>
            <a:ext cx="10891684" cy="315912"/>
          </a:xfrm>
        </p:spPr>
        <p:txBody>
          <a:bodyPr>
            <a:noAutofit/>
          </a:bodyPr>
          <a:lstStyle/>
          <a:p>
            <a:r>
              <a:rPr lang="en-IN" sz="3200" b="0" i="0" dirty="0">
                <a:solidFill>
                  <a:srgbClr val="000000"/>
                </a:solidFill>
                <a:effectLst/>
                <a:latin typeface="Segoe UI" panose="020B0502040204020203" pitchFamily="34" charset="0"/>
              </a:rPr>
              <a:t>Component Communication using Context</a:t>
            </a:r>
            <a:endParaRPr lang="en-IN" sz="3200" dirty="0"/>
          </a:p>
        </p:txBody>
      </p:sp>
      <p:sp>
        <p:nvSpPr>
          <p:cNvPr id="3" name="Content Placeholder 2">
            <a:extLst>
              <a:ext uri="{FF2B5EF4-FFF2-40B4-BE49-F238E27FC236}">
                <a16:creationId xmlns:a16="http://schemas.microsoft.com/office/drawing/2014/main" id="{2533C94F-8B2D-44E7-9FE3-BD122E2E537C}"/>
              </a:ext>
            </a:extLst>
          </p:cNvPr>
          <p:cNvSpPr>
            <a:spLocks noGrp="1"/>
          </p:cNvSpPr>
          <p:nvPr>
            <p:ph idx="1"/>
          </p:nvPr>
        </p:nvSpPr>
        <p:spPr>
          <a:xfrm>
            <a:off x="462116" y="757084"/>
            <a:ext cx="10891684" cy="5419879"/>
          </a:xfrm>
        </p:spPr>
        <p:txBody>
          <a:bodyPr>
            <a:normAutofit fontScale="70000" lnSpcReduction="20000"/>
          </a:bodyPr>
          <a:lstStyle/>
          <a:p>
            <a:pPr marL="0" indent="0">
              <a:buNone/>
            </a:pPr>
            <a:r>
              <a:rPr lang="en-US" dirty="0"/>
              <a:t>In a typical React application, data is passed top-down (parent to child) via props, but this can be difficult for certain types of props (e.g. locale preference, UI theme) that are required by many components which are Nested at different levels within an application. In this article, we will understand how we use Context to pass the data between components at different nesting levels.</a:t>
            </a:r>
          </a:p>
          <a:p>
            <a:pPr marL="0" indent="0">
              <a:buNone/>
            </a:pPr>
            <a:endParaRPr lang="en-US" dirty="0"/>
          </a:p>
          <a:p>
            <a:pPr marL="0" indent="0">
              <a:buNone/>
            </a:pPr>
            <a:r>
              <a:rPr lang="en-US" dirty="0"/>
              <a:t>Lets take a look at one example. When an Employee is Logged into the React application, we have a Nesting of Components which are making our UI. They are App Component, Employee Component and Salary Component. App Component has an Employee Object and this data is needed by Employee Component and Salary Component in Order to function.</a:t>
            </a:r>
          </a:p>
          <a:p>
            <a:pPr marL="0" indent="0">
              <a:buNone/>
            </a:pPr>
            <a:endParaRPr lang="en-US" dirty="0"/>
          </a:p>
          <a:p>
            <a:pPr marL="0" indent="0">
              <a:buNone/>
            </a:pPr>
            <a:r>
              <a:rPr lang="en-US" dirty="0"/>
              <a:t>Context provides a way to pass data through the component tree without having to pass props down manually at every level.</a:t>
            </a:r>
          </a:p>
          <a:p>
            <a:pPr marL="0" indent="0">
              <a:buNone/>
            </a:pPr>
            <a:endParaRPr lang="en-US" dirty="0"/>
          </a:p>
          <a:p>
            <a:pPr marL="0" indent="0">
              <a:buNone/>
            </a:pPr>
            <a:r>
              <a:rPr lang="en-US" dirty="0"/>
              <a:t>Context provides a way to share values between components without having to explicitly pass a prop through every level of the tree.</a:t>
            </a:r>
          </a:p>
          <a:p>
            <a:pPr marL="0" indent="0">
              <a:buNone/>
            </a:pPr>
            <a:endParaRPr lang="en-US" dirty="0"/>
          </a:p>
          <a:p>
            <a:pPr marL="0" indent="0">
              <a:buNone/>
            </a:pPr>
            <a:r>
              <a:rPr lang="en-US" dirty="0"/>
              <a:t>Context is primarily used when some data needs to be accessible by many components at different nesting levels.</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793462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DDC9D3-7AC6-4BFA-9785-A8CC5ABD662A}"/>
              </a:ext>
            </a:extLst>
          </p:cNvPr>
          <p:cNvSpPr>
            <a:spLocks noGrp="1"/>
          </p:cNvSpPr>
          <p:nvPr>
            <p:ph idx="1"/>
          </p:nvPr>
        </p:nvSpPr>
        <p:spPr>
          <a:xfrm>
            <a:off x="164690" y="444282"/>
            <a:ext cx="5046407" cy="6311394"/>
          </a:xfrm>
        </p:spPr>
        <p:txBody>
          <a:bodyPr>
            <a:noAutofit/>
          </a:bodyPr>
          <a:lstStyle/>
          <a:p>
            <a:pPr marL="0" indent="0">
              <a:buNone/>
            </a:pPr>
            <a:r>
              <a:rPr lang="en-IN" sz="1100" b="0" dirty="0">
                <a:solidFill>
                  <a:srgbClr val="AF00DB"/>
                </a:solidFill>
                <a:effectLst/>
                <a:latin typeface="Consolas" panose="020B0609020204030204" pitchFamily="49" charset="0"/>
              </a:rPr>
              <a:t>import</a:t>
            </a:r>
            <a:r>
              <a:rPr lang="en-IN" sz="1100" b="0" dirty="0">
                <a:solidFill>
                  <a:srgbClr val="000000"/>
                </a:solidFill>
                <a:effectLst/>
                <a:latin typeface="Consolas" panose="020B0609020204030204" pitchFamily="49" charset="0"/>
              </a:rPr>
              <a:t> </a:t>
            </a:r>
            <a:r>
              <a:rPr lang="en-IN" sz="1100" b="0" dirty="0">
                <a:solidFill>
                  <a:srgbClr val="001080"/>
                </a:solidFill>
                <a:effectLst/>
                <a:latin typeface="Consolas" panose="020B0609020204030204" pitchFamily="49" charset="0"/>
              </a:rPr>
              <a:t>React</a:t>
            </a:r>
            <a:r>
              <a:rPr lang="en-IN" sz="1100" b="0" dirty="0">
                <a:solidFill>
                  <a:srgbClr val="000000"/>
                </a:solidFill>
                <a:effectLst/>
                <a:latin typeface="Consolas" panose="020B0609020204030204" pitchFamily="49" charset="0"/>
              </a:rPr>
              <a:t> </a:t>
            </a:r>
            <a:r>
              <a:rPr lang="en-IN" sz="1100" b="0" dirty="0">
                <a:solidFill>
                  <a:srgbClr val="AF00DB"/>
                </a:solidFill>
                <a:effectLst/>
                <a:latin typeface="Consolas" panose="020B0609020204030204" pitchFamily="49" charset="0"/>
              </a:rPr>
              <a:t>from</a:t>
            </a:r>
            <a:r>
              <a:rPr lang="en-IN" sz="1100" b="0" dirty="0">
                <a:solidFill>
                  <a:srgbClr val="000000"/>
                </a:solidFill>
                <a:effectLst/>
                <a:latin typeface="Consolas" panose="020B0609020204030204" pitchFamily="49" charset="0"/>
              </a:rPr>
              <a:t> </a:t>
            </a:r>
            <a:r>
              <a:rPr lang="en-IN" sz="1100" b="0" dirty="0">
                <a:solidFill>
                  <a:srgbClr val="A31515"/>
                </a:solidFill>
                <a:effectLst/>
                <a:latin typeface="Consolas" panose="020B0609020204030204" pitchFamily="49" charset="0"/>
              </a:rPr>
              <a:t>'react'</a:t>
            </a:r>
            <a:r>
              <a:rPr lang="en-IN" sz="1100" b="0" dirty="0">
                <a:solidFill>
                  <a:srgbClr val="000000"/>
                </a:solidFill>
                <a:effectLst/>
                <a:latin typeface="Consolas" panose="020B0609020204030204" pitchFamily="49" charset="0"/>
              </a:rPr>
              <a:t>;</a:t>
            </a:r>
          </a:p>
          <a:p>
            <a:pPr marL="0" indent="0">
              <a:buNone/>
            </a:pPr>
            <a:r>
              <a:rPr lang="en-IN" sz="1100" b="0" dirty="0" err="1">
                <a:solidFill>
                  <a:srgbClr val="0000FF"/>
                </a:solidFill>
                <a:effectLst/>
                <a:latin typeface="Consolas" panose="020B0609020204030204" pitchFamily="49" charset="0"/>
              </a:rPr>
              <a:t>const</a:t>
            </a:r>
            <a:r>
              <a:rPr lang="en-IN" sz="1100" b="0" dirty="0">
                <a:solidFill>
                  <a:srgbClr val="000000"/>
                </a:solidFill>
                <a:effectLst/>
                <a:latin typeface="Consolas" panose="020B0609020204030204" pitchFamily="49" charset="0"/>
              </a:rPr>
              <a:t> </a:t>
            </a:r>
            <a:r>
              <a:rPr lang="en-IN" sz="1100" b="0" dirty="0" err="1">
                <a:solidFill>
                  <a:srgbClr val="0070C1"/>
                </a:solidFill>
                <a:effectLst/>
                <a:latin typeface="Consolas" panose="020B0609020204030204" pitchFamily="49" charset="0"/>
              </a:rPr>
              <a:t>EmployeeContext</a:t>
            </a:r>
            <a:r>
              <a:rPr lang="en-IN" sz="1100" b="0" dirty="0">
                <a:solidFill>
                  <a:srgbClr val="000000"/>
                </a:solidFill>
                <a:effectLst/>
                <a:latin typeface="Consolas" panose="020B0609020204030204" pitchFamily="49" charset="0"/>
              </a:rPr>
              <a:t> = </a:t>
            </a:r>
            <a:r>
              <a:rPr lang="en-IN" sz="1100" b="0" dirty="0" err="1">
                <a:solidFill>
                  <a:srgbClr val="267F99"/>
                </a:solidFill>
                <a:effectLst/>
                <a:latin typeface="Consolas" panose="020B0609020204030204" pitchFamily="49" charset="0"/>
              </a:rPr>
              <a:t>React</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createContext</a:t>
            </a:r>
            <a:r>
              <a:rPr lang="en-IN" sz="1100" b="0" dirty="0">
                <a:solidFill>
                  <a:srgbClr val="000000"/>
                </a:solidFill>
                <a:effectLst/>
                <a:latin typeface="Consolas" panose="020B0609020204030204" pitchFamily="49" charset="0"/>
              </a:rPr>
              <a:t>();</a:t>
            </a:r>
          </a:p>
          <a:p>
            <a:pPr marL="0" indent="0">
              <a:buNone/>
            </a:pPr>
            <a:r>
              <a:rPr lang="en-IN" sz="1100" b="0" dirty="0">
                <a:solidFill>
                  <a:srgbClr val="0000FF"/>
                </a:solidFill>
                <a:effectLst/>
                <a:latin typeface="Consolas" panose="020B0609020204030204" pitchFamily="49" charset="0"/>
              </a:rPr>
              <a:t>class</a:t>
            </a:r>
            <a:r>
              <a:rPr lang="en-IN" sz="1100" b="0" dirty="0">
                <a:solidFill>
                  <a:srgbClr val="000000"/>
                </a:solidFill>
                <a:effectLst/>
                <a:latin typeface="Consolas" panose="020B0609020204030204" pitchFamily="49" charset="0"/>
              </a:rPr>
              <a:t> </a:t>
            </a:r>
            <a:r>
              <a:rPr lang="en-IN" sz="1100" b="0" dirty="0">
                <a:solidFill>
                  <a:srgbClr val="267F99"/>
                </a:solidFill>
                <a:effectLst/>
                <a:latin typeface="Consolas" panose="020B0609020204030204" pitchFamily="49" charset="0"/>
              </a:rPr>
              <a:t>App</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extends</a:t>
            </a:r>
            <a:r>
              <a:rPr lang="en-IN" sz="1100" b="0" dirty="0">
                <a:solidFill>
                  <a:srgbClr val="000000"/>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React</a:t>
            </a:r>
            <a:r>
              <a:rPr lang="en-IN" sz="1100" b="0" dirty="0" err="1">
                <a:solidFill>
                  <a:srgbClr val="000000"/>
                </a:solidFill>
                <a:effectLst/>
                <a:latin typeface="Consolas" panose="020B0609020204030204" pitchFamily="49" charset="0"/>
              </a:rPr>
              <a:t>.</a:t>
            </a:r>
            <a:r>
              <a:rPr lang="en-IN" sz="1100" b="0" dirty="0" err="1">
                <a:solidFill>
                  <a:srgbClr val="267F99"/>
                </a:solidFill>
                <a:effectLst/>
                <a:latin typeface="Consolas" panose="020B0609020204030204" pitchFamily="49" charset="0"/>
              </a:rPr>
              <a:t>Component</a:t>
            </a:r>
            <a:r>
              <a:rPr lang="en-IN" sz="1100" b="0" dirty="0">
                <a:solidFill>
                  <a:srgbClr val="000000"/>
                </a:solidFill>
                <a:effectLst/>
                <a:latin typeface="Consolas" panose="020B0609020204030204" pitchFamily="49" charset="0"/>
              </a:rPr>
              <a:t> {</a:t>
            </a:r>
          </a:p>
          <a:p>
            <a:pPr marL="0" indent="0">
              <a:buNone/>
            </a:pP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constructor</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super</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state</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a:solidFill>
                  <a:srgbClr val="001080"/>
                </a:solidFill>
                <a:effectLst/>
                <a:latin typeface="Consolas" panose="020B0609020204030204" pitchFamily="49" charset="0"/>
              </a:rPr>
              <a:t>data:</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a:solidFill>
                  <a:srgbClr val="001080"/>
                </a:solidFill>
                <a:effectLst/>
                <a:latin typeface="Consolas" panose="020B0609020204030204" pitchFamily="49" charset="0"/>
              </a:rPr>
              <a:t>Id:</a:t>
            </a:r>
            <a:r>
              <a:rPr lang="en-IN" sz="1100" b="0" dirty="0">
                <a:solidFill>
                  <a:srgbClr val="098658"/>
                </a:solidFill>
                <a:effectLst/>
                <a:latin typeface="Consolas" panose="020B0609020204030204" pitchFamily="49" charset="0"/>
              </a:rPr>
              <a:t>101</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a:solidFill>
                  <a:srgbClr val="001080"/>
                </a:solidFill>
                <a:effectLst/>
                <a:latin typeface="Consolas" panose="020B0609020204030204" pitchFamily="49" charset="0"/>
              </a:rPr>
              <a:t>Name:</a:t>
            </a:r>
            <a:r>
              <a:rPr lang="en-IN" sz="1100" b="0" dirty="0">
                <a:solidFill>
                  <a:srgbClr val="A31515"/>
                </a:solidFill>
                <a:effectLst/>
                <a:latin typeface="Consolas" panose="020B0609020204030204" pitchFamily="49" charset="0"/>
              </a:rPr>
              <a:t>'</a:t>
            </a:r>
            <a:r>
              <a:rPr lang="en-IN" sz="1100" b="0" dirty="0" err="1">
                <a:solidFill>
                  <a:srgbClr val="A31515"/>
                </a:solidFill>
                <a:effectLst/>
                <a:latin typeface="Consolas" panose="020B0609020204030204" pitchFamily="49" charset="0"/>
              </a:rPr>
              <a:t>Vidyanidhi</a:t>
            </a:r>
            <a:r>
              <a:rPr lang="en-IN" sz="1100" b="0" dirty="0">
                <a:solidFill>
                  <a:srgbClr val="A31515"/>
                </a:solidFill>
                <a:effectLst/>
                <a:latin typeface="Consolas" panose="020B0609020204030204" pitchFamily="49" charset="0"/>
              </a:rPr>
              <a:t>'</a:t>
            </a:r>
            <a:endParaRPr lang="en-IN" sz="1100" b="0" dirty="0">
              <a:solidFill>
                <a:srgbClr val="000000"/>
              </a:solidFill>
              <a:effectLst/>
              <a:latin typeface="Consolas" panose="020B0609020204030204" pitchFamily="49" charset="0"/>
            </a:endParaRPr>
          </a:p>
          <a:p>
            <a:pPr marL="0" indent="0">
              <a:buNone/>
            </a:pPr>
            <a:r>
              <a:rPr lang="en-IN" sz="1100" b="0" dirty="0">
                <a:solidFill>
                  <a:srgbClr val="000000"/>
                </a:solidFill>
                <a:effectLst/>
                <a:latin typeface="Consolas" panose="020B0609020204030204" pitchFamily="49" charset="0"/>
              </a:rPr>
              <a:t>    }</a:t>
            </a:r>
          </a:p>
          <a:p>
            <a:pPr marL="0" indent="0">
              <a:buNone/>
            </a:pPr>
            <a:r>
              <a:rPr lang="en-IN" sz="1100" b="0" dirty="0">
                <a:solidFill>
                  <a:srgbClr val="000000"/>
                </a:solidFill>
                <a:effectLst/>
                <a:latin typeface="Consolas" panose="020B0609020204030204" pitchFamily="49" charset="0"/>
              </a:rPr>
              <a:t>  };</a:t>
            </a:r>
          </a:p>
          <a:p>
            <a:pPr marL="0" indent="0">
              <a:buNone/>
            </a:pPr>
            <a:r>
              <a:rPr lang="en-IN" sz="1100" b="0" dirty="0">
                <a:solidFill>
                  <a:srgbClr val="000000"/>
                </a:solidFill>
                <a:effectLst/>
                <a:latin typeface="Consolas" panose="020B0609020204030204" pitchFamily="49" charset="0"/>
              </a:rPr>
              <a:t>}</a:t>
            </a:r>
          </a:p>
          <a:p>
            <a:pPr marL="0" indent="0">
              <a:buNone/>
            </a:pPr>
            <a:r>
              <a:rPr lang="en-IN" sz="1100" b="0" dirty="0" err="1">
                <a:solidFill>
                  <a:srgbClr val="795E26"/>
                </a:solidFill>
                <a:effectLst/>
                <a:latin typeface="Consolas" panose="020B0609020204030204" pitchFamily="49" charset="0"/>
              </a:rPr>
              <a:t>changeEmpData</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setState</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data:</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Id:</a:t>
            </a:r>
            <a:r>
              <a:rPr lang="en-IN" sz="1100" b="0" dirty="0">
                <a:solidFill>
                  <a:srgbClr val="098658"/>
                </a:solidFill>
                <a:effectLst/>
                <a:latin typeface="Consolas" panose="020B0609020204030204" pitchFamily="49" charset="0"/>
              </a:rPr>
              <a:t>102</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a:solidFill>
                  <a:srgbClr val="795E26"/>
                </a:solidFill>
                <a:effectLst/>
                <a:latin typeface="Consolas" panose="020B0609020204030204" pitchFamily="49" charset="0"/>
              </a:rPr>
              <a:t>render</a:t>
            </a:r>
            <a:r>
              <a:rPr lang="en-IN" sz="1100" b="0" dirty="0">
                <a:solidFill>
                  <a:srgbClr val="000000"/>
                </a:solidFill>
                <a:effectLst/>
                <a:latin typeface="Consolas" panose="020B0609020204030204" pitchFamily="49" charset="0"/>
              </a:rPr>
              <a:t>() {</a:t>
            </a:r>
          </a:p>
          <a:p>
            <a:pPr marL="0" indent="0">
              <a:buNone/>
            </a:pPr>
            <a:r>
              <a:rPr lang="en-IN" sz="1100" b="0" dirty="0">
                <a:solidFill>
                  <a:srgbClr val="000000"/>
                </a:solidFill>
                <a:effectLst/>
                <a:latin typeface="Consolas" panose="020B0609020204030204" pitchFamily="49" charset="0"/>
              </a:rPr>
              <a:t>          </a:t>
            </a:r>
            <a:r>
              <a:rPr lang="en-IN" sz="1100" b="0" dirty="0">
                <a:solidFill>
                  <a:srgbClr val="AF00DB"/>
                </a:solidFill>
                <a:effectLst/>
                <a:latin typeface="Consolas" panose="020B0609020204030204" pitchFamily="49" charset="0"/>
              </a:rPr>
              <a:t>return</a:t>
            </a:r>
            <a:r>
              <a:rPr lang="en-IN" sz="1100" b="0" dirty="0">
                <a:solidFill>
                  <a:srgbClr val="000000"/>
                </a:solidFill>
                <a:effectLst/>
                <a:latin typeface="Consolas" panose="020B0609020204030204" pitchFamily="49" charset="0"/>
              </a:rPr>
              <a:t> (             </a:t>
            </a:r>
            <a:r>
              <a:rPr lang="en-IN" sz="1100" b="0" dirty="0">
                <a:solidFill>
                  <a:srgbClr val="800000"/>
                </a:solidFill>
                <a:effectLst/>
                <a:latin typeface="Consolas" panose="020B0609020204030204" pitchFamily="49" charset="0"/>
              </a:rPr>
              <a:t>&lt;div&gt;</a:t>
            </a:r>
            <a:r>
              <a:rPr lang="en-IN" sz="1100" b="0" dirty="0">
                <a:solidFill>
                  <a:srgbClr val="000000"/>
                </a:solidFill>
                <a:effectLst/>
                <a:latin typeface="Consolas" panose="020B0609020204030204" pitchFamily="49" charset="0"/>
              </a:rPr>
              <a:t>this is App component</a:t>
            </a:r>
          </a:p>
          <a:p>
            <a:pPr marL="0" indent="0">
              <a:buNone/>
            </a:pP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267F99"/>
                </a:solidFill>
                <a:effectLst/>
                <a:latin typeface="Consolas" panose="020B0609020204030204" pitchFamily="49" charset="0"/>
              </a:rPr>
              <a:t>EmployeeContext.Provider</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state</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data</a:t>
            </a:r>
            <a:r>
              <a:rPr lang="en-IN" sz="1100" b="0" dirty="0">
                <a:solidFill>
                  <a:srgbClr val="0000FF"/>
                </a:solidFill>
                <a:effectLst/>
                <a:latin typeface="Consolas" panose="020B0609020204030204" pitchFamily="49" charset="0"/>
              </a:rPr>
              <a:t>}</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pPr marL="0" indent="0">
              <a:buNone/>
            </a:pP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a:solidFill>
                  <a:srgbClr val="267F99"/>
                </a:solidFill>
                <a:effectLst/>
                <a:latin typeface="Consolas" panose="020B0609020204030204" pitchFamily="49" charset="0"/>
              </a:rPr>
              <a:t>Employee</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pPr marL="0" indent="0">
              <a:buNone/>
            </a:pP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a:t>
            </a:r>
            <a:r>
              <a:rPr lang="en-IN" sz="1100" b="0" dirty="0" err="1">
                <a:solidFill>
                  <a:srgbClr val="267F99"/>
                </a:solidFill>
                <a:effectLst/>
                <a:latin typeface="Consolas" panose="020B0609020204030204" pitchFamily="49" charset="0"/>
              </a:rPr>
              <a:t>EmployeeContext.Provider</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&lt;p&gt;</a:t>
            </a:r>
            <a:endParaRPr lang="en-IN" sz="1100" b="0" dirty="0">
              <a:solidFill>
                <a:srgbClr val="000000"/>
              </a:solidFill>
              <a:effectLst/>
              <a:latin typeface="Consolas" panose="020B0609020204030204" pitchFamily="49" charset="0"/>
            </a:endParaRPr>
          </a:p>
          <a:p>
            <a:pPr marL="0" indent="0">
              <a:buNone/>
            </a:pP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&lt;button</a:t>
            </a:r>
            <a:r>
              <a:rPr lang="en-IN" sz="1100" b="0" dirty="0">
                <a:solidFill>
                  <a:srgbClr val="000000"/>
                </a:solidFill>
                <a:effectLst/>
                <a:latin typeface="Consolas" panose="020B0609020204030204" pitchFamily="49" charset="0"/>
              </a:rPr>
              <a:t> </a:t>
            </a:r>
            <a:r>
              <a:rPr lang="en-IN" sz="1100" b="0" dirty="0" err="1">
                <a:solidFill>
                  <a:srgbClr val="FF0000"/>
                </a:solidFill>
                <a:effectLst/>
                <a:latin typeface="Consolas" panose="020B0609020204030204" pitchFamily="49" charset="0"/>
              </a:rPr>
              <a:t>onClick</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{this</a:t>
            </a:r>
            <a:r>
              <a:rPr lang="en-IN" sz="1100" b="0" dirty="0">
                <a:solidFill>
                  <a:srgbClr val="000000"/>
                </a:solidFill>
                <a:effectLst/>
                <a:latin typeface="Consolas" panose="020B0609020204030204" pitchFamily="49" charset="0"/>
              </a:rPr>
              <a:t>. </a:t>
            </a:r>
            <a:r>
              <a:rPr lang="en-IN" sz="1100" b="0" dirty="0" err="1">
                <a:solidFill>
                  <a:srgbClr val="795E26"/>
                </a:solidFill>
                <a:effectLst/>
                <a:latin typeface="Consolas" panose="020B0609020204030204" pitchFamily="49" charset="0"/>
              </a:rPr>
              <a:t>changeEmpData</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Change</a:t>
            </a:r>
            <a:r>
              <a:rPr lang="en-IN" sz="1100" b="0" dirty="0">
                <a:solidFill>
                  <a:srgbClr val="800000"/>
                </a:solidFill>
                <a:effectLst/>
                <a:latin typeface="Consolas" panose="020B0609020204030204" pitchFamily="49" charset="0"/>
              </a:rPr>
              <a:t>&lt;/button&gt;&lt;/p&gt;</a:t>
            </a:r>
            <a:endParaRPr lang="en-IN" sz="1100" b="0" dirty="0">
              <a:solidFill>
                <a:srgbClr val="000000"/>
              </a:solidFill>
              <a:effectLst/>
              <a:latin typeface="Consolas" panose="020B0609020204030204" pitchFamily="49" charset="0"/>
            </a:endParaRPr>
          </a:p>
          <a:p>
            <a:pPr marL="0" indent="0">
              <a:buNone/>
            </a:pPr>
            <a:r>
              <a:rPr lang="en-IN" sz="1100" b="0" dirty="0">
                <a:solidFill>
                  <a:srgbClr val="000000"/>
                </a:solidFill>
                <a:effectLst/>
                <a:latin typeface="Consolas" panose="020B0609020204030204" pitchFamily="49" charset="0"/>
              </a:rPr>
              <a:t>             </a:t>
            </a:r>
            <a:r>
              <a:rPr lang="en-IN" sz="1100" b="0" dirty="0">
                <a:solidFill>
                  <a:srgbClr val="800000"/>
                </a:solidFill>
                <a:effectLst/>
                <a:latin typeface="Consolas" panose="020B0609020204030204" pitchFamily="49" charset="0"/>
              </a:rPr>
              <a:t>&lt;/div&gt;</a:t>
            </a:r>
            <a:r>
              <a:rPr lang="en-IN" sz="1100" b="0" dirty="0">
                <a:solidFill>
                  <a:srgbClr val="000000"/>
                </a:solidFill>
                <a:effectLst/>
                <a:latin typeface="Consolas" panose="020B0609020204030204" pitchFamily="49" charset="0"/>
              </a:rPr>
              <a:t>          );</a:t>
            </a:r>
          </a:p>
          <a:p>
            <a:pPr marL="0" indent="0">
              <a:buNone/>
            </a:pPr>
            <a:r>
              <a:rPr lang="en-IN" sz="1100" b="0" dirty="0">
                <a:solidFill>
                  <a:srgbClr val="000000"/>
                </a:solidFill>
                <a:effectLst/>
                <a:latin typeface="Consolas" panose="020B0609020204030204" pitchFamily="49" charset="0"/>
              </a:rPr>
              <a:t>       }</a:t>
            </a:r>
          </a:p>
          <a:p>
            <a:pPr marL="0" indent="0">
              <a:buNone/>
            </a:pPr>
            <a:r>
              <a:rPr lang="en-IN" sz="1100" b="0" dirty="0">
                <a:solidFill>
                  <a:srgbClr val="000000"/>
                </a:solidFill>
                <a:effectLst/>
                <a:latin typeface="Consolas" panose="020B0609020204030204" pitchFamily="49" charset="0"/>
              </a:rPr>
              <a:t>}</a:t>
            </a:r>
          </a:p>
          <a:p>
            <a:pPr marL="0" indent="0">
              <a:buNone/>
            </a:pPr>
            <a:endParaRPr lang="en-IN" sz="1100" dirty="0"/>
          </a:p>
        </p:txBody>
      </p:sp>
      <p:sp>
        <p:nvSpPr>
          <p:cNvPr id="5" name="TextBox 4">
            <a:extLst>
              <a:ext uri="{FF2B5EF4-FFF2-40B4-BE49-F238E27FC236}">
                <a16:creationId xmlns:a16="http://schemas.microsoft.com/office/drawing/2014/main" id="{1BB1FF7D-F4E1-47AC-A47A-54EB4F0F8819}"/>
              </a:ext>
            </a:extLst>
          </p:cNvPr>
          <p:cNvSpPr txBox="1"/>
          <p:nvPr/>
        </p:nvSpPr>
        <p:spPr>
          <a:xfrm>
            <a:off x="68826" y="34706"/>
            <a:ext cx="11503742" cy="369332"/>
          </a:xfrm>
          <a:prstGeom prst="rect">
            <a:avLst/>
          </a:prstGeom>
          <a:noFill/>
        </p:spPr>
        <p:txBody>
          <a:bodyPr wrap="square">
            <a:spAutoFit/>
          </a:bodyPr>
          <a:lstStyle/>
          <a:p>
            <a:r>
              <a:rPr lang="en-US" b="0" i="0" dirty="0">
                <a:solidFill>
                  <a:srgbClr val="333333"/>
                </a:solidFill>
                <a:effectLst/>
                <a:latin typeface="PT Serif"/>
              </a:rPr>
              <a:t>Lets Open index.js file from our demo project, lets create three components. Lets look at this Code. </a:t>
            </a:r>
            <a:endParaRPr lang="en-IN" dirty="0"/>
          </a:p>
        </p:txBody>
      </p:sp>
      <p:sp>
        <p:nvSpPr>
          <p:cNvPr id="7" name="TextBox 6">
            <a:extLst>
              <a:ext uri="{FF2B5EF4-FFF2-40B4-BE49-F238E27FC236}">
                <a16:creationId xmlns:a16="http://schemas.microsoft.com/office/drawing/2014/main" id="{9DFF965F-2273-4752-ACB8-6ECAA1DE0C5D}"/>
              </a:ext>
            </a:extLst>
          </p:cNvPr>
          <p:cNvSpPr txBox="1"/>
          <p:nvPr/>
        </p:nvSpPr>
        <p:spPr>
          <a:xfrm>
            <a:off x="5378244" y="404038"/>
            <a:ext cx="6813755" cy="6370975"/>
          </a:xfrm>
          <a:prstGeom prst="rect">
            <a:avLst/>
          </a:prstGeom>
          <a:noFill/>
        </p:spPr>
        <p:txBody>
          <a:bodyPr wrap="square">
            <a:spAutoFit/>
          </a:bodyPr>
          <a:lstStyle/>
          <a:p>
            <a:r>
              <a:rPr lang="en-IN" sz="1200" b="0" dirty="0">
                <a:solidFill>
                  <a:srgbClr val="0000FF"/>
                </a:solidFill>
                <a:effectLst/>
                <a:latin typeface="Consolas" panose="020B0609020204030204" pitchFamily="49" charset="0"/>
              </a:rPr>
              <a:t>class</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Employee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extends</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React</a:t>
            </a:r>
            <a:r>
              <a:rPr lang="en-IN" sz="1200" b="0" dirty="0" err="1">
                <a:solidFill>
                  <a:srgbClr val="000000"/>
                </a:solidFill>
                <a:effectLst/>
                <a:latin typeface="Consolas" panose="020B0609020204030204" pitchFamily="49" charset="0"/>
              </a:rPr>
              <a:t>.</a:t>
            </a:r>
            <a:r>
              <a:rPr lang="en-IN" sz="1200" b="0" dirty="0" err="1">
                <a:solidFill>
                  <a:srgbClr val="267F99"/>
                </a:solidFill>
                <a:effectLst/>
                <a:latin typeface="Consolas" panose="020B0609020204030204" pitchFamily="49" charset="0"/>
              </a:rPr>
              <a:t>Component</a:t>
            </a:r>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static</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contextType</a:t>
            </a:r>
            <a:r>
              <a:rPr lang="en-IN" sz="1200" b="0" dirty="0">
                <a:solidFill>
                  <a:srgbClr val="000000"/>
                </a:solidFill>
                <a:effectLst/>
                <a:latin typeface="Consolas" panose="020B0609020204030204" pitchFamily="49" charset="0"/>
              </a:rPr>
              <a:t> = </a:t>
            </a:r>
            <a:r>
              <a:rPr lang="en-IN" sz="1200" b="0" dirty="0" err="1">
                <a:solidFill>
                  <a:srgbClr val="0070C1"/>
                </a:solidFill>
                <a:effectLst/>
                <a:latin typeface="Consolas" panose="020B0609020204030204" pitchFamily="49" charset="0"/>
              </a:rPr>
              <a:t>EmployeeContext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render</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&lt;h2&gt;</a:t>
            </a:r>
            <a:r>
              <a:rPr lang="en-IN" sz="1200" b="0" dirty="0">
                <a:solidFill>
                  <a:srgbClr val="000000"/>
                </a:solidFill>
                <a:effectLst/>
                <a:latin typeface="Consolas" panose="020B0609020204030204" pitchFamily="49" charset="0"/>
              </a:rPr>
              <a:t>Welcome to Employee Component...</a:t>
            </a:r>
            <a:r>
              <a:rPr lang="en-IN" sz="1200" b="0" dirty="0">
                <a:solidFill>
                  <a:srgbClr val="800000"/>
                </a:solidFill>
                <a:effectLst/>
                <a:latin typeface="Consolas" panose="020B0609020204030204" pitchFamily="49" charset="0"/>
              </a:rPr>
              <a:t>&lt;/h2&gt;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Id : </a:t>
            </a:r>
            <a:r>
              <a:rPr lang="en-IN" sz="1200" b="0" dirty="0">
                <a:solidFill>
                  <a:srgbClr val="800000"/>
                </a:solidFill>
                <a:effectLst/>
                <a:latin typeface="Consolas" panose="020B0609020204030204" pitchFamily="49" charset="0"/>
              </a:rPr>
              <a:t>&lt;b&gt;</a:t>
            </a:r>
            <a:r>
              <a:rPr lang="en-IN" sz="1200" b="0" dirty="0">
                <a:solidFill>
                  <a:srgbClr val="0000FF"/>
                </a:solidFill>
                <a:effectLst/>
                <a:latin typeface="Consolas" panose="020B0609020204030204" pitchFamily="49" charset="0"/>
              </a:rPr>
              <a:t>{</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context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Id</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&lt;/b&gt;&lt;/label&gt;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Name: </a:t>
            </a:r>
            <a:r>
              <a:rPr lang="en-IN" sz="1200" b="0" dirty="0">
                <a:solidFill>
                  <a:srgbClr val="800000"/>
                </a:solidFill>
                <a:effectLst/>
                <a:latin typeface="Consolas" panose="020B0609020204030204" pitchFamily="49" charset="0"/>
              </a:rPr>
              <a:t>&lt;b&gt;</a:t>
            </a:r>
            <a:r>
              <a:rPr lang="en-IN" sz="1200" b="0" dirty="0">
                <a:solidFill>
                  <a:srgbClr val="0000FF"/>
                </a:solidFill>
                <a:effectLst/>
                <a:latin typeface="Consolas" panose="020B0609020204030204" pitchFamily="49" charset="0"/>
              </a:rPr>
              <a:t>{</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context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Name</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&lt;/b&gt;&lt;/label&gt;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&lt;hr/&gt;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a:solidFill>
                  <a:srgbClr val="267F99"/>
                </a:solidFill>
                <a:effectLst/>
                <a:latin typeface="Consolas" panose="020B0609020204030204" pitchFamily="49" charset="0"/>
              </a:rPr>
              <a:t>Salary</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a:t>
            </a:r>
          </a:p>
          <a:p>
            <a:r>
              <a:rPr lang="en-IN" sz="1200" b="0" dirty="0">
                <a:solidFill>
                  <a:srgbClr val="0000FF"/>
                </a:solidFill>
                <a:effectLst/>
                <a:latin typeface="Consolas" panose="020B0609020204030204" pitchFamily="49" charset="0"/>
              </a:rPr>
              <a:t>class</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Salary</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extends</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React</a:t>
            </a:r>
            <a:r>
              <a:rPr lang="en-IN" sz="1200" b="0" dirty="0" err="1">
                <a:solidFill>
                  <a:srgbClr val="000000"/>
                </a:solidFill>
                <a:effectLst/>
                <a:latin typeface="Consolas" panose="020B0609020204030204" pitchFamily="49" charset="0"/>
              </a:rPr>
              <a:t>.</a:t>
            </a:r>
            <a:r>
              <a:rPr lang="en-IN" sz="1200" b="0" dirty="0" err="1">
                <a:solidFill>
                  <a:srgbClr val="267F99"/>
                </a:solidFill>
                <a:effectLst/>
                <a:latin typeface="Consolas" panose="020B0609020204030204" pitchFamily="49" charset="0"/>
              </a:rPr>
              <a:t>Component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static</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contextType</a:t>
            </a:r>
            <a:r>
              <a:rPr lang="en-IN" sz="1200" b="0" dirty="0">
                <a:solidFill>
                  <a:srgbClr val="000000"/>
                </a:solidFill>
                <a:effectLst/>
                <a:latin typeface="Consolas" panose="020B0609020204030204" pitchFamily="49" charset="0"/>
              </a:rPr>
              <a:t> = </a:t>
            </a:r>
            <a:r>
              <a:rPr lang="en-IN" sz="1200" b="0" dirty="0" err="1">
                <a:solidFill>
                  <a:srgbClr val="0070C1"/>
                </a:solidFill>
                <a:effectLst/>
                <a:latin typeface="Consolas" panose="020B0609020204030204" pitchFamily="49" charset="0"/>
              </a:rPr>
              <a:t>EmployeeContext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render</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&lt;h2&gt;</a:t>
            </a:r>
            <a:r>
              <a:rPr lang="en-IN" sz="1200" b="0" dirty="0">
                <a:solidFill>
                  <a:srgbClr val="000000"/>
                </a:solidFill>
                <a:effectLst/>
                <a:latin typeface="Consolas" panose="020B0609020204030204" pitchFamily="49" charset="0"/>
              </a:rPr>
              <a:t>Welcome to Salary Component...</a:t>
            </a:r>
            <a:r>
              <a:rPr lang="en-IN" sz="1200" b="0" dirty="0">
                <a:solidFill>
                  <a:srgbClr val="800000"/>
                </a:solidFill>
                <a:effectLst/>
                <a:latin typeface="Consolas" panose="020B0609020204030204" pitchFamily="49" charset="0"/>
              </a:rPr>
              <a:t>&lt;/h2&gt;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Id : </a:t>
            </a:r>
            <a:r>
              <a:rPr lang="en-IN" sz="1200" b="0" dirty="0">
                <a:solidFill>
                  <a:srgbClr val="800000"/>
                </a:solidFill>
                <a:effectLst/>
                <a:latin typeface="Consolas" panose="020B0609020204030204" pitchFamily="49" charset="0"/>
              </a:rPr>
              <a:t>&lt;b&gt;</a:t>
            </a:r>
            <a:r>
              <a:rPr lang="en-IN" sz="1200" b="0" dirty="0">
                <a:solidFill>
                  <a:srgbClr val="0000FF"/>
                </a:solidFill>
                <a:effectLst/>
                <a:latin typeface="Consolas" panose="020B0609020204030204" pitchFamily="49" charset="0"/>
              </a:rPr>
              <a:t>{</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context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Id</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&lt;/b&gt;&lt;/label&gt;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&lt;label&gt;</a:t>
            </a:r>
            <a:r>
              <a:rPr lang="en-IN" sz="1200" b="0" dirty="0">
                <a:solidFill>
                  <a:srgbClr val="000000"/>
                </a:solidFill>
                <a:effectLst/>
                <a:latin typeface="Consolas" panose="020B0609020204030204" pitchFamily="49" charset="0"/>
              </a:rPr>
              <a:t>Employee Name: </a:t>
            </a:r>
            <a:r>
              <a:rPr lang="en-IN" sz="1200" b="0" dirty="0">
                <a:solidFill>
                  <a:srgbClr val="800000"/>
                </a:solidFill>
                <a:effectLst/>
                <a:latin typeface="Consolas" panose="020B0609020204030204" pitchFamily="49" charset="0"/>
              </a:rPr>
              <a:t>&lt;b&gt;</a:t>
            </a:r>
            <a:r>
              <a:rPr lang="en-IN" sz="1200" b="0" dirty="0">
                <a:solidFill>
                  <a:srgbClr val="0000FF"/>
                </a:solidFill>
                <a:effectLst/>
                <a:latin typeface="Consolas" panose="020B0609020204030204" pitchFamily="49" charset="0"/>
              </a:rPr>
              <a:t>{</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context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Name</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&lt;/b&gt;&lt;/label&gt;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&lt;/p&gt;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export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default</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endParaRPr lang="en-IN"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838716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593BFC-66CB-4860-88F3-2FE51E6C8AC8}"/>
              </a:ext>
            </a:extLst>
          </p:cNvPr>
          <p:cNvSpPr>
            <a:spLocks noGrp="1"/>
          </p:cNvSpPr>
          <p:nvPr>
            <p:ph idx="1"/>
          </p:nvPr>
        </p:nvSpPr>
        <p:spPr>
          <a:xfrm>
            <a:off x="324465" y="78658"/>
            <a:ext cx="11700387" cy="1494503"/>
          </a:xfrm>
        </p:spPr>
        <p:txBody>
          <a:bodyPr>
            <a:normAutofit/>
          </a:bodyPr>
          <a:lstStyle/>
          <a:p>
            <a:pPr algn="l"/>
            <a:r>
              <a:rPr lang="en-US" sz="1800" b="0" i="0" dirty="0">
                <a:solidFill>
                  <a:srgbClr val="333333"/>
                </a:solidFill>
                <a:effectLst/>
                <a:latin typeface="PT Serif"/>
              </a:rPr>
              <a:t>Lets Call the Salary Component from Employee Component and Call the Employee Component from App Component. Call the App Component and render it to our DOM.</a:t>
            </a:r>
          </a:p>
          <a:p>
            <a:pPr algn="l"/>
            <a:r>
              <a:rPr lang="en-US" sz="1800" b="0" i="0" dirty="0">
                <a:solidFill>
                  <a:srgbClr val="333333"/>
                </a:solidFill>
                <a:effectLst/>
                <a:latin typeface="PT Serif"/>
              </a:rPr>
              <a:t>Lets save these Changes, navigate to the browser and we can see the Output. Now we go to the App Component Class Constructor, create state object, add a new Property called data and assign an Employee Object.</a:t>
            </a:r>
          </a:p>
          <a:p>
            <a:pPr marL="0" indent="0">
              <a:buNone/>
            </a:pPr>
            <a:endParaRPr lang="en-IN" sz="1800" dirty="0"/>
          </a:p>
        </p:txBody>
      </p:sp>
      <p:sp>
        <p:nvSpPr>
          <p:cNvPr id="12" name="TextBox 11">
            <a:extLst>
              <a:ext uri="{FF2B5EF4-FFF2-40B4-BE49-F238E27FC236}">
                <a16:creationId xmlns:a16="http://schemas.microsoft.com/office/drawing/2014/main" id="{1EF22BD8-F715-45A4-ABF5-4B99290F9719}"/>
              </a:ext>
            </a:extLst>
          </p:cNvPr>
          <p:cNvSpPr txBox="1"/>
          <p:nvPr/>
        </p:nvSpPr>
        <p:spPr>
          <a:xfrm>
            <a:off x="78658" y="1573161"/>
            <a:ext cx="11946194" cy="12003286"/>
          </a:xfrm>
          <a:prstGeom prst="rect">
            <a:avLst/>
          </a:prstGeom>
          <a:noFill/>
        </p:spPr>
        <p:txBody>
          <a:bodyPr wrap="square">
            <a:spAutoFit/>
          </a:bodyPr>
          <a:lstStyle/>
          <a:p>
            <a:r>
              <a:rPr lang="en-US" dirty="0"/>
              <a:t>Lets create context object using </a:t>
            </a:r>
            <a:r>
              <a:rPr lang="en-US" dirty="0" err="1"/>
              <a:t>React.createContext</a:t>
            </a:r>
            <a:r>
              <a:rPr lang="en-US" dirty="0"/>
              <a:t> Method.</a:t>
            </a:r>
          </a:p>
          <a:p>
            <a:endParaRPr lang="en-US" dirty="0"/>
          </a:p>
          <a:p>
            <a:r>
              <a:rPr lang="en-US" b="1" dirty="0"/>
              <a:t>const </a:t>
            </a:r>
            <a:r>
              <a:rPr lang="en-US" b="1" dirty="0" err="1"/>
              <a:t>EmployeeContext</a:t>
            </a:r>
            <a:r>
              <a:rPr lang="en-US" b="1" dirty="0"/>
              <a:t> = </a:t>
            </a:r>
            <a:r>
              <a:rPr lang="en-US" b="1" dirty="0" err="1"/>
              <a:t>React.createContext</a:t>
            </a:r>
            <a:r>
              <a:rPr lang="en-US" b="1" dirty="0"/>
              <a:t>();</a:t>
            </a:r>
          </a:p>
          <a:p>
            <a:endParaRPr lang="en-US" b="1" dirty="0"/>
          </a:p>
          <a:p>
            <a:r>
              <a:rPr lang="en-US" dirty="0"/>
              <a:t>In App Component, We have to store the employee data with in this context object and then access this object in Employee Component and Salary Component from the context.</a:t>
            </a:r>
          </a:p>
          <a:p>
            <a:endParaRPr lang="en-US" dirty="0"/>
          </a:p>
          <a:p>
            <a:r>
              <a:rPr lang="en-US" dirty="0"/>
              <a:t>Every Context object comes with a Provider React component that allows consuming components to subscribe to context changes. Context Provider Accepts a value property to be passed to consuming components that are descendants of this Provider. One Provider can be connected to many consumers. Providers can be nested to override values deeper within the tree. All consumers that are descendants of a Provider will re-render whenever the Provider’s value prop changes. So we modify the way how Employee Component is being Called from App Component </a:t>
            </a:r>
          </a:p>
          <a:p>
            <a:endParaRPr lang="en-US" dirty="0"/>
          </a:p>
          <a:p>
            <a:r>
              <a:rPr lang="en-US" dirty="0"/>
              <a:t>&lt;</a:t>
            </a:r>
            <a:r>
              <a:rPr lang="en-US" dirty="0" err="1"/>
              <a:t>EmployeeContext.Provider</a:t>
            </a:r>
            <a:r>
              <a:rPr lang="en-US" dirty="0"/>
              <a:t> value={</a:t>
            </a:r>
            <a:r>
              <a:rPr lang="en-US" dirty="0" err="1"/>
              <a:t>this.state.data</a:t>
            </a:r>
            <a:r>
              <a:rPr lang="en-US" dirty="0"/>
              <a:t>}&gt;</a:t>
            </a:r>
          </a:p>
          <a:p>
            <a:r>
              <a:rPr lang="en-US" dirty="0"/>
              <a:t>      &lt;Employee /&gt;</a:t>
            </a:r>
          </a:p>
          <a:p>
            <a:r>
              <a:rPr lang="en-US" dirty="0"/>
              <a:t>&lt;/</a:t>
            </a:r>
            <a:r>
              <a:rPr lang="en-US" dirty="0" err="1"/>
              <a:t>EmployeeContext.Provider</a:t>
            </a:r>
            <a:r>
              <a:rPr lang="en-US" dirty="0"/>
              <a:t>&gt;</a:t>
            </a:r>
          </a:p>
          <a:p>
            <a:endParaRPr lang="en-US" dirty="0"/>
          </a:p>
          <a:p>
            <a:r>
              <a:rPr lang="en-US" dirty="0"/>
              <a:t>Before we go and make changes to Employee and Salary Components to access this Object, lets display the Employee ID in the App Component by reading it from State Object. Now lets go to Employee Component class, lets create a static variable and assign the </a:t>
            </a:r>
            <a:r>
              <a:rPr lang="en-US" dirty="0" err="1"/>
              <a:t>EmployeeContext</a:t>
            </a:r>
            <a:r>
              <a:rPr lang="en-US" dirty="0"/>
              <a:t> Object. </a:t>
            </a:r>
          </a:p>
          <a:p>
            <a:endParaRPr lang="en-US" dirty="0"/>
          </a:p>
          <a:p>
            <a:r>
              <a:rPr lang="en-US" dirty="0"/>
              <a:t>static </a:t>
            </a:r>
            <a:r>
              <a:rPr lang="en-US" dirty="0" err="1"/>
              <a:t>contextType</a:t>
            </a:r>
            <a:r>
              <a:rPr lang="en-US" dirty="0"/>
              <a:t> = </a:t>
            </a:r>
            <a:r>
              <a:rPr lang="en-US" dirty="0" err="1"/>
              <a:t>EmployeeContext</a:t>
            </a:r>
            <a:r>
              <a:rPr lang="en-US" dirty="0"/>
              <a:t>;</a:t>
            </a:r>
          </a:p>
          <a:p>
            <a:r>
              <a:rPr lang="en-US" dirty="0"/>
              <a:t>Lets go to render method in the Employee Component, Display the Employee ID by reading it from the context object.</a:t>
            </a:r>
          </a:p>
          <a:p>
            <a:endParaRPr lang="en-US" dirty="0"/>
          </a:p>
          <a:p>
            <a:r>
              <a:rPr lang="en-US" dirty="0"/>
              <a:t>&lt;p&gt;</a:t>
            </a:r>
          </a:p>
          <a:p>
            <a:r>
              <a:rPr lang="en-US" dirty="0"/>
              <a:t>        &lt;label&gt;Employee Id : &lt;b&gt;{</a:t>
            </a:r>
            <a:r>
              <a:rPr lang="en-US" dirty="0" err="1"/>
              <a:t>this.context.Id</a:t>
            </a:r>
            <a:r>
              <a:rPr lang="en-US" dirty="0"/>
              <a:t>}&lt;/b&gt;&lt;/label&gt;</a:t>
            </a:r>
          </a:p>
          <a:p>
            <a:r>
              <a:rPr lang="en-US" dirty="0"/>
              <a:t>&lt;/p&gt;</a:t>
            </a:r>
          </a:p>
          <a:p>
            <a:r>
              <a:rPr lang="en-US" dirty="0"/>
              <a:t>Lets repeat the same for Salary Component as well. Lets save these changes, Navigate to the Browser and we can see the Output.</a:t>
            </a:r>
          </a:p>
          <a:p>
            <a:endParaRPr lang="en-US" dirty="0"/>
          </a:p>
          <a:p>
            <a:r>
              <a:rPr lang="en-US" dirty="0"/>
              <a:t>If we make changes to this Employee Data in the App Component, it gets reflected in both Employee Component and Salary Component. To demonstrate this, lets place a button in the App Component, call </a:t>
            </a:r>
            <a:r>
              <a:rPr lang="en-US" dirty="0" err="1"/>
              <a:t>changeEmpData</a:t>
            </a:r>
            <a:r>
              <a:rPr lang="en-US" dirty="0"/>
              <a:t> function </a:t>
            </a:r>
            <a:r>
              <a:rPr lang="en-US" dirty="0" err="1"/>
              <a:t>onClick</a:t>
            </a:r>
            <a:r>
              <a:rPr lang="en-US" dirty="0"/>
              <a:t> of this button. </a:t>
            </a:r>
          </a:p>
          <a:p>
            <a:endParaRPr lang="en-US" dirty="0"/>
          </a:p>
          <a:p>
            <a:r>
              <a:rPr lang="en-US" dirty="0"/>
              <a:t>&lt;p&gt;</a:t>
            </a:r>
          </a:p>
          <a:p>
            <a:r>
              <a:rPr lang="en-US" dirty="0"/>
              <a:t>        &lt;button </a:t>
            </a:r>
            <a:r>
              <a:rPr lang="en-US" dirty="0" err="1"/>
              <a:t>onClick</a:t>
            </a:r>
            <a:r>
              <a:rPr lang="en-US" dirty="0"/>
              <a:t>={this. </a:t>
            </a:r>
            <a:r>
              <a:rPr lang="en-US" dirty="0" err="1"/>
              <a:t>changeEmpData</a:t>
            </a:r>
            <a:r>
              <a:rPr lang="en-US" dirty="0"/>
              <a:t> }&gt;Change&lt;/button&gt;</a:t>
            </a:r>
          </a:p>
          <a:p>
            <a:r>
              <a:rPr lang="en-US" dirty="0"/>
              <a:t>&lt;/p&gt;</a:t>
            </a:r>
          </a:p>
          <a:p>
            <a:r>
              <a:rPr lang="en-US" dirty="0"/>
              <a:t>In the </a:t>
            </a:r>
            <a:r>
              <a:rPr lang="en-US" dirty="0" err="1"/>
              <a:t>changeEmpData</a:t>
            </a:r>
            <a:r>
              <a:rPr lang="en-US" dirty="0"/>
              <a:t> function, lets change the Id value and pass it to our </a:t>
            </a:r>
            <a:r>
              <a:rPr lang="en-US" dirty="0" err="1"/>
              <a:t>setState</a:t>
            </a:r>
            <a:r>
              <a:rPr lang="en-US" dirty="0"/>
              <a:t> method.</a:t>
            </a:r>
          </a:p>
          <a:p>
            <a:endParaRPr lang="en-US" dirty="0"/>
          </a:p>
          <a:p>
            <a:r>
              <a:rPr lang="en-US" dirty="0"/>
              <a:t> </a:t>
            </a:r>
            <a:r>
              <a:rPr lang="en-US" dirty="0" err="1"/>
              <a:t>changeEmpData</a:t>
            </a:r>
            <a:r>
              <a:rPr lang="en-US" dirty="0"/>
              <a:t>=()=&gt;{</a:t>
            </a:r>
          </a:p>
          <a:p>
            <a:r>
              <a:rPr lang="en-US" dirty="0"/>
              <a:t>    </a:t>
            </a:r>
            <a:r>
              <a:rPr lang="en-US" dirty="0" err="1"/>
              <a:t>this.setState</a:t>
            </a:r>
            <a:r>
              <a:rPr lang="en-US" dirty="0"/>
              <a:t>({data:{Id:102}});</a:t>
            </a:r>
          </a:p>
          <a:p>
            <a:r>
              <a:rPr lang="en-US" dirty="0"/>
              <a:t>  }</a:t>
            </a:r>
          </a:p>
          <a:p>
            <a:r>
              <a:rPr lang="en-US" dirty="0"/>
              <a:t>Save these changes, navigate to the browser and lets test this by clicking on the button.</a:t>
            </a:r>
            <a:endParaRPr lang="en-IN" dirty="0"/>
          </a:p>
        </p:txBody>
      </p:sp>
    </p:spTree>
    <p:extLst>
      <p:ext uri="{BB962C8B-B14F-4D97-AF65-F5344CB8AC3E}">
        <p14:creationId xmlns:p14="http://schemas.microsoft.com/office/powerpoint/2010/main" val="222108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7889E4-B583-489E-8B02-9B667F1EA9C6}"/>
              </a:ext>
            </a:extLst>
          </p:cNvPr>
          <p:cNvSpPr>
            <a:spLocks noGrp="1"/>
          </p:cNvSpPr>
          <p:nvPr>
            <p:ph idx="1"/>
          </p:nvPr>
        </p:nvSpPr>
        <p:spPr>
          <a:xfrm>
            <a:off x="147483" y="324465"/>
            <a:ext cx="11690555" cy="6204154"/>
          </a:xfrm>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Before we go and make changes to Employee and Salary Components to access this Object, lets display the Employee ID in the App Component by reading it from State Object. Now lets go to Employee Component class, lets create a static variable and assign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EmployeeContext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Object.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static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contextType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EmployeeContext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Lets go to render method in the Employee Component, Display the Employee ID by reading it from the context object.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&lt;p&gt;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&lt;label&gt;Employee Id : &lt;b&gt;{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this.context.Id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}&lt;/b&gt;&lt;/label&gt;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&lt;/p&gt;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Lets repeat the same for Salary Component as well. Lets save these changes, Navigate to the Browser and we can see the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we make changes to this Employee Data in the App Component, it gets reflected in both Employee Component and Salary Component. To demonstrate this, lets place a button in the App Component, call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changeEmpData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onClick</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this button.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&lt;p&gt;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&lt;button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onClick</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changeEmpData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}&gt;Change&lt;/button&gt;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&lt;/p&gt;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changeEmpData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lets change the Id value and pass it to our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changeEmpData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this.setState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({data:{Id:102}});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Save these changes, navigate to the browser and lets test this by clicking on the button.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3518903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2173-2FE5-455D-989F-4AC575915DF5}"/>
              </a:ext>
            </a:extLst>
          </p:cNvPr>
          <p:cNvSpPr>
            <a:spLocks noGrp="1"/>
          </p:cNvSpPr>
          <p:nvPr>
            <p:ph type="title"/>
          </p:nvPr>
        </p:nvSpPr>
        <p:spPr>
          <a:xfrm>
            <a:off x="1150374" y="188146"/>
            <a:ext cx="10134600" cy="736088"/>
          </a:xfrm>
        </p:spPr>
        <p:txBody>
          <a:bodyPr>
            <a:normAutofit fontScale="90000"/>
          </a:bodyPr>
          <a:lstStyle/>
          <a:p>
            <a:r>
              <a:rPr lang="en-IN" b="0" i="0" dirty="0">
                <a:solidFill>
                  <a:srgbClr val="000000"/>
                </a:solidFill>
                <a:effectLst/>
                <a:latin typeface="Segoe UI" panose="020B0502040204020203" pitchFamily="34" charset="0"/>
              </a:rPr>
              <a:t>Component Communication using Context</a:t>
            </a:r>
            <a:br>
              <a:rPr lang="en-IN" b="0" i="0" dirty="0">
                <a:solidFill>
                  <a:srgbClr val="000000"/>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09EB8BB5-2C64-44D0-A149-339DA772B3FB}"/>
              </a:ext>
            </a:extLst>
          </p:cNvPr>
          <p:cNvSpPr>
            <a:spLocks noGrp="1"/>
          </p:cNvSpPr>
          <p:nvPr>
            <p:ph idx="1"/>
          </p:nvPr>
        </p:nvSpPr>
        <p:spPr>
          <a:xfrm>
            <a:off x="78657" y="835741"/>
            <a:ext cx="4021395" cy="5360886"/>
          </a:xfrm>
        </p:spPr>
        <p:txBody>
          <a:bodyPr>
            <a:normAutofit lnSpcReduction="10000"/>
          </a:bodyPr>
          <a:lstStyle/>
          <a:p>
            <a:pPr marL="0" indent="0" algn="l">
              <a:buNone/>
            </a:pPr>
            <a:r>
              <a:rPr lang="en-US" sz="2000" b="0" i="0" dirty="0">
                <a:solidFill>
                  <a:srgbClr val="333333"/>
                </a:solidFill>
                <a:effectLst/>
                <a:latin typeface="PT Serif"/>
              </a:rPr>
              <a:t>we have discussed about using context in React to pass the data from Parent Component to Child Components which are placed at different Nesting Levels. It is often necessary to update the context from a component that is nested somewhere deeply in the component tree. In this article, we will understand how do we Update Context from a Nested Component and how to handle that Update event in the Parent component.</a:t>
            </a:r>
          </a:p>
          <a:p>
            <a:pPr marL="0" indent="0" algn="l">
              <a:buNone/>
            </a:pPr>
            <a:r>
              <a:rPr lang="en-US" sz="2000" b="0" i="0" dirty="0">
                <a:solidFill>
                  <a:srgbClr val="333333"/>
                </a:solidFill>
                <a:effectLst/>
                <a:latin typeface="PT Serif"/>
              </a:rPr>
              <a:t>Lets Open Index.js file from our demo-project. I have copied the App Component and Employee Component Code from our Last demo</a:t>
            </a:r>
          </a:p>
          <a:p>
            <a:pPr marL="0" indent="0">
              <a:buNone/>
            </a:pPr>
            <a:endParaRPr lang="en-IN" dirty="0"/>
          </a:p>
        </p:txBody>
      </p:sp>
      <p:sp>
        <p:nvSpPr>
          <p:cNvPr id="5" name="TextBox 4">
            <a:extLst>
              <a:ext uri="{FF2B5EF4-FFF2-40B4-BE49-F238E27FC236}">
                <a16:creationId xmlns:a16="http://schemas.microsoft.com/office/drawing/2014/main" id="{0D7FED15-74AC-4892-8AD7-0DCFDD7908E2}"/>
              </a:ext>
            </a:extLst>
          </p:cNvPr>
          <p:cNvSpPr txBox="1"/>
          <p:nvPr/>
        </p:nvSpPr>
        <p:spPr>
          <a:xfrm>
            <a:off x="4508092" y="452495"/>
            <a:ext cx="7167716" cy="6740307"/>
          </a:xfrm>
          <a:prstGeom prst="rect">
            <a:avLst/>
          </a:prstGeom>
          <a:noFill/>
        </p:spPr>
        <p:txBody>
          <a:bodyPr wrap="square">
            <a:spAutoFit/>
          </a:bodyPr>
          <a:lstStyle/>
          <a:p>
            <a:r>
              <a:rPr lang="en-IN" b="0" i="0" dirty="0">
                <a:solidFill>
                  <a:srgbClr val="1990B8"/>
                </a:solidFill>
                <a:effectLst/>
                <a:latin typeface="Consolas" panose="020B0609020204030204" pitchFamily="49" charset="0"/>
              </a:rPr>
              <a:t>class</a:t>
            </a:r>
            <a:r>
              <a:rPr lang="en-IN" b="0" i="0" dirty="0">
                <a:solidFill>
                  <a:srgbClr val="000000"/>
                </a:solidFill>
                <a:effectLst/>
                <a:latin typeface="Consolas" panose="020B0609020204030204" pitchFamily="49" charset="0"/>
              </a:rPr>
              <a:t> </a:t>
            </a:r>
            <a:r>
              <a:rPr lang="en-IN" b="0" i="0" dirty="0">
                <a:solidFill>
                  <a:srgbClr val="1990B8"/>
                </a:solidFill>
                <a:effectLst/>
                <a:latin typeface="Consolas" panose="020B0609020204030204" pitchFamily="49" charset="0"/>
              </a:rPr>
              <a:t>App</a:t>
            </a:r>
            <a:r>
              <a:rPr lang="en-IN" b="0" i="0" dirty="0">
                <a:solidFill>
                  <a:srgbClr val="000000"/>
                </a:solidFill>
                <a:effectLst/>
                <a:latin typeface="Consolas" panose="020B0609020204030204" pitchFamily="49" charset="0"/>
              </a:rPr>
              <a:t> </a:t>
            </a:r>
            <a:r>
              <a:rPr lang="en-IN" b="0" i="0" dirty="0">
                <a:solidFill>
                  <a:srgbClr val="1990B8"/>
                </a:solidFill>
                <a:effectLst/>
                <a:latin typeface="Consolas" panose="020B0609020204030204" pitchFamily="49" charset="0"/>
              </a:rPr>
              <a:t>extends</a:t>
            </a:r>
            <a:r>
              <a:rPr lang="en-IN" b="0" i="0" dirty="0">
                <a:solidFill>
                  <a:srgbClr val="000000"/>
                </a:solidFill>
                <a:effectLst/>
                <a:latin typeface="Consolas" panose="020B0609020204030204" pitchFamily="49" charset="0"/>
              </a:rPr>
              <a:t> </a:t>
            </a:r>
            <a:r>
              <a:rPr lang="en-IN" b="0" i="0" dirty="0" err="1">
                <a:solidFill>
                  <a:srgbClr val="1990B8"/>
                </a:solidFill>
                <a:effectLst/>
                <a:latin typeface="Consolas" panose="020B0609020204030204" pitchFamily="49" charset="0"/>
              </a:rPr>
              <a:t>React</a:t>
            </a:r>
            <a:r>
              <a:rPr lang="en-IN" b="0" i="0" dirty="0" err="1">
                <a:solidFill>
                  <a:srgbClr val="5F6364"/>
                </a:solidFill>
                <a:effectLst/>
                <a:latin typeface="Consolas" panose="020B0609020204030204" pitchFamily="49" charset="0"/>
              </a:rPr>
              <a:t>.</a:t>
            </a:r>
            <a:r>
              <a:rPr lang="en-IN" b="0" i="0" dirty="0" err="1">
                <a:solidFill>
                  <a:srgbClr val="1990B8"/>
                </a:solidFill>
                <a:effectLst/>
                <a:latin typeface="Consolas" panose="020B0609020204030204" pitchFamily="49" charset="0"/>
              </a:rPr>
              <a:t>Component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2F9C0A"/>
                </a:solidFill>
                <a:effectLst/>
                <a:latin typeface="Consolas" panose="020B0609020204030204" pitchFamily="49" charset="0"/>
              </a:rPr>
              <a:t>constructor</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props</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1990B8"/>
                </a:solidFill>
                <a:effectLst/>
                <a:latin typeface="Consolas" panose="020B0609020204030204" pitchFamily="49" charset="0"/>
              </a:rPr>
              <a:t>super</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props</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err="1">
                <a:solidFill>
                  <a:srgbClr val="1990B8"/>
                </a:solidFill>
                <a:effectLst/>
                <a:latin typeface="Consolas" panose="020B0609020204030204" pitchFamily="49" charset="0"/>
              </a:rPr>
              <a:t>this</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state</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data</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Id</a:t>
            </a:r>
            <a:r>
              <a:rPr lang="en-IN" b="0" i="0" dirty="0">
                <a:solidFill>
                  <a:srgbClr val="A67F59"/>
                </a:solidFill>
                <a:effectLst/>
                <a:latin typeface="Consolas" panose="020B0609020204030204" pitchFamily="49" charset="0"/>
              </a:rPr>
              <a:t>:</a:t>
            </a:r>
            <a:r>
              <a:rPr lang="en-IN" b="0" i="0" dirty="0">
                <a:solidFill>
                  <a:srgbClr val="C92C2C"/>
                </a:solidFill>
                <a:effectLst/>
                <a:latin typeface="Consolas" panose="020B0609020204030204" pitchFamily="49" charset="0"/>
              </a:rPr>
              <a:t>101</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2F9C0A"/>
                </a:solidFill>
                <a:effectLst/>
                <a:latin typeface="Consolas" panose="020B0609020204030204" pitchFamily="49" charset="0"/>
              </a:rPr>
              <a:t>render</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p>
          <a:p>
            <a:r>
              <a:rPr lang="en-IN" b="0" i="0" dirty="0">
                <a:solidFill>
                  <a:srgbClr val="000000"/>
                </a:solidFill>
                <a:effectLst/>
                <a:latin typeface="Consolas" panose="020B0609020204030204" pitchFamily="49" charset="0"/>
              </a:rPr>
              <a:t> </a:t>
            </a:r>
            <a:r>
              <a:rPr lang="en-IN" b="0" i="0" dirty="0">
                <a:solidFill>
                  <a:srgbClr val="1990B8"/>
                </a:solidFill>
                <a:effectLst/>
                <a:latin typeface="Consolas" panose="020B0609020204030204" pitchFamily="49" charset="0"/>
              </a:rPr>
              <a:t>return</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div</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h2</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Welcome to App Component</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h2</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p</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label</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Employee Id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b</a:t>
            </a:r>
            <a:r>
              <a:rPr lang="en-IN" b="0" i="0" dirty="0">
                <a:solidFill>
                  <a:srgbClr val="A67F59"/>
                </a:solidFill>
                <a:effectLst/>
                <a:latin typeface="Consolas" panose="020B0609020204030204" pitchFamily="49" charset="0"/>
              </a:rPr>
              <a:t>&gt;</a:t>
            </a:r>
            <a:r>
              <a:rPr lang="en-IN" b="0" i="0" dirty="0">
                <a:solidFill>
                  <a:srgbClr val="5F6364"/>
                </a:solidFill>
                <a:effectLst/>
                <a:latin typeface="Consolas" panose="020B0609020204030204" pitchFamily="49" charset="0"/>
              </a:rPr>
              <a:t>{</a:t>
            </a:r>
            <a:r>
              <a:rPr lang="en-IN" b="0" i="0" dirty="0" err="1">
                <a:solidFill>
                  <a:srgbClr val="1990B8"/>
                </a:solidFill>
                <a:effectLst/>
                <a:latin typeface="Consolas" panose="020B0609020204030204" pitchFamily="49" charset="0"/>
              </a:rPr>
              <a:t>this</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state</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data</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Id</a:t>
            </a:r>
            <a:r>
              <a:rPr lang="en-IN" b="0" i="0" dirty="0">
                <a:solidFill>
                  <a:srgbClr val="5F6364"/>
                </a:solidFill>
                <a:effectLst/>
                <a:latin typeface="Consolas" panose="020B0609020204030204" pitchFamily="49" charset="0"/>
              </a:rPr>
              <a:t>}</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b</a:t>
            </a:r>
            <a:r>
              <a:rPr lang="en-IN" b="0" i="0" dirty="0">
                <a:solidFill>
                  <a:srgbClr val="A67F59"/>
                </a:solidFill>
                <a:effectLst/>
                <a:latin typeface="Consolas" panose="020B0609020204030204" pitchFamily="49" charset="0"/>
              </a:rPr>
              <a:t>&gt;</a:t>
            </a:r>
          </a:p>
          <a:p>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label</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p</a:t>
            </a:r>
            <a:r>
              <a:rPr lang="en-IN" b="0" i="0" dirty="0">
                <a:solidFill>
                  <a:srgbClr val="A67F59"/>
                </a:solidFill>
                <a:effectLst/>
                <a:latin typeface="Consolas" panose="020B0609020204030204" pitchFamily="49" charset="0"/>
              </a:rPr>
              <a:t>&gt;</a:t>
            </a:r>
          </a:p>
          <a:p>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err="1">
                <a:solidFill>
                  <a:srgbClr val="000000"/>
                </a:solidFill>
                <a:effectLst/>
                <a:latin typeface="Consolas" panose="020B0609020204030204" pitchFamily="49" charset="0"/>
              </a:rPr>
              <a:t>EmployeeContext</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Provider</a:t>
            </a:r>
            <a:r>
              <a:rPr lang="en-IN" b="0" i="0" dirty="0">
                <a:solidFill>
                  <a:srgbClr val="000000"/>
                </a:solidFill>
                <a:effectLst/>
                <a:latin typeface="Consolas" panose="020B0609020204030204" pitchFamily="49" charset="0"/>
              </a:rPr>
              <a:t> value</a:t>
            </a:r>
            <a:r>
              <a:rPr lang="en-IN" b="0" i="0" dirty="0">
                <a:solidFill>
                  <a:srgbClr val="A67F59"/>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err="1">
                <a:solidFill>
                  <a:srgbClr val="1990B8"/>
                </a:solidFill>
                <a:effectLst/>
                <a:latin typeface="Consolas" panose="020B0609020204030204" pitchFamily="49" charset="0"/>
              </a:rPr>
              <a:t>this</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state</a:t>
            </a:r>
            <a:r>
              <a:rPr lang="en-IN" b="0" i="0" dirty="0">
                <a:solidFill>
                  <a:srgbClr val="5F6364"/>
                </a:solidFill>
                <a:effectLst/>
                <a:latin typeface="Consolas" panose="020B0609020204030204" pitchFamily="49" charset="0"/>
              </a:rPr>
              <a:t>}</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Employee </a:t>
            </a:r>
            <a:r>
              <a:rPr lang="en-IN" b="0" i="0" dirty="0">
                <a:solidFill>
                  <a:srgbClr val="A67F59"/>
                </a:solidFill>
                <a:effectLst/>
                <a:latin typeface="Consolas" panose="020B0609020204030204" pitchFamily="49" charset="0"/>
              </a:rPr>
              <a:t>/&gt;</a:t>
            </a:r>
          </a:p>
          <a:p>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err="1">
                <a:solidFill>
                  <a:srgbClr val="000000"/>
                </a:solidFill>
                <a:effectLst/>
                <a:latin typeface="Consolas" panose="020B0609020204030204" pitchFamily="49" charset="0"/>
              </a:rPr>
              <a:t>EmployeeContext</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Provider</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div</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endParaRPr lang="en-IN" dirty="0">
              <a:solidFill>
                <a:srgbClr val="000000"/>
              </a:solidFill>
              <a:latin typeface="Consolas" panose="020B0609020204030204" pitchFamily="49" charset="0"/>
            </a:endParaRPr>
          </a:p>
          <a:p>
            <a:r>
              <a:rPr lang="en-IN" b="0" i="0" dirty="0">
                <a:solidFill>
                  <a:srgbClr val="1990B8"/>
                </a:solidFill>
                <a:effectLst/>
                <a:latin typeface="Consolas" panose="020B0609020204030204" pitchFamily="49" charset="0"/>
              </a:rPr>
              <a:t>class</a:t>
            </a:r>
            <a:r>
              <a:rPr lang="en-IN" b="0" i="0" dirty="0">
                <a:solidFill>
                  <a:srgbClr val="000000"/>
                </a:solidFill>
                <a:effectLst/>
                <a:latin typeface="Consolas" panose="020B0609020204030204" pitchFamily="49" charset="0"/>
              </a:rPr>
              <a:t> </a:t>
            </a:r>
            <a:r>
              <a:rPr lang="en-IN" b="0" i="0" dirty="0">
                <a:solidFill>
                  <a:srgbClr val="1990B8"/>
                </a:solidFill>
                <a:effectLst/>
                <a:latin typeface="Consolas" panose="020B0609020204030204" pitchFamily="49" charset="0"/>
              </a:rPr>
              <a:t>Employee</a:t>
            </a:r>
            <a:r>
              <a:rPr lang="en-IN" b="0" i="0" dirty="0">
                <a:solidFill>
                  <a:srgbClr val="000000"/>
                </a:solidFill>
                <a:effectLst/>
                <a:latin typeface="Consolas" panose="020B0609020204030204" pitchFamily="49" charset="0"/>
              </a:rPr>
              <a:t> </a:t>
            </a:r>
            <a:r>
              <a:rPr lang="en-IN" b="0" i="0" dirty="0">
                <a:solidFill>
                  <a:srgbClr val="1990B8"/>
                </a:solidFill>
                <a:effectLst/>
                <a:latin typeface="Consolas" panose="020B0609020204030204" pitchFamily="49" charset="0"/>
              </a:rPr>
              <a:t>extends</a:t>
            </a:r>
            <a:r>
              <a:rPr lang="en-IN" b="0" i="0" dirty="0">
                <a:solidFill>
                  <a:srgbClr val="000000"/>
                </a:solidFill>
                <a:effectLst/>
                <a:latin typeface="Consolas" panose="020B0609020204030204" pitchFamily="49" charset="0"/>
              </a:rPr>
              <a:t> </a:t>
            </a:r>
            <a:r>
              <a:rPr lang="en-IN" b="0" i="0" dirty="0" err="1">
                <a:solidFill>
                  <a:srgbClr val="1990B8"/>
                </a:solidFill>
                <a:effectLst/>
                <a:latin typeface="Consolas" panose="020B0609020204030204" pitchFamily="49" charset="0"/>
              </a:rPr>
              <a:t>React</a:t>
            </a:r>
            <a:r>
              <a:rPr lang="en-IN" b="0" i="0" dirty="0" err="1">
                <a:solidFill>
                  <a:srgbClr val="5F6364"/>
                </a:solidFill>
                <a:effectLst/>
                <a:latin typeface="Consolas" panose="020B0609020204030204" pitchFamily="49" charset="0"/>
              </a:rPr>
              <a:t>.</a:t>
            </a:r>
            <a:r>
              <a:rPr lang="en-IN" b="0" i="0" dirty="0" err="1">
                <a:solidFill>
                  <a:srgbClr val="1990B8"/>
                </a:solidFill>
                <a:effectLst/>
                <a:latin typeface="Consolas" panose="020B0609020204030204" pitchFamily="49" charset="0"/>
              </a:rPr>
              <a:t>Component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1990B8"/>
                </a:solidFill>
                <a:effectLst/>
                <a:latin typeface="Consolas" panose="020B0609020204030204" pitchFamily="49" charset="0"/>
              </a:rPr>
              <a:t>static</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contextType</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EmployeeContext</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endParaRPr lang="en-IN" b="0" i="0" dirty="0">
              <a:solidFill>
                <a:srgbClr val="000000"/>
              </a:solidFill>
              <a:effectLst/>
              <a:latin typeface="Consolas" panose="020B0609020204030204" pitchFamily="49" charset="0"/>
            </a:endParaRPr>
          </a:p>
          <a:p>
            <a:r>
              <a:rPr lang="en-IN" b="0" i="0" dirty="0">
                <a:solidFill>
                  <a:srgbClr val="2F9C0A"/>
                </a:solidFill>
                <a:effectLst/>
                <a:latin typeface="Consolas" panose="020B0609020204030204" pitchFamily="49" charset="0"/>
              </a:rPr>
              <a:t>render</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1990B8"/>
                </a:solidFill>
                <a:effectLst/>
                <a:latin typeface="Consolas" panose="020B0609020204030204" pitchFamily="49" charset="0"/>
              </a:rPr>
              <a:t>return</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div</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h2</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Welcome to Employee Component</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h2</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p</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label</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Employee Id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b</a:t>
            </a:r>
            <a:r>
              <a:rPr lang="en-IN" b="0" i="0" dirty="0">
                <a:solidFill>
                  <a:srgbClr val="A67F59"/>
                </a:solidFill>
                <a:effectLst/>
                <a:latin typeface="Consolas" panose="020B0609020204030204" pitchFamily="49" charset="0"/>
              </a:rPr>
              <a:t>&gt;</a:t>
            </a:r>
            <a:r>
              <a:rPr lang="en-IN" b="0" i="0" dirty="0">
                <a:solidFill>
                  <a:srgbClr val="5F6364"/>
                </a:solidFill>
                <a:effectLst/>
                <a:latin typeface="Consolas" panose="020B0609020204030204" pitchFamily="49" charset="0"/>
              </a:rPr>
              <a:t>{</a:t>
            </a:r>
            <a:r>
              <a:rPr lang="en-IN" b="0" i="0" dirty="0" err="1">
                <a:solidFill>
                  <a:srgbClr val="1990B8"/>
                </a:solidFill>
                <a:effectLst/>
                <a:latin typeface="Consolas" panose="020B0609020204030204" pitchFamily="49" charset="0"/>
              </a:rPr>
              <a:t>this</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context</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data</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Id</a:t>
            </a:r>
            <a:r>
              <a:rPr lang="en-IN" b="0" i="0" dirty="0">
                <a:solidFill>
                  <a:srgbClr val="5F6364"/>
                </a:solidFill>
                <a:effectLst/>
                <a:latin typeface="Consolas" panose="020B0609020204030204" pitchFamily="49" charset="0"/>
              </a:rPr>
              <a:t>}</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b</a:t>
            </a:r>
            <a:r>
              <a:rPr lang="en-IN" b="0" i="0" dirty="0">
                <a:solidFill>
                  <a:srgbClr val="A67F59"/>
                </a:solidFill>
                <a:effectLst/>
                <a:latin typeface="Consolas" panose="020B0609020204030204" pitchFamily="49" charset="0"/>
              </a:rPr>
              <a:t>&gt;&lt;/</a:t>
            </a:r>
            <a:r>
              <a:rPr lang="en-IN" b="0" i="0" dirty="0">
                <a:solidFill>
                  <a:srgbClr val="000000"/>
                </a:solidFill>
                <a:effectLst/>
                <a:latin typeface="Consolas" panose="020B0609020204030204" pitchFamily="49" charset="0"/>
              </a:rPr>
              <a:t>label</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p</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div</a:t>
            </a:r>
            <a:r>
              <a:rPr lang="en-IN" b="0" i="0" dirty="0">
                <a:solidFill>
                  <a:srgbClr val="A67F59"/>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p>
          <a:p>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p>
          <a:p>
            <a:r>
              <a:rPr lang="en-IN" b="0" i="0" dirty="0">
                <a:solidFill>
                  <a:srgbClr val="000000"/>
                </a:solidFill>
                <a:effectLst/>
                <a:latin typeface="Consolas" panose="020B0609020204030204" pitchFamily="49" charset="0"/>
              </a:rPr>
              <a:t> </a:t>
            </a:r>
            <a:r>
              <a:rPr lang="en-IN" b="0" i="0" dirty="0" err="1">
                <a:solidFill>
                  <a:srgbClr val="1990B8"/>
                </a:solidFill>
                <a:effectLst/>
                <a:latin typeface="Consolas" panose="020B0609020204030204" pitchFamily="49" charset="0"/>
              </a:rPr>
              <a:t>const</a:t>
            </a:r>
            <a:r>
              <a:rPr lang="en-IN" b="0" i="0" dirty="0">
                <a:solidFill>
                  <a:srgbClr val="000000"/>
                </a:solidFill>
                <a:effectLst/>
                <a:latin typeface="Consolas" panose="020B0609020204030204" pitchFamily="49" charset="0"/>
              </a:rPr>
              <a:t> element</a:t>
            </a:r>
            <a:r>
              <a:rPr lang="en-IN" b="0" i="0" dirty="0">
                <a:solidFill>
                  <a:srgbClr val="A67F59"/>
                </a:solidFill>
                <a:effectLst/>
                <a:latin typeface="Consolas" panose="020B0609020204030204" pitchFamily="49" charset="0"/>
              </a:rPr>
              <a:t>=&lt;</a:t>
            </a:r>
            <a:r>
              <a:rPr lang="en-IN" b="0" i="0" dirty="0">
                <a:solidFill>
                  <a:srgbClr val="000000"/>
                </a:solidFill>
                <a:effectLst/>
                <a:latin typeface="Consolas" panose="020B0609020204030204" pitchFamily="49" charset="0"/>
              </a:rPr>
              <a:t>App</a:t>
            </a:r>
            <a:r>
              <a:rPr lang="en-IN" b="0" i="0" dirty="0">
                <a:solidFill>
                  <a:srgbClr val="A67F59"/>
                </a:solidFill>
                <a:effectLst/>
                <a:latin typeface="Consolas" panose="020B0609020204030204" pitchFamily="49" charset="0"/>
              </a:rPr>
              <a:t>/&gt;</a:t>
            </a:r>
          </a:p>
          <a:p>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ReactDOM</a:t>
            </a:r>
            <a:r>
              <a:rPr lang="en-IN" b="0" i="0" dirty="0" err="1">
                <a:solidFill>
                  <a:srgbClr val="5F6364"/>
                </a:solidFill>
                <a:effectLst/>
                <a:latin typeface="Consolas" panose="020B0609020204030204" pitchFamily="49" charset="0"/>
              </a:rPr>
              <a:t>.</a:t>
            </a:r>
            <a:r>
              <a:rPr lang="en-IN" b="0" i="0" dirty="0" err="1">
                <a:solidFill>
                  <a:srgbClr val="2F9C0A"/>
                </a:solidFill>
                <a:effectLst/>
                <a:latin typeface="Consolas" panose="020B0609020204030204" pitchFamily="49" charset="0"/>
              </a:rPr>
              <a:t>render</a:t>
            </a:r>
            <a:r>
              <a:rPr lang="en-IN" b="0" i="0" dirty="0">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element</a:t>
            </a:r>
            <a:r>
              <a:rPr lang="en-IN" b="0" i="0" dirty="0" err="1">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document</a:t>
            </a:r>
            <a:r>
              <a:rPr lang="en-IN" b="0" i="0" dirty="0" err="1">
                <a:solidFill>
                  <a:srgbClr val="5F6364"/>
                </a:solidFill>
                <a:effectLst/>
                <a:latin typeface="Consolas" panose="020B0609020204030204" pitchFamily="49" charset="0"/>
              </a:rPr>
              <a:t>.</a:t>
            </a:r>
            <a:r>
              <a:rPr lang="en-IN" b="0" i="0" dirty="0" err="1">
                <a:solidFill>
                  <a:srgbClr val="2F9C0A"/>
                </a:solidFill>
                <a:effectLst/>
                <a:latin typeface="Consolas" panose="020B0609020204030204" pitchFamily="49" charset="0"/>
              </a:rPr>
              <a:t>getElementById</a:t>
            </a:r>
            <a:r>
              <a:rPr lang="en-IN" b="0" i="0" dirty="0">
                <a:solidFill>
                  <a:srgbClr val="5F6364"/>
                </a:solidFill>
                <a:effectLst/>
                <a:latin typeface="Consolas" panose="020B0609020204030204" pitchFamily="49" charset="0"/>
              </a:rPr>
              <a:t>(</a:t>
            </a:r>
            <a:r>
              <a:rPr lang="en-IN" b="0" i="0" dirty="0">
                <a:solidFill>
                  <a:srgbClr val="2F9C0A"/>
                </a:solidFill>
                <a:effectLst/>
                <a:latin typeface="Consolas" panose="020B0609020204030204" pitchFamily="49" charset="0"/>
              </a:rPr>
              <a:t>'root'</a:t>
            </a:r>
            <a:r>
              <a:rPr lang="en-IN" b="0" i="0" dirty="0">
                <a:solidFill>
                  <a:srgbClr val="5F6364"/>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1116216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30F02A-60C7-486A-A4EB-74147313075B}"/>
              </a:ext>
            </a:extLst>
          </p:cNvPr>
          <p:cNvSpPr>
            <a:spLocks noGrp="1"/>
          </p:cNvSpPr>
          <p:nvPr>
            <p:ph idx="1"/>
          </p:nvPr>
        </p:nvSpPr>
        <p:spPr>
          <a:xfrm>
            <a:off x="196645" y="88490"/>
            <a:ext cx="11434916" cy="6769510"/>
          </a:xfrm>
        </p:spPr>
        <p:txBody>
          <a:bodyPr>
            <a:noAutofit/>
          </a:bodyPr>
          <a:lstStyle/>
          <a:p>
            <a:pPr marL="0" indent="0">
              <a:buNone/>
            </a:pPr>
            <a:r>
              <a:rPr lang="en-US" sz="1400" dirty="0"/>
              <a:t>Lets create context object, and to this context object lets add one Property with name data and initialize to empty and add New Function named </a:t>
            </a:r>
            <a:r>
              <a:rPr lang="en-US" sz="1400" dirty="0" err="1"/>
              <a:t>changeEmployeeInfo</a:t>
            </a:r>
            <a:r>
              <a:rPr lang="en-US" sz="1400" dirty="0"/>
              <a:t>.</a:t>
            </a:r>
          </a:p>
          <a:p>
            <a:pPr marL="0" indent="0">
              <a:buNone/>
            </a:pPr>
            <a:r>
              <a:rPr lang="en-US" sz="1400" dirty="0"/>
              <a:t>We pass this function down through the context to allow child components to update the context.</a:t>
            </a:r>
          </a:p>
          <a:p>
            <a:pPr marL="0" indent="0">
              <a:buNone/>
            </a:pPr>
            <a:r>
              <a:rPr lang="en-US" sz="1400" b="1" dirty="0"/>
              <a:t>const </a:t>
            </a:r>
            <a:r>
              <a:rPr lang="en-US" sz="1400" b="1" dirty="0" err="1"/>
              <a:t>EmployeeContext</a:t>
            </a:r>
            <a:r>
              <a:rPr lang="en-US" sz="1400" b="1" dirty="0"/>
              <a:t> = </a:t>
            </a:r>
            <a:r>
              <a:rPr lang="en-US" sz="1400" b="1" dirty="0" err="1"/>
              <a:t>React.createContext</a:t>
            </a:r>
            <a:r>
              <a:rPr lang="en-US" sz="1400" b="1" dirty="0"/>
              <a:t>({</a:t>
            </a:r>
          </a:p>
          <a:p>
            <a:pPr marL="0" indent="0">
              <a:buNone/>
            </a:pPr>
            <a:r>
              <a:rPr lang="en-US" sz="1400" b="1" dirty="0"/>
              <a:t>  data: '',</a:t>
            </a:r>
          </a:p>
          <a:p>
            <a:pPr marL="0" indent="0">
              <a:buNone/>
            </a:pPr>
            <a:r>
              <a:rPr lang="en-US" sz="1400" b="1" dirty="0"/>
              <a:t>  </a:t>
            </a:r>
            <a:r>
              <a:rPr lang="en-US" sz="1400" b="1" dirty="0" err="1"/>
              <a:t>changeEmployeeInfo</a:t>
            </a:r>
            <a:r>
              <a:rPr lang="en-US" sz="1400" b="1" dirty="0"/>
              <a:t>: () =&gt; {},</a:t>
            </a:r>
          </a:p>
          <a:p>
            <a:pPr marL="0" indent="0">
              <a:buNone/>
            </a:pPr>
            <a:r>
              <a:rPr lang="en-US" sz="1400" b="1" dirty="0"/>
              <a:t>});</a:t>
            </a:r>
          </a:p>
          <a:p>
            <a:pPr marL="0" indent="0">
              <a:buNone/>
            </a:pPr>
            <a:r>
              <a:rPr lang="en-US" sz="1400" dirty="0"/>
              <a:t>Lets create a function named </a:t>
            </a:r>
            <a:r>
              <a:rPr lang="en-US" sz="1400" dirty="0" err="1"/>
              <a:t>updateEmployeeDetails</a:t>
            </a:r>
            <a:r>
              <a:rPr lang="en-US" sz="1400" dirty="0"/>
              <a:t>, change the state object data through the </a:t>
            </a:r>
            <a:r>
              <a:rPr lang="en-US" sz="1400" dirty="0" err="1"/>
              <a:t>setState</a:t>
            </a:r>
            <a:r>
              <a:rPr lang="en-US" sz="1400" dirty="0"/>
              <a:t> Method.</a:t>
            </a:r>
          </a:p>
          <a:p>
            <a:pPr marL="0" indent="0">
              <a:buNone/>
            </a:pPr>
            <a:r>
              <a:rPr lang="en-US" sz="1400" b="1" dirty="0" err="1"/>
              <a:t>updateEmployeeDetails</a:t>
            </a:r>
            <a:r>
              <a:rPr lang="en-US" sz="1400" b="1" dirty="0"/>
              <a:t> = () =&gt; {</a:t>
            </a:r>
          </a:p>
          <a:p>
            <a:pPr marL="0" indent="0">
              <a:buNone/>
            </a:pPr>
            <a:r>
              <a:rPr lang="en-US" sz="1400" b="1" dirty="0"/>
              <a:t>      </a:t>
            </a:r>
            <a:r>
              <a:rPr lang="en-US" sz="1400" b="1" dirty="0" err="1"/>
              <a:t>this.setState</a:t>
            </a:r>
            <a:r>
              <a:rPr lang="en-US" sz="1400" b="1" dirty="0"/>
              <a:t>({ data:{Id:102} });</a:t>
            </a:r>
          </a:p>
          <a:p>
            <a:pPr marL="0" indent="0">
              <a:buNone/>
            </a:pPr>
            <a:r>
              <a:rPr lang="en-US" sz="1400" b="1" dirty="0"/>
              <a:t>    };</a:t>
            </a:r>
          </a:p>
          <a:p>
            <a:pPr marL="0" indent="0">
              <a:buNone/>
            </a:pPr>
            <a:r>
              <a:rPr lang="en-US" sz="1400" dirty="0"/>
              <a:t>Add a New Property to the state object named </a:t>
            </a:r>
            <a:r>
              <a:rPr lang="en-US" sz="1400" dirty="0" err="1"/>
              <a:t>changeEmployeeInfo</a:t>
            </a:r>
            <a:r>
              <a:rPr lang="en-US" sz="1400" dirty="0"/>
              <a:t> whose name is same as the one we have created in our Context Object and Pass this function name as its Value.</a:t>
            </a:r>
          </a:p>
          <a:p>
            <a:pPr marL="0" indent="0">
              <a:buNone/>
            </a:pPr>
            <a:r>
              <a:rPr lang="en-US" sz="1400" b="1" dirty="0" err="1"/>
              <a:t>this.state</a:t>
            </a:r>
            <a:r>
              <a:rPr lang="en-US" sz="1400" b="1" dirty="0"/>
              <a:t> = {</a:t>
            </a:r>
          </a:p>
          <a:p>
            <a:pPr marL="0" indent="0">
              <a:buNone/>
            </a:pPr>
            <a:r>
              <a:rPr lang="en-US" sz="1400" b="1" dirty="0"/>
              <a:t>      data: {Id:101},</a:t>
            </a:r>
          </a:p>
          <a:p>
            <a:pPr marL="0" indent="0">
              <a:buNone/>
            </a:pPr>
            <a:r>
              <a:rPr lang="en-US" sz="1400" b="1" dirty="0"/>
              <a:t>      </a:t>
            </a:r>
            <a:r>
              <a:rPr lang="en-US" sz="1400" b="1" dirty="0" err="1"/>
              <a:t>changeEmployeeInfo</a:t>
            </a:r>
            <a:r>
              <a:rPr lang="en-US" sz="1400" b="1" dirty="0"/>
              <a:t>:  this. </a:t>
            </a:r>
            <a:r>
              <a:rPr lang="en-US" sz="1400" b="1" dirty="0" err="1"/>
              <a:t>updateEmployeeDetails</a:t>
            </a:r>
            <a:r>
              <a:rPr lang="en-US" sz="1400" b="1" dirty="0"/>
              <a:t>,</a:t>
            </a:r>
          </a:p>
          <a:p>
            <a:pPr marL="0" indent="0">
              <a:buNone/>
            </a:pPr>
            <a:r>
              <a:rPr lang="en-US" sz="1400" b="1" dirty="0"/>
              <a:t>    };</a:t>
            </a:r>
          </a:p>
          <a:p>
            <a:pPr marL="0" indent="0">
              <a:buNone/>
            </a:pPr>
            <a:r>
              <a:rPr lang="en-US" sz="1400" b="1" dirty="0"/>
              <a:t>Place a button in the Employee Component and call this context function on Click of the Button.</a:t>
            </a:r>
          </a:p>
          <a:p>
            <a:pPr marL="0" indent="0">
              <a:buNone/>
            </a:pPr>
            <a:r>
              <a:rPr lang="en-US" sz="1400" b="1" dirty="0"/>
              <a:t>&lt;p&gt;        &lt;button </a:t>
            </a:r>
            <a:r>
              <a:rPr lang="en-US" sz="1400" b="1" dirty="0" err="1"/>
              <a:t>onClick</a:t>
            </a:r>
            <a:r>
              <a:rPr lang="en-US" sz="1400" b="1" dirty="0"/>
              <a:t>={</a:t>
            </a:r>
            <a:r>
              <a:rPr lang="en-US" sz="1400" b="1" dirty="0" err="1"/>
              <a:t>this.context.changeEmployeeInfo</a:t>
            </a:r>
            <a:r>
              <a:rPr lang="en-US" sz="1400" b="1" dirty="0"/>
              <a:t>}&gt;Change&lt;/</a:t>
            </a:r>
            <a:r>
              <a:rPr lang="en-US" sz="1400" b="1"/>
              <a:t>button&gt;  &lt;/</a:t>
            </a:r>
            <a:r>
              <a:rPr lang="en-US" sz="1400" b="1" dirty="0"/>
              <a:t>p&gt;</a:t>
            </a:r>
          </a:p>
          <a:p>
            <a:pPr marL="0" indent="0">
              <a:buNone/>
            </a:pPr>
            <a:r>
              <a:rPr lang="en-US" sz="1400" dirty="0"/>
              <a:t>Lets save these changes, navigate to the Browser. We can see that App Component contents and Employee Component contents are being displayed. Lets click on the button and observe that Employee details are changed in both the Components. </a:t>
            </a:r>
          </a:p>
          <a:p>
            <a:pPr marL="0" indent="0">
              <a:buNone/>
            </a:pPr>
            <a:r>
              <a:rPr lang="en-US" sz="1400" dirty="0"/>
              <a:t>We can achieve the same even if the Components are Nested at different Levels.</a:t>
            </a:r>
            <a:endParaRPr lang="en-IN" sz="1400" dirty="0"/>
          </a:p>
        </p:txBody>
      </p:sp>
    </p:spTree>
    <p:extLst>
      <p:ext uri="{BB962C8B-B14F-4D97-AF65-F5344CB8AC3E}">
        <p14:creationId xmlns:p14="http://schemas.microsoft.com/office/powerpoint/2010/main" val="15916133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1814</Words>
  <Application>Microsoft Office PowerPoint</Application>
  <PresentationFormat>Widescreen</PresentationFormat>
  <Paragraphs>164</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Consolas</vt:lpstr>
      <vt:lpstr>PT Serif</vt:lpstr>
      <vt:lpstr>Segoe UI</vt:lpstr>
      <vt:lpstr>Office Theme</vt:lpstr>
      <vt:lpstr>Component Communication using Context</vt:lpstr>
      <vt:lpstr>PowerPoint Presentation</vt:lpstr>
      <vt:lpstr>PowerPoint Presentation</vt:lpstr>
      <vt:lpstr>PowerPoint Presentation</vt:lpstr>
      <vt:lpstr>Component Communication using Context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 Communication using Context</dc:title>
  <dc:creator>Ketki Acharya</dc:creator>
  <cp:lastModifiedBy>vidyanidhi school</cp:lastModifiedBy>
  <cp:revision>4</cp:revision>
  <dcterms:created xsi:type="dcterms:W3CDTF">2021-08-31T02:51:21Z</dcterms:created>
  <dcterms:modified xsi:type="dcterms:W3CDTF">2022-12-19T04:59:37Z</dcterms:modified>
</cp:coreProperties>
</file>