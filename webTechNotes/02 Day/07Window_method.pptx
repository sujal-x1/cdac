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60" r:id="rId3"/>
    <p:sldId id="268" r:id="rId4"/>
    <p:sldId id="262" r:id="rId5"/>
    <p:sldId id="263" r:id="rId6"/>
    <p:sldId id="264" r:id="rId7"/>
    <p:sldId id="265" r:id="rId8"/>
    <p:sldId id="266" r:id="rId9"/>
    <p:sldId id="269" r:id="rId10"/>
    <p:sldId id="270" r:id="rId11"/>
    <p:sldId id="271" r:id="rId12"/>
    <p:sldId id="272" r:id="rId13"/>
    <p:sldId id="273" r:id="rId14"/>
    <p:sldId id="275" r:id="rId15"/>
    <p:sldId id="27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A60B6-87EC-4A59-91A6-D5D7C75D956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030A48-8A20-4A13-9F7F-992409188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79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30A48-8A20-4A13-9F7F-9924091882C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077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9875-A9BA-4FEF-920E-4C22F852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7B814-8E5E-4786-A782-E24833624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A5E4E-8582-4B31-8617-14CBB193E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4D1BD-2509-4FA4-AA14-87874273D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A1064-57B6-4800-8A02-CD288A6D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16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4DA26-6291-4D2B-8978-F93514DF0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13C22-838A-44B1-81D3-9E211FEF0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AA663-5137-4937-8100-DB7D3B00C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C0661-8587-448A-9B04-E94F2063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56B56-4C9F-4BAE-9DC4-4EC0CB439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16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E9E4-BB58-4C34-A713-5C7FED46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6DCC1-0042-4D16-8A40-07D1598A6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608D7-A0AC-4F7F-9B2A-7E2BC2BCF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F6913-6AAC-424F-94E8-7967A5A0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0ECAC-D76A-4651-BD2D-47FA7FDE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224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4B3B-6866-44C5-95A8-265479B6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90E14-26F7-4927-A965-637C61EF0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966B2-1C21-40EC-AEB4-E6DF4D4CC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D7BC0-6651-4CE9-BF89-B67C6D95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814CD-3BDE-475B-B2CE-F8785CAE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A8915-DC5F-40A7-87F8-4991A692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718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9CE4-EDF2-4731-8314-40A65010B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80861-B423-43F6-9C0B-C057550FF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B849D-1629-4141-B0DA-74DAC9822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E2D5F-2402-43C2-982E-042CB8E31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5E2B4-51AA-4C0E-98D0-D89C08C38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7F2DCC-82EF-468C-A9BD-A30BB4220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4869D6-01B3-445D-B02D-3DAA99E79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41305C-3FE6-4DE2-AFA9-63E378D4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384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828D-056B-484E-B46C-1913881D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8094D-3045-427E-AC8D-F81BFE55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DD406-C044-4A88-A803-79A5F6B8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8B2901-976F-482D-AE8B-41B5E7EB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354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3FAE6-F69D-4630-A4D3-46E3DD97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76A903-527D-416B-A653-12F4EA2F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90FF6-2BA1-486B-9877-3C312C48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8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C3EF-6A71-4940-AD16-8EAD5B2D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1DD74-1CE7-4DE8-8609-CB87E8CFD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ABA8D-6FA0-473A-A0DF-7F3F767FF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43AEE-30C0-41A9-B398-66CC3058D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8C12-85BE-4075-8059-73A39946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F5DF8-58D9-4B96-A949-09747A8B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7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76579-818E-4976-A82D-F552B176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16A0D9-1F47-44BF-A9FF-36FE018B5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87E5F-8F10-464E-A03D-F7B5DD464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63D88-923E-4462-B853-43E7AA367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2F551-E142-4576-BE4B-C24ADDBF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E0A25-4D04-4F0F-B57E-539F0029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9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0D829-AF1E-40CC-AA8B-1614C04F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13EA5-94DB-490C-9FE7-D17609AA3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DDA9E-D2CC-47EE-9DDE-0F4657D3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4E4E-C739-4E42-AED6-8247868A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AF632-88D5-40D9-ACDA-F145AC59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9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42E2B-190D-469C-BC26-97FFEE159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435C4-1632-4F15-9DF3-1D3E00CFD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A6B3-D7C6-4E14-8562-56C5A43E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DC34-0156-4A3B-AEE7-7A48BE57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704AD-9F7D-4B3D-B616-33C35F57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428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862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55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095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147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311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013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834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4963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6386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0139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3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60A4F-4527-41DF-8948-4E6D3EB59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26F26-5539-47C1-AFFF-512008E41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3F1A-3A55-420B-98D8-F38BD8298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0FDB9-8E1A-4075-B100-3186540F422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C541F-2A41-4FFA-B28A-697CB88FA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50932-B360-451F-AC0E-CBA54D9D0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C06054-F4D6-463D-B988-0441229AFFE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C55DDA-2F67-497D-805E-5136A8321681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34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65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9867-F99B-4CFA-8C5A-E068FD0FB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932" y="365126"/>
            <a:ext cx="9939867" cy="456142"/>
          </a:xfrm>
        </p:spPr>
        <p:txBody>
          <a:bodyPr>
            <a:normAutofit fontScale="90000"/>
          </a:bodyPr>
          <a:lstStyle/>
          <a:p>
            <a:r>
              <a:rPr lang="en-IN" dirty="0"/>
              <a:t>Window class has many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659DA-5A22-4FF2-9440-E723A209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7" y="1134533"/>
            <a:ext cx="5960533" cy="504243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Lets discuss some of it</a:t>
            </a:r>
          </a:p>
          <a:p>
            <a:pPr marL="0" indent="0">
              <a:buNone/>
            </a:pPr>
            <a:r>
              <a:rPr lang="en-IN" dirty="0"/>
              <a:t>Open, close, alert, prompt, confirm</a:t>
            </a:r>
          </a:p>
          <a:p>
            <a:pPr marL="0" indent="0">
              <a:buNone/>
            </a:pPr>
            <a:r>
              <a:rPr lang="en-IN" dirty="0" err="1"/>
              <a:t>isNaN</a:t>
            </a:r>
            <a:r>
              <a:rPr lang="en-IN" dirty="0"/>
              <a:t>, </a:t>
            </a:r>
            <a:r>
              <a:rPr lang="en-IN" dirty="0" err="1"/>
              <a:t>isFinite,eval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setInterval</a:t>
            </a:r>
            <a:r>
              <a:rPr lang="en-IN" dirty="0"/>
              <a:t>, </a:t>
            </a:r>
            <a:r>
              <a:rPr lang="en-IN" dirty="0" err="1"/>
              <a:t>clearInterval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setTimeOut</a:t>
            </a:r>
            <a:r>
              <a:rPr lang="en-IN" dirty="0"/>
              <a:t>, </a:t>
            </a:r>
            <a:r>
              <a:rPr lang="en-IN" dirty="0" err="1"/>
              <a:t>clearTimeOut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Location is getter/setter</a:t>
            </a:r>
          </a:p>
        </p:txBody>
      </p:sp>
    </p:spTree>
    <p:extLst>
      <p:ext uri="{BB962C8B-B14F-4D97-AF65-F5344CB8AC3E}">
        <p14:creationId xmlns:p14="http://schemas.microsoft.com/office/powerpoint/2010/main" val="281951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8B1CF-EB16-4B1C-91A2-B40D769F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220" y="0"/>
            <a:ext cx="10008476" cy="759482"/>
          </a:xfrm>
        </p:spPr>
        <p:txBody>
          <a:bodyPr/>
          <a:lstStyle/>
          <a:p>
            <a:r>
              <a:rPr lang="en-IN" dirty="0"/>
              <a:t>Open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5080C-6B33-44A6-9178-5ACEA2CED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76" y="759482"/>
            <a:ext cx="6067097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'p.html'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tool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p.html'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'_blank'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'height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=200,width=200'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9C898-71DA-4600-843E-3AEBD952C77B}"/>
              </a:ext>
            </a:extLst>
          </p:cNvPr>
          <p:cNvSpPr txBox="1"/>
          <p:nvPr/>
        </p:nvSpPr>
        <p:spPr>
          <a:xfrm>
            <a:off x="231228" y="5110820"/>
            <a:ext cx="984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 will open new file in current window by default.</a:t>
            </a:r>
          </a:p>
          <a:p>
            <a:r>
              <a:rPr lang="en-IN" dirty="0"/>
              <a:t>If you add second parameter _blank then it will open  file in a new tab</a:t>
            </a:r>
          </a:p>
        </p:txBody>
      </p:sp>
    </p:spTree>
    <p:extLst>
      <p:ext uri="{BB962C8B-B14F-4D97-AF65-F5344CB8AC3E}">
        <p14:creationId xmlns:p14="http://schemas.microsoft.com/office/powerpoint/2010/main" val="170712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770FB8-157C-4E08-BDFF-0F63BF0BF0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5201847"/>
              </p:ext>
            </p:extLst>
          </p:nvPr>
        </p:nvGraphicFramePr>
        <p:xfrm>
          <a:off x="1426246" y="991961"/>
          <a:ext cx="8690578" cy="4061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90578">
                  <a:extLst>
                    <a:ext uri="{9D8B030D-6E8A-4147-A177-3AD203B41FA5}">
                      <a16:colId xmlns:a16="http://schemas.microsoft.com/office/drawing/2014/main" val="8508105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 err="1">
                          <a:effectLst/>
                        </a:rPr>
                        <a:t>window.open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URL,name,specs</a:t>
                      </a:r>
                      <a:r>
                        <a:rPr lang="en-US" sz="2000" dirty="0">
                          <a:effectLst/>
                        </a:rPr>
                        <a:t>) 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487" marR="31487" marT="38100" marB="38100" anchor="ctr"/>
                </a:tc>
                <a:extLst>
                  <a:ext uri="{0D108BD9-81ED-4DB2-BD59-A6C34878D82A}">
                    <a16:rowId xmlns:a16="http://schemas.microsoft.com/office/drawing/2014/main" val="422854327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219FE9B-3B6F-4F2E-9274-B8ED4CB2B7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21658" y="223832"/>
            <a:ext cx="1039023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 and Usage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open() method is used to open a new browser window.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D4A3BD-5B59-4634-93EC-925EB5E2DE9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11422"/>
          <a:ext cx="10515600" cy="3979743"/>
        </p:xfrm>
        <a:graphic>
          <a:graphicData uri="http://schemas.openxmlformats.org/drawingml/2006/table">
            <a:tbl>
              <a:tblPr firstRow="1" firstCol="1" band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3366808867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3558086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 b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 b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588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URL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Optional. Specifies the URL of the page to open. If no URL is specified, a new window with about:blank is opened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972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Optional. Specifies the target attribute or the name of the window. The following values are supported: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_blank - URL is loaded into a new window. This is default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_self - URL replaces the current page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850" i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- The name of the window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596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specs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Optional. A comma-separated list of items. The following values are supported: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563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fullscreen=yes|no|1|0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Whether or not to display the browser in full-screen mode. Default is no. A window in full-screen mode must also be in theater mode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8976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height=pixels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height of the window. Min. value is 100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153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left=pixels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left position of the window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2315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menubar=yes|no|1|0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Whether or not to display the menu bar. Default is 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866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resizable=yes|no|1|0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Whether or not the window is resizable. Default is 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331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scrollbars=yes|no|1|0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Whether or not to display scroll bars. Default is 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464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status=yes|no|1|0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Whether or not to add a status bar. Default is 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36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titlebar=yes|no|1|0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Whether or not to display the title bar. Ignored unless the calling application is an HTML Application or a trusted dialog box. Default is 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87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toolbar=yes|no|1|0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Whether or not to display the browser toolbar. Default is 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320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top=pixels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top position of the window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4293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width=pixels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width of the window. Min. value is 100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2334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7237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369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1D2B6-2F08-47F3-8524-2BECADA7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883" y="72768"/>
            <a:ext cx="9928123" cy="608269"/>
          </a:xfrm>
        </p:spPr>
        <p:txBody>
          <a:bodyPr>
            <a:normAutofit fontScale="90000"/>
          </a:bodyPr>
          <a:lstStyle/>
          <a:p>
            <a:r>
              <a:rPr lang="en-IN" dirty="0"/>
              <a:t>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E5DA6-13A4-4E21-8678-7EFF2DC01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6" y="570270"/>
            <a:ext cx="7482349" cy="60763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&lt;head&gt;&lt;title&gt;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window.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 number"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//string +(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)number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//no1.valueOf() get called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//string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pno2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pno2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prompt("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","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defaultvalue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&lt;/body&gt;&lt;/html&gt;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320A7-D6E4-61DA-CC64-75ED19A02F78}"/>
              </a:ext>
            </a:extLst>
          </p:cNvPr>
          <p:cNvSpPr txBox="1"/>
          <p:nvPr/>
        </p:nvSpPr>
        <p:spPr>
          <a:xfrm>
            <a:off x="6363093" y="681037"/>
            <a:ext cx="524130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Accept 2 number and print sum in h1 tag</a:t>
            </a:r>
          </a:p>
          <a:p>
            <a:r>
              <a:rPr lang="en-US" dirty="0"/>
              <a:t>Accept 2 number and print product of two number</a:t>
            </a:r>
          </a:p>
          <a:p>
            <a:r>
              <a:rPr lang="en-US" dirty="0"/>
              <a:t>Use + to convert string to number</a:t>
            </a:r>
          </a:p>
          <a:p>
            <a:endParaRPr lang="en-US" dirty="0"/>
          </a:p>
          <a:p>
            <a:r>
              <a:rPr lang="en-US" dirty="0"/>
              <a:t>Testcase when you use </a:t>
            </a:r>
            <a:r>
              <a:rPr lang="en-US" dirty="0" err="1"/>
              <a:t>patseInt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5</a:t>
            </a:r>
          </a:p>
          <a:p>
            <a:pPr marL="342900" indent="-342900">
              <a:buAutoNum type="arabicPeriod"/>
            </a:pPr>
            <a:r>
              <a:rPr lang="en-US" dirty="0"/>
              <a:t>6</a:t>
            </a:r>
          </a:p>
          <a:p>
            <a:pPr marL="342900" indent="-342900">
              <a:buAutoNum type="arabicPeriod"/>
            </a:pPr>
            <a:r>
              <a:rPr lang="en-US" dirty="0" err="1"/>
              <a:t>Tescase</a:t>
            </a:r>
            <a:r>
              <a:rPr lang="en-US" dirty="0"/>
              <a:t> a  5.5   6 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Tescase</a:t>
            </a:r>
            <a:r>
              <a:rPr lang="en-US" dirty="0"/>
              <a:t> 2</a:t>
            </a:r>
          </a:p>
          <a:p>
            <a:pPr marL="342900" indent="-342900">
              <a:buAutoNum type="arabicPeriod"/>
            </a:pPr>
            <a:r>
              <a:rPr lang="en-US" dirty="0"/>
              <a:t>When you use + as conversion</a:t>
            </a:r>
          </a:p>
          <a:p>
            <a:r>
              <a:rPr lang="en-US" dirty="0"/>
              <a:t>5.5</a:t>
            </a:r>
          </a:p>
          <a:p>
            <a:r>
              <a:rPr lang="en-US" dirty="0"/>
              <a:t>6.7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2769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0BA29-45BF-4081-B27C-B934AC85E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710" y="70157"/>
            <a:ext cx="10223090" cy="460785"/>
          </a:xfrm>
        </p:spPr>
        <p:txBody>
          <a:bodyPr>
            <a:normAutofit fontScale="90000"/>
          </a:bodyPr>
          <a:lstStyle/>
          <a:p>
            <a:r>
              <a:rPr lang="en-IN" dirty="0"/>
              <a:t>alert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DF045-A6D5-45F0-96A8-7D15DCA61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698090"/>
            <a:ext cx="5083277" cy="5478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&lt;head&gt;&lt;title&gt;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  &lt;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 world"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 </a:t>
            </a:r>
            <a:r>
              <a:rPr lang="en-US" sz="1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world"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99108C-6364-4B1B-9A49-7284FCE33E50}"/>
              </a:ext>
            </a:extLst>
          </p:cNvPr>
          <p:cNvSpPr txBox="1">
            <a:spLocks/>
          </p:cNvSpPr>
          <p:nvPr/>
        </p:nvSpPr>
        <p:spPr>
          <a:xfrm>
            <a:off x="6096000" y="689563"/>
            <a:ext cx="5083277" cy="5478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&lt;html&gt;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&lt;head&gt;&lt;title&gt;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&lt;/title&gt;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alert=function(a)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(a);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alert(“hello”)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&lt;/head&gt;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&lt;/html&gt;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0111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9EED-5E00-4474-A978-A62602B4A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4" y="365125"/>
            <a:ext cx="10075606" cy="480449"/>
          </a:xfrm>
        </p:spPr>
        <p:txBody>
          <a:bodyPr>
            <a:normAutofit fontScale="90000"/>
          </a:bodyPr>
          <a:lstStyle/>
          <a:p>
            <a:r>
              <a:rPr lang="en-IN" dirty="0"/>
              <a:t>Confirm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84358-B78F-4484-A1C5-890932339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9097"/>
            <a:ext cx="5751871" cy="5537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&lt;head&gt;&lt;title&gt;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confirm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 you want to continue"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FC9E71-FB0B-4859-AB65-5CEF71BA1D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35" t="1" r="28387" b="38494"/>
          <a:stretch/>
        </p:blipFill>
        <p:spPr>
          <a:xfrm>
            <a:off x="5378246" y="0"/>
            <a:ext cx="6489290" cy="47588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79E72-ABB7-454A-9A50-BADF057797EB}"/>
              </a:ext>
            </a:extLst>
          </p:cNvPr>
          <p:cNvSpPr txBox="1"/>
          <p:nvPr/>
        </p:nvSpPr>
        <p:spPr>
          <a:xfrm>
            <a:off x="1041400" y="5317067"/>
            <a:ext cx="8754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user click on ok it will return true</a:t>
            </a:r>
          </a:p>
          <a:p>
            <a:r>
              <a:rPr lang="en-IN" dirty="0"/>
              <a:t>If you click on cancel it will return false</a:t>
            </a:r>
          </a:p>
        </p:txBody>
      </p:sp>
    </p:spTree>
    <p:extLst>
      <p:ext uri="{BB962C8B-B14F-4D97-AF65-F5344CB8AC3E}">
        <p14:creationId xmlns:p14="http://schemas.microsoft.com/office/powerpoint/2010/main" val="2429629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424E6-C536-487E-A86E-DA6671EB5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65126"/>
            <a:ext cx="9804400" cy="786342"/>
          </a:xfrm>
        </p:spPr>
        <p:txBody>
          <a:bodyPr/>
          <a:lstStyle/>
          <a:p>
            <a:r>
              <a:rPr lang="en-IN" dirty="0"/>
              <a:t>Location: To redirect user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6891A-1337-4B83-AD85-EE761471C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34" y="1227667"/>
            <a:ext cx="10608734" cy="494929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newLocation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"p.html"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"Change URL"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newLocation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4783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9379A-39D0-4B67-8EF1-1FA157F58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33" y="365126"/>
            <a:ext cx="4580468" cy="78634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resizeBy-moveBy</a:t>
            </a:r>
            <a:br>
              <a:rPr lang="en-IN" dirty="0"/>
            </a:br>
            <a:r>
              <a:rPr lang="en-IN" dirty="0">
                <a:highlight>
                  <a:srgbClr val="FF0000"/>
                </a:highlight>
              </a:rPr>
              <a:t>works only in 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9024F-E0F5-46B0-9532-886A6F94C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7" y="1253331"/>
            <a:ext cx="64262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resizeWindow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{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resizeBy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 }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resizeWindow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"Resize window"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692C0B-3203-44C5-A7B9-A50DFD99E2DE}"/>
              </a:ext>
            </a:extLst>
          </p:cNvPr>
          <p:cNvSpPr txBox="1">
            <a:spLocks/>
          </p:cNvSpPr>
          <p:nvPr/>
        </p:nvSpPr>
        <p:spPr>
          <a:xfrm>
            <a:off x="5791200" y="365126"/>
            <a:ext cx="4580468" cy="786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err="1"/>
              <a:t>resizeTo-moveTo</a:t>
            </a:r>
            <a:endParaRPr lang="en-IN" dirty="0"/>
          </a:p>
          <a:p>
            <a:r>
              <a:rPr lang="en-IN" dirty="0">
                <a:highlight>
                  <a:srgbClr val="FF0000"/>
                </a:highlight>
              </a:rPr>
              <a:t>Works only in 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79A9E-5B4D-46CA-8628-D3BBB41E4310}"/>
              </a:ext>
            </a:extLst>
          </p:cNvPr>
          <p:cNvSpPr txBox="1"/>
          <p:nvPr/>
        </p:nvSpPr>
        <p:spPr>
          <a:xfrm>
            <a:off x="5994400" y="1253331"/>
            <a:ext cx="62653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resizeTo-moveTo</a:t>
            </a:r>
            <a:r>
              <a:rPr lang="en-IN" dirty="0"/>
              <a:t> will work only one time as it is set to some value</a:t>
            </a:r>
          </a:p>
          <a:p>
            <a:endParaRPr lang="en-IN" dirty="0"/>
          </a:p>
          <a:p>
            <a:r>
              <a:rPr lang="en-IN" dirty="0" err="1"/>
              <a:t>resizeBy-moveBy</a:t>
            </a:r>
            <a:r>
              <a:rPr lang="en-IN" dirty="0"/>
              <a:t> is relative to current value so it will keep increasing by some value compare to previous value</a:t>
            </a:r>
          </a:p>
          <a:p>
            <a:endParaRPr lang="en-IN" dirty="0"/>
          </a:p>
          <a:p>
            <a:r>
              <a:rPr lang="en-IN" dirty="0"/>
              <a:t>Works </a:t>
            </a:r>
            <a:r>
              <a:rPr lang="en-IN"/>
              <a:t>only in IE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045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628A8-40E9-46C5-805A-4835CD0C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666" y="365125"/>
            <a:ext cx="9872133" cy="75247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866B8-841A-40A2-9A82-DF32EF489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467" y="1236133"/>
            <a:ext cx="10837333" cy="49408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"alert('hi')"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//keep 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executeing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after 1000 millisecond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clearInterval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(t)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"alert('hi')"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6000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execute one time after 60000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millisecond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clearTimeout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(t);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9665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A69A-FF10-481A-A4E8-14F3BF210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266" y="124354"/>
            <a:ext cx="10100733" cy="574675"/>
          </a:xfrm>
        </p:spPr>
        <p:txBody>
          <a:bodyPr>
            <a:normAutofit fontScale="90000"/>
          </a:bodyPr>
          <a:lstStyle/>
          <a:p>
            <a:r>
              <a:rPr lang="en-IN" dirty="0"/>
              <a:t>Eval=Evaluate </a:t>
            </a:r>
            <a:r>
              <a:rPr lang="en-IN" dirty="0" err="1"/>
              <a:t>expresstion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6072D-83FF-478B-A01A-64E4DAD8C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8" y="1049867"/>
            <a:ext cx="7577666" cy="512709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 //CSRF XSS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&lt;head&gt;&lt;title&gt;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"5+2-3"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eval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))//4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eval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"5+2-3*6/2"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eval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"55+6"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699848-6B49-4F12-8715-357BC0315830}"/>
              </a:ext>
            </a:extLst>
          </p:cNvPr>
          <p:cNvSpPr/>
          <p:nvPr/>
        </p:nvSpPr>
        <p:spPr>
          <a:xfrm>
            <a:off x="8377084" y="1"/>
            <a:ext cx="2998839" cy="16813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5+2-3*6/2</a:t>
            </a:r>
          </a:p>
          <a:p>
            <a:pPr algn="ctr"/>
            <a:r>
              <a:rPr lang="en-IN" dirty="0"/>
              <a:t>5+2-18/2</a:t>
            </a:r>
          </a:p>
          <a:p>
            <a:pPr algn="ctr"/>
            <a:r>
              <a:rPr lang="en-IN" dirty="0"/>
              <a:t>5+2-9</a:t>
            </a:r>
          </a:p>
          <a:p>
            <a:pPr algn="ctr"/>
            <a:r>
              <a:rPr lang="en-IN" dirty="0"/>
              <a:t>7-9</a:t>
            </a:r>
          </a:p>
          <a:p>
            <a:pPr algn="ctr"/>
            <a:r>
              <a:rPr lang="en-IN" dirty="0"/>
              <a:t>-2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6604F-44AF-FD27-1C65-C402588BE21A}"/>
              </a:ext>
            </a:extLst>
          </p:cNvPr>
          <p:cNvSpPr txBox="1"/>
          <p:nvPr/>
        </p:nvSpPr>
        <p:spPr>
          <a:xfrm>
            <a:off x="7964130" y="2127098"/>
            <a:ext cx="399189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</a:t>
            </a:r>
            <a:r>
              <a:rPr lang="en-IN" dirty="0" err="1"/>
              <a:t>doctypehtml</a:t>
            </a:r>
            <a:r>
              <a:rPr lang="en-IN" dirty="0"/>
              <a:t>&gt;</a:t>
            </a:r>
          </a:p>
          <a:p>
            <a:r>
              <a:rPr lang="en-IN" dirty="0"/>
              <a:t>&lt;html&gt;&lt;head&gt;&lt;script&gt;</a:t>
            </a:r>
          </a:p>
          <a:p>
            <a:r>
              <a:rPr lang="en-IN" dirty="0"/>
              <a:t>var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r>
              <a:rPr lang="en-IN" dirty="0"/>
              <a:t>var no1=prompt("enter no1","5");</a:t>
            </a:r>
          </a:p>
          <a:p>
            <a:r>
              <a:rPr lang="en-IN" dirty="0"/>
              <a:t>var no2=prompt("enter no2","5");</a:t>
            </a:r>
          </a:p>
          <a:p>
            <a:r>
              <a:rPr lang="en-IN" dirty="0"/>
              <a:t>var no3=prompt("enter no3","5");</a:t>
            </a:r>
          </a:p>
          <a:p>
            <a:r>
              <a:rPr lang="en-IN" dirty="0"/>
              <a:t>var no4=prompt("enter no4","5");</a:t>
            </a:r>
          </a:p>
          <a:p>
            <a:r>
              <a:rPr lang="en-IN" dirty="0"/>
              <a:t>var no5=prompt("enter no5","5");</a:t>
            </a:r>
          </a:p>
          <a:p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=1;i&lt;=5;i++)</a:t>
            </a:r>
          </a:p>
          <a:p>
            <a:r>
              <a:rPr lang="en-IN" dirty="0"/>
              <a:t>{</a:t>
            </a:r>
            <a:r>
              <a:rPr lang="en-IN" dirty="0" err="1"/>
              <a:t>document.write</a:t>
            </a:r>
            <a:r>
              <a:rPr lang="en-IN" dirty="0"/>
              <a:t>("no"+</a:t>
            </a:r>
            <a:r>
              <a:rPr lang="en-IN" dirty="0" err="1"/>
              <a:t>i</a:t>
            </a:r>
            <a:r>
              <a:rPr lang="en-IN" dirty="0"/>
              <a:t>);</a:t>
            </a:r>
          </a:p>
          <a:p>
            <a:r>
              <a:rPr lang="en-IN" dirty="0"/>
              <a:t> </a:t>
            </a:r>
            <a:r>
              <a:rPr lang="en-IN" dirty="0" err="1"/>
              <a:t>document.write</a:t>
            </a:r>
            <a:r>
              <a:rPr lang="en-IN" dirty="0"/>
              <a:t>(eval("no"+</a:t>
            </a:r>
            <a:r>
              <a:rPr lang="en-IN" dirty="0" err="1"/>
              <a:t>i</a:t>
            </a:r>
            <a:r>
              <a:rPr lang="en-IN" dirty="0"/>
              <a:t>));</a:t>
            </a:r>
          </a:p>
          <a:p>
            <a:r>
              <a:rPr lang="en-IN" dirty="0"/>
              <a:t>//</a:t>
            </a:r>
            <a:r>
              <a:rPr lang="en-IN" dirty="0" err="1"/>
              <a:t>document.write</a:t>
            </a:r>
            <a:r>
              <a:rPr lang="en-IN" dirty="0"/>
              <a:t>("&lt;hr/&gt;");</a:t>
            </a:r>
          </a:p>
          <a:p>
            <a:r>
              <a:rPr lang="en-IN" dirty="0" err="1"/>
              <a:t>document.write</a:t>
            </a:r>
            <a:r>
              <a:rPr lang="en-IN" dirty="0"/>
              <a:t>("&lt;/</a:t>
            </a:r>
            <a:r>
              <a:rPr lang="en-IN" dirty="0" err="1"/>
              <a:t>br</a:t>
            </a:r>
            <a:r>
              <a:rPr lang="en-IN" dirty="0"/>
              <a:t>&gt;");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&lt;/script&gt;</a:t>
            </a:r>
          </a:p>
          <a:p>
            <a:r>
              <a:rPr lang="en-IN" dirty="0"/>
              <a:t>&lt;/head&gt;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637385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89F19-63E7-4FBF-910D-C7E97C6C1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796413"/>
            <a:ext cx="10872019" cy="5380550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b="1" dirty="0" err="1"/>
              <a:t>win.scrollBy</a:t>
            </a:r>
            <a:r>
              <a:rPr lang="en-US" b="1" dirty="0"/>
              <a:t>(</a:t>
            </a:r>
            <a:r>
              <a:rPr lang="en-US" b="1" dirty="0" err="1"/>
              <a:t>x,y</a:t>
            </a:r>
            <a:r>
              <a:rPr lang="en-US" b="1" dirty="0"/>
              <a:t>)</a:t>
            </a:r>
          </a:p>
          <a:p>
            <a:r>
              <a:rPr lang="en-US" dirty="0"/>
              <a:t>    Scroll the window x pixels right and y down relative the current scroll. Negative values are allowed.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/>
              <a:t>win.scrollTo</a:t>
            </a:r>
            <a:r>
              <a:rPr lang="en-US" b="1" dirty="0"/>
              <a:t>(</a:t>
            </a:r>
            <a:r>
              <a:rPr lang="en-US" b="1" dirty="0" err="1"/>
              <a:t>x,y</a:t>
            </a:r>
            <a:r>
              <a:rPr lang="en-US" b="1" dirty="0"/>
              <a:t>)</a:t>
            </a:r>
          </a:p>
          <a:p>
            <a:r>
              <a:rPr lang="en-US" dirty="0"/>
              <a:t>    Scroll the window to the given coordinates (</a:t>
            </a:r>
            <a:r>
              <a:rPr lang="en-US" dirty="0" err="1"/>
              <a:t>x,y</a:t>
            </a:r>
            <a:r>
              <a:rPr lang="en-US" dirty="0"/>
              <a:t>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/>
              <a:t>elem.scrollIntoView</a:t>
            </a:r>
            <a:r>
              <a:rPr lang="en-US" b="1" dirty="0"/>
              <a:t>(top = true)</a:t>
            </a:r>
          </a:p>
          <a:p>
            <a:r>
              <a:rPr lang="en-US" dirty="0"/>
              <a:t>    Scroll the window to make </a:t>
            </a:r>
            <a:r>
              <a:rPr lang="en-US" dirty="0" err="1"/>
              <a:t>elem</a:t>
            </a:r>
            <a:r>
              <a:rPr lang="en-US" dirty="0"/>
              <a:t> show up at the top (the default) or at the bottom for </a:t>
            </a:r>
            <a:r>
              <a:rPr lang="en-US" dirty="0" err="1"/>
              <a:t>elem.scrollIntoView</a:t>
            </a:r>
            <a:r>
              <a:rPr lang="en-US" dirty="0"/>
              <a:t>(</a:t>
            </a:r>
            <a:r>
              <a:rPr lang="en-US"/>
              <a:t>false).</a:t>
            </a:r>
          </a:p>
          <a:p>
            <a:endParaRPr lang="en-US" dirty="0"/>
          </a:p>
          <a:p>
            <a:r>
              <a:rPr lang="en-US" dirty="0"/>
              <a:t>There’s also </a:t>
            </a:r>
            <a:r>
              <a:rPr lang="en-US" dirty="0" err="1"/>
              <a:t>window.onscroll</a:t>
            </a:r>
            <a:r>
              <a:rPr lang="en-US" dirty="0"/>
              <a:t> event.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0994F-C264-48A0-B028-8D5DA6D88B7C}"/>
              </a:ext>
            </a:extLst>
          </p:cNvPr>
          <p:cNvSpPr txBox="1"/>
          <p:nvPr/>
        </p:nvSpPr>
        <p:spPr>
          <a:xfrm>
            <a:off x="3028336" y="0"/>
            <a:ext cx="6135328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Scrolling a window</a:t>
            </a:r>
          </a:p>
        </p:txBody>
      </p:sp>
    </p:spTree>
    <p:extLst>
      <p:ext uri="{BB962C8B-B14F-4D97-AF65-F5344CB8AC3E}">
        <p14:creationId xmlns:p14="http://schemas.microsoft.com/office/powerpoint/2010/main" val="3085365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713410E-F294-4CA4-A932-69C5DA9318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879" y="874008"/>
            <a:ext cx="11833121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elements can be scrolled by changing </a:t>
            </a:r>
            <a:r>
              <a:rPr kumimoji="0" lang="en-US" altLang="en-US" sz="1800" b="1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scrollTop</a:t>
            </a: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800" b="1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scrollLeft</a:t>
            </a:r>
            <a:r>
              <a:rPr kumimoji="0" lang="en-US" altLang="en-US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4000" b="1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can do the same for the page using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document.documentElement.scrollTop</a:t>
            </a:r>
            <a:r>
              <a:rPr kumimoji="0" lang="en-US" altLang="en-US" sz="1800" b="0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800" b="0" i="1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scrollLeft</a:t>
            </a:r>
            <a:r>
              <a:rPr kumimoji="0" lang="en-US" altLang="en-US" sz="1800" b="0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 (except Safari, where </a:t>
            </a:r>
            <a:r>
              <a:rPr kumimoji="0" lang="en-US" altLang="en-US" sz="1800" b="0" i="1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document.body.scrollTop</a:t>
            </a:r>
            <a:r>
              <a:rPr kumimoji="0" lang="en-US" altLang="en-US" sz="1800" b="0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/Left</a:t>
            </a:r>
            <a:r>
              <a:rPr kumimoji="0" lang="en-US" altLang="en-US" sz="1800" b="0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 should be used instead).</a:t>
            </a:r>
            <a:endParaRPr kumimoji="0" lang="en-US" altLang="en-US" sz="1800" b="0" i="1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Alternatively, there’s a simpler, universal solution: special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window.scrollBy(</a:t>
            </a:r>
            <a:r>
              <a:rPr kumimoji="0" lang="en-US" altLang="en-US" sz="1800" b="0" i="0" u="none" strike="noStrike" cap="none" normalizeH="0" baseline="0" dirty="0" err="1" bmk="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x,y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endParaRPr kumimoji="0" lang="en-US" altLang="en-US" sz="1800" b="0" i="0" u="none" strike="noStrike" cap="none" normalizeH="0" baseline="0" dirty="0" bmk="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window.scrollTo(pageX,pageY).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method </a:t>
            </a:r>
            <a:r>
              <a:rPr kumimoji="0" lang="en-US" altLang="en-US" sz="1800" b="1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scrollBy</a:t>
            </a: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n-US" altLang="en-US" sz="1800" b="1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x,y</a:t>
            </a: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 scrolls the page </a:t>
            </a:r>
            <a:r>
              <a:rPr kumimoji="0" lang="en-US" altLang="en-US" sz="1800" b="0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relative to its current position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instance</a:t>
            </a:r>
            <a:r>
              <a:rPr kumimoji="0" lang="en-US" altLang="en-US" sz="24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scrollBy</a:t>
            </a: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(0,10)</a:t>
            </a: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 scrolls the page </a:t>
            </a: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10px</a:t>
            </a: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 down.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&lt;button onclick="window.scrollBy(0,10)"&gt;window.scrollBy(0,10)&lt;/button&gt;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method 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scrollTo(pageX,pageY)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 scrolls the page </a:t>
            </a:r>
            <a:r>
              <a:rPr kumimoji="0" lang="en-US" altLang="en-US" sz="1800" b="0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absolute coordinates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&lt;button onclick="window.scrollTo(0,0)"&gt;window.scrollTo(0,0)&lt;/button&gt;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that the top-left corner of the visible part has coordinates 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n-US" altLang="en-US" sz="1800" b="0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pageX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1800" b="0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pageY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 relative to the document’s top-left corner.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It’s like setting </a:t>
            </a:r>
            <a:r>
              <a:rPr kumimoji="0" lang="en-US" altLang="en-US" sz="1800" b="0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scrollLeft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800" b="0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scrollTop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1DCEF-4874-418D-BB88-690612AE2236}"/>
              </a:ext>
            </a:extLst>
          </p:cNvPr>
          <p:cNvSpPr txBox="1"/>
          <p:nvPr/>
        </p:nvSpPr>
        <p:spPr>
          <a:xfrm>
            <a:off x="2597498" y="0"/>
            <a:ext cx="8470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</a:t>
            </a:r>
            <a:r>
              <a:rPr kumimoji="0" lang="en-US" altLang="en-US" sz="1800" b="1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crolling: scrollTo, </a:t>
            </a:r>
            <a:r>
              <a:rPr kumimoji="0" lang="en-US" altLang="en-US" sz="1800" b="1" i="0" u="none" strike="noStrike" kern="1200" cap="none" spc="0" normalizeH="0" baseline="0" noProof="0" dirty="0" err="1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scrollBy</a:t>
            </a:r>
            <a:r>
              <a:rPr kumimoji="0" lang="en-US" altLang="en-US" sz="1800" b="1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scrollIntoView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E5A059-496C-464B-B342-3CD0A6C2CF4C}"/>
              </a:ext>
            </a:extLst>
          </p:cNvPr>
          <p:cNvSpPr txBox="1"/>
          <p:nvPr/>
        </p:nvSpPr>
        <p:spPr>
          <a:xfrm>
            <a:off x="1123741" y="252227"/>
            <a:ext cx="884999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Important:</a:t>
            </a:r>
            <a:endParaRPr kumimoji="0" lang="en-US" altLang="en-US" sz="2400" b="1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 scroll the page with JavaScript, its DOM must be fully built.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 instance, if we try to scroll the page with a script in </a:t>
            </a:r>
            <a:r>
              <a:rPr kumimoji="0" lang="en-US" altLang="en-US" sz="10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&lt;head&gt;</a:t>
            </a:r>
            <a:r>
              <a:rPr kumimoji="0" lang="en-US" altLang="en-US" sz="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it won’t work.</a:t>
            </a:r>
            <a:endParaRPr kumimoji="0" lang="en-US" altLang="en-US" sz="1800" b="0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676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0CCD9-5939-46D4-8218-2F6FF4105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3" y="698090"/>
            <a:ext cx="11196484" cy="5606692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 scroll to the very beginning, we can use </a:t>
            </a:r>
            <a:r>
              <a:rPr kumimoji="0" lang="en-US" altLang="en-US" sz="1900" b="0" i="1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scrollTo(0,0)</a:t>
            </a:r>
            <a:r>
              <a:rPr kumimoji="0" lang="en-US" altLang="en-US" sz="1900" b="0" i="1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US" altLang="en-US" sz="1900" b="0" i="1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These methods work for all browsers the same way.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scrollIntoView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 bmk="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 completeness, let’s cover one more method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elem.scrollIntoView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(top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call to 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elem.scrollIntoView(top)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scrolls the page to make </a:t>
            </a:r>
            <a:r>
              <a:rPr kumimoji="0" lang="en-US" altLang="en-US" sz="1800" b="0" i="0" u="none" strike="noStrike" kern="1200" cap="none" spc="0" normalizeH="0" baseline="0" noProof="0" dirty="0" err="1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elem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visible. It has one argument:</a:t>
            </a:r>
            <a:endParaRPr kumimoji="0" lang="en-US" altLang="en-US" sz="1800" b="0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top=true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(that’s the default), then the page will be scrolled to make </a:t>
            </a:r>
            <a:r>
              <a:rPr kumimoji="0" lang="en-US" altLang="en-US" sz="1800" b="0" i="0" u="none" strike="noStrike" kern="1200" cap="none" spc="0" normalizeH="0" baseline="0" noProof="0" dirty="0" err="1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elem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appear on the top of the window.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en-US" sz="1800" dirty="0" bmk="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upper edge of the element will be aligned with the window top.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1800" b="0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top=false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then the page scrolls to make </a:t>
            </a:r>
            <a:r>
              <a:rPr kumimoji="0" lang="en-US" altLang="en-US" sz="1800" b="0" i="0" u="none" strike="noStrike" kern="1200" cap="none" spc="0" normalizeH="0" baseline="0" noProof="0" dirty="0" err="1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elem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appear at the bottom. The bottom edge of the element will be aligned with the window bottom.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1800" b="0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button below scrolls the page to position itself at the window top: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&lt;button onclick="</a:t>
            </a:r>
            <a:r>
              <a:rPr kumimoji="0" lang="en-US" altLang="en-US" sz="1800" b="1" i="0" u="none" strike="noStrike" kern="1200" cap="none" spc="0" normalizeH="0" baseline="0" noProof="0" dirty="0" err="1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this.scrollIntoView</a:t>
            </a:r>
            <a:r>
              <a:rPr kumimoji="0" lang="en-US" altLang="en-US" sz="1800" b="1" i="0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()"&gt;</a:t>
            </a:r>
            <a:r>
              <a:rPr kumimoji="0" lang="en-US" altLang="en-US" sz="1800" b="1" i="0" u="none" strike="noStrike" kern="1200" cap="none" spc="0" normalizeH="0" baseline="0" noProof="0" dirty="0" err="1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this.scrollIntoView</a:t>
            </a:r>
            <a:r>
              <a:rPr kumimoji="0" lang="en-US" altLang="en-US" sz="1800" b="1" i="0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()&lt;/button&gt;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 dirty="0" bmk="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And this button scrolls the page to position itself at the bottom: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1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&lt;button onclick="</a:t>
            </a:r>
            <a:r>
              <a:rPr kumimoji="0" lang="en-US" altLang="en-US" sz="1800" b="1" i="1" u="none" strike="noStrike" kern="1200" cap="none" spc="0" normalizeH="0" baseline="0" noProof="0" dirty="0" err="1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this.scrollIntoView</a:t>
            </a:r>
            <a:r>
              <a:rPr kumimoji="0" lang="en-US" altLang="en-US" sz="1800" b="1" i="1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(false)"&gt;</a:t>
            </a:r>
            <a:r>
              <a:rPr kumimoji="0" lang="en-US" altLang="en-US" sz="1800" b="1" i="1" u="none" strike="noStrike" kern="1200" cap="none" spc="0" normalizeH="0" baseline="0" noProof="0" dirty="0" err="1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this.scrollIntoView</a:t>
            </a:r>
            <a:r>
              <a:rPr kumimoji="0" lang="en-US" altLang="en-US" sz="1800" b="1" i="1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(false)&lt;/button&gt;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dirty="0" bmk="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3675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E7AA5-DFDF-45D3-B6EB-EA6B71187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727587"/>
            <a:ext cx="10872019" cy="5449376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Sometimes we need to make the document “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unscrollabl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”. For instance, when we need to cover the page with a large message requiring immediate attention, and we want the visitor to interact with that message, not with the document.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 make the document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unscrollable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it’s enough to 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Unicode MS"/>
                <a:ea typeface="+mn-ea"/>
                <a:cs typeface="+mn-cs"/>
              </a:rPr>
              <a:t>document.body.style.overflow</a:t>
            </a:r>
            <a:r>
              <a:rPr kumimoji="0" lang="en-US" alt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Unicode MS"/>
                <a:ea typeface="+mn-ea"/>
                <a:cs typeface="+mn-cs"/>
              </a:rPr>
              <a:t> = "hidden"</a:t>
            </a:r>
            <a:r>
              <a:rPr kumimoji="0" lang="en-US" alt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&lt;button onclick="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document.body.style.overflow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'hidden'"&gt;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document.body.style.overflow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‘hidden’&lt;/button&gt;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page will “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freeze” at its current scroll position.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document.body.style.overflow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 = “ "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&lt;button onclick="</a:t>
            </a:r>
            <a:r>
              <a:rPr kumimoji="0" lang="en-US" altLang="en-US" sz="1400" b="1" i="1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document.body.style.overflow</a:t>
            </a: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''"&gt;</a:t>
            </a:r>
            <a:r>
              <a:rPr kumimoji="0" lang="en-US" altLang="en-US" sz="1400" b="1" i="1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document.body.style.overflow</a:t>
            </a: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‘’&lt;/button&gt;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first button freezes the scroll, while the second one releases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 can use the same technique to freeze the scroll for other elements, not just for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document.body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drawback of the method is that 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scrollbar disappears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 If it occupied some space, then that space is now free and the content “jumps” to fill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That looks a bit odd, but can be worked around if we compare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clientWidth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before and after the freeze.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it increased (the scrollbar disappeared), then add 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padding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document.body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place of the scrollbar to keep the content width the same.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EE9EB-8FD6-43DD-913A-EB8CEBF6EDE9}"/>
              </a:ext>
            </a:extLst>
          </p:cNvPr>
          <p:cNvSpPr txBox="1"/>
          <p:nvPr/>
        </p:nvSpPr>
        <p:spPr>
          <a:xfrm>
            <a:off x="3185652" y="110302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Forbid the scrolling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3499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2033</Words>
  <Application>Microsoft Office PowerPoint</Application>
  <PresentationFormat>Widescreen</PresentationFormat>
  <Paragraphs>295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Arial Unicode MS</vt:lpstr>
      <vt:lpstr>Calibri</vt:lpstr>
      <vt:lpstr>Calibri Light</vt:lpstr>
      <vt:lpstr>Cambria</vt:lpstr>
      <vt:lpstr>Consolas</vt:lpstr>
      <vt:lpstr>Symbol</vt:lpstr>
      <vt:lpstr>Verdana</vt:lpstr>
      <vt:lpstr>Office Theme</vt:lpstr>
      <vt:lpstr>1_Office Theme</vt:lpstr>
      <vt:lpstr>PowerPoint Presentation</vt:lpstr>
      <vt:lpstr>Window class has many methods</vt:lpstr>
      <vt:lpstr>Open</vt:lpstr>
      <vt:lpstr>Definition and Usage The open() method is used to open a new browser window.  Syntax</vt:lpstr>
      <vt:lpstr>Prompt</vt:lpstr>
      <vt:lpstr>alert</vt:lpstr>
      <vt:lpstr>Confirm</vt:lpstr>
      <vt:lpstr>Location: To redirect user </vt:lpstr>
      <vt:lpstr>resizeBy-moveBy works only in IE</vt:lpstr>
      <vt:lpstr>PowerPoint Presentation</vt:lpstr>
      <vt:lpstr>Eval=Evaluate expresstion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87</cp:revision>
  <dcterms:created xsi:type="dcterms:W3CDTF">2020-09-09T03:29:17Z</dcterms:created>
  <dcterms:modified xsi:type="dcterms:W3CDTF">2026-03-16T04:13:08Z</dcterms:modified>
</cp:coreProperties>
</file>