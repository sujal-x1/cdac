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266" r:id="rId3"/>
    <p:sldId id="265" r:id="rId4"/>
    <p:sldId id="261" r:id="rId5"/>
    <p:sldId id="262" r:id="rId6"/>
    <p:sldId id="269" r:id="rId7"/>
    <p:sldId id="263" r:id="rId8"/>
    <p:sldId id="264" r:id="rId9"/>
    <p:sldId id="283" r:id="rId10"/>
    <p:sldId id="287" r:id="rId11"/>
    <p:sldId id="289" r:id="rId12"/>
    <p:sldId id="288" r:id="rId13"/>
    <p:sldId id="285" r:id="rId14"/>
    <p:sldId id="286" r:id="rId15"/>
    <p:sldId id="267" r:id="rId16"/>
    <p:sldId id="268" r:id="rId17"/>
    <p:sldId id="270" r:id="rId18"/>
    <p:sldId id="271" r:id="rId19"/>
    <p:sldId id="272" r:id="rId20"/>
    <p:sldId id="273" r:id="rId21"/>
    <p:sldId id="284" r:id="rId22"/>
    <p:sldId id="281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845D0-1477-43A5-AC08-CFA55906A246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22F0C-1273-4498-99CB-D9656A8F27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65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D22F0C-1273-4498-99CB-D9656A8F27B4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053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60210-A8EE-45A6-89E0-90BD73DA8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FC863-2061-4428-8CC6-4F213648C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2902-F257-44C4-84F0-B4715B6D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DE12E-84BB-426A-B79D-114344F9F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C89C7-6631-41F0-BB73-C126A1A7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761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3F07-F97C-4544-82AD-17D92E17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6ED8B-DDCA-439A-9D50-F3AD07F93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09A3-63C1-478C-973D-D05BADDF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78965-4603-4450-87FF-8CE65A47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BF526-EE67-4455-BE78-75903348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19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505C-2A59-431A-9632-7228261BD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F0983-5DF2-4D59-BF8C-4767860D9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203C6-1541-4AAE-BFE3-2C6C1CAA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27C7-BE83-4D32-BFCC-6A6BEC3BE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7F804-C8D2-4EBC-94E4-EB9BAB64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571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87DD-6616-4F10-82F3-0D7515F5A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9E4A-55B6-4DAD-B909-A60DF1EF3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9BD10-B4A0-43CE-A4A6-1B095EFF0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CD7EA-AC4F-45A4-8ECC-D9650AD47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CE261-B773-4631-BBF6-64127325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EFD1FC-70DA-4328-9A77-D8CFF00C5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4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5DFC-C61F-40D7-81B6-B74C39A4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790A3-4F5B-4CC9-9F5D-D79D84A4A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39B4F-3CEB-4FCC-9E66-9BEA49307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AFF607-9FFE-4A3F-9BB4-0B48166BC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DA388-3D7F-4BDD-98B7-F00B0C0B9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AFC6EA-1DF3-40EC-9F09-DD87A0F1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276FC-3E25-4AC3-8DBC-7388FEE17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2F129A-68BA-43E1-B70B-B2B3DB69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888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03E1-E14E-450C-9EE7-7ADFDB535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366D57-1CB6-42A2-8EF2-CF9DDBBFA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B24EE-0DE7-44D5-B10B-FC8D9866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2B7BB-E1E7-46E2-84B0-12B18FDF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96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E89116-345B-4C99-9B28-8044E3A21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E7227-0F3F-4B0E-9C59-194DD450C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43E76D-1AD9-4A01-B3D2-E2646C16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854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ECE1-3DFD-4F09-98EA-87C401842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7818-C111-4AA4-9E25-7CCF37DE2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E9589-CCAA-4A6F-988C-D9CE4D248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20C05-1715-41D0-8CCA-67CCBECBD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FF682-7A96-4664-ADC6-022072EE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17260-605C-4372-8D12-CCBB0BD5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55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7900-8231-4B60-ACF7-137BFE95F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A089B-550A-4050-B0AB-6FDDD2BB54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BC1C6-8999-4B4B-88B8-1C43020F9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B9B22-605F-4DE5-9A51-74188EF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6A93D4-D778-4708-A5A0-0DCD5942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924F1-687B-4F5D-9D73-F5521181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1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30DE-5DC3-4049-9EA9-A68A88BB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512F2-99CE-4C46-996C-DC0F0F19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7297B-3F44-4DAF-BB54-DBB0C0EE7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CDAAC-4B4E-44A1-B68B-DAA14A10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4A64F-BB6C-4BDE-984F-B69CAC9A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636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9741C-EFF9-4552-B8C2-7A01FE5DB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758AA-9E26-40FB-9F64-D93DDEE686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27119-F4EA-4D48-93C2-A1B881A7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48290-9362-45CE-AD9A-7594F27B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BD165-B7D3-48B2-8AC5-F8B70D7C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93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A5D0F2-4B74-4516-84E9-10086F6BB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44BDF-0BA7-4807-83F5-79B3B25F50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9888C-5BB9-45E2-83D3-B3DB48F642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88490-2CCA-4523-85B5-F563F0C054DF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C526D-CF18-44E5-9061-BB424F32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966B1-A7CE-488F-A2E4-EAED892B6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595F9-68F6-4D07-B065-445E1816B6BC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8D1F50-026A-4043-91E8-57EF513A0AE7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Object/hasOwn" TargetMode="External"/><Relationship Id="rId2" Type="http://schemas.openxmlformats.org/officeDocument/2006/relationships/hyperlink" Target="https://developer.mozilla.org/en-US/docs/Web/JavaScript/Reference/Global_Objects/Object/propertyIsEnumerabl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Global_Objects/Object/hasOwn" TargetMode="External"/><Relationship Id="rId2" Type="http://schemas.openxmlformats.org/officeDocument/2006/relationships/hyperlink" Target="https://developer.mozilla.org/en-US/docs/Web/JavaScript/Reference/Global_Objects/Object/propertyIsEnumerabl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152400"/>
            <a:ext cx="8458200" cy="6705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2057400" y="4038601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Ketki</a:t>
            </a:r>
            <a:r>
              <a:rPr lang="en-IN" dirty="0"/>
              <a:t> Acharya</a:t>
            </a:r>
          </a:p>
          <a:p>
            <a:r>
              <a:rPr lang="en-IN" dirty="0"/>
              <a:t>From: SM VITA ATC of CDAC</a:t>
            </a:r>
          </a:p>
          <a:p>
            <a:r>
              <a:rPr lang="en-IN" dirty="0"/>
              <a:t>9769201036</a:t>
            </a:r>
          </a:p>
          <a:p>
            <a:r>
              <a:rPr lang="en-IN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F16CA-4A93-4B6E-9633-101BBA27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435" y="70158"/>
            <a:ext cx="4225377" cy="75575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new Object()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73B9-A8D8-4933-9221-36D2F5564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11" y="786581"/>
            <a:ext cx="5310138" cy="28226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1600" dirty="0"/>
              <a:t>&lt;script&gt;</a:t>
            </a:r>
          </a:p>
          <a:p>
            <a:pPr marL="0" indent="0">
              <a:buNone/>
            </a:pPr>
            <a:r>
              <a:rPr lang="pt-BR" sz="1600" dirty="0"/>
              <a:t>var obj=new Object();</a:t>
            </a:r>
          </a:p>
          <a:p>
            <a:pPr marL="0" indent="0">
              <a:buNone/>
            </a:pPr>
            <a:r>
              <a:rPr lang="pt-BR" sz="1600" dirty="0"/>
              <a:t>obj.name="vita";</a:t>
            </a:r>
          </a:p>
          <a:p>
            <a:pPr marL="0" indent="0">
              <a:buNone/>
            </a:pPr>
            <a:r>
              <a:rPr lang="pt-BR" sz="1600" dirty="0"/>
              <a:t>obj.marks=90;</a:t>
            </a:r>
          </a:p>
          <a:p>
            <a:pPr marL="0" indent="0">
              <a:buNone/>
            </a:pPr>
            <a:r>
              <a:rPr lang="pt-BR" sz="1600" dirty="0"/>
              <a:t>document.write(obj); //object Object</a:t>
            </a:r>
          </a:p>
          <a:p>
            <a:pPr marL="0" indent="0">
              <a:buNone/>
            </a:pPr>
            <a:r>
              <a:rPr lang="pt-BR" sz="1600" dirty="0"/>
              <a:t>document.write(obj.constructor); //function Object</a:t>
            </a:r>
          </a:p>
          <a:p>
            <a:pPr marL="0" indent="0">
              <a:buNone/>
            </a:pPr>
            <a:r>
              <a:rPr lang="pt-BR" sz="1600" dirty="0"/>
              <a:t>&lt;/script&gt;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E7BA59-E077-44CD-974B-D8319321D5B1}"/>
              </a:ext>
            </a:extLst>
          </p:cNvPr>
          <p:cNvSpPr/>
          <p:nvPr/>
        </p:nvSpPr>
        <p:spPr>
          <a:xfrm>
            <a:off x="7841226" y="1209368"/>
            <a:ext cx="1219200" cy="8554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name=vita</a:t>
            </a:r>
          </a:p>
          <a:p>
            <a:pPr algn="ctr"/>
            <a:r>
              <a:rPr lang="en-IN" dirty="0"/>
              <a:t>marks=90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9BC22-9FC1-4902-8312-D9ED6FA7EB61}"/>
              </a:ext>
            </a:extLst>
          </p:cNvPr>
          <p:cNvSpPr/>
          <p:nvPr/>
        </p:nvSpPr>
        <p:spPr>
          <a:xfrm>
            <a:off x="6504039" y="1543665"/>
            <a:ext cx="521110" cy="4817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C1CAF-8876-4FA8-B8A3-35E44BFFAB89}"/>
              </a:ext>
            </a:extLst>
          </p:cNvPr>
          <p:cNvSpPr txBox="1"/>
          <p:nvPr/>
        </p:nvSpPr>
        <p:spPr>
          <a:xfrm>
            <a:off x="7964129" y="786581"/>
            <a:ext cx="132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1765BC-F078-4D06-8BF7-C862388984DB}"/>
              </a:ext>
            </a:extLst>
          </p:cNvPr>
          <p:cNvSpPr txBox="1"/>
          <p:nvPr/>
        </p:nvSpPr>
        <p:spPr>
          <a:xfrm>
            <a:off x="6504039" y="1134960"/>
            <a:ext cx="52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417283-0B86-45D3-97D0-8B31398D3950}"/>
              </a:ext>
            </a:extLst>
          </p:cNvPr>
          <p:cNvCxnSpPr>
            <a:stCxn id="7" idx="3"/>
            <a:endCxn id="5" idx="1"/>
          </p:cNvCxnSpPr>
          <p:nvPr/>
        </p:nvCxnSpPr>
        <p:spPr>
          <a:xfrm flipV="1">
            <a:off x="7025149" y="1637071"/>
            <a:ext cx="816077" cy="147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26123" y="3993947"/>
            <a:ext cx="6096000" cy="171329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z="1600" dirty="0">
                <a:solidFill>
                  <a:prstClr val="black"/>
                </a:solidFill>
              </a:rPr>
              <a:t>&lt;script&gt;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z="1600" dirty="0" err="1">
                <a:solidFill>
                  <a:prstClr val="black"/>
                </a:solidFill>
              </a:rPr>
              <a:t>var</a:t>
            </a:r>
            <a:r>
              <a:rPr lang="en-IN" sz="1600" dirty="0">
                <a:solidFill>
                  <a:prstClr val="black"/>
                </a:solidFill>
              </a:rPr>
              <a:t> </a:t>
            </a:r>
            <a:r>
              <a:rPr lang="en-IN" sz="1600" dirty="0" err="1">
                <a:solidFill>
                  <a:prstClr val="black"/>
                </a:solidFill>
              </a:rPr>
              <a:t>obj</a:t>
            </a:r>
            <a:r>
              <a:rPr lang="en-IN" sz="1600" dirty="0">
                <a:solidFill>
                  <a:prstClr val="black"/>
                </a:solidFill>
              </a:rPr>
              <a:t>={name:"raj“,</a:t>
            </a:r>
            <a:r>
              <a:rPr lang="en-IN" sz="1600" dirty="0">
                <a:solidFill>
                  <a:srgbClr val="FF0000"/>
                </a:solidFill>
              </a:rPr>
              <a:t>”</a:t>
            </a:r>
            <a:r>
              <a:rPr lang="en-IN" sz="1600" dirty="0">
                <a:solidFill>
                  <a:prstClr val="black"/>
                </a:solidFill>
              </a:rPr>
              <a:t>2division</a:t>
            </a:r>
            <a:r>
              <a:rPr lang="en-IN" sz="1600" dirty="0">
                <a:solidFill>
                  <a:srgbClr val="FF0000"/>
                </a:solidFill>
              </a:rPr>
              <a:t>”</a:t>
            </a:r>
            <a:r>
              <a:rPr lang="en-IN" sz="1600" dirty="0">
                <a:solidFill>
                  <a:prstClr val="black"/>
                </a:solidFill>
              </a:rPr>
              <a:t>:”A” } //this is literal object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sz="1600" dirty="0" err="1">
                <a:solidFill>
                  <a:prstClr val="black"/>
                </a:solidFill>
              </a:rPr>
              <a:t>obj.marks</a:t>
            </a:r>
            <a:r>
              <a:rPr lang="en-IN" sz="1600" dirty="0">
                <a:solidFill>
                  <a:prstClr val="black"/>
                </a:solidFill>
              </a:rPr>
              <a:t>=80 //adding instance member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pt-BR" sz="1600" dirty="0"/>
              <a:t>&lt;/script&gt;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en-IN" sz="1600" dirty="0">
              <a:solidFill>
                <a:prstClr val="black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664953-D6B2-4E4F-9F0C-0183C40B5AAE}"/>
              </a:ext>
            </a:extLst>
          </p:cNvPr>
          <p:cNvSpPr/>
          <p:nvPr/>
        </p:nvSpPr>
        <p:spPr>
          <a:xfrm>
            <a:off x="4000075" y="5217087"/>
            <a:ext cx="2227006" cy="151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name=raj</a:t>
            </a:r>
          </a:p>
          <a:p>
            <a:pPr algn="ctr"/>
            <a:r>
              <a:rPr lang="en-IN" dirty="0"/>
              <a:t>[“2division”]=A</a:t>
            </a:r>
          </a:p>
          <a:p>
            <a:pPr algn="ctr"/>
            <a:r>
              <a:rPr lang="en-IN" dirty="0"/>
              <a:t>marks=80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41B165-2841-4753-8F8E-53EB974D04D8}"/>
              </a:ext>
            </a:extLst>
          </p:cNvPr>
          <p:cNvSpPr/>
          <p:nvPr/>
        </p:nvSpPr>
        <p:spPr>
          <a:xfrm>
            <a:off x="2903778" y="5653520"/>
            <a:ext cx="521110" cy="4817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F336D0-452B-4423-8A13-049E5A507AD5}"/>
              </a:ext>
            </a:extLst>
          </p:cNvPr>
          <p:cNvSpPr txBox="1"/>
          <p:nvPr/>
        </p:nvSpPr>
        <p:spPr>
          <a:xfrm>
            <a:off x="4205286" y="4805901"/>
            <a:ext cx="132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567B82-936F-4F06-BE96-8D9A6C287F1D}"/>
              </a:ext>
            </a:extLst>
          </p:cNvPr>
          <p:cNvSpPr txBox="1"/>
          <p:nvPr/>
        </p:nvSpPr>
        <p:spPr>
          <a:xfrm>
            <a:off x="2903778" y="5162666"/>
            <a:ext cx="52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365875" y="5821379"/>
            <a:ext cx="575187" cy="7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04039" y="3768384"/>
            <a:ext cx="6096000" cy="260686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function person(</a:t>
            </a:r>
            <a:r>
              <a:rPr lang="en-IN" dirty="0" err="1">
                <a:solidFill>
                  <a:prstClr val="black"/>
                </a:solidFill>
              </a:rPr>
              <a:t>nm,mks</a:t>
            </a:r>
            <a:r>
              <a:rPr lang="en-IN" dirty="0">
                <a:solidFill>
                  <a:prstClr val="black"/>
                </a:solidFill>
              </a:rPr>
              <a:t>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{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     alert(this)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    this.name=nm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    </a:t>
            </a:r>
            <a:r>
              <a:rPr lang="en-IN" dirty="0" err="1">
                <a:solidFill>
                  <a:prstClr val="black"/>
                </a:solidFill>
              </a:rPr>
              <a:t>this.marks</a:t>
            </a:r>
            <a:r>
              <a:rPr lang="en-IN" dirty="0">
                <a:solidFill>
                  <a:prstClr val="black"/>
                </a:solidFill>
              </a:rPr>
              <a:t>=</a:t>
            </a:r>
            <a:r>
              <a:rPr lang="en-IN" dirty="0" err="1">
                <a:solidFill>
                  <a:prstClr val="black"/>
                </a:solidFill>
              </a:rPr>
              <a:t>mks</a:t>
            </a:r>
            <a:endParaRPr lang="en-IN" dirty="0">
              <a:solidFill>
                <a:prstClr val="black"/>
              </a:solidFill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>
                <a:solidFill>
                  <a:prstClr val="black"/>
                </a:solidFill>
              </a:rPr>
              <a:t> }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IN" dirty="0" err="1">
                <a:solidFill>
                  <a:prstClr val="black"/>
                </a:solidFill>
              </a:rPr>
              <a:t>var</a:t>
            </a:r>
            <a:r>
              <a:rPr lang="en-IN" dirty="0">
                <a:solidFill>
                  <a:prstClr val="black"/>
                </a:solidFill>
              </a:rPr>
              <a:t> </a:t>
            </a:r>
            <a:r>
              <a:rPr lang="en-IN" dirty="0" err="1">
                <a:solidFill>
                  <a:prstClr val="black"/>
                </a:solidFill>
              </a:rPr>
              <a:t>ob</a:t>
            </a:r>
            <a:r>
              <a:rPr lang="en-IN" dirty="0">
                <a:solidFill>
                  <a:prstClr val="black"/>
                </a:solidFill>
              </a:rPr>
              <a:t>=new person("mona",80</a:t>
            </a:r>
            <a:r>
              <a:rPr lang="en-IN" sz="1400" dirty="0">
                <a:solidFill>
                  <a:prstClr val="black"/>
                </a:solidFill>
              </a:rPr>
              <a:t>);// </a:t>
            </a:r>
            <a:endParaRPr lang="en-IN" sz="120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BEDDF6-DB97-41FE-950D-283DBC20A410}"/>
              </a:ext>
            </a:extLst>
          </p:cNvPr>
          <p:cNvSpPr txBox="1">
            <a:spLocks/>
          </p:cNvSpPr>
          <p:nvPr/>
        </p:nvSpPr>
        <p:spPr>
          <a:xfrm>
            <a:off x="226123" y="3155678"/>
            <a:ext cx="4382091" cy="83826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Literal object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88F8589-B227-4B25-A01F-62A3CF729FB4}"/>
              </a:ext>
            </a:extLst>
          </p:cNvPr>
          <p:cNvSpPr txBox="1">
            <a:spLocks/>
          </p:cNvSpPr>
          <p:nvPr/>
        </p:nvSpPr>
        <p:spPr>
          <a:xfrm>
            <a:off x="5375665" y="2948421"/>
            <a:ext cx="6816335" cy="6174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Function can also represent as class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018" y="3589922"/>
            <a:ext cx="2840982" cy="23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2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DDF6-DB97-41FE-950D-283DBC20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287" y="0"/>
            <a:ext cx="10203426" cy="1021223"/>
          </a:xfrm>
        </p:spPr>
        <p:txBody>
          <a:bodyPr/>
          <a:lstStyle/>
          <a:p>
            <a:r>
              <a:rPr lang="en-IN" dirty="0"/>
              <a:t>Literal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0A34F-B806-4AA3-852D-487F8D93D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904568"/>
            <a:ext cx="10763865" cy="52723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/>
              <a:t>&lt;script&gt;</a:t>
            </a:r>
          </a:p>
          <a:p>
            <a:pPr marL="0" indent="0">
              <a:buNone/>
            </a:pPr>
            <a:r>
              <a:rPr lang="en-IN" sz="1600" dirty="0"/>
              <a:t>var </a:t>
            </a:r>
            <a:r>
              <a:rPr lang="en-IN" sz="1600" dirty="0" err="1"/>
              <a:t>obj</a:t>
            </a:r>
            <a:r>
              <a:rPr lang="en-IN" sz="1600" dirty="0"/>
              <a:t>={name:"raj“,</a:t>
            </a:r>
            <a:r>
              <a:rPr lang="en-IN" sz="1600" dirty="0">
                <a:solidFill>
                  <a:srgbClr val="FF0000"/>
                </a:solidFill>
              </a:rPr>
              <a:t>”</a:t>
            </a:r>
            <a:r>
              <a:rPr lang="en-IN" sz="1600" dirty="0"/>
              <a:t>2division</a:t>
            </a:r>
            <a:r>
              <a:rPr lang="en-IN" sz="1600" dirty="0">
                <a:solidFill>
                  <a:srgbClr val="FF0000"/>
                </a:solidFill>
              </a:rPr>
              <a:t>”</a:t>
            </a:r>
            <a:r>
              <a:rPr lang="en-IN" sz="1600" dirty="0"/>
              <a:t>:”A” } //this is literal object </a:t>
            </a:r>
          </a:p>
          <a:p>
            <a:pPr marL="0" indent="0">
              <a:buNone/>
            </a:pPr>
            <a:r>
              <a:rPr lang="en-IN" sz="1600" dirty="0" err="1"/>
              <a:t>obj.marks</a:t>
            </a:r>
            <a:r>
              <a:rPr lang="en-IN" sz="1600" dirty="0"/>
              <a:t>=80 //adding instance member</a:t>
            </a:r>
          </a:p>
          <a:p>
            <a:pPr marL="0" indent="0">
              <a:buNone/>
            </a:pPr>
            <a:r>
              <a:rPr lang="en-IN" sz="1600" dirty="0"/>
              <a:t>alert(</a:t>
            </a:r>
            <a:r>
              <a:rPr lang="en-IN" sz="1600" dirty="0" err="1"/>
              <a:t>obj</a:t>
            </a:r>
            <a:r>
              <a:rPr lang="en-IN" sz="1600" dirty="0"/>
              <a:t>); // object </a:t>
            </a:r>
            <a:r>
              <a:rPr lang="en-IN" sz="1600" dirty="0" err="1"/>
              <a:t>Object</a:t>
            </a: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obj.constructor</a:t>
            </a:r>
            <a:r>
              <a:rPr lang="en-IN" sz="1600" dirty="0"/>
              <a:t>); //function Object</a:t>
            </a:r>
          </a:p>
          <a:p>
            <a:pPr marL="0" indent="0">
              <a:buNone/>
            </a:pPr>
            <a:r>
              <a:rPr lang="en-IN" sz="1600" dirty="0" err="1"/>
              <a:t>document.write</a:t>
            </a:r>
            <a:r>
              <a:rPr lang="en-IN" sz="1600" dirty="0"/>
              <a:t>(obj.name +  “  “  + </a:t>
            </a:r>
            <a:r>
              <a:rPr lang="en-IN" sz="1600" dirty="0" err="1"/>
              <a:t>obj</a:t>
            </a:r>
            <a:r>
              <a:rPr lang="en-IN" sz="1600" dirty="0">
                <a:solidFill>
                  <a:srgbClr val="FF0000"/>
                </a:solidFill>
              </a:rPr>
              <a:t>[</a:t>
            </a:r>
            <a:r>
              <a:rPr lang="en-IN" sz="1600" dirty="0"/>
              <a:t>“2division”</a:t>
            </a:r>
            <a:r>
              <a:rPr lang="en-IN" sz="1600" dirty="0">
                <a:solidFill>
                  <a:srgbClr val="FF0000"/>
                </a:solidFill>
              </a:rPr>
              <a:t>]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&lt;/script&gt;</a:t>
            </a:r>
          </a:p>
          <a:p>
            <a:r>
              <a:rPr lang="en-IN" sz="1600" dirty="0"/>
              <a:t>In literal object  we use colon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r>
              <a:rPr lang="en-IN" sz="1400" dirty="0"/>
              <a:t>to assign value to instance member. </a:t>
            </a:r>
            <a:r>
              <a:rPr lang="en-IN" sz="1800" dirty="0"/>
              <a:t>var </a:t>
            </a:r>
            <a:r>
              <a:rPr lang="en-IN" sz="1800" dirty="0" err="1"/>
              <a:t>obj</a:t>
            </a:r>
            <a:r>
              <a:rPr lang="en-IN" sz="1800" dirty="0"/>
              <a:t>={"</a:t>
            </a:r>
            <a:r>
              <a:rPr lang="en-IN" sz="1800" dirty="0" err="1"/>
              <a:t>name"</a:t>
            </a:r>
            <a:r>
              <a:rPr lang="en-IN" b="1" dirty="0" err="1">
                <a:solidFill>
                  <a:srgbClr val="FF0000"/>
                </a:solidFill>
              </a:rPr>
              <a:t>:</a:t>
            </a:r>
            <a:r>
              <a:rPr lang="en-IN" sz="1800" dirty="0" err="1"/>
              <a:t>"raj</a:t>
            </a:r>
            <a:r>
              <a:rPr lang="en-IN" sz="1800" dirty="0"/>
              <a:t>“ } </a:t>
            </a:r>
          </a:p>
          <a:p>
            <a:r>
              <a:rPr lang="en-IN" sz="1800" dirty="0"/>
              <a:t>We can directly add instance member to the class  like this  </a:t>
            </a:r>
            <a:r>
              <a:rPr lang="en-IN" sz="1600" dirty="0" err="1"/>
              <a:t>obj.marks</a:t>
            </a:r>
            <a:r>
              <a:rPr lang="en-IN" sz="1600" dirty="0"/>
              <a:t>=80</a:t>
            </a:r>
            <a:r>
              <a:rPr lang="en-IN" sz="1400" dirty="0"/>
              <a:t> </a:t>
            </a:r>
          </a:p>
          <a:p>
            <a:r>
              <a:rPr lang="en-IN" sz="1400" dirty="0"/>
              <a:t>which constructor will it call? </a:t>
            </a:r>
          </a:p>
          <a:p>
            <a:pPr marL="0" indent="0">
              <a:buNone/>
            </a:pPr>
            <a:r>
              <a:rPr lang="en-IN" sz="1400" dirty="0"/>
              <a:t>	It is instance of Object class so it will call  constructor of  Object class (function)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alert(</a:t>
            </a:r>
            <a:r>
              <a:rPr lang="en-IN" sz="1400" dirty="0" err="1"/>
              <a:t>obj</a:t>
            </a:r>
            <a:r>
              <a:rPr lang="en-IN" sz="1400" dirty="0"/>
              <a:t>); // object </a:t>
            </a:r>
            <a:r>
              <a:rPr lang="en-IN" sz="1400" dirty="0" err="1"/>
              <a:t>Object</a:t>
            </a:r>
            <a:r>
              <a:rPr lang="en-IN" sz="1400" dirty="0"/>
              <a:t> </a:t>
            </a:r>
          </a:p>
          <a:p>
            <a:pPr marL="0" indent="0">
              <a:buNone/>
            </a:pPr>
            <a:r>
              <a:rPr lang="en-IN" sz="1400" dirty="0"/>
              <a:t>As we know when you print object it will Call </a:t>
            </a:r>
            <a:r>
              <a:rPr lang="en-IN" sz="1400" dirty="0" err="1"/>
              <a:t>ToString</a:t>
            </a:r>
            <a:r>
              <a:rPr lang="en-IN" sz="1400" dirty="0"/>
              <a:t>() method. </a:t>
            </a:r>
          </a:p>
          <a:p>
            <a:pPr marL="0" indent="0">
              <a:buNone/>
            </a:pPr>
            <a:r>
              <a:rPr lang="en-IN" sz="1400" dirty="0"/>
              <a:t>If instance member variable name is not as per rule of variable then enclosed it in “” and you can use it with following syntax</a:t>
            </a:r>
          </a:p>
          <a:p>
            <a:pPr marL="0" indent="0">
              <a:buNone/>
            </a:pPr>
            <a:r>
              <a:rPr lang="en-IN" sz="1400" dirty="0"/>
              <a:t> </a:t>
            </a:r>
            <a:r>
              <a:rPr lang="en-IN" sz="1400" dirty="0" err="1"/>
              <a:t>obj</a:t>
            </a:r>
            <a:r>
              <a:rPr lang="en-IN" sz="1400" dirty="0"/>
              <a:t>[“2division”]);</a:t>
            </a: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64953-D6B2-4E4F-9F0C-0183C40B5AAE}"/>
              </a:ext>
            </a:extLst>
          </p:cNvPr>
          <p:cNvSpPr/>
          <p:nvPr/>
        </p:nvSpPr>
        <p:spPr>
          <a:xfrm>
            <a:off x="7841226" y="1209367"/>
            <a:ext cx="2227006" cy="1514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name=raj</a:t>
            </a:r>
          </a:p>
          <a:p>
            <a:pPr algn="ctr"/>
            <a:r>
              <a:rPr lang="en-IN" dirty="0"/>
              <a:t>[“2division”]=A</a:t>
            </a:r>
          </a:p>
          <a:p>
            <a:pPr algn="ctr"/>
            <a:r>
              <a:rPr lang="en-IN" dirty="0"/>
              <a:t>marks=80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1B165-2841-4753-8F8E-53EB974D04D8}"/>
              </a:ext>
            </a:extLst>
          </p:cNvPr>
          <p:cNvSpPr/>
          <p:nvPr/>
        </p:nvSpPr>
        <p:spPr>
          <a:xfrm>
            <a:off x="6504039" y="1543665"/>
            <a:ext cx="521110" cy="48178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8AD747-A0DD-48FE-A87E-C067A4482C78}"/>
              </a:ext>
            </a:extLst>
          </p:cNvPr>
          <p:cNvCxnSpPr/>
          <p:nvPr/>
        </p:nvCxnSpPr>
        <p:spPr>
          <a:xfrm>
            <a:off x="7079226" y="1779639"/>
            <a:ext cx="629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9F336D0-452B-4423-8A13-049E5A507AD5}"/>
              </a:ext>
            </a:extLst>
          </p:cNvPr>
          <p:cNvSpPr txBox="1"/>
          <p:nvPr/>
        </p:nvSpPr>
        <p:spPr>
          <a:xfrm>
            <a:off x="7964129" y="786581"/>
            <a:ext cx="1327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Object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67B82-936F-4F06-BE96-8D9A6C287F1D}"/>
              </a:ext>
            </a:extLst>
          </p:cNvPr>
          <p:cNvSpPr txBox="1"/>
          <p:nvPr/>
        </p:nvSpPr>
        <p:spPr>
          <a:xfrm>
            <a:off x="6504039" y="1134960"/>
            <a:ext cx="52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58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8589-B227-4B25-A01F-62A3CF72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9" y="79991"/>
            <a:ext cx="5604386" cy="369332"/>
          </a:xfrm>
        </p:spPr>
        <p:txBody>
          <a:bodyPr>
            <a:noAutofit/>
          </a:bodyPr>
          <a:lstStyle/>
          <a:p>
            <a:r>
              <a:rPr lang="en-IN" sz="2800" dirty="0"/>
              <a:t>Function can also represent as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741D8-57F3-4E6B-BC1B-2FED3C694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70" y="521111"/>
            <a:ext cx="5191433" cy="580136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	//</a:t>
            </a:r>
            <a:r>
              <a:rPr lang="en-IN" dirty="0" err="1"/>
              <a:t>userdefine</a:t>
            </a:r>
            <a:r>
              <a:rPr lang="en-IN" dirty="0"/>
              <a:t> object</a:t>
            </a:r>
          </a:p>
          <a:p>
            <a:pPr marL="0" indent="0">
              <a:buNone/>
            </a:pPr>
            <a:r>
              <a:rPr lang="en-IN" dirty="0"/>
              <a:t>function person(</a:t>
            </a:r>
            <a:r>
              <a:rPr lang="en-IN" dirty="0" err="1"/>
              <a:t>nm,mks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alert(this)</a:t>
            </a:r>
          </a:p>
          <a:p>
            <a:pPr marL="0" indent="0">
              <a:buNone/>
            </a:pPr>
            <a:r>
              <a:rPr lang="en-IN" dirty="0"/>
              <a:t>    this.name=nm;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this.marks</a:t>
            </a:r>
            <a:r>
              <a:rPr lang="en-IN" dirty="0"/>
              <a:t>=</a:t>
            </a:r>
            <a:r>
              <a:rPr lang="en-IN" dirty="0" err="1"/>
              <a:t>mks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r>
              <a:rPr lang="en-IN" dirty="0"/>
              <a:t>var </a:t>
            </a:r>
            <a:r>
              <a:rPr lang="en-IN" dirty="0" err="1"/>
              <a:t>ob</a:t>
            </a:r>
            <a:r>
              <a:rPr lang="en-IN" dirty="0"/>
              <a:t>=new person("mona",80</a:t>
            </a:r>
            <a:r>
              <a:rPr lang="en-IN" sz="2000" dirty="0"/>
              <a:t>);// control will go to function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); //object </a:t>
            </a:r>
            <a:r>
              <a:rPr lang="en-IN" dirty="0" err="1"/>
              <a:t>Object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ob.constructor</a:t>
            </a:r>
            <a:r>
              <a:rPr lang="en-IN" dirty="0"/>
              <a:t>); //function Person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("&lt;hr/&gt;")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(ob.name+" "+</a:t>
            </a:r>
            <a:r>
              <a:rPr lang="en-IN" dirty="0" err="1"/>
              <a:t>ob</a:t>
            </a:r>
            <a:r>
              <a:rPr lang="en-IN" dirty="0"/>
              <a:t>["name"])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("&lt;hr/&gt;")</a:t>
            </a:r>
          </a:p>
          <a:p>
            <a:pPr marL="0" indent="0">
              <a:buNone/>
            </a:pPr>
            <a:r>
              <a:rPr lang="en-IN" dirty="0"/>
              <a:t>for(let pp </a:t>
            </a:r>
            <a:r>
              <a:rPr lang="en-IN" dirty="0">
                <a:solidFill>
                  <a:schemeClr val="accent1"/>
                </a:solidFill>
              </a:rPr>
              <a:t>in</a:t>
            </a:r>
            <a:r>
              <a:rPr lang="en-IN" dirty="0"/>
              <a:t> </a:t>
            </a:r>
            <a:r>
              <a:rPr lang="en-IN" dirty="0" err="1"/>
              <a:t>ob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(pp+"  "+</a:t>
            </a:r>
            <a:r>
              <a:rPr lang="en-IN" dirty="0" err="1"/>
              <a:t>ob</a:t>
            </a:r>
            <a:r>
              <a:rPr lang="en-IN" dirty="0"/>
              <a:t>[pp]);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 </a:t>
            </a:r>
            <a:r>
              <a:rPr lang="en-IN" dirty="0" err="1"/>
              <a:t>instanceof</a:t>
            </a:r>
            <a:r>
              <a:rPr lang="en-IN" dirty="0"/>
              <a:t> person);//true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 </a:t>
            </a:r>
            <a:r>
              <a:rPr lang="en-IN" dirty="0" err="1"/>
              <a:t>instanceof</a:t>
            </a:r>
            <a:r>
              <a:rPr lang="en-IN" dirty="0"/>
              <a:t> Object);//true</a:t>
            </a:r>
          </a:p>
          <a:p>
            <a:pPr marL="0" indent="0">
              <a:buNone/>
            </a:pPr>
            <a:r>
              <a:rPr lang="en-IN" dirty="0" err="1"/>
              <a:t>var</a:t>
            </a:r>
            <a:r>
              <a:rPr lang="en-IN" dirty="0"/>
              <a:t> ob1=new person(“Geeta",900</a:t>
            </a:r>
            <a:r>
              <a:rPr lang="en-IN" sz="2000" dirty="0"/>
              <a:t>);//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08B8B-643C-43D3-90A8-97A5CF5BAAB3}"/>
              </a:ext>
            </a:extLst>
          </p:cNvPr>
          <p:cNvSpPr/>
          <p:nvPr/>
        </p:nvSpPr>
        <p:spPr>
          <a:xfrm>
            <a:off x="6577781" y="1686233"/>
            <a:ext cx="707922" cy="5260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998CD-0F2B-4E44-986E-82B3D0158450}"/>
              </a:ext>
            </a:extLst>
          </p:cNvPr>
          <p:cNvSpPr/>
          <p:nvPr/>
        </p:nvSpPr>
        <p:spPr>
          <a:xfrm>
            <a:off x="7752731" y="1385050"/>
            <a:ext cx="1465007" cy="895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Name=mona</a:t>
            </a:r>
          </a:p>
          <a:p>
            <a:pPr algn="ctr"/>
            <a:r>
              <a:rPr lang="en-IN" dirty="0"/>
              <a:t>Marks=80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2AD07A-2083-4058-BBE8-CA627D57E15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285703" y="1949246"/>
            <a:ext cx="408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B74C0D-1CC6-4E1C-B227-1BDC18AE1C00}"/>
              </a:ext>
            </a:extLst>
          </p:cNvPr>
          <p:cNvSpPr txBox="1"/>
          <p:nvPr/>
        </p:nvSpPr>
        <p:spPr>
          <a:xfrm>
            <a:off x="6609737" y="1147502"/>
            <a:ext cx="5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27740-8808-4EAF-96F2-714E387ED94A}"/>
              </a:ext>
            </a:extLst>
          </p:cNvPr>
          <p:cNvSpPr txBox="1"/>
          <p:nvPr/>
        </p:nvSpPr>
        <p:spPr>
          <a:xfrm>
            <a:off x="8369713" y="1147502"/>
            <a:ext cx="899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person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96FDA-BF5B-46E0-B9E5-CDDF7BB7B975}"/>
              </a:ext>
            </a:extLst>
          </p:cNvPr>
          <p:cNvSpPr/>
          <p:nvPr/>
        </p:nvSpPr>
        <p:spPr>
          <a:xfrm>
            <a:off x="7693737" y="229863"/>
            <a:ext cx="1297858" cy="7374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F67197-3868-4B4F-9745-AA49FE2E70A4}"/>
              </a:ext>
            </a:extLst>
          </p:cNvPr>
          <p:cNvCxnSpPr/>
          <p:nvPr/>
        </p:nvCxnSpPr>
        <p:spPr>
          <a:xfrm>
            <a:off x="8239433" y="890167"/>
            <a:ext cx="0" cy="514670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85DD8D-9EE0-4FA5-AE3A-3503659BC1BE}"/>
              </a:ext>
            </a:extLst>
          </p:cNvPr>
          <p:cNvSpPr txBox="1"/>
          <p:nvPr/>
        </p:nvSpPr>
        <p:spPr>
          <a:xfrm>
            <a:off x="8239433" y="-9522"/>
            <a:ext cx="116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Object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A96767-B4D0-4AE1-A546-940E9994B05B}"/>
              </a:ext>
            </a:extLst>
          </p:cNvPr>
          <p:cNvSpPr txBox="1"/>
          <p:nvPr/>
        </p:nvSpPr>
        <p:spPr>
          <a:xfrm>
            <a:off x="7014088" y="912201"/>
            <a:ext cx="1160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inheritance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F64555-3D6D-404F-AE54-D717C2C6BD1B}"/>
              </a:ext>
            </a:extLst>
          </p:cNvPr>
          <p:cNvSpPr txBox="1"/>
          <p:nvPr/>
        </p:nvSpPr>
        <p:spPr>
          <a:xfrm>
            <a:off x="5410204" y="2475272"/>
            <a:ext cx="617465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java script function it self is class and it act as constructor also.</a:t>
            </a:r>
          </a:p>
          <a:p>
            <a:r>
              <a:rPr lang="en-IN" dirty="0" err="1"/>
              <a:t>ob</a:t>
            </a:r>
            <a:r>
              <a:rPr lang="en-IN" dirty="0"/>
              <a:t>=new person("mona",80</a:t>
            </a:r>
            <a:r>
              <a:rPr lang="en-IN" sz="1400" dirty="0"/>
              <a:t>);//from this line ---control will go to function definition and it will initialized the instance member--- name and marks.</a:t>
            </a:r>
          </a:p>
          <a:p>
            <a:endParaRPr lang="en-IN" sz="1400" dirty="0"/>
          </a:p>
          <a:p>
            <a:r>
              <a:rPr lang="en-IN" dirty="0"/>
              <a:t>alert(this) //this refer to current object here it will object </a:t>
            </a:r>
            <a:r>
              <a:rPr lang="en-IN" dirty="0" err="1"/>
              <a:t>Object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Do I have to use this to initialise instance member ???</a:t>
            </a:r>
          </a:p>
          <a:p>
            <a:r>
              <a:rPr lang="en-IN" dirty="0">
                <a:solidFill>
                  <a:srgbClr val="FF0000"/>
                </a:solidFill>
              </a:rPr>
              <a:t>Yes</a:t>
            </a:r>
            <a:r>
              <a:rPr lang="en-IN" dirty="0"/>
              <a:t> in our example when we use this.name we says that name is instance variable with reference to class(function) person.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I write only name ? </a:t>
            </a:r>
            <a:r>
              <a:rPr lang="en-IN" dirty="0">
                <a:solidFill>
                  <a:srgbClr val="FF0000"/>
                </a:solidFill>
              </a:rPr>
              <a:t>No </a:t>
            </a:r>
            <a:r>
              <a:rPr lang="en-IN" dirty="0">
                <a:solidFill>
                  <a:schemeClr val="tx2"/>
                </a:solidFill>
              </a:rPr>
              <a:t>if you want to represent as instance member </a:t>
            </a:r>
            <a:r>
              <a:rPr lang="en-IN" dirty="0">
                <a:solidFill>
                  <a:srgbClr val="FF0000"/>
                </a:solidFill>
              </a:rPr>
              <a:t>this </a:t>
            </a:r>
            <a:r>
              <a:rPr lang="en-IN" dirty="0">
                <a:solidFill>
                  <a:schemeClr val="tx2"/>
                </a:solidFill>
              </a:rPr>
              <a:t>is</a:t>
            </a:r>
            <a:r>
              <a:rPr lang="en-IN" dirty="0">
                <a:solidFill>
                  <a:srgbClr val="FF0000"/>
                </a:solidFill>
              </a:rPr>
              <a:t> must.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974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5A4DD-DAB5-4619-916E-56A1EFCDB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1380" y="127819"/>
            <a:ext cx="10262419" cy="6049144"/>
          </a:xfrm>
        </p:spPr>
        <p:txBody>
          <a:bodyPr>
            <a:normAutofit fontScale="92500" lnSpcReduction="10000"/>
          </a:bodyPr>
          <a:lstStyle/>
          <a:p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ob</a:t>
            </a:r>
            <a:r>
              <a:rPr lang="en-IN" sz="1600" dirty="0"/>
              <a:t>); //object </a:t>
            </a:r>
            <a:r>
              <a:rPr lang="en-IN" sz="1600" dirty="0" err="1"/>
              <a:t>Object</a:t>
            </a:r>
            <a:endParaRPr lang="en-IN" sz="1600" dirty="0"/>
          </a:p>
          <a:p>
            <a:pPr lvl="1"/>
            <a:r>
              <a:rPr lang="en-IN" sz="1600" dirty="0"/>
              <a:t>Recollect we have studied in </a:t>
            </a:r>
            <a:r>
              <a:rPr lang="en-IN" sz="1600" dirty="0" err="1"/>
              <a:t>.Net</a:t>
            </a:r>
            <a:r>
              <a:rPr lang="en-IN" sz="1600" dirty="0"/>
              <a:t> that when you print object internally it is calling </a:t>
            </a:r>
            <a:r>
              <a:rPr lang="en-IN" sz="1600" dirty="0" err="1"/>
              <a:t>ToString</a:t>
            </a:r>
            <a:r>
              <a:rPr lang="en-IN" sz="1600" dirty="0"/>
              <a:t>() method.</a:t>
            </a:r>
          </a:p>
          <a:p>
            <a:pPr lvl="1"/>
            <a:r>
              <a:rPr lang="en-IN" sz="1600" dirty="0"/>
              <a:t>But person class(function) do not have </a:t>
            </a:r>
            <a:r>
              <a:rPr lang="en-IN" sz="1600" dirty="0" err="1"/>
              <a:t>ToString</a:t>
            </a:r>
            <a:r>
              <a:rPr lang="en-IN" sz="1600" dirty="0"/>
              <a:t>() method?</a:t>
            </a:r>
          </a:p>
          <a:p>
            <a:pPr lvl="2"/>
            <a:r>
              <a:rPr lang="en-IN" sz="1600" dirty="0"/>
              <a:t>Yes. Recollect if method is not found in class(function) then control will go to parent class and here Object is a parent class so Object class </a:t>
            </a:r>
            <a:r>
              <a:rPr lang="en-IN" sz="1600" dirty="0" err="1"/>
              <a:t>ToString</a:t>
            </a:r>
            <a:r>
              <a:rPr lang="en-IN" sz="1600" dirty="0"/>
              <a:t> method get called.</a:t>
            </a:r>
          </a:p>
          <a:p>
            <a:pPr lvl="2"/>
            <a:r>
              <a:rPr lang="en-IN" sz="1600" dirty="0"/>
              <a:t>So it is printing object </a:t>
            </a:r>
            <a:r>
              <a:rPr lang="en-IN" sz="1600" dirty="0" err="1"/>
              <a:t>Object</a:t>
            </a:r>
            <a:r>
              <a:rPr lang="en-IN" sz="1600" dirty="0"/>
              <a:t> here 1</a:t>
            </a:r>
            <a:r>
              <a:rPr lang="en-IN" sz="1600" baseline="30000" dirty="0"/>
              <a:t>st</a:t>
            </a:r>
            <a:r>
              <a:rPr lang="en-IN" sz="1600" dirty="0"/>
              <a:t> object is data type and second Object is name of class(function)</a:t>
            </a:r>
          </a:p>
          <a:p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ob.constructor</a:t>
            </a:r>
            <a:r>
              <a:rPr lang="en-IN" sz="1600" dirty="0"/>
              <a:t>); //function Person</a:t>
            </a:r>
          </a:p>
          <a:p>
            <a:pPr lvl="1"/>
            <a:r>
              <a:rPr lang="en-IN" sz="1600" dirty="0"/>
              <a:t>Here constructor is a key word. We are checking it is calling which constructor?</a:t>
            </a:r>
          </a:p>
          <a:p>
            <a:pPr lvl="1"/>
            <a:r>
              <a:rPr lang="en-IN" sz="1600" dirty="0"/>
              <a:t>It will print full person function definition</a:t>
            </a:r>
          </a:p>
          <a:p>
            <a:r>
              <a:rPr lang="en-IN" sz="1600" dirty="0" err="1"/>
              <a:t>document.write</a:t>
            </a:r>
            <a:r>
              <a:rPr lang="en-IN" sz="1600" dirty="0"/>
              <a:t>(ob.name+" "+</a:t>
            </a:r>
            <a:r>
              <a:rPr lang="en-IN" sz="1600" dirty="0" err="1"/>
              <a:t>ob</a:t>
            </a:r>
            <a:r>
              <a:rPr lang="en-IN" sz="1600" dirty="0"/>
              <a:t>["name"])</a:t>
            </a:r>
          </a:p>
          <a:p>
            <a:pPr lvl="1"/>
            <a:r>
              <a:rPr lang="en-IN" sz="1600" dirty="0"/>
              <a:t>By default all member of class(function) are public. So it will allow you to access name instance member out side the class(function)</a:t>
            </a:r>
          </a:p>
          <a:p>
            <a:pPr lvl="1"/>
            <a:r>
              <a:rPr lang="en-IN" sz="1600" dirty="0"/>
              <a:t>In JS you can also use instance member as index value </a:t>
            </a:r>
            <a:r>
              <a:rPr lang="en-IN" sz="1600" dirty="0" err="1"/>
              <a:t>ie</a:t>
            </a:r>
            <a:r>
              <a:rPr lang="en-IN" sz="1600" dirty="0"/>
              <a:t> </a:t>
            </a:r>
            <a:r>
              <a:rPr lang="en-IN" sz="1600" dirty="0" err="1"/>
              <a:t>ob</a:t>
            </a:r>
            <a:r>
              <a:rPr lang="en-IN" sz="1600" dirty="0"/>
              <a:t>["name"] observe name is written in “ ” it is representing value at this key.</a:t>
            </a:r>
          </a:p>
          <a:p>
            <a:r>
              <a:rPr lang="en-IN" sz="1600" dirty="0"/>
              <a:t>for(pp in </a:t>
            </a:r>
            <a:r>
              <a:rPr lang="en-IN" sz="1600" dirty="0" err="1"/>
              <a:t>ob</a:t>
            </a:r>
            <a:r>
              <a:rPr lang="en-IN" sz="1600" dirty="0"/>
              <a:t>)</a:t>
            </a:r>
          </a:p>
          <a:p>
            <a:pPr marL="0" indent="0">
              <a:buNone/>
            </a:pPr>
            <a:r>
              <a:rPr lang="en-IN" sz="1600" dirty="0" err="1"/>
              <a:t>document.write</a:t>
            </a:r>
            <a:r>
              <a:rPr lang="en-IN" sz="1600" dirty="0"/>
              <a:t>(pp+"  "+</a:t>
            </a:r>
            <a:r>
              <a:rPr lang="en-IN" sz="1600" dirty="0" err="1"/>
              <a:t>ob</a:t>
            </a:r>
            <a:r>
              <a:rPr lang="en-IN" sz="1600" dirty="0"/>
              <a:t>[pp]);</a:t>
            </a:r>
          </a:p>
          <a:p>
            <a:pPr lvl="1"/>
            <a:r>
              <a:rPr lang="en-IN" sz="1600" dirty="0"/>
              <a:t>	in JS you can iterate over the instance member using for in</a:t>
            </a:r>
          </a:p>
          <a:p>
            <a:pPr lvl="1"/>
            <a:r>
              <a:rPr lang="en-IN" sz="1600" dirty="0"/>
              <a:t>This loop will fetch instance member from </a:t>
            </a:r>
            <a:r>
              <a:rPr lang="en-IN" sz="1600" dirty="0" err="1"/>
              <a:t>ob</a:t>
            </a:r>
            <a:r>
              <a:rPr lang="en-IN" sz="1600" dirty="0"/>
              <a:t>[reference] and store it in variable pp</a:t>
            </a:r>
          </a:p>
          <a:p>
            <a:pPr lvl="1"/>
            <a:r>
              <a:rPr lang="en-IN" sz="1600" dirty="0"/>
              <a:t>So it will print  name mona </a:t>
            </a:r>
          </a:p>
          <a:p>
            <a:pPr marL="1828800" lvl="4" indent="0">
              <a:buNone/>
            </a:pPr>
            <a:r>
              <a:rPr lang="en-IN" sz="1600" dirty="0"/>
              <a:t>   marks 80</a:t>
            </a:r>
          </a:p>
          <a:p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ob</a:t>
            </a:r>
            <a:r>
              <a:rPr lang="en-IN" sz="1600" dirty="0"/>
              <a:t> </a:t>
            </a:r>
            <a:r>
              <a:rPr lang="en-IN" sz="1600" dirty="0" err="1"/>
              <a:t>instanceof</a:t>
            </a:r>
            <a:r>
              <a:rPr lang="en-IN" sz="1600" dirty="0"/>
              <a:t> person);  </a:t>
            </a:r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ob</a:t>
            </a:r>
            <a:r>
              <a:rPr lang="en-IN" sz="1600" dirty="0"/>
              <a:t> </a:t>
            </a:r>
            <a:r>
              <a:rPr lang="en-IN" sz="1600" dirty="0" err="1"/>
              <a:t>instanceof</a:t>
            </a:r>
            <a:r>
              <a:rPr lang="en-IN" sz="1600" dirty="0"/>
              <a:t> Object);</a:t>
            </a:r>
          </a:p>
          <a:p>
            <a:pPr lvl="1"/>
            <a:r>
              <a:rPr lang="en-IN" sz="1600" dirty="0"/>
              <a:t>Above both line will print true [it is same as </a:t>
            </a:r>
            <a:r>
              <a:rPr lang="en-IN" sz="1600" dirty="0" err="1"/>
              <a:t>instanceof</a:t>
            </a:r>
            <a:r>
              <a:rPr lang="en-IN" sz="1600" dirty="0"/>
              <a:t> key word in java]</a:t>
            </a:r>
          </a:p>
          <a:p>
            <a:pPr lvl="1"/>
            <a:r>
              <a:rPr lang="en-IN" sz="1600" dirty="0"/>
              <a:t>Ob is instance if person class[function]</a:t>
            </a:r>
          </a:p>
          <a:p>
            <a:endParaRPr lang="en-IN" sz="1600" dirty="0"/>
          </a:p>
          <a:p>
            <a:endParaRPr lang="en-IN" sz="1600" dirty="0"/>
          </a:p>
          <a:p>
            <a:pPr lvl="1"/>
            <a:endParaRPr lang="en-IN" sz="1600" dirty="0"/>
          </a:p>
          <a:p>
            <a:pPr lvl="1"/>
            <a:endParaRPr lang="en-IN" sz="1600" dirty="0"/>
          </a:p>
          <a:p>
            <a:endParaRPr lang="en-IN" sz="1600" dirty="0"/>
          </a:p>
          <a:p>
            <a:pPr lvl="1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68967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720A-DCA4-4A0F-88A8-0926D6E2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3" y="98323"/>
            <a:ext cx="10164097" cy="865239"/>
          </a:xfrm>
        </p:spPr>
        <p:txBody>
          <a:bodyPr>
            <a:normAutofit fontScale="90000"/>
          </a:bodyPr>
          <a:lstStyle/>
          <a:p>
            <a:r>
              <a:rPr lang="en-US" sz="1800" b="1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differences: constructor object and literal object</a:t>
            </a:r>
            <a:br>
              <a:rPr lang="e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7551-5880-430E-A6AF-8FBB4DFB1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724" y="963562"/>
            <a:ext cx="10515600" cy="4351338"/>
          </a:xfrm>
        </p:spPr>
        <p:txBody>
          <a:bodyPr/>
          <a:lstStyle/>
          <a:p>
            <a:pPr marL="342900" lvl="0" indent="-342900">
              <a:lnSpc>
                <a:spcPts val="195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constructor object has its properties and methods defined with the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keyword 'this' in front of it, whereas the literal version does not.</a:t>
            </a:r>
            <a:endParaRPr lang="en-IN" sz="1800" dirty="0">
              <a:solidFill>
                <a:srgbClr val="4B4B4B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95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constructor object the properties/methods have their 'values'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defined after an equal sign '=' whereas in the literal version, they are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defined after a colon ':'.</a:t>
            </a:r>
            <a:endParaRPr lang="en-IN" sz="1800" dirty="0">
              <a:solidFill>
                <a:srgbClr val="4B4B4B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ts val="195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constructor function can have (optional) semi-colons ';' at the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of each property/method declaration whereas in the literal version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have more than one property or method, they MUST be separated with</a:t>
            </a:r>
            <a:b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4B4B4B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comma ',', and they CANNOT have semi-colons after them, otherwise JavaScript will return an error.</a:t>
            </a:r>
          </a:p>
          <a:p>
            <a:pPr marL="342900" lvl="0" indent="-342900">
              <a:lnSpc>
                <a:spcPts val="195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4B4B4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create multiple object for constructor object</a:t>
            </a:r>
          </a:p>
          <a:p>
            <a:pPr marL="342900" lvl="0" indent="-342900">
              <a:lnSpc>
                <a:spcPts val="1950"/>
              </a:lnSpc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rgbClr val="4B4B4B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create only one object in literal object. Just for display and temporary use.</a:t>
            </a:r>
            <a:endParaRPr lang="en-IN" sz="1800" dirty="0">
              <a:solidFill>
                <a:srgbClr val="4B4B4B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213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0E689-A5E7-4D04-B2BF-DA0C5986C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48" y="117987"/>
            <a:ext cx="10272252" cy="6058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Can we call directly person(“mona”,80) without new key word?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FF0000"/>
                </a:solidFill>
              </a:rPr>
              <a:t>Yes</a:t>
            </a:r>
            <a:r>
              <a:rPr lang="en-IN" sz="1400" dirty="0"/>
              <a:t>. That is the </a:t>
            </a:r>
            <a:r>
              <a:rPr lang="en-IN" sz="1400" dirty="0">
                <a:solidFill>
                  <a:srgbClr val="FF0000"/>
                </a:solidFill>
              </a:rPr>
              <a:t>biggest problem </a:t>
            </a:r>
            <a:r>
              <a:rPr lang="en-IN" sz="1400" dirty="0"/>
              <a:t>in JS.</a:t>
            </a:r>
          </a:p>
          <a:p>
            <a:pPr marL="0" indent="0">
              <a:buNone/>
            </a:pPr>
            <a:r>
              <a:rPr lang="en-IN" sz="1400" dirty="0"/>
              <a:t>When you call without new key word it will call it with reference to window object. And name and marks will be set as instance member  in window class</a:t>
            </a:r>
          </a:p>
          <a:p>
            <a:pPr marL="0" indent="0">
              <a:buNone/>
            </a:pPr>
            <a:r>
              <a:rPr lang="en-IN" sz="1400" dirty="0"/>
              <a:t>//</a:t>
            </a:r>
            <a:r>
              <a:rPr lang="en-IN" sz="1400" dirty="0" err="1"/>
              <a:t>userdefine</a:t>
            </a:r>
            <a:r>
              <a:rPr lang="en-IN" sz="1400" dirty="0"/>
              <a:t> object</a:t>
            </a:r>
          </a:p>
          <a:p>
            <a:pPr marL="0" indent="0">
              <a:buNone/>
            </a:pPr>
            <a:r>
              <a:rPr lang="en-IN" sz="1400" dirty="0"/>
              <a:t>function person(</a:t>
            </a:r>
            <a:r>
              <a:rPr lang="en-IN" sz="1400" dirty="0" err="1"/>
              <a:t>nm,mks</a:t>
            </a:r>
            <a:r>
              <a:rPr lang="en-IN" sz="1400" dirty="0"/>
              <a:t>)</a:t>
            </a:r>
          </a:p>
          <a:p>
            <a:pPr marL="0" indent="0">
              <a:buNone/>
            </a:pPr>
            <a:r>
              <a:rPr lang="en-IN" sz="1400" dirty="0"/>
              <a:t>{</a:t>
            </a:r>
          </a:p>
          <a:p>
            <a:pPr marL="0" indent="0">
              <a:buNone/>
            </a:pPr>
            <a:r>
              <a:rPr lang="en-IN" sz="1400" dirty="0"/>
              <a:t>     alert(this)//it will display  Window[native code]</a:t>
            </a:r>
          </a:p>
          <a:p>
            <a:pPr marL="0" indent="0">
              <a:buNone/>
            </a:pPr>
            <a:r>
              <a:rPr lang="en-IN" sz="1400" dirty="0"/>
              <a:t>    this.name=nm</a:t>
            </a:r>
          </a:p>
          <a:p>
            <a:pPr marL="0" indent="0">
              <a:buNone/>
            </a:pPr>
            <a:r>
              <a:rPr lang="en-IN" sz="1400" dirty="0"/>
              <a:t>    </a:t>
            </a:r>
            <a:r>
              <a:rPr lang="en-IN" sz="1400" dirty="0" err="1"/>
              <a:t>this.marks</a:t>
            </a:r>
            <a:r>
              <a:rPr lang="en-IN" sz="1400" dirty="0"/>
              <a:t>=</a:t>
            </a:r>
            <a:r>
              <a:rPr lang="en-IN" sz="1400" dirty="0" err="1"/>
              <a:t>mks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 }</a:t>
            </a:r>
          </a:p>
          <a:p>
            <a:pPr marL="0" indent="0">
              <a:buNone/>
            </a:pPr>
            <a:r>
              <a:rPr lang="en-IN" sz="1400" dirty="0"/>
              <a:t>person(“raj”,30);</a:t>
            </a:r>
          </a:p>
          <a:p>
            <a:pPr marL="0" indent="0">
              <a:buNone/>
            </a:pPr>
            <a:r>
              <a:rPr lang="en-IN" sz="1400" dirty="0" err="1"/>
              <a:t>document.write</a:t>
            </a:r>
            <a:r>
              <a:rPr lang="en-IN" sz="1400" dirty="0"/>
              <a:t>(window.name);</a:t>
            </a:r>
          </a:p>
          <a:p>
            <a:pPr marL="0" indent="0">
              <a:buNone/>
            </a:pPr>
            <a:r>
              <a:rPr lang="en-IN" sz="1400" dirty="0"/>
              <a:t>console.log(window);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1D8FA-D17C-4B29-83C4-D6884020E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68" t="8316" r="2097" b="9931"/>
          <a:stretch/>
        </p:blipFill>
        <p:spPr>
          <a:xfrm>
            <a:off x="6017342" y="1376514"/>
            <a:ext cx="5987845" cy="505848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E3B294-3749-4BAF-A45E-136B6AC5F4CF}"/>
              </a:ext>
            </a:extLst>
          </p:cNvPr>
          <p:cNvCxnSpPr/>
          <p:nvPr/>
        </p:nvCxnSpPr>
        <p:spPr>
          <a:xfrm flipV="1">
            <a:off x="2782529" y="3687097"/>
            <a:ext cx="3234813" cy="570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818D5F-860C-4048-B25D-E5215A274CB5}"/>
              </a:ext>
            </a:extLst>
          </p:cNvPr>
          <p:cNvCxnSpPr>
            <a:cxnSpLocks/>
          </p:cNvCxnSpPr>
          <p:nvPr/>
        </p:nvCxnSpPr>
        <p:spPr>
          <a:xfrm>
            <a:off x="2930013" y="4101250"/>
            <a:ext cx="3077497" cy="156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721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98353B-E7FE-4370-A55B-DF445A00B183}"/>
              </a:ext>
            </a:extLst>
          </p:cNvPr>
          <p:cNvSpPr txBox="1"/>
          <p:nvPr/>
        </p:nvSpPr>
        <p:spPr>
          <a:xfrm>
            <a:off x="373625" y="855406"/>
            <a:ext cx="70104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 run this code by adding following line</a:t>
            </a:r>
          </a:p>
          <a:p>
            <a:r>
              <a:rPr lang="en-IN" dirty="0"/>
              <a:t>“use strict”</a:t>
            </a:r>
          </a:p>
          <a:p>
            <a:r>
              <a:rPr lang="en-IN" dirty="0"/>
              <a:t>When you add this line in that case </a:t>
            </a:r>
          </a:p>
          <a:p>
            <a:r>
              <a:rPr lang="en-IN" sz="1800" dirty="0"/>
              <a:t> alert(this)// undefined</a:t>
            </a:r>
          </a:p>
          <a:p>
            <a:r>
              <a:rPr lang="en-IN" dirty="0"/>
              <a:t>Here “this” will be undefined and it will not add instance member to window class. In fact It will give error and will not allow you to call </a:t>
            </a:r>
            <a:r>
              <a:rPr lang="en-IN" sz="1800" dirty="0"/>
              <a:t>directly person(“mona”,80) without new key word</a:t>
            </a:r>
            <a:endParaRPr lang="en-IN" dirty="0"/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75E1D-0C0C-432C-9A99-CF6AFCB39B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32" b="77061"/>
          <a:stretch/>
        </p:blipFill>
        <p:spPr>
          <a:xfrm>
            <a:off x="373626" y="4080387"/>
            <a:ext cx="7128388" cy="1573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99EE33-53DB-45BF-ADDC-D2E163A16F92}"/>
              </a:ext>
            </a:extLst>
          </p:cNvPr>
          <p:cNvSpPr txBox="1"/>
          <p:nvPr/>
        </p:nvSpPr>
        <p:spPr>
          <a:xfrm>
            <a:off x="6912077" y="737419"/>
            <a:ext cx="50046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dirty="0"/>
              <a:t>“use strict”</a:t>
            </a:r>
          </a:p>
          <a:p>
            <a:pPr marL="0" indent="0">
              <a:buNone/>
            </a:pPr>
            <a:r>
              <a:rPr lang="en-IN" sz="1800" dirty="0"/>
              <a:t>//</a:t>
            </a:r>
            <a:r>
              <a:rPr lang="en-IN" sz="1800" dirty="0" err="1"/>
              <a:t>userdefine</a:t>
            </a:r>
            <a:r>
              <a:rPr lang="en-IN" sz="1800" dirty="0"/>
              <a:t> object</a:t>
            </a:r>
          </a:p>
          <a:p>
            <a:pPr marL="0" indent="0">
              <a:buNone/>
            </a:pPr>
            <a:r>
              <a:rPr lang="en-IN" sz="1800" dirty="0"/>
              <a:t>function person(</a:t>
            </a:r>
            <a:r>
              <a:rPr lang="en-IN" sz="1800" dirty="0" err="1"/>
              <a:t>nm,mks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  alert(this)//it will display  undefined</a:t>
            </a:r>
          </a:p>
          <a:p>
            <a:pPr marL="0" indent="0">
              <a:buNone/>
            </a:pPr>
            <a:r>
              <a:rPr lang="en-IN" sz="1800" dirty="0"/>
              <a:t>    this.name=nm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this.marks</a:t>
            </a:r>
            <a:r>
              <a:rPr lang="en-IN" sz="1800" dirty="0"/>
              <a:t>=</a:t>
            </a:r>
            <a:r>
              <a:rPr lang="en-IN" sz="1800" dirty="0" err="1"/>
              <a:t>mks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 }</a:t>
            </a:r>
          </a:p>
          <a:p>
            <a:pPr marL="0" indent="0">
              <a:buNone/>
            </a:pPr>
            <a:r>
              <a:rPr lang="en-IN" sz="1800" dirty="0"/>
              <a:t>person(“mona”,80);</a:t>
            </a:r>
          </a:p>
          <a:p>
            <a:pPr marL="0" indent="0">
              <a:buNone/>
            </a:pPr>
            <a:r>
              <a:rPr lang="en-IN" sz="1800" dirty="0" err="1"/>
              <a:t>document.write</a:t>
            </a:r>
            <a:r>
              <a:rPr lang="en-IN" sz="1800" dirty="0"/>
              <a:t>(window.name);</a:t>
            </a:r>
          </a:p>
          <a:p>
            <a:pPr marL="0" indent="0">
              <a:buNone/>
            </a:pPr>
            <a:r>
              <a:rPr lang="en-IN" sz="1800" dirty="0"/>
              <a:t>console.log(window);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5875699" y="3163730"/>
            <a:ext cx="1068309" cy="140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530851" y="3069125"/>
            <a:ext cx="2290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Calling as functions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54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F8589-B227-4B25-A01F-62A3CF72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369" y="79991"/>
            <a:ext cx="5604386" cy="369332"/>
          </a:xfrm>
        </p:spPr>
        <p:txBody>
          <a:bodyPr>
            <a:noAutofit/>
          </a:bodyPr>
          <a:lstStyle/>
          <a:p>
            <a:r>
              <a:rPr lang="en-IN" sz="2800" dirty="0"/>
              <a:t>Shallow Copy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741D8-57F3-4E6B-BC1B-2FED3C694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71" y="521111"/>
            <a:ext cx="5152104" cy="551589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/>
              <a:t>	‘use strict’	</a:t>
            </a:r>
          </a:p>
          <a:p>
            <a:pPr marL="0" indent="0">
              <a:buNone/>
            </a:pPr>
            <a:r>
              <a:rPr lang="en-IN" dirty="0"/>
              <a:t>function person(</a:t>
            </a:r>
            <a:r>
              <a:rPr lang="en-IN" dirty="0" err="1"/>
              <a:t>nm,mks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 alert(this)</a:t>
            </a:r>
          </a:p>
          <a:p>
            <a:pPr marL="0" indent="0">
              <a:buNone/>
            </a:pPr>
            <a:r>
              <a:rPr lang="en-IN" dirty="0"/>
              <a:t>    this.name=nm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this.marks</a:t>
            </a:r>
            <a:r>
              <a:rPr lang="en-IN" dirty="0"/>
              <a:t>=</a:t>
            </a:r>
            <a:r>
              <a:rPr lang="en-IN" dirty="0" err="1"/>
              <a:t>mks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}</a:t>
            </a:r>
          </a:p>
          <a:p>
            <a:pPr marL="0" indent="0">
              <a:buNone/>
            </a:pPr>
            <a:r>
              <a:rPr lang="en-IN" dirty="0"/>
              <a:t>var </a:t>
            </a:r>
            <a:r>
              <a:rPr lang="en-IN" dirty="0" err="1"/>
              <a:t>ob</a:t>
            </a:r>
            <a:r>
              <a:rPr lang="en-IN" dirty="0"/>
              <a:t>=new person("mona",80</a:t>
            </a:r>
            <a:r>
              <a:rPr lang="en-IN" sz="2000" dirty="0"/>
              <a:t>);// control will go to function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); //object </a:t>
            </a:r>
            <a:r>
              <a:rPr lang="en-IN" dirty="0" err="1"/>
              <a:t>Object</a:t>
            </a:r>
            <a:endParaRPr lang="en-IN" dirty="0"/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ob.constructor</a:t>
            </a:r>
            <a:r>
              <a:rPr lang="en-IN" dirty="0"/>
              <a:t>); //function Person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("&lt;hr/&gt;")</a:t>
            </a:r>
          </a:p>
          <a:p>
            <a:pPr marL="0" indent="0">
              <a:buNone/>
            </a:pPr>
            <a:r>
              <a:rPr lang="en-IN" dirty="0"/>
              <a:t>Var </a:t>
            </a:r>
            <a:r>
              <a:rPr lang="en-IN" dirty="0" err="1"/>
              <a:t>cpy</a:t>
            </a:r>
            <a:r>
              <a:rPr lang="en-IN" dirty="0"/>
              <a:t>=</a:t>
            </a:r>
            <a:r>
              <a:rPr lang="en-IN" dirty="0" err="1"/>
              <a:t>ob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(ob.name+" "+</a:t>
            </a:r>
            <a:r>
              <a:rPr lang="en-IN" dirty="0" err="1"/>
              <a:t>ob</a:t>
            </a:r>
            <a:r>
              <a:rPr lang="en-IN" dirty="0"/>
              <a:t>["name"])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(cpy.name+" "+</a:t>
            </a:r>
            <a:r>
              <a:rPr lang="en-IN" dirty="0" err="1"/>
              <a:t>cpy</a:t>
            </a:r>
            <a:r>
              <a:rPr lang="en-IN" dirty="0"/>
              <a:t>["name"])</a:t>
            </a:r>
          </a:p>
          <a:p>
            <a:pPr marL="0" indent="0">
              <a:buNone/>
            </a:pPr>
            <a:r>
              <a:rPr lang="en-IN" dirty="0"/>
              <a:t>cpy.name=“</a:t>
            </a:r>
            <a:r>
              <a:rPr lang="en-IN" dirty="0" err="1"/>
              <a:t>geeta</a:t>
            </a:r>
            <a:r>
              <a:rPr lang="en-IN" dirty="0"/>
              <a:t>”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("&lt;hr/&gt;")</a:t>
            </a:r>
          </a:p>
          <a:p>
            <a:pPr marL="0" indent="0">
              <a:buNone/>
            </a:pPr>
            <a:r>
              <a:rPr lang="en-IN" dirty="0"/>
              <a:t>for(let pp </a:t>
            </a:r>
            <a:r>
              <a:rPr lang="en-IN" dirty="0">
                <a:solidFill>
                  <a:schemeClr val="accent1"/>
                </a:solidFill>
              </a:rPr>
              <a:t>in</a:t>
            </a:r>
            <a:r>
              <a:rPr lang="en-IN" dirty="0"/>
              <a:t> </a:t>
            </a:r>
            <a:r>
              <a:rPr lang="en-IN" dirty="0" err="1"/>
              <a:t>ob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(pp+"  "+</a:t>
            </a:r>
            <a:r>
              <a:rPr lang="en-IN" dirty="0" err="1"/>
              <a:t>ob</a:t>
            </a:r>
            <a:r>
              <a:rPr lang="en-IN" dirty="0"/>
              <a:t>[pp]);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 </a:t>
            </a:r>
            <a:r>
              <a:rPr lang="en-IN" dirty="0" err="1"/>
              <a:t>instanceof</a:t>
            </a:r>
            <a:r>
              <a:rPr lang="en-IN" dirty="0"/>
              <a:t> person);//true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</a:t>
            </a:r>
            <a:r>
              <a:rPr lang="en-IN" dirty="0"/>
              <a:t> </a:t>
            </a:r>
            <a:r>
              <a:rPr lang="en-IN" dirty="0" err="1"/>
              <a:t>instanceof</a:t>
            </a:r>
            <a:r>
              <a:rPr lang="en-IN" dirty="0"/>
              <a:t> Object);//true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08B8B-643C-43D3-90A8-97A5CF5BAAB3}"/>
              </a:ext>
            </a:extLst>
          </p:cNvPr>
          <p:cNvSpPr/>
          <p:nvPr/>
        </p:nvSpPr>
        <p:spPr>
          <a:xfrm>
            <a:off x="6577781" y="1686233"/>
            <a:ext cx="707922" cy="5260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998CD-0F2B-4E44-986E-82B3D0158450}"/>
              </a:ext>
            </a:extLst>
          </p:cNvPr>
          <p:cNvSpPr/>
          <p:nvPr/>
        </p:nvSpPr>
        <p:spPr>
          <a:xfrm>
            <a:off x="7752731" y="1385050"/>
            <a:ext cx="1465007" cy="895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</a:t>
            </a:r>
            <a:r>
              <a:rPr lang="en-IN" dirty="0" err="1"/>
              <a:t>mona</a:t>
            </a:r>
            <a:endParaRPr lang="en-IN" dirty="0"/>
          </a:p>
          <a:p>
            <a:pPr algn="ctr"/>
            <a:r>
              <a:rPr lang="en-IN" dirty="0"/>
              <a:t>marks=80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2AD07A-2083-4058-BBE8-CA627D57E15A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285703" y="1949246"/>
            <a:ext cx="4080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B74C0D-1CC6-4E1C-B227-1BDC18AE1C00}"/>
              </a:ext>
            </a:extLst>
          </p:cNvPr>
          <p:cNvSpPr txBox="1"/>
          <p:nvPr/>
        </p:nvSpPr>
        <p:spPr>
          <a:xfrm>
            <a:off x="6668730" y="1307533"/>
            <a:ext cx="5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27740-8808-4EAF-96F2-714E387ED94A}"/>
              </a:ext>
            </a:extLst>
          </p:cNvPr>
          <p:cNvSpPr txBox="1"/>
          <p:nvPr/>
        </p:nvSpPr>
        <p:spPr>
          <a:xfrm>
            <a:off x="8369713" y="1147502"/>
            <a:ext cx="899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person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96FDA-BF5B-46E0-B9E5-CDDF7BB7B975}"/>
              </a:ext>
            </a:extLst>
          </p:cNvPr>
          <p:cNvSpPr/>
          <p:nvPr/>
        </p:nvSpPr>
        <p:spPr>
          <a:xfrm>
            <a:off x="7693737" y="229863"/>
            <a:ext cx="1297858" cy="7374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7F67197-3868-4B4F-9745-AA49FE2E70A4}"/>
              </a:ext>
            </a:extLst>
          </p:cNvPr>
          <p:cNvCxnSpPr/>
          <p:nvPr/>
        </p:nvCxnSpPr>
        <p:spPr>
          <a:xfrm>
            <a:off x="8239433" y="890167"/>
            <a:ext cx="0" cy="514670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85DD8D-9EE0-4FA5-AE3A-3503659BC1BE}"/>
              </a:ext>
            </a:extLst>
          </p:cNvPr>
          <p:cNvSpPr txBox="1"/>
          <p:nvPr/>
        </p:nvSpPr>
        <p:spPr>
          <a:xfrm>
            <a:off x="8239433" y="-9522"/>
            <a:ext cx="116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Object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A96767-B4D0-4AE1-A546-940E9994B05B}"/>
              </a:ext>
            </a:extLst>
          </p:cNvPr>
          <p:cNvSpPr txBox="1"/>
          <p:nvPr/>
        </p:nvSpPr>
        <p:spPr>
          <a:xfrm>
            <a:off x="7014088" y="912201"/>
            <a:ext cx="1160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inheritance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F64555-3D6D-404F-AE54-D717C2C6BD1B}"/>
              </a:ext>
            </a:extLst>
          </p:cNvPr>
          <p:cNvSpPr txBox="1"/>
          <p:nvPr/>
        </p:nvSpPr>
        <p:spPr>
          <a:xfrm>
            <a:off x="5410204" y="2475272"/>
            <a:ext cx="617465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java script function it self is class and it act as constructor also.</a:t>
            </a:r>
          </a:p>
          <a:p>
            <a:r>
              <a:rPr lang="en-IN" dirty="0" err="1"/>
              <a:t>ob</a:t>
            </a:r>
            <a:r>
              <a:rPr lang="en-IN" dirty="0"/>
              <a:t>=new person("mona",80</a:t>
            </a:r>
            <a:r>
              <a:rPr lang="en-IN" sz="1400" dirty="0"/>
              <a:t>);//from this line ---control will go to function definition and it will initialized the instance member--- name and marks.</a:t>
            </a:r>
          </a:p>
          <a:p>
            <a:endParaRPr lang="en-IN" sz="1400" dirty="0"/>
          </a:p>
          <a:p>
            <a:r>
              <a:rPr lang="en-IN" dirty="0"/>
              <a:t>alert(this) //this refer to current object here it will object </a:t>
            </a:r>
            <a:r>
              <a:rPr lang="en-IN" dirty="0" err="1"/>
              <a:t>Object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Do I have to use this to initialise instance member ???</a:t>
            </a:r>
          </a:p>
          <a:p>
            <a:r>
              <a:rPr lang="en-IN" dirty="0">
                <a:solidFill>
                  <a:srgbClr val="FF0000"/>
                </a:solidFill>
              </a:rPr>
              <a:t>Yes</a:t>
            </a:r>
            <a:r>
              <a:rPr lang="en-IN" dirty="0"/>
              <a:t> in our example when we use this.name we says that name is instance variable with reference to class(function) person.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I write only name ? </a:t>
            </a:r>
            <a:r>
              <a:rPr lang="en-IN" dirty="0">
                <a:solidFill>
                  <a:srgbClr val="FF0000"/>
                </a:solidFill>
              </a:rPr>
              <a:t>No </a:t>
            </a:r>
            <a:r>
              <a:rPr lang="en-IN" dirty="0">
                <a:solidFill>
                  <a:schemeClr val="tx2"/>
                </a:solidFill>
              </a:rPr>
              <a:t>if you want to represent as instance member </a:t>
            </a:r>
            <a:r>
              <a:rPr lang="en-IN" dirty="0">
                <a:solidFill>
                  <a:srgbClr val="FF0000"/>
                </a:solidFill>
              </a:rPr>
              <a:t>this </a:t>
            </a:r>
            <a:r>
              <a:rPr lang="en-IN" dirty="0">
                <a:solidFill>
                  <a:schemeClr val="tx2"/>
                </a:solidFill>
              </a:rPr>
              <a:t>is</a:t>
            </a:r>
            <a:r>
              <a:rPr lang="en-IN" dirty="0">
                <a:solidFill>
                  <a:srgbClr val="FF0000"/>
                </a:solidFill>
              </a:rPr>
              <a:t> must.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FF000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49E954-F72F-4234-B907-96DD47C412F1}"/>
              </a:ext>
            </a:extLst>
          </p:cNvPr>
          <p:cNvSpPr/>
          <p:nvPr/>
        </p:nvSpPr>
        <p:spPr>
          <a:xfrm>
            <a:off x="5955895" y="610257"/>
            <a:ext cx="707922" cy="52602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725125-1A01-4F17-88A6-73428CC89E5B}"/>
              </a:ext>
            </a:extLst>
          </p:cNvPr>
          <p:cNvSpPr txBox="1"/>
          <p:nvPr/>
        </p:nvSpPr>
        <p:spPr>
          <a:xfrm>
            <a:off x="6046844" y="231557"/>
            <a:ext cx="5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cpy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6BAC4B-D0CB-48C8-8F4F-F6D408D46EAC}"/>
              </a:ext>
            </a:extLst>
          </p:cNvPr>
          <p:cNvCxnSpPr>
            <a:cxnSpLocks/>
          </p:cNvCxnSpPr>
          <p:nvPr/>
        </p:nvCxnSpPr>
        <p:spPr>
          <a:xfrm>
            <a:off x="6813755" y="912201"/>
            <a:ext cx="909487" cy="76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DE091A-3117-497D-B1FD-31456F7DA333}"/>
              </a:ext>
            </a:extLst>
          </p:cNvPr>
          <p:cNvCxnSpPr/>
          <p:nvPr/>
        </p:nvCxnSpPr>
        <p:spPr>
          <a:xfrm flipV="1">
            <a:off x="8589818" y="1455279"/>
            <a:ext cx="627920" cy="3735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124E0C0-45B1-419E-A604-50E16769585F}"/>
              </a:ext>
            </a:extLst>
          </p:cNvPr>
          <p:cNvSpPr txBox="1"/>
          <p:nvPr/>
        </p:nvSpPr>
        <p:spPr>
          <a:xfrm>
            <a:off x="9513455" y="1588655"/>
            <a:ext cx="1200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Geeta</a:t>
            </a:r>
          </a:p>
        </p:txBody>
      </p:sp>
    </p:spTree>
    <p:extLst>
      <p:ext uri="{BB962C8B-B14F-4D97-AF65-F5344CB8AC3E}">
        <p14:creationId xmlns:p14="http://schemas.microsoft.com/office/powerpoint/2010/main" val="1113973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9993" y="1"/>
            <a:ext cx="5911911" cy="71522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1400" dirty="0" err="1">
                <a:solidFill>
                  <a:srgbClr val="0A0A23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Object.assign</a:t>
            </a:r>
            <a:r>
              <a:rPr lang="en-IN" sz="1400" dirty="0">
                <a:solidFill>
                  <a:srgbClr val="0A0A23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1400" dirty="0">
                <a:solidFill>
                  <a:srgbClr val="0A0A23"/>
                </a:solidFill>
                <a:highlight>
                  <a:srgbClr val="FFFF00"/>
                </a:highlight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dirty="0">
                <a:solidFill>
                  <a:srgbClr val="0A0A23"/>
                </a:solidFill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clone of an object. It is Shallow copy</a:t>
            </a:r>
            <a:endParaRPr lang="en-IN" sz="14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1842" y="1157726"/>
            <a:ext cx="1169198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The 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Object.assign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()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static method copies all </a:t>
            </a:r>
            <a:r>
              <a:rPr kumimoji="0" 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hlinkClick r:id="rId2"/>
              </a:rPr>
              <a:t>enumerable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</a:t>
            </a:r>
            <a:r>
              <a:rPr kumimoji="0" 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hlinkClick r:id="rId3"/>
              </a:rPr>
              <a:t>own properties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from one or more </a:t>
            </a:r>
            <a:r>
              <a:rPr kumimoji="0" lang="en-US" sz="1200" b="0" i="1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source objects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to a </a:t>
            </a:r>
            <a:r>
              <a:rPr kumimoji="0" lang="en-US" sz="1200" b="0" i="1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target object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. It returns the modified target object.</a:t>
            </a:r>
            <a:r>
              <a: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2551" y="1541768"/>
            <a:ext cx="11905307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target = { a: 1, b: 2 };</a:t>
            </a:r>
          </a:p>
          <a:p>
            <a:r>
              <a:rPr lang="en-IN" dirty="0" err="1"/>
              <a:t>const</a:t>
            </a:r>
            <a:r>
              <a:rPr lang="en-IN" dirty="0"/>
              <a:t> source = { b: 4, c: 5 };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returnedTarget</a:t>
            </a:r>
            <a:r>
              <a:rPr lang="en-IN" dirty="0"/>
              <a:t> = </a:t>
            </a:r>
            <a:r>
              <a:rPr lang="en-IN" dirty="0" err="1"/>
              <a:t>Object.assign</a:t>
            </a:r>
            <a:r>
              <a:rPr lang="en-IN" dirty="0"/>
              <a:t>(target, source);</a:t>
            </a:r>
          </a:p>
          <a:p>
            <a:r>
              <a:rPr lang="en-IN" dirty="0"/>
              <a:t>console.log(target);// Expected output: Object { a: 1, b: 4, c: 5 }</a:t>
            </a:r>
          </a:p>
          <a:p>
            <a:endParaRPr lang="en-IN" dirty="0"/>
          </a:p>
          <a:p>
            <a:r>
              <a:rPr lang="en-IN" dirty="0"/>
              <a:t> console.log(</a:t>
            </a:r>
            <a:r>
              <a:rPr lang="en-IN" dirty="0" err="1"/>
              <a:t>returnedTarget</a:t>
            </a:r>
            <a:r>
              <a:rPr lang="en-IN" dirty="0"/>
              <a:t> === target);// Expected output: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8546" y="4233611"/>
            <a:ext cx="125843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target</a:t>
            </a:r>
            <a:endParaRPr lang="en-IN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033727" y="4318503"/>
            <a:ext cx="869132" cy="208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0" name="TextBox 9"/>
          <p:cNvSpPr txBox="1"/>
          <p:nvPr/>
        </p:nvSpPr>
        <p:spPr>
          <a:xfrm>
            <a:off x="5902860" y="3802455"/>
            <a:ext cx="153909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a: 1,</a:t>
            </a:r>
          </a:p>
          <a:p>
            <a:r>
              <a:rPr lang="en-IN" dirty="0"/>
              <a:t> b: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4759" y="5146503"/>
            <a:ext cx="125843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source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06977" y="5146503"/>
            <a:ext cx="869132" cy="208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4" name="TextBox 13"/>
          <p:cNvSpPr txBox="1"/>
          <p:nvPr/>
        </p:nvSpPr>
        <p:spPr>
          <a:xfrm>
            <a:off x="5776109" y="4716887"/>
            <a:ext cx="143044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b: 4,</a:t>
            </a:r>
          </a:p>
          <a:p>
            <a:r>
              <a:rPr lang="en-IN" dirty="0"/>
              <a:t>c:5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5595" y="3606848"/>
            <a:ext cx="159402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dirty="0" err="1"/>
              <a:t>returnedTarget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878409" y="3794190"/>
            <a:ext cx="153909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a: 1,</a:t>
            </a:r>
          </a:p>
          <a:p>
            <a:r>
              <a:rPr lang="en-IN" dirty="0"/>
              <a:t>b: 4 c:5</a:t>
            </a:r>
          </a:p>
        </p:txBody>
      </p:sp>
      <p:cxnSp>
        <p:nvCxnSpPr>
          <p:cNvPr id="19" name="Straight Arrow Connector 18"/>
          <p:cNvCxnSpPr>
            <a:stCxn id="15" idx="3"/>
          </p:cNvCxnSpPr>
          <p:nvPr/>
        </p:nvCxnSpPr>
        <p:spPr>
          <a:xfrm>
            <a:off x="4559621" y="3791514"/>
            <a:ext cx="109245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4182701" y="2114156"/>
            <a:ext cx="814812" cy="366494"/>
          </a:xfrm>
          <a:custGeom>
            <a:avLst/>
            <a:gdLst>
              <a:gd name="connsiteX0" fmla="*/ 814812 w 814812"/>
              <a:gd name="connsiteY0" fmla="*/ 366494 h 366494"/>
              <a:gd name="connsiteX1" fmla="*/ 796705 w 814812"/>
              <a:gd name="connsiteY1" fmla="*/ 257852 h 366494"/>
              <a:gd name="connsiteX2" fmla="*/ 778598 w 814812"/>
              <a:gd name="connsiteY2" fmla="*/ 230692 h 366494"/>
              <a:gd name="connsiteX3" fmla="*/ 769545 w 814812"/>
              <a:gd name="connsiteY3" fmla="*/ 203531 h 366494"/>
              <a:gd name="connsiteX4" fmla="*/ 724277 w 814812"/>
              <a:gd name="connsiteY4" fmla="*/ 149210 h 366494"/>
              <a:gd name="connsiteX5" fmla="*/ 688063 w 814812"/>
              <a:gd name="connsiteY5" fmla="*/ 122050 h 366494"/>
              <a:gd name="connsiteX6" fmla="*/ 660903 w 814812"/>
              <a:gd name="connsiteY6" fmla="*/ 94890 h 366494"/>
              <a:gd name="connsiteX7" fmla="*/ 633743 w 814812"/>
              <a:gd name="connsiteY7" fmla="*/ 85836 h 366494"/>
              <a:gd name="connsiteX8" fmla="*/ 606582 w 814812"/>
              <a:gd name="connsiteY8" fmla="*/ 67729 h 366494"/>
              <a:gd name="connsiteX9" fmla="*/ 552261 w 814812"/>
              <a:gd name="connsiteY9" fmla="*/ 49622 h 366494"/>
              <a:gd name="connsiteX10" fmla="*/ 525101 w 814812"/>
              <a:gd name="connsiteY10" fmla="*/ 31515 h 366494"/>
              <a:gd name="connsiteX11" fmla="*/ 470780 w 814812"/>
              <a:gd name="connsiteY11" fmla="*/ 22462 h 366494"/>
              <a:gd name="connsiteX12" fmla="*/ 443620 w 814812"/>
              <a:gd name="connsiteY12" fmla="*/ 13408 h 366494"/>
              <a:gd name="connsiteX13" fmla="*/ 199176 w 814812"/>
              <a:gd name="connsiteY13" fmla="*/ 13408 h 366494"/>
              <a:gd name="connsiteX14" fmla="*/ 135802 w 814812"/>
              <a:gd name="connsiteY14" fmla="*/ 67729 h 366494"/>
              <a:gd name="connsiteX15" fmla="*/ 99588 w 814812"/>
              <a:gd name="connsiteY15" fmla="*/ 122050 h 366494"/>
              <a:gd name="connsiteX16" fmla="*/ 81481 w 814812"/>
              <a:gd name="connsiteY16" fmla="*/ 149210 h 366494"/>
              <a:gd name="connsiteX17" fmla="*/ 63374 w 814812"/>
              <a:gd name="connsiteY17" fmla="*/ 176371 h 366494"/>
              <a:gd name="connsiteX18" fmla="*/ 36214 w 814812"/>
              <a:gd name="connsiteY18" fmla="*/ 230692 h 366494"/>
              <a:gd name="connsiteX19" fmla="*/ 27160 w 814812"/>
              <a:gd name="connsiteY19" fmla="*/ 257852 h 366494"/>
              <a:gd name="connsiteX20" fmla="*/ 9053 w 814812"/>
              <a:gd name="connsiteY20" fmla="*/ 285012 h 366494"/>
              <a:gd name="connsiteX21" fmla="*/ 0 w 814812"/>
              <a:gd name="connsiteY21" fmla="*/ 303119 h 36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14812" h="366494">
                <a:moveTo>
                  <a:pt x="814812" y="366494"/>
                </a:moveTo>
                <a:cubicBezTo>
                  <a:pt x="811944" y="340684"/>
                  <a:pt x="811871" y="288185"/>
                  <a:pt x="796705" y="257852"/>
                </a:cubicBezTo>
                <a:cubicBezTo>
                  <a:pt x="791839" y="248120"/>
                  <a:pt x="784634" y="239745"/>
                  <a:pt x="778598" y="230692"/>
                </a:cubicBezTo>
                <a:cubicBezTo>
                  <a:pt x="775580" y="221638"/>
                  <a:pt x="773813" y="212067"/>
                  <a:pt x="769545" y="203531"/>
                </a:cubicBezTo>
                <a:cubicBezTo>
                  <a:pt x="759068" y="182577"/>
                  <a:pt x="741796" y="164226"/>
                  <a:pt x="724277" y="149210"/>
                </a:cubicBezTo>
                <a:cubicBezTo>
                  <a:pt x="712820" y="139390"/>
                  <a:pt x="699520" y="131870"/>
                  <a:pt x="688063" y="122050"/>
                </a:cubicBezTo>
                <a:cubicBezTo>
                  <a:pt x="678342" y="113718"/>
                  <a:pt x="671556" y="101992"/>
                  <a:pt x="660903" y="94890"/>
                </a:cubicBezTo>
                <a:cubicBezTo>
                  <a:pt x="652963" y="89596"/>
                  <a:pt x="642279" y="90104"/>
                  <a:pt x="633743" y="85836"/>
                </a:cubicBezTo>
                <a:cubicBezTo>
                  <a:pt x="624011" y="80970"/>
                  <a:pt x="616525" y="72148"/>
                  <a:pt x="606582" y="67729"/>
                </a:cubicBezTo>
                <a:cubicBezTo>
                  <a:pt x="589141" y="59977"/>
                  <a:pt x="568142" y="60209"/>
                  <a:pt x="552261" y="49622"/>
                </a:cubicBezTo>
                <a:cubicBezTo>
                  <a:pt x="543208" y="43586"/>
                  <a:pt x="535423" y="34956"/>
                  <a:pt x="525101" y="31515"/>
                </a:cubicBezTo>
                <a:cubicBezTo>
                  <a:pt x="507686" y="25710"/>
                  <a:pt x="488887" y="25480"/>
                  <a:pt x="470780" y="22462"/>
                </a:cubicBezTo>
                <a:cubicBezTo>
                  <a:pt x="461727" y="19444"/>
                  <a:pt x="452796" y="16030"/>
                  <a:pt x="443620" y="13408"/>
                </a:cubicBezTo>
                <a:cubicBezTo>
                  <a:pt x="351251" y="-12983"/>
                  <a:pt x="357042" y="6545"/>
                  <a:pt x="199176" y="13408"/>
                </a:cubicBezTo>
                <a:cubicBezTo>
                  <a:pt x="176498" y="30417"/>
                  <a:pt x="153455" y="45032"/>
                  <a:pt x="135802" y="67729"/>
                </a:cubicBezTo>
                <a:cubicBezTo>
                  <a:pt x="122441" y="84907"/>
                  <a:pt x="111659" y="103943"/>
                  <a:pt x="99588" y="122050"/>
                </a:cubicBezTo>
                <a:lnTo>
                  <a:pt x="81481" y="149210"/>
                </a:lnTo>
                <a:lnTo>
                  <a:pt x="63374" y="176371"/>
                </a:lnTo>
                <a:cubicBezTo>
                  <a:pt x="40622" y="244631"/>
                  <a:pt x="71311" y="160498"/>
                  <a:pt x="36214" y="230692"/>
                </a:cubicBezTo>
                <a:cubicBezTo>
                  <a:pt x="31946" y="239228"/>
                  <a:pt x="31428" y="249316"/>
                  <a:pt x="27160" y="257852"/>
                </a:cubicBezTo>
                <a:cubicBezTo>
                  <a:pt x="22294" y="267584"/>
                  <a:pt x="14651" y="275682"/>
                  <a:pt x="9053" y="285012"/>
                </a:cubicBezTo>
                <a:cubicBezTo>
                  <a:pt x="5581" y="290798"/>
                  <a:pt x="3018" y="297083"/>
                  <a:pt x="0" y="30311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Isosceles Triangle 20"/>
          <p:cNvSpPr/>
          <p:nvPr/>
        </p:nvSpPr>
        <p:spPr>
          <a:xfrm rot="13207357">
            <a:off x="4110273" y="2190939"/>
            <a:ext cx="298765" cy="2987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081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63332-8342-BEEC-4DD3-E374D9B83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A477-22CB-77D2-8E04-CECBCB6F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9993" y="1"/>
            <a:ext cx="5911911" cy="715224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IN" sz="1400" dirty="0" err="1">
                <a:solidFill>
                  <a:srgbClr val="0A0A23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Object.assign</a:t>
            </a:r>
            <a:r>
              <a:rPr lang="en-IN" sz="1400" dirty="0">
                <a:solidFill>
                  <a:srgbClr val="0A0A23"/>
                </a:solidFill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1400" dirty="0">
                <a:solidFill>
                  <a:srgbClr val="0A0A23"/>
                </a:solidFill>
                <a:highlight>
                  <a:srgbClr val="FFFF00"/>
                </a:highlight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dirty="0">
                <a:solidFill>
                  <a:srgbClr val="0A0A23"/>
                </a:solidFill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clone of an object. It is Shallow copy</a:t>
            </a:r>
            <a:endParaRPr lang="en-IN" sz="1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A0C531-09FE-3C97-3E9E-3909A85204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842" y="1157726"/>
            <a:ext cx="1169198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The </a:t>
            </a:r>
            <a:r>
              <a:rPr kumimoji="0" lang="en-US" sz="1000" b="1" i="0" u="none" strike="noStrike" cap="none" normalizeH="0" baseline="0" dirty="0" err="1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Object.assign</a:t>
            </a:r>
            <a:r>
              <a:rPr kumimoji="0" lang="en-US" sz="1000" b="1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()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static method copies all </a:t>
            </a:r>
            <a:r>
              <a:rPr kumimoji="0" 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hlinkClick r:id="rId2"/>
              </a:rPr>
              <a:t>enumerable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</a:t>
            </a:r>
            <a:r>
              <a:rPr kumimoji="0" lang="en-US" sz="1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  <a:hlinkClick r:id="rId3"/>
              </a:rPr>
              <a:t>own properties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from one or more </a:t>
            </a:r>
            <a:r>
              <a:rPr kumimoji="0" lang="en-US" sz="1200" b="0" i="1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source objects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to a </a:t>
            </a:r>
            <a:r>
              <a:rPr kumimoji="0" lang="en-US" sz="1200" b="0" i="1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target object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. It returns the modified target object.</a:t>
            </a:r>
            <a:r>
              <a:rPr kumimoji="0" 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45F46-388C-7D5D-5DCD-E5D629D8A515}"/>
              </a:ext>
            </a:extLst>
          </p:cNvPr>
          <p:cNvSpPr/>
          <p:nvPr/>
        </p:nvSpPr>
        <p:spPr>
          <a:xfrm>
            <a:off x="262551" y="1541768"/>
            <a:ext cx="11905307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const</a:t>
            </a:r>
            <a:r>
              <a:rPr lang="en-IN" dirty="0"/>
              <a:t> target = {};</a:t>
            </a:r>
          </a:p>
          <a:p>
            <a:r>
              <a:rPr lang="en-IN" dirty="0" err="1"/>
              <a:t>const</a:t>
            </a:r>
            <a:r>
              <a:rPr lang="en-IN" dirty="0"/>
              <a:t> source = { b: 4, c: 5 };</a:t>
            </a:r>
          </a:p>
          <a:p>
            <a:endParaRPr lang="en-IN" dirty="0"/>
          </a:p>
          <a:p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returnedTarget</a:t>
            </a:r>
            <a:r>
              <a:rPr lang="en-IN" dirty="0"/>
              <a:t> = </a:t>
            </a:r>
            <a:r>
              <a:rPr lang="en-IN" dirty="0" err="1"/>
              <a:t>Object.assign</a:t>
            </a:r>
            <a:r>
              <a:rPr lang="en-IN" dirty="0"/>
              <a:t>(target, source);</a:t>
            </a:r>
          </a:p>
          <a:p>
            <a:r>
              <a:rPr lang="en-IN" dirty="0"/>
              <a:t>console.log(target);// Expected output: Object {  b: 4, c: 5 }</a:t>
            </a:r>
          </a:p>
          <a:p>
            <a:endParaRPr lang="en-IN" dirty="0"/>
          </a:p>
          <a:p>
            <a:r>
              <a:rPr lang="en-IN" dirty="0"/>
              <a:t> console.log(</a:t>
            </a:r>
            <a:r>
              <a:rPr lang="en-IN" dirty="0" err="1"/>
              <a:t>returnedTarget</a:t>
            </a:r>
            <a:r>
              <a:rPr lang="en-IN" dirty="0"/>
              <a:t> === target);// Expected output: 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4DA08-7276-4A60-43D8-35235475ED9E}"/>
              </a:ext>
            </a:extLst>
          </p:cNvPr>
          <p:cNvSpPr txBox="1"/>
          <p:nvPr/>
        </p:nvSpPr>
        <p:spPr>
          <a:xfrm>
            <a:off x="3648546" y="4233611"/>
            <a:ext cx="125843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target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306CF0-9215-CCA4-DB0D-DAC567CA9A7D}"/>
              </a:ext>
            </a:extLst>
          </p:cNvPr>
          <p:cNvCxnSpPr/>
          <p:nvPr/>
        </p:nvCxnSpPr>
        <p:spPr>
          <a:xfrm flipV="1">
            <a:off x="5033727" y="4318503"/>
            <a:ext cx="869132" cy="208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3A2E99C-5D73-D3E4-22A2-EE81361D1A37}"/>
              </a:ext>
            </a:extLst>
          </p:cNvPr>
          <p:cNvSpPr txBox="1"/>
          <p:nvPr/>
        </p:nvSpPr>
        <p:spPr>
          <a:xfrm>
            <a:off x="5902860" y="3802455"/>
            <a:ext cx="1539090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/>
              <a:t>b: 4,</a:t>
            </a:r>
          </a:p>
          <a:p>
            <a:r>
              <a:rPr lang="en-IN"/>
              <a:t>c:5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59728-54D1-7D59-D07B-48718E6E8DBA}"/>
              </a:ext>
            </a:extLst>
          </p:cNvPr>
          <p:cNvSpPr txBox="1"/>
          <p:nvPr/>
        </p:nvSpPr>
        <p:spPr>
          <a:xfrm>
            <a:off x="3684759" y="5146503"/>
            <a:ext cx="1258431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source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429A1C9-8A38-7C1D-61DB-3B3A5E9A96F3}"/>
              </a:ext>
            </a:extLst>
          </p:cNvPr>
          <p:cNvCxnSpPr/>
          <p:nvPr/>
        </p:nvCxnSpPr>
        <p:spPr>
          <a:xfrm flipV="1">
            <a:off x="4906977" y="5146503"/>
            <a:ext cx="869132" cy="208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D8EB675-EE5A-3D3D-19C8-3C2754A167EE}"/>
              </a:ext>
            </a:extLst>
          </p:cNvPr>
          <p:cNvSpPr txBox="1"/>
          <p:nvPr/>
        </p:nvSpPr>
        <p:spPr>
          <a:xfrm>
            <a:off x="5776109" y="4716887"/>
            <a:ext cx="1430448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 b: 4,</a:t>
            </a:r>
          </a:p>
          <a:p>
            <a:r>
              <a:rPr lang="en-IN" dirty="0"/>
              <a:t>c:5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02C240-699D-5479-19D9-9E3628FCDA43}"/>
              </a:ext>
            </a:extLst>
          </p:cNvPr>
          <p:cNvSpPr/>
          <p:nvPr/>
        </p:nvSpPr>
        <p:spPr>
          <a:xfrm>
            <a:off x="2965595" y="3606848"/>
            <a:ext cx="1594026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dirty="0" err="1"/>
              <a:t>returnedTarget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6C69F5-7CDE-42AC-6C71-4429B4B6B6E2}"/>
              </a:ext>
            </a:extLst>
          </p:cNvPr>
          <p:cNvSpPr txBox="1"/>
          <p:nvPr/>
        </p:nvSpPr>
        <p:spPr>
          <a:xfrm>
            <a:off x="8277091" y="4716887"/>
            <a:ext cx="1539090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D73ADCC-E31C-1BEB-BD0D-7D5C83BD55DD}"/>
              </a:ext>
            </a:extLst>
          </p:cNvPr>
          <p:cNvCxnSpPr>
            <a:stCxn id="15" idx="3"/>
          </p:cNvCxnSpPr>
          <p:nvPr/>
        </p:nvCxnSpPr>
        <p:spPr>
          <a:xfrm>
            <a:off x="4559621" y="3791514"/>
            <a:ext cx="109245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19">
            <a:extLst>
              <a:ext uri="{FF2B5EF4-FFF2-40B4-BE49-F238E27FC236}">
                <a16:creationId xmlns:a16="http://schemas.microsoft.com/office/drawing/2014/main" id="{27B59573-F63A-9424-FABC-5A124B2599C3}"/>
              </a:ext>
            </a:extLst>
          </p:cNvPr>
          <p:cNvSpPr/>
          <p:nvPr/>
        </p:nvSpPr>
        <p:spPr>
          <a:xfrm>
            <a:off x="4182701" y="2114156"/>
            <a:ext cx="814812" cy="366494"/>
          </a:xfrm>
          <a:custGeom>
            <a:avLst/>
            <a:gdLst>
              <a:gd name="connsiteX0" fmla="*/ 814812 w 814812"/>
              <a:gd name="connsiteY0" fmla="*/ 366494 h 366494"/>
              <a:gd name="connsiteX1" fmla="*/ 796705 w 814812"/>
              <a:gd name="connsiteY1" fmla="*/ 257852 h 366494"/>
              <a:gd name="connsiteX2" fmla="*/ 778598 w 814812"/>
              <a:gd name="connsiteY2" fmla="*/ 230692 h 366494"/>
              <a:gd name="connsiteX3" fmla="*/ 769545 w 814812"/>
              <a:gd name="connsiteY3" fmla="*/ 203531 h 366494"/>
              <a:gd name="connsiteX4" fmla="*/ 724277 w 814812"/>
              <a:gd name="connsiteY4" fmla="*/ 149210 h 366494"/>
              <a:gd name="connsiteX5" fmla="*/ 688063 w 814812"/>
              <a:gd name="connsiteY5" fmla="*/ 122050 h 366494"/>
              <a:gd name="connsiteX6" fmla="*/ 660903 w 814812"/>
              <a:gd name="connsiteY6" fmla="*/ 94890 h 366494"/>
              <a:gd name="connsiteX7" fmla="*/ 633743 w 814812"/>
              <a:gd name="connsiteY7" fmla="*/ 85836 h 366494"/>
              <a:gd name="connsiteX8" fmla="*/ 606582 w 814812"/>
              <a:gd name="connsiteY8" fmla="*/ 67729 h 366494"/>
              <a:gd name="connsiteX9" fmla="*/ 552261 w 814812"/>
              <a:gd name="connsiteY9" fmla="*/ 49622 h 366494"/>
              <a:gd name="connsiteX10" fmla="*/ 525101 w 814812"/>
              <a:gd name="connsiteY10" fmla="*/ 31515 h 366494"/>
              <a:gd name="connsiteX11" fmla="*/ 470780 w 814812"/>
              <a:gd name="connsiteY11" fmla="*/ 22462 h 366494"/>
              <a:gd name="connsiteX12" fmla="*/ 443620 w 814812"/>
              <a:gd name="connsiteY12" fmla="*/ 13408 h 366494"/>
              <a:gd name="connsiteX13" fmla="*/ 199176 w 814812"/>
              <a:gd name="connsiteY13" fmla="*/ 13408 h 366494"/>
              <a:gd name="connsiteX14" fmla="*/ 135802 w 814812"/>
              <a:gd name="connsiteY14" fmla="*/ 67729 h 366494"/>
              <a:gd name="connsiteX15" fmla="*/ 99588 w 814812"/>
              <a:gd name="connsiteY15" fmla="*/ 122050 h 366494"/>
              <a:gd name="connsiteX16" fmla="*/ 81481 w 814812"/>
              <a:gd name="connsiteY16" fmla="*/ 149210 h 366494"/>
              <a:gd name="connsiteX17" fmla="*/ 63374 w 814812"/>
              <a:gd name="connsiteY17" fmla="*/ 176371 h 366494"/>
              <a:gd name="connsiteX18" fmla="*/ 36214 w 814812"/>
              <a:gd name="connsiteY18" fmla="*/ 230692 h 366494"/>
              <a:gd name="connsiteX19" fmla="*/ 27160 w 814812"/>
              <a:gd name="connsiteY19" fmla="*/ 257852 h 366494"/>
              <a:gd name="connsiteX20" fmla="*/ 9053 w 814812"/>
              <a:gd name="connsiteY20" fmla="*/ 285012 h 366494"/>
              <a:gd name="connsiteX21" fmla="*/ 0 w 814812"/>
              <a:gd name="connsiteY21" fmla="*/ 303119 h 36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14812" h="366494">
                <a:moveTo>
                  <a:pt x="814812" y="366494"/>
                </a:moveTo>
                <a:cubicBezTo>
                  <a:pt x="811944" y="340684"/>
                  <a:pt x="811871" y="288185"/>
                  <a:pt x="796705" y="257852"/>
                </a:cubicBezTo>
                <a:cubicBezTo>
                  <a:pt x="791839" y="248120"/>
                  <a:pt x="784634" y="239745"/>
                  <a:pt x="778598" y="230692"/>
                </a:cubicBezTo>
                <a:cubicBezTo>
                  <a:pt x="775580" y="221638"/>
                  <a:pt x="773813" y="212067"/>
                  <a:pt x="769545" y="203531"/>
                </a:cubicBezTo>
                <a:cubicBezTo>
                  <a:pt x="759068" y="182577"/>
                  <a:pt x="741796" y="164226"/>
                  <a:pt x="724277" y="149210"/>
                </a:cubicBezTo>
                <a:cubicBezTo>
                  <a:pt x="712820" y="139390"/>
                  <a:pt x="699520" y="131870"/>
                  <a:pt x="688063" y="122050"/>
                </a:cubicBezTo>
                <a:cubicBezTo>
                  <a:pt x="678342" y="113718"/>
                  <a:pt x="671556" y="101992"/>
                  <a:pt x="660903" y="94890"/>
                </a:cubicBezTo>
                <a:cubicBezTo>
                  <a:pt x="652963" y="89596"/>
                  <a:pt x="642279" y="90104"/>
                  <a:pt x="633743" y="85836"/>
                </a:cubicBezTo>
                <a:cubicBezTo>
                  <a:pt x="624011" y="80970"/>
                  <a:pt x="616525" y="72148"/>
                  <a:pt x="606582" y="67729"/>
                </a:cubicBezTo>
                <a:cubicBezTo>
                  <a:pt x="589141" y="59977"/>
                  <a:pt x="568142" y="60209"/>
                  <a:pt x="552261" y="49622"/>
                </a:cubicBezTo>
                <a:cubicBezTo>
                  <a:pt x="543208" y="43586"/>
                  <a:pt x="535423" y="34956"/>
                  <a:pt x="525101" y="31515"/>
                </a:cubicBezTo>
                <a:cubicBezTo>
                  <a:pt x="507686" y="25710"/>
                  <a:pt x="488887" y="25480"/>
                  <a:pt x="470780" y="22462"/>
                </a:cubicBezTo>
                <a:cubicBezTo>
                  <a:pt x="461727" y="19444"/>
                  <a:pt x="452796" y="16030"/>
                  <a:pt x="443620" y="13408"/>
                </a:cubicBezTo>
                <a:cubicBezTo>
                  <a:pt x="351251" y="-12983"/>
                  <a:pt x="357042" y="6545"/>
                  <a:pt x="199176" y="13408"/>
                </a:cubicBezTo>
                <a:cubicBezTo>
                  <a:pt x="176498" y="30417"/>
                  <a:pt x="153455" y="45032"/>
                  <a:pt x="135802" y="67729"/>
                </a:cubicBezTo>
                <a:cubicBezTo>
                  <a:pt x="122441" y="84907"/>
                  <a:pt x="111659" y="103943"/>
                  <a:pt x="99588" y="122050"/>
                </a:cubicBezTo>
                <a:lnTo>
                  <a:pt x="81481" y="149210"/>
                </a:lnTo>
                <a:lnTo>
                  <a:pt x="63374" y="176371"/>
                </a:lnTo>
                <a:cubicBezTo>
                  <a:pt x="40622" y="244631"/>
                  <a:pt x="71311" y="160498"/>
                  <a:pt x="36214" y="230692"/>
                </a:cubicBezTo>
                <a:cubicBezTo>
                  <a:pt x="31946" y="239228"/>
                  <a:pt x="31428" y="249316"/>
                  <a:pt x="27160" y="257852"/>
                </a:cubicBezTo>
                <a:cubicBezTo>
                  <a:pt x="22294" y="267584"/>
                  <a:pt x="14651" y="275682"/>
                  <a:pt x="9053" y="285012"/>
                </a:cubicBezTo>
                <a:cubicBezTo>
                  <a:pt x="5581" y="290798"/>
                  <a:pt x="3018" y="297083"/>
                  <a:pt x="0" y="303119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00C66E7-B39C-0C67-82BE-BE14EB049B80}"/>
              </a:ext>
            </a:extLst>
          </p:cNvPr>
          <p:cNvSpPr/>
          <p:nvPr/>
        </p:nvSpPr>
        <p:spPr>
          <a:xfrm rot="13207357">
            <a:off x="4110273" y="2190939"/>
            <a:ext cx="298765" cy="29876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616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5693151" y="262552"/>
            <a:ext cx="5614628" cy="2321139"/>
            <a:chOff x="559837" y="1212979"/>
            <a:chExt cx="9199983" cy="302194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26ED135-567B-1DF4-0F58-7DD538FC0A45}"/>
                </a:ext>
              </a:extLst>
            </p:cNvPr>
            <p:cNvSpPr txBox="1"/>
            <p:nvPr/>
          </p:nvSpPr>
          <p:spPr>
            <a:xfrm>
              <a:off x="559837" y="1502229"/>
              <a:ext cx="858518" cy="37072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user</a:t>
              </a:r>
              <a:endParaRPr lang="en-IN" sz="1200" dirty="0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30A0CDF-0968-AB35-CBF6-0B3DC02A9BEA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1418355" y="1502229"/>
              <a:ext cx="2127279" cy="1853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7A65D9-3F35-FC7E-CDE5-B8D716BD6354}"/>
                </a:ext>
              </a:extLst>
            </p:cNvPr>
            <p:cNvSpPr txBox="1"/>
            <p:nvPr/>
          </p:nvSpPr>
          <p:spPr>
            <a:xfrm>
              <a:off x="653144" y="2720633"/>
              <a:ext cx="858518" cy="61787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clone</a:t>
              </a:r>
              <a:endParaRPr lang="en-IN" sz="12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53374A-16BB-EDCF-D81F-C53FCB5B3F01}"/>
                </a:ext>
              </a:extLst>
            </p:cNvPr>
            <p:cNvSpPr txBox="1"/>
            <p:nvPr/>
          </p:nvSpPr>
          <p:spPr>
            <a:xfrm>
              <a:off x="3545632" y="1240971"/>
              <a:ext cx="3769569" cy="11876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'name'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'Alex'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,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'address’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endPara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'age'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990055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43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}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 </a:t>
              </a:r>
              <a:endPara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CB799C-B255-7C89-6AAF-4E370B69757F}"/>
                </a:ext>
              </a:extLst>
            </p:cNvPr>
            <p:cNvSpPr txBox="1"/>
            <p:nvPr/>
          </p:nvSpPr>
          <p:spPr>
            <a:xfrm>
              <a:off x="3673152" y="2909928"/>
              <a:ext cx="4117909" cy="13249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'name'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'Alex'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,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</a:t>
              </a: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'address'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endPara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'age'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990055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43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}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 </a:t>
              </a:r>
              <a:endPara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3425DBB-887D-7BC7-FF29-DDB479881C43}"/>
                </a:ext>
              </a:extLst>
            </p:cNvPr>
            <p:cNvCxnSpPr/>
            <p:nvPr/>
          </p:nvCxnSpPr>
          <p:spPr>
            <a:xfrm flipV="1">
              <a:off x="1646903" y="2874426"/>
              <a:ext cx="1670180" cy="71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E67C2B9-636C-95A9-424C-2DD5F15B1297}"/>
                </a:ext>
              </a:extLst>
            </p:cNvPr>
            <p:cNvCxnSpPr/>
            <p:nvPr/>
          </p:nvCxnSpPr>
          <p:spPr>
            <a:xfrm flipV="1">
              <a:off x="4894014" y="1502231"/>
              <a:ext cx="3419561" cy="1853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95095F-2F1B-BB7B-1BA1-425604098C1A}"/>
                </a:ext>
              </a:extLst>
            </p:cNvPr>
            <p:cNvSpPr txBox="1"/>
            <p:nvPr/>
          </p:nvSpPr>
          <p:spPr>
            <a:xfrm>
              <a:off x="8425543" y="1212979"/>
              <a:ext cx="1334277" cy="865021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 </a:t>
              </a:r>
              <a:r>
                <a:rPr lang="en-IN" sz="1200" dirty="0" err="1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dd:’Juhu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’}</a:t>
              </a:r>
              <a:endParaRPr lang="en-IN" sz="12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3C8D851-D7C6-C193-5642-6E4F713B09A6}"/>
                </a:ext>
              </a:extLst>
            </p:cNvPr>
            <p:cNvCxnSpPr/>
            <p:nvPr/>
          </p:nvCxnSpPr>
          <p:spPr>
            <a:xfrm flipV="1">
              <a:off x="5038531" y="1656118"/>
              <a:ext cx="3601616" cy="1772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189232" y="782034"/>
            <a:ext cx="4541412" cy="1656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 err="1">
                <a:solidFill>
                  <a:srgbClr val="0077A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user </a:t>
            </a:r>
            <a:r>
              <a:rPr lang="en-IN" dirty="0">
                <a:solidFill>
                  <a:srgbClr val="9A6E3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dirty="0">
                <a:solidFill>
                  <a:srgbClr val="669900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669900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dirty="0">
                <a:solidFill>
                  <a:srgbClr val="669900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{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dd:juhu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dirty="0">
                <a:solidFill>
                  <a:srgbClr val="669900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990055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8037" y="387764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dirty="0" err="1">
                <a:solidFill>
                  <a:srgbClr val="0077A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dirty="0"/>
              <a:t> </a:t>
            </a:r>
            <a:r>
              <a:rPr lang="en-IN" dirty="0" err="1"/>
              <a:t>returnedTarget</a:t>
            </a:r>
            <a:r>
              <a:rPr lang="en-IN" dirty="0"/>
              <a:t> = </a:t>
            </a:r>
            <a:r>
              <a:rPr lang="en-IN" dirty="0" err="1"/>
              <a:t>Object.assign</a:t>
            </a:r>
            <a:r>
              <a:rPr lang="en-IN" dirty="0"/>
              <a:t>(</a:t>
            </a:r>
            <a:r>
              <a:rPr lang="en-IN" dirty="0" err="1"/>
              <a:t>clone,user</a:t>
            </a:r>
            <a:r>
              <a:rPr lang="en-IN" dirty="0"/>
              <a:t>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3480" y="2723686"/>
            <a:ext cx="2101857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 err="1">
                <a:solidFill>
                  <a:srgbClr val="0077A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clone</a:t>
            </a:r>
            <a:r>
              <a:rPr lang="en-IN" dirty="0">
                <a:solidFill>
                  <a:srgbClr val="9A6E3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{};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730644" y="2254232"/>
            <a:ext cx="1172180" cy="369332"/>
          </a:xfrm>
          <a:prstGeom prst="rect">
            <a:avLst/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IN" sz="1200" dirty="0" err="1"/>
              <a:t>returnedTarget</a:t>
            </a:r>
            <a:r>
              <a:rPr lang="en-IN" dirty="0"/>
              <a:t> 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6274037" y="1962911"/>
            <a:ext cx="1101825" cy="382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1"/>
          <p:cNvSpPr/>
          <p:nvPr/>
        </p:nvSpPr>
        <p:spPr>
          <a:xfrm>
            <a:off x="3874222" y="3657600"/>
            <a:ext cx="661564" cy="543208"/>
          </a:xfrm>
          <a:custGeom>
            <a:avLst/>
            <a:gdLst>
              <a:gd name="connsiteX0" fmla="*/ 625350 w 661564"/>
              <a:gd name="connsiteY0" fmla="*/ 543208 h 543208"/>
              <a:gd name="connsiteX1" fmla="*/ 643457 w 661564"/>
              <a:gd name="connsiteY1" fmla="*/ 425513 h 543208"/>
              <a:gd name="connsiteX2" fmla="*/ 652511 w 661564"/>
              <a:gd name="connsiteY2" fmla="*/ 398352 h 543208"/>
              <a:gd name="connsiteX3" fmla="*/ 661564 w 661564"/>
              <a:gd name="connsiteY3" fmla="*/ 362139 h 543208"/>
              <a:gd name="connsiteX4" fmla="*/ 652511 w 661564"/>
              <a:gd name="connsiteY4" fmla="*/ 217283 h 543208"/>
              <a:gd name="connsiteX5" fmla="*/ 643457 w 661564"/>
              <a:gd name="connsiteY5" fmla="*/ 126749 h 543208"/>
              <a:gd name="connsiteX6" fmla="*/ 607243 w 661564"/>
              <a:gd name="connsiteY6" fmla="*/ 72428 h 543208"/>
              <a:gd name="connsiteX7" fmla="*/ 589136 w 661564"/>
              <a:gd name="connsiteY7" fmla="*/ 45267 h 543208"/>
              <a:gd name="connsiteX8" fmla="*/ 561976 w 661564"/>
              <a:gd name="connsiteY8" fmla="*/ 27160 h 543208"/>
              <a:gd name="connsiteX9" fmla="*/ 534816 w 661564"/>
              <a:gd name="connsiteY9" fmla="*/ 18107 h 543208"/>
              <a:gd name="connsiteX10" fmla="*/ 498602 w 661564"/>
              <a:gd name="connsiteY10" fmla="*/ 0 h 543208"/>
              <a:gd name="connsiteX11" fmla="*/ 308479 w 661564"/>
              <a:gd name="connsiteY11" fmla="*/ 9053 h 543208"/>
              <a:gd name="connsiteX12" fmla="*/ 254158 w 661564"/>
              <a:gd name="connsiteY12" fmla="*/ 45267 h 543208"/>
              <a:gd name="connsiteX13" fmla="*/ 199837 w 661564"/>
              <a:gd name="connsiteY13" fmla="*/ 90535 h 543208"/>
              <a:gd name="connsiteX14" fmla="*/ 181730 w 661564"/>
              <a:gd name="connsiteY14" fmla="*/ 117695 h 543208"/>
              <a:gd name="connsiteX15" fmla="*/ 154570 w 661564"/>
              <a:gd name="connsiteY15" fmla="*/ 135802 h 543208"/>
              <a:gd name="connsiteX16" fmla="*/ 127410 w 661564"/>
              <a:gd name="connsiteY16" fmla="*/ 172016 h 543208"/>
              <a:gd name="connsiteX17" fmla="*/ 91196 w 661564"/>
              <a:gd name="connsiteY17" fmla="*/ 226337 h 543208"/>
              <a:gd name="connsiteX18" fmla="*/ 64035 w 661564"/>
              <a:gd name="connsiteY18" fmla="*/ 253497 h 543208"/>
              <a:gd name="connsiteX19" fmla="*/ 45928 w 661564"/>
              <a:gd name="connsiteY19" fmla="*/ 298764 h 543208"/>
              <a:gd name="connsiteX20" fmla="*/ 661 w 661564"/>
              <a:gd name="connsiteY20" fmla="*/ 380246 h 543208"/>
              <a:gd name="connsiteX21" fmla="*/ 661 w 661564"/>
              <a:gd name="connsiteY21" fmla="*/ 407406 h 543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61564" h="543208">
                <a:moveTo>
                  <a:pt x="625350" y="543208"/>
                </a:moveTo>
                <a:cubicBezTo>
                  <a:pt x="628236" y="523009"/>
                  <a:pt x="638436" y="448110"/>
                  <a:pt x="643457" y="425513"/>
                </a:cubicBezTo>
                <a:cubicBezTo>
                  <a:pt x="645527" y="416197"/>
                  <a:pt x="649889" y="407528"/>
                  <a:pt x="652511" y="398352"/>
                </a:cubicBezTo>
                <a:cubicBezTo>
                  <a:pt x="655929" y="386388"/>
                  <a:pt x="658546" y="374210"/>
                  <a:pt x="661564" y="362139"/>
                </a:cubicBezTo>
                <a:cubicBezTo>
                  <a:pt x="658546" y="313854"/>
                  <a:pt x="656222" y="265520"/>
                  <a:pt x="652511" y="217283"/>
                </a:cubicBezTo>
                <a:cubicBezTo>
                  <a:pt x="650185" y="187044"/>
                  <a:pt x="652503" y="155697"/>
                  <a:pt x="643457" y="126749"/>
                </a:cubicBezTo>
                <a:cubicBezTo>
                  <a:pt x="636966" y="105978"/>
                  <a:pt x="619314" y="90535"/>
                  <a:pt x="607243" y="72428"/>
                </a:cubicBezTo>
                <a:cubicBezTo>
                  <a:pt x="601207" y="63374"/>
                  <a:pt x="598190" y="51303"/>
                  <a:pt x="589136" y="45267"/>
                </a:cubicBezTo>
                <a:cubicBezTo>
                  <a:pt x="580083" y="39231"/>
                  <a:pt x="571708" y="32026"/>
                  <a:pt x="561976" y="27160"/>
                </a:cubicBezTo>
                <a:cubicBezTo>
                  <a:pt x="553440" y="22892"/>
                  <a:pt x="543587" y="21866"/>
                  <a:pt x="534816" y="18107"/>
                </a:cubicBezTo>
                <a:cubicBezTo>
                  <a:pt x="522411" y="12791"/>
                  <a:pt x="510673" y="6036"/>
                  <a:pt x="498602" y="0"/>
                </a:cubicBezTo>
                <a:cubicBezTo>
                  <a:pt x="435228" y="3018"/>
                  <a:pt x="370864" y="-2500"/>
                  <a:pt x="308479" y="9053"/>
                </a:cubicBezTo>
                <a:cubicBezTo>
                  <a:pt x="287081" y="13016"/>
                  <a:pt x="272265" y="33196"/>
                  <a:pt x="254158" y="45267"/>
                </a:cubicBezTo>
                <a:cubicBezTo>
                  <a:pt x="227452" y="63071"/>
                  <a:pt x="221621" y="64394"/>
                  <a:pt x="199837" y="90535"/>
                </a:cubicBezTo>
                <a:cubicBezTo>
                  <a:pt x="192871" y="98894"/>
                  <a:pt x="189424" y="110001"/>
                  <a:pt x="181730" y="117695"/>
                </a:cubicBezTo>
                <a:cubicBezTo>
                  <a:pt x="174036" y="125389"/>
                  <a:pt x="162264" y="128108"/>
                  <a:pt x="154570" y="135802"/>
                </a:cubicBezTo>
                <a:cubicBezTo>
                  <a:pt x="143901" y="146472"/>
                  <a:pt x="136063" y="159655"/>
                  <a:pt x="127410" y="172016"/>
                </a:cubicBezTo>
                <a:cubicBezTo>
                  <a:pt x="114930" y="189844"/>
                  <a:pt x="106584" y="210949"/>
                  <a:pt x="91196" y="226337"/>
                </a:cubicBezTo>
                <a:lnTo>
                  <a:pt x="64035" y="253497"/>
                </a:lnTo>
                <a:cubicBezTo>
                  <a:pt x="57999" y="268586"/>
                  <a:pt x="53710" y="284497"/>
                  <a:pt x="45928" y="298764"/>
                </a:cubicBezTo>
                <a:cubicBezTo>
                  <a:pt x="27265" y="332981"/>
                  <a:pt x="6579" y="344739"/>
                  <a:pt x="661" y="380246"/>
                </a:cubicBezTo>
                <a:cubicBezTo>
                  <a:pt x="-827" y="389176"/>
                  <a:pt x="661" y="398353"/>
                  <a:pt x="661" y="40740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Isosceles Triangle 2"/>
          <p:cNvSpPr/>
          <p:nvPr/>
        </p:nvSpPr>
        <p:spPr>
          <a:xfrm rot="11456142">
            <a:off x="3711921" y="3775295"/>
            <a:ext cx="334978" cy="44362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024E8F-1DC1-3B94-46EC-A7BA86AE839D}"/>
              </a:ext>
            </a:extLst>
          </p:cNvPr>
          <p:cNvSpPr txBox="1"/>
          <p:nvPr/>
        </p:nvSpPr>
        <p:spPr>
          <a:xfrm>
            <a:off x="353480" y="4732421"/>
            <a:ext cx="5920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user.address.dd=“Andheri”</a:t>
            </a:r>
          </a:p>
          <a:p>
            <a:r>
              <a:rPr lang="en-IN" dirty="0"/>
              <a:t>Clone.address.dd</a:t>
            </a:r>
            <a:r>
              <a:rPr lang="en-IN" dirty="0">
                <a:sym typeface="Wingdings" panose="05000000000000000000" pitchFamily="2" charset="2"/>
              </a:rPr>
              <a:t></a:t>
            </a:r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90F556E-FD43-E222-AF20-54F27A6B9707}"/>
              </a:ext>
            </a:extLst>
          </p:cNvPr>
          <p:cNvGrpSpPr/>
          <p:nvPr/>
        </p:nvGrpSpPr>
        <p:grpSpPr>
          <a:xfrm>
            <a:off x="5750095" y="4274309"/>
            <a:ext cx="5614628" cy="2321139"/>
            <a:chOff x="559837" y="1212979"/>
            <a:chExt cx="9199983" cy="302194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54FADB6-EE7B-1902-C53D-53856B300B15}"/>
                </a:ext>
              </a:extLst>
            </p:cNvPr>
            <p:cNvSpPr txBox="1"/>
            <p:nvPr/>
          </p:nvSpPr>
          <p:spPr>
            <a:xfrm>
              <a:off x="559837" y="1502229"/>
              <a:ext cx="858518" cy="37072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user</a:t>
              </a:r>
              <a:endParaRPr lang="en-IN" sz="12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1650605-B3F4-C4F0-976A-F28E416A8C28}"/>
                </a:ext>
              </a:extLst>
            </p:cNvPr>
            <p:cNvCxnSpPr>
              <a:stCxn id="15" idx="3"/>
            </p:cNvCxnSpPr>
            <p:nvPr/>
          </p:nvCxnSpPr>
          <p:spPr>
            <a:xfrm flipV="1">
              <a:off x="1418355" y="1502229"/>
              <a:ext cx="2127279" cy="1853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71FCD0-AE6E-9566-7B8D-F7C1294EEFEF}"/>
                </a:ext>
              </a:extLst>
            </p:cNvPr>
            <p:cNvSpPr txBox="1"/>
            <p:nvPr/>
          </p:nvSpPr>
          <p:spPr>
            <a:xfrm>
              <a:off x="653144" y="2720633"/>
              <a:ext cx="858518" cy="61787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clone</a:t>
              </a:r>
              <a:endParaRPr lang="en-IN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883E5E-E8D5-42D9-29B6-207D3CC89FAA}"/>
                </a:ext>
              </a:extLst>
            </p:cNvPr>
            <p:cNvSpPr txBox="1"/>
            <p:nvPr/>
          </p:nvSpPr>
          <p:spPr>
            <a:xfrm>
              <a:off x="3545632" y="1240971"/>
              <a:ext cx="3769569" cy="118768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'name'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'Alex'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,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'address’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endPara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'age'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990055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43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}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 </a:t>
              </a:r>
              <a:endPara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2BB3AF-D0C1-0AA3-2FFE-9EB977F3E8C8}"/>
                </a:ext>
              </a:extLst>
            </p:cNvPr>
            <p:cNvSpPr txBox="1"/>
            <p:nvPr/>
          </p:nvSpPr>
          <p:spPr>
            <a:xfrm>
              <a:off x="3673152" y="2909928"/>
              <a:ext cx="4117909" cy="132499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'name'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'Alex'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,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</a:t>
              </a: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'address'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endPara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endParaRPr>
            </a:p>
            <a:p>
              <a:pPr fontAlgn="base">
                <a:lnSpc>
                  <a:spcPts val="1800"/>
                </a:lnSpc>
                <a:spcAft>
                  <a:spcPts val="80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  </a:t>
              </a:r>
              <a:r>
                <a:rPr lang="en-IN" sz="1200" dirty="0">
                  <a:solidFill>
                    <a:srgbClr val="669900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'age'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: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 </a:t>
              </a:r>
              <a:r>
                <a:rPr lang="en-IN" sz="1200" dirty="0">
                  <a:solidFill>
                    <a:srgbClr val="990055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43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}</a:t>
              </a:r>
              <a:r>
                <a:rPr lang="en-IN" sz="1200" dirty="0">
                  <a:solidFill>
                    <a:srgbClr val="000000"/>
                  </a:solidFill>
                  <a:effectLst/>
                  <a:latin typeface="Consolas" panose="020B0609020204030204" pitchFamily="49" charset="0"/>
                  <a:ea typeface="Times New Roman" panose="02020603050405020304" pitchFamily="18" charset="0"/>
                  <a:cs typeface="Courier New" panose="02070309020205020404" pitchFamily="49" charset="0"/>
                </a:rPr>
                <a:t> </a:t>
              </a:r>
              <a:endPara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7480D69-797F-7417-26E2-3904DB2C1A7E}"/>
                </a:ext>
              </a:extLst>
            </p:cNvPr>
            <p:cNvCxnSpPr/>
            <p:nvPr/>
          </p:nvCxnSpPr>
          <p:spPr>
            <a:xfrm flipV="1">
              <a:off x="1646903" y="2874426"/>
              <a:ext cx="1670180" cy="710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FD8E352-FC11-E265-EEB5-A375458A506D}"/>
                </a:ext>
              </a:extLst>
            </p:cNvPr>
            <p:cNvCxnSpPr/>
            <p:nvPr/>
          </p:nvCxnSpPr>
          <p:spPr>
            <a:xfrm flipV="1">
              <a:off x="4894014" y="1502231"/>
              <a:ext cx="3419561" cy="18536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3E5870-7D8E-D79F-5ECF-DC9F5053DE9E}"/>
                </a:ext>
              </a:extLst>
            </p:cNvPr>
            <p:cNvSpPr txBox="1"/>
            <p:nvPr/>
          </p:nvSpPr>
          <p:spPr>
            <a:xfrm>
              <a:off x="8425543" y="1212979"/>
              <a:ext cx="1334277" cy="865021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{ </a:t>
              </a:r>
              <a:r>
                <a:rPr lang="en-IN" sz="1200" dirty="0" err="1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dd:’Juhu</a:t>
              </a:r>
              <a:r>
                <a:rPr lang="en-IN" sz="1200" dirty="0">
                  <a:solidFill>
                    <a:srgbClr val="999999"/>
                  </a:solidFill>
                  <a:effectLst/>
                  <a:latin typeface="inherit"/>
                  <a:ea typeface="Times New Roman" panose="02020603050405020304" pitchFamily="18" charset="0"/>
                  <a:cs typeface="Courier New" panose="02070309020205020404" pitchFamily="49" charset="0"/>
                </a:rPr>
                <a:t>’}</a:t>
              </a:r>
              <a:endParaRPr lang="en-IN" sz="1200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B3E3D97-5361-2407-246C-65916E2771C5}"/>
                </a:ext>
              </a:extLst>
            </p:cNvPr>
            <p:cNvCxnSpPr/>
            <p:nvPr/>
          </p:nvCxnSpPr>
          <p:spPr>
            <a:xfrm flipV="1">
              <a:off x="5038531" y="1656118"/>
              <a:ext cx="3601616" cy="17728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CA1538-149E-8EFD-5365-0F60321E5FFB}"/>
              </a:ext>
            </a:extLst>
          </p:cNvPr>
          <p:cNvCxnSpPr/>
          <p:nvPr/>
        </p:nvCxnSpPr>
        <p:spPr>
          <a:xfrm>
            <a:off x="2455337" y="5101753"/>
            <a:ext cx="39012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3E2B19-5AB5-2DE9-C0F9-7A82F5839AD6}"/>
              </a:ext>
            </a:extLst>
          </p:cNvPr>
          <p:cNvCxnSpPr>
            <a:endCxn id="28" idx="2"/>
          </p:cNvCxnSpPr>
          <p:nvPr/>
        </p:nvCxnSpPr>
        <p:spPr>
          <a:xfrm flipH="1">
            <a:off x="10957577" y="4295810"/>
            <a:ext cx="231791" cy="6429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403FE8-891B-233F-467A-8AF63D8303BB}"/>
              </a:ext>
            </a:extLst>
          </p:cNvPr>
          <p:cNvSpPr txBox="1"/>
          <p:nvPr/>
        </p:nvSpPr>
        <p:spPr>
          <a:xfrm>
            <a:off x="10681402" y="5295553"/>
            <a:ext cx="1229861" cy="38335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Andheri</a:t>
            </a:r>
          </a:p>
        </p:txBody>
      </p:sp>
    </p:spTree>
    <p:extLst>
      <p:ext uri="{BB962C8B-B14F-4D97-AF65-F5344CB8AC3E}">
        <p14:creationId xmlns:p14="http://schemas.microsoft.com/office/powerpoint/2010/main" val="366822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DF05CF-32F4-8B86-3F68-3650EED5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354" y="117313"/>
            <a:ext cx="4715256" cy="369332"/>
          </a:xfrm>
        </p:spPr>
        <p:txBody>
          <a:bodyPr>
            <a:noAutofit/>
          </a:bodyPr>
          <a:lstStyle/>
          <a:p>
            <a:r>
              <a:rPr lang="en-IN" sz="2000" b="1" dirty="0"/>
              <a:t>Clone object using spread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CE77D-2440-0760-DA82-974C4DBC2B61}"/>
              </a:ext>
            </a:extLst>
          </p:cNvPr>
          <p:cNvSpPr txBox="1"/>
          <p:nvPr/>
        </p:nvSpPr>
        <p:spPr>
          <a:xfrm>
            <a:off x="106238" y="696409"/>
            <a:ext cx="6134876" cy="255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user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'15th Park Avenue'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clone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400" b="1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Output, {name: "Alex", address: "15th Park Avenue", age: 43}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clone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===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Output, false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BAB4A-2BD3-5D01-A89F-BA8850E2AEE3}"/>
              </a:ext>
            </a:extLst>
          </p:cNvPr>
          <p:cNvSpPr txBox="1"/>
          <p:nvPr/>
        </p:nvSpPr>
        <p:spPr>
          <a:xfrm>
            <a:off x="0" y="4665248"/>
            <a:ext cx="6039237" cy="1104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A0A23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can alternatively use </a:t>
            </a:r>
            <a:r>
              <a:rPr lang="en-IN" sz="1100" dirty="0" err="1">
                <a:solidFill>
                  <a:srgbClr val="0A0A23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object.assign</a:t>
            </a:r>
            <a:r>
              <a:rPr lang="en-IN" sz="1100" dirty="0">
                <a:solidFill>
                  <a:srgbClr val="0A0A23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1400" dirty="0">
                <a:solidFill>
                  <a:srgbClr val="0A0A23"/>
                </a:solidFill>
                <a:effectLst/>
                <a:highlight>
                  <a:srgbClr val="FFFF00"/>
                </a:highlight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dirty="0">
                <a:solidFill>
                  <a:srgbClr val="0A0A23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clone of an object. However, the spread syntax is much more precise and much shorter.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1400" dirty="0">
                <a:solidFill>
                  <a:srgbClr val="0A0A23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spread syntax performs a shallow copy of the object. This means that none of the nested object instances are cloned.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11D34-E620-22A3-DA4E-36A491F00458}"/>
              </a:ext>
            </a:extLst>
          </p:cNvPr>
          <p:cNvSpPr txBox="1"/>
          <p:nvPr/>
        </p:nvSpPr>
        <p:spPr>
          <a:xfrm>
            <a:off x="6269005" y="613953"/>
            <a:ext cx="6134876" cy="3211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user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'15th Park Avenue'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Add a new property salary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updatedUser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salary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4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12345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{name: "Alex", address: "15th Park Avenue", age: 43, salary: 12345}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Original object is unchanged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console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IN" sz="1400" dirty="0">
                <a:solidFill>
                  <a:srgbClr val="DD4A6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log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{name: "Alex", address: "15th Park Avenue", age: 43}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0DE47-123F-3DAA-752D-DE60E603AC52}"/>
              </a:ext>
            </a:extLst>
          </p:cNvPr>
          <p:cNvSpPr txBox="1"/>
          <p:nvPr/>
        </p:nvSpPr>
        <p:spPr>
          <a:xfrm>
            <a:off x="7469053" y="146758"/>
            <a:ext cx="3463990" cy="311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Bef>
                <a:spcPts val="600"/>
              </a:spcBef>
              <a:spcAft>
                <a:spcPts val="240"/>
              </a:spcAft>
            </a:pPr>
            <a:r>
              <a:rPr lang="en-IN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Properties to Objects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6293A8-AEBA-AABC-3C5E-1F1DBE0D9AB1}"/>
              </a:ext>
            </a:extLst>
          </p:cNvPr>
          <p:cNvSpPr txBox="1"/>
          <p:nvPr/>
        </p:nvSpPr>
        <p:spPr>
          <a:xfrm>
            <a:off x="6217686" y="4665248"/>
            <a:ext cx="6237514" cy="2273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user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'15th Park Avenue'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4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 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400" dirty="0" err="1">
                <a:solidFill>
                  <a:srgbClr val="0077A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updatedUser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400" dirty="0">
                <a:solidFill>
                  <a:srgbClr val="9A6E3A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age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4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56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};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{name: "Alex", address: "15th Park Avenue", age: 56}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console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IN" sz="1400" dirty="0">
                <a:solidFill>
                  <a:srgbClr val="DD4A68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log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14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);</a:t>
            </a:r>
            <a:r>
              <a:rPr lang="en-IN" sz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solidFill>
                  <a:srgbClr val="70809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// {name: "Alex", address: "15th Park Avenue", age: 43}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CCB184-405E-696F-A823-F938A3FB5599}"/>
              </a:ext>
            </a:extLst>
          </p:cNvPr>
          <p:cNvSpPr txBox="1"/>
          <p:nvPr/>
        </p:nvSpPr>
        <p:spPr>
          <a:xfrm>
            <a:off x="6874328" y="3976043"/>
            <a:ext cx="3734578" cy="311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07000"/>
              </a:lnSpc>
              <a:spcBef>
                <a:spcPts val="600"/>
              </a:spcBef>
              <a:spcAft>
                <a:spcPts val="240"/>
              </a:spcAft>
            </a:pPr>
            <a:r>
              <a:rPr lang="en-IN" sz="1400" b="1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 Properties</a:t>
            </a:r>
            <a:endParaRPr lang="en-IN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CDF6F3-76FB-0066-C1B8-A28252664C64}"/>
              </a:ext>
            </a:extLst>
          </p:cNvPr>
          <p:cNvSpPr txBox="1"/>
          <p:nvPr/>
        </p:nvSpPr>
        <p:spPr>
          <a:xfrm>
            <a:off x="559837" y="3331029"/>
            <a:ext cx="858517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user</a:t>
            </a:r>
            <a:endParaRPr lang="en-I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4FF4B1-DB71-658A-A9BA-2A9CA73502B3}"/>
              </a:ext>
            </a:extLst>
          </p:cNvPr>
          <p:cNvCxnSpPr>
            <a:stCxn id="2" idx="3"/>
          </p:cNvCxnSpPr>
          <p:nvPr/>
        </p:nvCxnSpPr>
        <p:spPr>
          <a:xfrm flipV="1">
            <a:off x="1418354" y="3331029"/>
            <a:ext cx="2127279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76DE23-9D02-5545-1DDF-EACA5B99C4AC}"/>
              </a:ext>
            </a:extLst>
          </p:cNvPr>
          <p:cNvSpPr txBox="1"/>
          <p:nvPr/>
        </p:nvSpPr>
        <p:spPr>
          <a:xfrm>
            <a:off x="559837" y="4048779"/>
            <a:ext cx="858517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clone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A917F2-60F5-EF84-3466-82734EA7C60D}"/>
              </a:ext>
            </a:extLst>
          </p:cNvPr>
          <p:cNvSpPr txBox="1"/>
          <p:nvPr/>
        </p:nvSpPr>
        <p:spPr>
          <a:xfrm>
            <a:off x="3573524" y="3065956"/>
            <a:ext cx="2246735" cy="5301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IN" sz="1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'15th Park Avenue'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r>
              <a:rPr lang="en-IN" sz="1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9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ABD49B-08FF-BBA6-E058-2C61EAFF69B5}"/>
              </a:ext>
            </a:extLst>
          </p:cNvPr>
          <p:cNvSpPr txBox="1"/>
          <p:nvPr/>
        </p:nvSpPr>
        <p:spPr>
          <a:xfrm>
            <a:off x="3645161" y="3770705"/>
            <a:ext cx="1672512" cy="7626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IN" sz="105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5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05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5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'15th Park Avenue'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IN" sz="105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105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r>
              <a:rPr lang="en-IN" sz="105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0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C1F5A1-1971-080C-77D5-9F1395B5A64E}"/>
              </a:ext>
            </a:extLst>
          </p:cNvPr>
          <p:cNvCxnSpPr/>
          <p:nvPr/>
        </p:nvCxnSpPr>
        <p:spPr>
          <a:xfrm flipV="1">
            <a:off x="1651518" y="4131662"/>
            <a:ext cx="1670180" cy="71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29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6ED135-567B-1DF4-0F58-7DD538FC0A45}"/>
              </a:ext>
            </a:extLst>
          </p:cNvPr>
          <p:cNvSpPr txBox="1"/>
          <p:nvPr/>
        </p:nvSpPr>
        <p:spPr>
          <a:xfrm>
            <a:off x="559837" y="1502229"/>
            <a:ext cx="858517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user</a:t>
            </a:r>
            <a:endParaRPr lang="en-IN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0A0CDF-0968-AB35-CBF6-0B3DC02A9BEA}"/>
              </a:ext>
            </a:extLst>
          </p:cNvPr>
          <p:cNvCxnSpPr>
            <a:stCxn id="4" idx="3"/>
          </p:cNvCxnSpPr>
          <p:nvPr/>
        </p:nvCxnSpPr>
        <p:spPr>
          <a:xfrm flipV="1">
            <a:off x="1418354" y="1502229"/>
            <a:ext cx="2127279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F7A65D9-3F35-FC7E-CDE5-B8D716BD6354}"/>
              </a:ext>
            </a:extLst>
          </p:cNvPr>
          <p:cNvSpPr txBox="1"/>
          <p:nvPr/>
        </p:nvSpPr>
        <p:spPr>
          <a:xfrm>
            <a:off x="653143" y="2720633"/>
            <a:ext cx="858517" cy="3077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clone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3374A-16BB-EDCF-D81F-C53FCB5B3F01}"/>
              </a:ext>
            </a:extLst>
          </p:cNvPr>
          <p:cNvSpPr txBox="1"/>
          <p:nvPr/>
        </p:nvSpPr>
        <p:spPr>
          <a:xfrm>
            <a:off x="3545632" y="1240971"/>
            <a:ext cx="3769568" cy="1554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</a:t>
            </a:r>
            <a:r>
              <a:rPr lang="en-IN" sz="2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'address’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 { </a:t>
            </a:r>
            <a:r>
              <a:rPr lang="en-IN" sz="2000" dirty="0" err="1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dd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:’</a:t>
            </a:r>
            <a:r>
              <a:rPr lang="en-IN" sz="2000" dirty="0" err="1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Juhu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’}</a:t>
            </a:r>
            <a:endParaRPr lang="en-IN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B799C-B255-7C89-6AAF-4E370B69757F}"/>
              </a:ext>
            </a:extLst>
          </p:cNvPr>
          <p:cNvSpPr txBox="1"/>
          <p:nvPr/>
        </p:nvSpPr>
        <p:spPr>
          <a:xfrm>
            <a:off x="3673152" y="2909928"/>
            <a:ext cx="4117909" cy="9932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</a:t>
            </a:r>
            <a:r>
              <a:rPr lang="en-IN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'name'</a:t>
            </a: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'Alex'</a:t>
            </a: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'address'</a:t>
            </a: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IN" sz="16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fontAlgn="base">
              <a:lnSpc>
                <a:spcPts val="18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en-IN" dirty="0">
                <a:solidFill>
                  <a:srgbClr val="669900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'age'</a:t>
            </a: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dirty="0">
                <a:solidFill>
                  <a:srgbClr val="990055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43</a:t>
            </a:r>
            <a:r>
              <a:rPr lang="en-IN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425DBB-887D-7BC7-FF29-DDB479881C43}"/>
              </a:ext>
            </a:extLst>
          </p:cNvPr>
          <p:cNvCxnSpPr/>
          <p:nvPr/>
        </p:nvCxnSpPr>
        <p:spPr>
          <a:xfrm flipV="1">
            <a:off x="1646903" y="2874426"/>
            <a:ext cx="1670180" cy="71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67C2B9-636C-95A9-424C-2DD5F15B1297}"/>
              </a:ext>
            </a:extLst>
          </p:cNvPr>
          <p:cNvCxnSpPr/>
          <p:nvPr/>
        </p:nvCxnSpPr>
        <p:spPr>
          <a:xfrm flipV="1">
            <a:off x="5944986" y="1697505"/>
            <a:ext cx="2323323" cy="153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995095F-2F1B-BB7B-1BA1-425604098C1A}"/>
              </a:ext>
            </a:extLst>
          </p:cNvPr>
          <p:cNvSpPr txBox="1"/>
          <p:nvPr/>
        </p:nvSpPr>
        <p:spPr>
          <a:xfrm>
            <a:off x="8425543" y="1212979"/>
            <a:ext cx="1334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 </a:t>
            </a:r>
            <a:r>
              <a:rPr lang="en-IN" sz="1800" dirty="0" err="1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dd:’Juhu</a:t>
            </a:r>
            <a:r>
              <a:rPr lang="en-IN" sz="1800" dirty="0">
                <a:solidFill>
                  <a:srgbClr val="999999"/>
                </a:solidFill>
                <a:effectLst/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’}</a:t>
            </a:r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C8D851-D7C6-C193-5642-6E4F713B09A6}"/>
              </a:ext>
            </a:extLst>
          </p:cNvPr>
          <p:cNvCxnSpPr/>
          <p:nvPr/>
        </p:nvCxnSpPr>
        <p:spPr>
          <a:xfrm flipV="1">
            <a:off x="5038531" y="1656118"/>
            <a:ext cx="3601616" cy="1772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851865" y="4561573"/>
            <a:ext cx="555798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err="1">
                <a:solidFill>
                  <a:srgbClr val="0077A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clone </a:t>
            </a:r>
            <a:r>
              <a:rPr lang="en-IN" sz="2000" dirty="0">
                <a:solidFill>
                  <a:srgbClr val="9A6E3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IN" sz="2000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{</a:t>
            </a:r>
            <a:r>
              <a:rPr lang="en-IN" sz="2000" b="1" dirty="0">
                <a:solidFill>
                  <a:srgbClr val="9A6E3A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...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user</a:t>
            </a:r>
            <a:r>
              <a:rPr lang="en-IN" sz="2000" dirty="0">
                <a:solidFill>
                  <a:srgbClr val="999999"/>
                </a:solidFill>
                <a:latin typeface="inherit"/>
                <a:ea typeface="Times New Roman" panose="02020603050405020304" pitchFamily="18" charset="0"/>
                <a:cs typeface="Courier New" panose="02070309020205020404" pitchFamily="49" charset="0"/>
              </a:rPr>
              <a:t>}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User.address.dd=‘vita’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Console.log(user.address.dd);//vita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Console.log(clone.address.dd);//vita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300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E06C-F546-41D1-A3C2-8ADAA4C6A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274" y="148817"/>
            <a:ext cx="9967452" cy="736088"/>
          </a:xfrm>
        </p:spPr>
        <p:txBody>
          <a:bodyPr/>
          <a:lstStyle/>
          <a:p>
            <a:r>
              <a:rPr lang="en-IN" dirty="0"/>
              <a:t>How to add method to literal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5C93B-9053-4ACB-89CE-7C15E9E48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747252"/>
            <a:ext cx="7452852" cy="538807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obj</a:t>
            </a:r>
            <a:r>
              <a:rPr lang="en-IN" dirty="0"/>
              <a:t>={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lang="en-IN" dirty="0" err="1"/>
              <a:t>fname</a:t>
            </a:r>
            <a:r>
              <a:rPr lang="en-IN" dirty="0"/>
              <a:t>: "Raj",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lname</a:t>
            </a:r>
            <a:r>
              <a:rPr lang="en-IN" dirty="0"/>
              <a:t>:"Mathur",</a:t>
            </a:r>
          </a:p>
          <a:p>
            <a:pPr marL="0" indent="0">
              <a:buNone/>
            </a:pPr>
            <a:r>
              <a:rPr lang="en-IN" dirty="0"/>
              <a:t>     age : 25,</a:t>
            </a:r>
          </a:p>
          <a:p>
            <a:pPr marL="0" indent="0">
              <a:buNone/>
            </a:pPr>
            <a:r>
              <a:rPr lang="en-IN" dirty="0"/>
              <a:t>     add: { d:"</a:t>
            </a:r>
            <a:r>
              <a:rPr lang="en-IN" dirty="0" err="1"/>
              <a:t>juhu</a:t>
            </a:r>
            <a:r>
              <a:rPr lang="en-IN" dirty="0"/>
              <a:t>"},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fullname</a:t>
            </a:r>
            <a:r>
              <a:rPr lang="en-IN" dirty="0"/>
              <a:t>:    function()</a:t>
            </a:r>
          </a:p>
          <a:p>
            <a:pPr marL="0" indent="0">
              <a:buNone/>
            </a:pPr>
            <a:r>
              <a:rPr lang="en-IN" dirty="0"/>
              <a:t>	{</a:t>
            </a:r>
          </a:p>
          <a:p>
            <a:pPr marL="0" indent="0">
              <a:buNone/>
            </a:pPr>
            <a:r>
              <a:rPr lang="en-IN" dirty="0"/>
              <a:t>	  return </a:t>
            </a:r>
            <a:r>
              <a:rPr lang="en-IN" dirty="0" err="1"/>
              <a:t>this.fname</a:t>
            </a:r>
            <a:r>
              <a:rPr lang="en-IN" dirty="0"/>
              <a:t>+ " "+</a:t>
            </a:r>
            <a:r>
              <a:rPr lang="en-IN" dirty="0" err="1"/>
              <a:t>this.lname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	},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toString:function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{ return  </a:t>
            </a:r>
            <a:r>
              <a:rPr lang="en-IN" dirty="0" err="1"/>
              <a:t>this.fullname</a:t>
            </a:r>
            <a:r>
              <a:rPr lang="en-IN" dirty="0"/>
              <a:t>() +"  "+</a:t>
            </a:r>
            <a:r>
              <a:rPr lang="en-IN" dirty="0" err="1"/>
              <a:t>this.age</a:t>
            </a:r>
            <a:r>
              <a:rPr lang="en-IN" dirty="0"/>
              <a:t>+" "+ </a:t>
            </a:r>
            <a:r>
              <a:rPr lang="en-IN" dirty="0" err="1"/>
              <a:t>this.add.d</a:t>
            </a:r>
            <a:r>
              <a:rPr lang="en-IN" dirty="0"/>
              <a:t>;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var f=</a:t>
            </a:r>
            <a:r>
              <a:rPr lang="en-IN" dirty="0" err="1"/>
              <a:t>obj.fullname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(f);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obj.toString</a:t>
            </a:r>
            <a:r>
              <a:rPr lang="en-IN" dirty="0"/>
              <a:t>());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&lt;/script&gt;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F33CF9-C905-4CF4-B7D7-2652BE47D431}"/>
              </a:ext>
            </a:extLst>
          </p:cNvPr>
          <p:cNvSpPr txBox="1"/>
          <p:nvPr/>
        </p:nvSpPr>
        <p:spPr>
          <a:xfrm>
            <a:off x="7954297" y="884905"/>
            <a:ext cx="394273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this example </a:t>
            </a:r>
            <a:r>
              <a:rPr lang="en-IN" dirty="0" err="1"/>
              <a:t>fullname</a:t>
            </a:r>
            <a:r>
              <a:rPr lang="en-IN" dirty="0"/>
              <a:t> is instance method.</a:t>
            </a:r>
          </a:p>
          <a:p>
            <a:r>
              <a:rPr lang="en-IN" dirty="0"/>
              <a:t>add is a literal object.</a:t>
            </a:r>
          </a:p>
          <a:p>
            <a:r>
              <a:rPr lang="en-IN" dirty="0" err="1"/>
              <a:t>toString</a:t>
            </a:r>
            <a:r>
              <a:rPr lang="en-IN" dirty="0"/>
              <a:t> method is used to display detail of object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err="1"/>
              <a:t>toString:function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  {return  </a:t>
            </a:r>
            <a:r>
              <a:rPr lang="en-IN" dirty="0" err="1">
                <a:solidFill>
                  <a:srgbClr val="FF0000"/>
                </a:solidFill>
              </a:rPr>
              <a:t>this.</a:t>
            </a:r>
            <a:r>
              <a:rPr lang="en-IN" dirty="0" err="1"/>
              <a:t>fullname</a:t>
            </a:r>
            <a:r>
              <a:rPr lang="en-IN" dirty="0"/>
              <a:t>() +"  "+</a:t>
            </a:r>
            <a:r>
              <a:rPr lang="en-IN" dirty="0" err="1"/>
              <a:t>this.age</a:t>
            </a:r>
            <a:r>
              <a:rPr lang="en-IN" dirty="0"/>
              <a:t>+" "+ </a:t>
            </a:r>
            <a:r>
              <a:rPr lang="en-IN" dirty="0" err="1"/>
              <a:t>this.add.d</a:t>
            </a:r>
            <a:r>
              <a:rPr lang="en-IN" dirty="0"/>
              <a:t>;  }</a:t>
            </a:r>
          </a:p>
          <a:p>
            <a:r>
              <a:rPr lang="en-IN" dirty="0"/>
              <a:t>The above code we have use </a:t>
            </a:r>
            <a:r>
              <a:rPr lang="en-IN" dirty="0" err="1"/>
              <a:t>toString</a:t>
            </a:r>
            <a:r>
              <a:rPr lang="en-IN" dirty="0"/>
              <a:t>() method which will </a:t>
            </a:r>
            <a:r>
              <a:rPr lang="en-IN" dirty="0" err="1"/>
              <a:t>retun</a:t>
            </a:r>
            <a:r>
              <a:rPr lang="en-IN" dirty="0"/>
              <a:t> state of an object. </a:t>
            </a:r>
            <a:r>
              <a:rPr lang="en-IN" dirty="0" err="1"/>
              <a:t>Ie</a:t>
            </a:r>
            <a:r>
              <a:rPr lang="en-IN" dirty="0"/>
              <a:t> </a:t>
            </a:r>
            <a:r>
              <a:rPr lang="en-IN" dirty="0" err="1"/>
              <a:t>fullname</a:t>
            </a:r>
            <a:r>
              <a:rPr lang="en-IN" dirty="0"/>
              <a:t> age and address.</a:t>
            </a:r>
          </a:p>
          <a:p>
            <a:endParaRPr lang="en-IN" dirty="0"/>
          </a:p>
          <a:p>
            <a:r>
              <a:rPr lang="en-IN" dirty="0"/>
              <a:t>You have to call instance function  </a:t>
            </a:r>
            <a:r>
              <a:rPr lang="en-IN" dirty="0" err="1"/>
              <a:t>fullname</a:t>
            </a:r>
            <a:r>
              <a:rPr lang="en-IN" dirty="0"/>
              <a:t> using </a:t>
            </a:r>
            <a:r>
              <a:rPr lang="en-IN" dirty="0">
                <a:solidFill>
                  <a:srgbClr val="FF0000"/>
                </a:solidFill>
              </a:rPr>
              <a:t>this</a:t>
            </a:r>
            <a:r>
              <a:rPr lang="en-IN" dirty="0"/>
              <a:t> dot only.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B2EEDA-2F77-479F-ABA9-7ED98BA569DE}"/>
              </a:ext>
            </a:extLst>
          </p:cNvPr>
          <p:cNvSpPr/>
          <p:nvPr/>
        </p:nvSpPr>
        <p:spPr>
          <a:xfrm>
            <a:off x="4572000" y="1592831"/>
            <a:ext cx="1718189" cy="20057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/>
              <a:t>fname=raj</a:t>
            </a:r>
          </a:p>
          <a:p>
            <a:r>
              <a:rPr lang="en-IN"/>
              <a:t>lname=Mathur</a:t>
            </a:r>
          </a:p>
          <a:p>
            <a:r>
              <a:rPr lang="en-IN"/>
              <a:t>age=25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56F41D-06FB-4ED6-B1DA-7A5869F24E49}"/>
              </a:ext>
            </a:extLst>
          </p:cNvPr>
          <p:cNvSpPr/>
          <p:nvPr/>
        </p:nvSpPr>
        <p:spPr>
          <a:xfrm>
            <a:off x="6617110" y="2231924"/>
            <a:ext cx="875071" cy="736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d=</a:t>
            </a:r>
            <a:r>
              <a:rPr lang="en-IN" dirty="0" err="1"/>
              <a:t>juhu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F1B0DA-90BF-4F3A-A1D7-2E7671ED6A83}"/>
              </a:ext>
            </a:extLst>
          </p:cNvPr>
          <p:cNvSpPr/>
          <p:nvPr/>
        </p:nvSpPr>
        <p:spPr>
          <a:xfrm>
            <a:off x="3814917" y="1911086"/>
            <a:ext cx="344129" cy="4116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AA3B50-4FCD-4006-BBEA-8FCF9C2A9CF4}"/>
              </a:ext>
            </a:extLst>
          </p:cNvPr>
          <p:cNvCxnSpPr/>
          <p:nvPr/>
        </p:nvCxnSpPr>
        <p:spPr>
          <a:xfrm>
            <a:off x="4257369" y="2138516"/>
            <a:ext cx="3834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1F843F-C9C9-45FC-9FF7-1DEEDF0F468B}"/>
              </a:ext>
            </a:extLst>
          </p:cNvPr>
          <p:cNvSpPr txBox="1"/>
          <p:nvPr/>
        </p:nvSpPr>
        <p:spPr>
          <a:xfrm>
            <a:off x="3596150" y="1483340"/>
            <a:ext cx="553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22AC55-3E07-420A-8596-71207CFC6904}"/>
              </a:ext>
            </a:extLst>
          </p:cNvPr>
          <p:cNvSpPr/>
          <p:nvPr/>
        </p:nvSpPr>
        <p:spPr>
          <a:xfrm>
            <a:off x="5141042" y="2714548"/>
            <a:ext cx="580104" cy="2051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EE5A70-66F8-48B2-B26F-40E62D1ECFE7}"/>
              </a:ext>
            </a:extLst>
          </p:cNvPr>
          <p:cNvCxnSpPr>
            <a:cxnSpLocks/>
          </p:cNvCxnSpPr>
          <p:nvPr/>
        </p:nvCxnSpPr>
        <p:spPr>
          <a:xfrm flipV="1">
            <a:off x="5879690" y="2566480"/>
            <a:ext cx="725130" cy="2506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E42041A-6DFD-437A-82D6-AFDB77B8145B}"/>
              </a:ext>
            </a:extLst>
          </p:cNvPr>
          <p:cNvSpPr/>
          <p:nvPr/>
        </p:nvSpPr>
        <p:spPr>
          <a:xfrm>
            <a:off x="6539054" y="3072464"/>
            <a:ext cx="1088925" cy="484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return….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15F3ED-7F47-4527-B26F-3824999788CE}"/>
              </a:ext>
            </a:extLst>
          </p:cNvPr>
          <p:cNvSpPr/>
          <p:nvPr/>
        </p:nvSpPr>
        <p:spPr>
          <a:xfrm>
            <a:off x="4948103" y="3054002"/>
            <a:ext cx="1149147" cy="2051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fullname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3B96D-6DA0-48A6-A6CF-5DBB31D9426F}"/>
              </a:ext>
            </a:extLst>
          </p:cNvPr>
          <p:cNvSpPr/>
          <p:nvPr/>
        </p:nvSpPr>
        <p:spPr>
          <a:xfrm>
            <a:off x="4856520" y="3345014"/>
            <a:ext cx="1149147" cy="2051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toString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890387-80B7-4860-8BB4-E82F0EDB3068}"/>
              </a:ext>
            </a:extLst>
          </p:cNvPr>
          <p:cNvSpPr/>
          <p:nvPr/>
        </p:nvSpPr>
        <p:spPr>
          <a:xfrm>
            <a:off x="5697792" y="3852670"/>
            <a:ext cx="1088925" cy="4847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return….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3BE633A-33E4-4136-8C4D-4F0B3E8EBE12}"/>
              </a:ext>
            </a:extLst>
          </p:cNvPr>
          <p:cNvCxnSpPr>
            <a:cxnSpLocks/>
          </p:cNvCxnSpPr>
          <p:nvPr/>
        </p:nvCxnSpPr>
        <p:spPr>
          <a:xfrm flipV="1">
            <a:off x="5944510" y="3188998"/>
            <a:ext cx="810858" cy="551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384461-E91B-4EA3-8279-A9C6DDA35DD3}"/>
              </a:ext>
            </a:extLst>
          </p:cNvPr>
          <p:cNvCxnSpPr>
            <a:cxnSpLocks/>
          </p:cNvCxnSpPr>
          <p:nvPr/>
        </p:nvCxnSpPr>
        <p:spPr>
          <a:xfrm>
            <a:off x="5648473" y="3532367"/>
            <a:ext cx="701466" cy="4347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B147B0-0B34-8659-F529-93B8BD0EE580}"/>
              </a:ext>
            </a:extLst>
          </p:cNvPr>
          <p:cNvSpPr txBox="1"/>
          <p:nvPr/>
        </p:nvSpPr>
        <p:spPr>
          <a:xfrm>
            <a:off x="3237994" y="4380867"/>
            <a:ext cx="39427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literal object having member</a:t>
            </a:r>
          </a:p>
          <a:p>
            <a:r>
              <a:rPr lang="en-US" dirty="0"/>
              <a:t>Rollno,Mks1,,Mks2Name</a:t>
            </a:r>
          </a:p>
          <a:p>
            <a:r>
              <a:rPr lang="en-US" dirty="0" err="1"/>
              <a:t>Total</a:t>
            </a:r>
            <a:r>
              <a:rPr lang="en-US" dirty="0" err="1">
                <a:sym typeface="Wingdings" panose="05000000000000000000" pitchFamily="2" charset="2"/>
              </a:rPr>
              <a:t>function</a:t>
            </a:r>
            <a:r>
              <a:rPr lang="en-US" dirty="0">
                <a:sym typeface="Wingdings" panose="05000000000000000000" pitchFamily="2" charset="2"/>
              </a:rPr>
              <a:t>(){}</a:t>
            </a:r>
          </a:p>
          <a:p>
            <a:r>
              <a:rPr lang="en-US" dirty="0" err="1">
                <a:sym typeface="Wingdings" panose="05000000000000000000" pitchFamily="2" charset="2"/>
              </a:rPr>
              <a:t>toString</a:t>
            </a:r>
            <a:r>
              <a:rPr lang="en-US" dirty="0">
                <a:sym typeface="Wingdings" panose="05000000000000000000" pitchFamily="2" charset="2"/>
              </a:rPr>
              <a:t>=&gt;function(){}</a:t>
            </a:r>
          </a:p>
          <a:p>
            <a:r>
              <a:rPr lang="en-US" dirty="0">
                <a:sym typeface="Wingdings" panose="05000000000000000000" pitchFamily="2" charset="2"/>
              </a:rPr>
              <a:t>Display Name and total marks using </a:t>
            </a:r>
            <a:r>
              <a:rPr lang="en-US" dirty="0" err="1">
                <a:sym typeface="Wingdings" panose="05000000000000000000" pitchFamily="2" charset="2"/>
              </a:rPr>
              <a:t>toString</a:t>
            </a:r>
            <a:r>
              <a:rPr lang="en-US" dirty="0">
                <a:sym typeface="Wingdings" panose="05000000000000000000" pitchFamily="2" charset="2"/>
              </a:rPr>
              <a:t>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1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E985-58FB-4C1F-9E90-8F199E1ED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25" y="18256"/>
            <a:ext cx="10341077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How to add method to constructor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EB23-E2B9-4815-AFFA-48F7020A7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29" y="589454"/>
            <a:ext cx="3464515" cy="556586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“use strict"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function </a:t>
            </a:r>
            <a:r>
              <a:rPr lang="en-IN" sz="1200" dirty="0">
                <a:solidFill>
                  <a:schemeClr val="accent1"/>
                </a:solidFill>
              </a:rPr>
              <a:t>person</a:t>
            </a:r>
            <a:r>
              <a:rPr lang="en-IN" sz="1200" dirty="0"/>
              <a:t>(</a:t>
            </a:r>
            <a:r>
              <a:rPr lang="en-IN" sz="1200" dirty="0" err="1"/>
              <a:t>nm,ag</a:t>
            </a:r>
            <a:r>
              <a:rPr lang="en-IN" sz="12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{ 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this.name=nm;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this.age</a:t>
            </a:r>
            <a:r>
              <a:rPr lang="en-IN" sz="1200" dirty="0"/>
              <a:t>=ag;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this.speak</a:t>
            </a:r>
            <a:r>
              <a:rPr lang="en-IN" sz="1200" dirty="0"/>
              <a:t>=function(){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     return " hello "+this.name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  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alert(</a:t>
            </a:r>
            <a:r>
              <a:rPr lang="en-IN" sz="1200" dirty="0" err="1"/>
              <a:t>this.constructor</a:t>
            </a:r>
            <a:r>
              <a:rPr lang="en-IN" sz="12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>
                <a:solidFill>
                  <a:schemeClr val="accent1"/>
                </a:solidFill>
              </a:rPr>
              <a:t>person</a:t>
            </a:r>
            <a:r>
              <a:rPr lang="en-IN" sz="1200" dirty="0" err="1"/>
              <a:t>.prototype.walk</a:t>
            </a:r>
            <a:r>
              <a:rPr lang="en-IN" sz="1200" dirty="0"/>
              <a:t>=function(){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                         return this.name+" can walk ";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>
                <a:solidFill>
                  <a:schemeClr val="accent1"/>
                </a:solidFill>
              </a:rPr>
              <a:t>person</a:t>
            </a:r>
            <a:r>
              <a:rPr lang="en-IN" sz="1200" dirty="0" err="1"/>
              <a:t>.prototype.toString</a:t>
            </a:r>
            <a:r>
              <a:rPr lang="en-IN" sz="1200" dirty="0"/>
              <a:t>= function(){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          return this.name+ " "+</a:t>
            </a:r>
            <a:r>
              <a:rPr lang="en-IN" sz="1200" dirty="0" err="1"/>
              <a:t>this.age</a:t>
            </a:r>
            <a:r>
              <a:rPr lang="en-IN" sz="1200" dirty="0"/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   }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var obj1=new person("raj",80);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var x=new person("mona",90);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document.write</a:t>
            </a:r>
            <a:r>
              <a:rPr lang="en-IN" sz="1200" dirty="0"/>
              <a:t>(obj1);//raj 80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document.write</a:t>
            </a:r>
            <a:r>
              <a:rPr lang="en-IN" sz="1200" dirty="0"/>
              <a:t>(obj1.speak());//hello raj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document.write</a:t>
            </a:r>
            <a:r>
              <a:rPr lang="en-IN" sz="1200" dirty="0"/>
              <a:t>(x);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document.writeln</a:t>
            </a:r>
            <a:r>
              <a:rPr lang="en-IN" sz="1200" dirty="0"/>
              <a:t>(</a:t>
            </a:r>
            <a:r>
              <a:rPr lang="en-IN" sz="1200" dirty="0" err="1"/>
              <a:t>x.speak</a:t>
            </a:r>
            <a:r>
              <a:rPr lang="en-IN" sz="1200" dirty="0"/>
              <a:t>());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 err="1"/>
              <a:t>document.write</a:t>
            </a:r>
            <a:r>
              <a:rPr lang="en-IN" sz="1200" dirty="0"/>
              <a:t>(</a:t>
            </a:r>
            <a:r>
              <a:rPr lang="en-IN" sz="1200" dirty="0" err="1"/>
              <a:t>x.walk</a:t>
            </a:r>
            <a:r>
              <a:rPr lang="en-IN" sz="1200" dirty="0"/>
              <a:t>());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200" dirty="0"/>
              <a:t>&lt;/script&gt;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AF711C-B34B-4FC4-B6D1-48990A6AD755}"/>
              </a:ext>
            </a:extLst>
          </p:cNvPr>
          <p:cNvSpPr/>
          <p:nvPr/>
        </p:nvSpPr>
        <p:spPr>
          <a:xfrm>
            <a:off x="5584727" y="1769806"/>
            <a:ext cx="1297855" cy="953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name=raj</a:t>
            </a:r>
          </a:p>
          <a:p>
            <a:pPr algn="ctr"/>
            <a:r>
              <a:rPr lang="en-IN" dirty="0"/>
              <a:t>age=80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91824E-6C55-4251-B3A0-8B341E49AA6F}"/>
              </a:ext>
            </a:extLst>
          </p:cNvPr>
          <p:cNvSpPr/>
          <p:nvPr/>
        </p:nvSpPr>
        <p:spPr>
          <a:xfrm>
            <a:off x="5604387" y="3108667"/>
            <a:ext cx="1494503" cy="953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name=mona</a:t>
            </a:r>
          </a:p>
          <a:p>
            <a:pPr algn="ctr"/>
            <a:r>
              <a:rPr lang="en-IN" dirty="0"/>
              <a:t>age=90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8F7796-486B-4EB3-B81F-7B9054E02912}"/>
              </a:ext>
            </a:extLst>
          </p:cNvPr>
          <p:cNvSpPr/>
          <p:nvPr/>
        </p:nvSpPr>
        <p:spPr>
          <a:xfrm>
            <a:off x="4522839" y="2104103"/>
            <a:ext cx="363793" cy="3693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A018F-7B9D-43FD-8977-9B1148DFA9C6}"/>
              </a:ext>
            </a:extLst>
          </p:cNvPr>
          <p:cNvCxnSpPr/>
          <p:nvPr/>
        </p:nvCxnSpPr>
        <p:spPr>
          <a:xfrm>
            <a:off x="4975123" y="2369574"/>
            <a:ext cx="55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3F994C-1C8E-4E62-B325-45E2E55C6C2E}"/>
              </a:ext>
            </a:extLst>
          </p:cNvPr>
          <p:cNvSpPr txBox="1"/>
          <p:nvPr/>
        </p:nvSpPr>
        <p:spPr>
          <a:xfrm>
            <a:off x="4336026" y="1769806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obj1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F6CC6C-B269-4BB7-8EC9-42CBABDA36EF}"/>
              </a:ext>
            </a:extLst>
          </p:cNvPr>
          <p:cNvSpPr/>
          <p:nvPr/>
        </p:nvSpPr>
        <p:spPr>
          <a:xfrm>
            <a:off x="7413532" y="2601552"/>
            <a:ext cx="1199532" cy="6615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return…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D660AF-C4A3-43B3-B7C8-283551F5BCB5}"/>
              </a:ext>
            </a:extLst>
          </p:cNvPr>
          <p:cNvSpPr/>
          <p:nvPr/>
        </p:nvSpPr>
        <p:spPr>
          <a:xfrm>
            <a:off x="5840363" y="2473427"/>
            <a:ext cx="919314" cy="230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speak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BB90E2-EDD7-489F-B74F-1AEE1BFC8F56}"/>
              </a:ext>
            </a:extLst>
          </p:cNvPr>
          <p:cNvCxnSpPr>
            <a:cxnSpLocks/>
          </p:cNvCxnSpPr>
          <p:nvPr/>
        </p:nvCxnSpPr>
        <p:spPr>
          <a:xfrm>
            <a:off x="6808842" y="2625213"/>
            <a:ext cx="555525" cy="242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7B5F39E-68ED-4F88-8009-33CBE65A15CD}"/>
              </a:ext>
            </a:extLst>
          </p:cNvPr>
          <p:cNvSpPr txBox="1"/>
          <p:nvPr/>
        </p:nvSpPr>
        <p:spPr>
          <a:xfrm>
            <a:off x="7273422" y="2139138"/>
            <a:ext cx="147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function(){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F2B90D-21A4-461D-B67C-AFB31EE5A5E4}"/>
              </a:ext>
            </a:extLst>
          </p:cNvPr>
          <p:cNvSpPr/>
          <p:nvPr/>
        </p:nvSpPr>
        <p:spPr>
          <a:xfrm>
            <a:off x="5813323" y="3810580"/>
            <a:ext cx="919314" cy="230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speak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8B85C4-779B-4C80-9EF1-1B932E05E717}"/>
              </a:ext>
            </a:extLst>
          </p:cNvPr>
          <p:cNvCxnSpPr>
            <a:cxnSpLocks/>
          </p:cNvCxnSpPr>
          <p:nvPr/>
        </p:nvCxnSpPr>
        <p:spPr>
          <a:xfrm flipV="1">
            <a:off x="6807609" y="3324198"/>
            <a:ext cx="582562" cy="408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57D364B-BA1A-428D-997F-EBA7C67D9FE0}"/>
              </a:ext>
            </a:extLst>
          </p:cNvPr>
          <p:cNvSpPr/>
          <p:nvPr/>
        </p:nvSpPr>
        <p:spPr>
          <a:xfrm>
            <a:off x="4532670" y="3213360"/>
            <a:ext cx="363793" cy="36932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46A2E9-294A-4CD0-B04D-21B89A1518CC}"/>
              </a:ext>
            </a:extLst>
          </p:cNvPr>
          <p:cNvSpPr txBox="1"/>
          <p:nvPr/>
        </p:nvSpPr>
        <p:spPr>
          <a:xfrm>
            <a:off x="4532670" y="2867862"/>
            <a:ext cx="43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498855-F078-4EFF-94BE-695CD11A8C8D}"/>
              </a:ext>
            </a:extLst>
          </p:cNvPr>
          <p:cNvSpPr/>
          <p:nvPr/>
        </p:nvSpPr>
        <p:spPr>
          <a:xfrm>
            <a:off x="8753173" y="1822280"/>
            <a:ext cx="3751007" cy="835573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walk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8407B-A23D-4511-8DD2-8A0274D3C3C9}"/>
              </a:ext>
            </a:extLst>
          </p:cNvPr>
          <p:cNvSpPr txBox="1"/>
          <p:nvPr/>
        </p:nvSpPr>
        <p:spPr>
          <a:xfrm>
            <a:off x="10576979" y="1518018"/>
            <a:ext cx="147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function(){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BE5158-0E1F-453E-B8E8-238928EB9FE0}"/>
              </a:ext>
            </a:extLst>
          </p:cNvPr>
          <p:cNvSpPr txBox="1"/>
          <p:nvPr/>
        </p:nvSpPr>
        <p:spPr>
          <a:xfrm>
            <a:off x="8515412" y="1415970"/>
            <a:ext cx="202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chemeClr val="accent1"/>
                </a:solidFill>
              </a:rPr>
              <a:t>person</a:t>
            </a:r>
            <a:r>
              <a:rPr lang="en-IN" dirty="0" err="1"/>
              <a:t>.prototype</a:t>
            </a:r>
            <a:endParaRPr lang="en-IN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345E35-6022-48D2-94A9-9D08E3009F4B}"/>
              </a:ext>
            </a:extLst>
          </p:cNvPr>
          <p:cNvCxnSpPr/>
          <p:nvPr/>
        </p:nvCxnSpPr>
        <p:spPr>
          <a:xfrm>
            <a:off x="4975123" y="3388141"/>
            <a:ext cx="5506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F018F6E-E642-46FB-8B53-DCAC0ED88E73}"/>
              </a:ext>
            </a:extLst>
          </p:cNvPr>
          <p:cNvSpPr txBox="1"/>
          <p:nvPr/>
        </p:nvSpPr>
        <p:spPr>
          <a:xfrm>
            <a:off x="3883740" y="4100059"/>
            <a:ext cx="758804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Every object has it’s own copy of variable. See the diagram</a:t>
            </a:r>
          </a:p>
          <a:p>
            <a:r>
              <a:rPr lang="en-IN" dirty="0"/>
              <a:t>Obj1 has its own member name , age , speak</a:t>
            </a:r>
          </a:p>
          <a:p>
            <a:r>
              <a:rPr lang="en-IN" dirty="0"/>
              <a:t>X has its own member name, age, speak</a:t>
            </a:r>
          </a:p>
          <a:p>
            <a:r>
              <a:rPr lang="en-IN" dirty="0"/>
              <a:t>When you add method using prototype it will not create a copy for every object. You have to use function name dot prototype</a:t>
            </a:r>
          </a:p>
          <a:p>
            <a:r>
              <a:rPr lang="en-IN" dirty="0"/>
              <a:t>Prototype is a keyword.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 err="1">
                <a:solidFill>
                  <a:schemeClr val="accent1"/>
                </a:solidFill>
              </a:rPr>
              <a:t>person</a:t>
            </a:r>
            <a:r>
              <a:rPr lang="en-IN" sz="2400" b="1" dirty="0" err="1">
                <a:solidFill>
                  <a:srgbClr val="FF0000"/>
                </a:solidFill>
              </a:rPr>
              <a:t>.</a:t>
            </a:r>
            <a:r>
              <a:rPr lang="en-IN" sz="1800" dirty="0" err="1"/>
              <a:t>prototype</a:t>
            </a:r>
            <a:r>
              <a:rPr lang="en-IN" sz="2400" b="1" dirty="0" err="1">
                <a:solidFill>
                  <a:srgbClr val="FF0000"/>
                </a:solidFill>
              </a:rPr>
              <a:t>.</a:t>
            </a:r>
            <a:r>
              <a:rPr lang="en-IN" sz="1800" dirty="0" err="1"/>
              <a:t>toString</a:t>
            </a:r>
            <a:r>
              <a:rPr lang="en-IN" sz="1800" dirty="0"/>
              <a:t>= function(){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800" dirty="0"/>
              <a:t>          return this.name+ " "+</a:t>
            </a:r>
            <a:r>
              <a:rPr lang="en-IN" sz="1800" dirty="0" err="1"/>
              <a:t>this.age</a:t>
            </a:r>
            <a:r>
              <a:rPr lang="en-IN" sz="1800" dirty="0"/>
              <a:t>     }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0E8A6C-7A70-4510-9ECF-B8F6CDE9187B}"/>
              </a:ext>
            </a:extLst>
          </p:cNvPr>
          <p:cNvSpPr/>
          <p:nvPr/>
        </p:nvSpPr>
        <p:spPr>
          <a:xfrm>
            <a:off x="5604387" y="497941"/>
            <a:ext cx="1219200" cy="5471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D2EFF11-4498-4065-A769-FD3396EB2834}"/>
              </a:ext>
            </a:extLst>
          </p:cNvPr>
          <p:cNvCxnSpPr/>
          <p:nvPr/>
        </p:nvCxnSpPr>
        <p:spPr>
          <a:xfrm>
            <a:off x="6064274" y="1172645"/>
            <a:ext cx="0" cy="514670"/>
          </a:xfrm>
          <a:prstGeom prst="straightConnector1">
            <a:avLst/>
          </a:prstGeom>
          <a:ln w="952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484E974-6401-4A95-A741-E68DC2FDE2EB}"/>
              </a:ext>
            </a:extLst>
          </p:cNvPr>
          <p:cNvSpPr txBox="1"/>
          <p:nvPr/>
        </p:nvSpPr>
        <p:spPr>
          <a:xfrm>
            <a:off x="4748980" y="1246643"/>
            <a:ext cx="11602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753173" y="2723535"/>
            <a:ext cx="2571458" cy="3693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lvl="0"/>
            <a:r>
              <a:rPr lang="en-IN" dirty="0" err="1">
                <a:solidFill>
                  <a:prstClr val="white"/>
                </a:solidFill>
              </a:rPr>
              <a:t>toString</a:t>
            </a:r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56677" y="578990"/>
            <a:ext cx="2571458" cy="36933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IN" dirty="0" err="1">
                <a:solidFill>
                  <a:schemeClr val="tx1"/>
                </a:solidFill>
              </a:rPr>
              <a:t>toString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20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6B6B-939D-43CC-9A0F-345907502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187" y="0"/>
            <a:ext cx="10016613" cy="765585"/>
          </a:xfrm>
        </p:spPr>
        <p:txBody>
          <a:bodyPr/>
          <a:lstStyle/>
          <a:p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Difference: add method  as instance member and add method through prototype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7EC3D-EB8E-4CB1-9DB7-263117B17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6" y="668594"/>
            <a:ext cx="6346574" cy="5508369"/>
          </a:xfrm>
        </p:spPr>
        <p:txBody>
          <a:bodyPr/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Instance method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slow in performance as it will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allocate  memory for every object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Prototype method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provide better performance as it will stored in </a:t>
            </a:r>
            <a:r>
              <a:rPr lang="en-IN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separate memory block (virtual table) 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every object will have same copy of function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Instance method can make use of private variable </a:t>
            </a:r>
            <a:r>
              <a:rPr lang="en-IN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eg</a:t>
            </a: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if you have declare var x in function person Instance method can have access to this variable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Prototype method can not access variable declared in function with var key word as scope of var will be within the function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014F4-EFAB-471B-BD2F-41ED718E9D7C}"/>
              </a:ext>
            </a:extLst>
          </p:cNvPr>
          <p:cNvSpPr txBox="1"/>
          <p:nvPr/>
        </p:nvSpPr>
        <p:spPr>
          <a:xfrm>
            <a:off x="7139709" y="668594"/>
            <a:ext cx="3934691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nm,ag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  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var x</a:t>
            </a:r>
            <a:r>
              <a:rPr lang="en-IN" sz="1200" dirty="0">
                <a:solidFill>
                  <a:prstClr val="black"/>
                </a:solidFill>
                <a:highlight>
                  <a:srgbClr val="FFFF00"/>
                </a:highlight>
                <a:latin typeface="Calibri" panose="020F0502020204030204"/>
              </a:rPr>
              <a:t>=“blue”;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this.name=nm;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this.age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=ag;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this.speak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=function(){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return " hello "+this.name+” 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”+x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alert(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this.constructor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.prototype.walk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=function(){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return this.name+" can walk ";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person.prototype.toString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function(){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return this.name+ " "+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this.age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4118704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BE9F-7618-41D6-87F4-9367DC75B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194" y="-106824"/>
            <a:ext cx="10075606" cy="686927"/>
          </a:xfrm>
        </p:spPr>
        <p:txBody>
          <a:bodyPr>
            <a:normAutofit fontScale="90000"/>
          </a:bodyPr>
          <a:lstStyle/>
          <a:p>
            <a:r>
              <a:rPr lang="en-IN" dirty="0"/>
              <a:t>Call and apply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5208-27AE-4AAC-845D-6AA025D98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0782"/>
            <a:ext cx="11088329" cy="454289"/>
          </a:xfrm>
        </p:spPr>
        <p:txBody>
          <a:bodyPr>
            <a:normAutofit/>
          </a:bodyPr>
          <a:lstStyle/>
          <a:p>
            <a:r>
              <a:rPr lang="en-US" sz="2400" dirty="0"/>
              <a:t>With the call() method, you can write a method that can be used on different objects.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C35155-C4F2-4058-ACB6-5965D5A52094}"/>
              </a:ext>
            </a:extLst>
          </p:cNvPr>
          <p:cNvSpPr txBox="1"/>
          <p:nvPr/>
        </p:nvSpPr>
        <p:spPr>
          <a:xfrm>
            <a:off x="265471" y="928663"/>
            <a:ext cx="475881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objperson</a:t>
            </a:r>
            <a:r>
              <a:rPr lang="en-IN" dirty="0">
                <a:solidFill>
                  <a:srgbClr val="000000"/>
                </a:solidFill>
                <a:effectLst/>
              </a:rPr>
              <a:t> =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</a:t>
            </a:r>
            <a:r>
              <a:rPr lang="en-IN" dirty="0" err="1">
                <a:solidFill>
                  <a:srgbClr val="000000"/>
                </a:solidFill>
                <a:effectLst/>
              </a:rPr>
              <a:t>firstName</a:t>
            </a:r>
            <a:r>
              <a:rPr lang="en-IN" dirty="0">
                <a:solidFill>
                  <a:srgbClr val="000000"/>
                </a:solidFill>
                <a:effectLst/>
              </a:rPr>
              <a:t>:</a:t>
            </a:r>
            <a:r>
              <a:rPr lang="en-IN" dirty="0">
                <a:solidFill>
                  <a:srgbClr val="A52A2A"/>
                </a:solidFill>
                <a:effectLst/>
              </a:rPr>
              <a:t>"John"</a:t>
            </a:r>
            <a:r>
              <a:rPr lang="en-IN" dirty="0">
                <a:solidFill>
                  <a:srgbClr val="000000"/>
                </a:solidFill>
                <a:effectLst/>
              </a:rPr>
              <a:t>,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</a:t>
            </a:r>
            <a:r>
              <a:rPr lang="en-IN" dirty="0" err="1">
                <a:solidFill>
                  <a:srgbClr val="000000"/>
                </a:solidFill>
                <a:effectLst/>
              </a:rPr>
              <a:t>lastName</a:t>
            </a:r>
            <a:r>
              <a:rPr lang="en-IN" dirty="0">
                <a:solidFill>
                  <a:srgbClr val="000000"/>
                </a:solidFill>
                <a:effectLst/>
              </a:rPr>
              <a:t>: </a:t>
            </a:r>
            <a:r>
              <a:rPr lang="en-IN" dirty="0">
                <a:solidFill>
                  <a:srgbClr val="A52A2A"/>
                </a:solidFill>
                <a:effectLst/>
              </a:rPr>
              <a:t>"Doe"</a:t>
            </a:r>
            <a:r>
              <a:rPr lang="en-IN" dirty="0">
                <a:solidFill>
                  <a:srgbClr val="000000"/>
                </a:solidFill>
                <a:effectLst/>
              </a:rPr>
              <a:t>,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 </a:t>
            </a:r>
            <a:r>
              <a:rPr lang="en-IN" dirty="0" err="1">
                <a:solidFill>
                  <a:srgbClr val="000000"/>
                </a:solidFill>
                <a:effectLst/>
              </a:rPr>
              <a:t>fullName</a:t>
            </a:r>
            <a:r>
              <a:rPr lang="en-IN" dirty="0">
                <a:solidFill>
                  <a:srgbClr val="000000"/>
                </a:solidFill>
                <a:effectLst/>
              </a:rPr>
              <a:t>: </a:t>
            </a:r>
            <a:r>
              <a:rPr lang="en-IN" dirty="0">
                <a:solidFill>
                  <a:srgbClr val="0000CD"/>
                </a:solidFill>
                <a:effectLst/>
              </a:rPr>
              <a:t>function</a:t>
            </a:r>
            <a:r>
              <a:rPr lang="en-IN" dirty="0">
                <a:solidFill>
                  <a:srgbClr val="000000"/>
                </a:solidFill>
                <a:effectLst/>
              </a:rPr>
              <a:t> ()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  </a:t>
            </a:r>
            <a:r>
              <a:rPr lang="en-IN" dirty="0">
                <a:solidFill>
                  <a:srgbClr val="0000CD"/>
                </a:solidFill>
                <a:effectLst/>
              </a:rPr>
              <a:t>return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CD"/>
                </a:solidFill>
                <a:effectLst/>
              </a:rPr>
              <a:t>this</a:t>
            </a:r>
            <a:r>
              <a:rPr lang="en-IN" dirty="0" err="1">
                <a:solidFill>
                  <a:srgbClr val="000000"/>
                </a:solidFill>
                <a:effectLst/>
              </a:rPr>
              <a:t>.firstName</a:t>
            </a:r>
            <a:r>
              <a:rPr lang="en-IN" dirty="0">
                <a:solidFill>
                  <a:srgbClr val="000000"/>
                </a:solidFill>
                <a:effectLst/>
              </a:rPr>
              <a:t> + </a:t>
            </a:r>
            <a:r>
              <a:rPr lang="en-IN" dirty="0">
                <a:solidFill>
                  <a:srgbClr val="A52A2A"/>
                </a:solidFill>
                <a:effectLst/>
              </a:rPr>
              <a:t>" "</a:t>
            </a:r>
            <a:r>
              <a:rPr lang="en-IN" dirty="0">
                <a:solidFill>
                  <a:srgbClr val="000000"/>
                </a:solidFill>
                <a:effectLst/>
              </a:rPr>
              <a:t> + </a:t>
            </a:r>
            <a:r>
              <a:rPr lang="en-IN" dirty="0" err="1">
                <a:solidFill>
                  <a:srgbClr val="0000CD"/>
                </a:solidFill>
                <a:effectLst/>
              </a:rPr>
              <a:t>this</a:t>
            </a:r>
            <a:r>
              <a:rPr lang="en-IN" dirty="0" err="1">
                <a:solidFill>
                  <a:srgbClr val="000000"/>
                </a:solidFill>
                <a:effectLst/>
              </a:rPr>
              <a:t>.lastName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 err="1">
                <a:solidFill>
                  <a:srgbClr val="000000"/>
                </a:solidFill>
                <a:effectLst/>
              </a:rPr>
              <a:t>objperson.fullName</a:t>
            </a:r>
            <a:r>
              <a:rPr lang="en-IN" dirty="0">
                <a:solidFill>
                  <a:srgbClr val="000000"/>
                </a:solidFill>
                <a:effectLst/>
              </a:rPr>
              <a:t>();   </a:t>
            </a:r>
            <a:r>
              <a:rPr lang="en-IN" dirty="0">
                <a:solidFill>
                  <a:srgbClr val="008000"/>
                </a:solidFill>
                <a:effectLst/>
              </a:rPr>
              <a:t>// Will return "John Doe" </a:t>
            </a:r>
            <a:endParaRPr lang="en-IN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C5608E6-BDDF-42CF-BF46-78E335C54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068" y="713195"/>
            <a:ext cx="762737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function definition,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refers to the "owner" of the function.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example above,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this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obj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"owns"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other words,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this.firstName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means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property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CE482-117A-448C-B3DF-4DFD52897B5E}"/>
              </a:ext>
            </a:extLst>
          </p:cNvPr>
          <p:cNvSpPr txBox="1"/>
          <p:nvPr/>
        </p:nvSpPr>
        <p:spPr>
          <a:xfrm>
            <a:off x="0" y="3429000"/>
            <a:ext cx="52504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call() method is a predefined JavaScript method.</a:t>
            </a:r>
          </a:p>
          <a:p>
            <a:endParaRPr lang="en-US" dirty="0"/>
          </a:p>
          <a:p>
            <a:r>
              <a:rPr lang="en-US" dirty="0"/>
              <a:t>It can be used to invoke (call) a method with an owner object as an argument (parameter).</a:t>
            </a:r>
          </a:p>
          <a:p>
            <a:endParaRPr lang="en-US" dirty="0"/>
          </a:p>
          <a:p>
            <a:r>
              <a:rPr lang="en-US" dirty="0"/>
              <a:t>With call(), an object can use a method belonging to another object.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F69EB6-F347-4839-ABFE-ED842439D94D}"/>
              </a:ext>
            </a:extLst>
          </p:cNvPr>
          <p:cNvSpPr txBox="1"/>
          <p:nvPr/>
        </p:nvSpPr>
        <p:spPr>
          <a:xfrm>
            <a:off x="5520199" y="1923504"/>
            <a:ext cx="61353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00"/>
                </a:solidFill>
                <a:effectLst/>
              </a:rPr>
              <a:t>objperson</a:t>
            </a:r>
            <a:r>
              <a:rPr lang="en-IN" dirty="0">
                <a:solidFill>
                  <a:srgbClr val="000000"/>
                </a:solidFill>
                <a:effectLst/>
              </a:rPr>
              <a:t> =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</a:t>
            </a:r>
            <a:r>
              <a:rPr lang="en-IN" b="1" dirty="0" err="1">
                <a:solidFill>
                  <a:srgbClr val="000000"/>
                </a:solidFill>
                <a:effectLst/>
              </a:rPr>
              <a:t>fullName</a:t>
            </a:r>
            <a:r>
              <a:rPr lang="en-IN" dirty="0">
                <a:solidFill>
                  <a:srgbClr val="000000"/>
                </a:solidFill>
                <a:effectLst/>
              </a:rPr>
              <a:t>: </a:t>
            </a:r>
            <a:r>
              <a:rPr lang="en-IN" dirty="0">
                <a:solidFill>
                  <a:srgbClr val="0000CD"/>
                </a:solidFill>
                <a:effectLst/>
              </a:rPr>
              <a:t>function</a:t>
            </a:r>
            <a:r>
              <a:rPr lang="en-IN" dirty="0">
                <a:solidFill>
                  <a:srgbClr val="000000"/>
                </a:solidFill>
                <a:effectLst/>
              </a:rPr>
              <a:t>()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  </a:t>
            </a:r>
            <a:r>
              <a:rPr lang="en-IN" dirty="0">
                <a:solidFill>
                  <a:srgbClr val="0000CD"/>
                </a:solidFill>
                <a:effectLst/>
              </a:rPr>
              <a:t>return</a:t>
            </a:r>
            <a:r>
              <a:rPr lang="en-IN" dirty="0">
                <a:solidFill>
                  <a:srgbClr val="000000"/>
                </a:solidFill>
                <a:effectLst/>
              </a:rPr>
              <a:t> </a:t>
            </a:r>
            <a:r>
              <a:rPr lang="en-IN" dirty="0" err="1">
                <a:solidFill>
                  <a:srgbClr val="0000CD"/>
                </a:solidFill>
                <a:effectLst/>
              </a:rPr>
              <a:t>this</a:t>
            </a:r>
            <a:r>
              <a:rPr lang="en-IN" dirty="0" err="1">
                <a:solidFill>
                  <a:srgbClr val="000000"/>
                </a:solidFill>
                <a:effectLst/>
              </a:rPr>
              <a:t>.firstName</a:t>
            </a:r>
            <a:r>
              <a:rPr lang="en-IN" dirty="0">
                <a:solidFill>
                  <a:srgbClr val="000000"/>
                </a:solidFill>
                <a:effectLst/>
              </a:rPr>
              <a:t> + </a:t>
            </a:r>
            <a:r>
              <a:rPr lang="en-IN" dirty="0">
                <a:solidFill>
                  <a:srgbClr val="A52A2A"/>
                </a:solidFill>
                <a:effectLst/>
              </a:rPr>
              <a:t>" "</a:t>
            </a:r>
            <a:r>
              <a:rPr lang="en-IN" dirty="0">
                <a:solidFill>
                  <a:srgbClr val="000000"/>
                </a:solidFill>
                <a:effectLst/>
              </a:rPr>
              <a:t> + </a:t>
            </a:r>
            <a:r>
              <a:rPr lang="en-IN" dirty="0" err="1">
                <a:solidFill>
                  <a:srgbClr val="0000CD"/>
                </a:solidFill>
                <a:effectLst/>
              </a:rPr>
              <a:t>this</a:t>
            </a:r>
            <a:r>
              <a:rPr lang="en-IN" dirty="0" err="1">
                <a:solidFill>
                  <a:srgbClr val="000000"/>
                </a:solidFill>
                <a:effectLst/>
              </a:rPr>
              <a:t>.lastName</a:t>
            </a:r>
            <a:r>
              <a:rPr lang="en-IN" dirty="0">
                <a:solidFill>
                  <a:srgbClr val="000000"/>
                </a:solidFill>
                <a:effectLst/>
              </a:rPr>
              <a:t>;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objperson1 =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 </a:t>
            </a:r>
            <a:r>
              <a:rPr lang="en-IN" dirty="0" err="1">
                <a:solidFill>
                  <a:srgbClr val="000000"/>
                </a:solidFill>
                <a:effectLst/>
              </a:rPr>
              <a:t>firstName</a:t>
            </a:r>
            <a:r>
              <a:rPr lang="en-IN" dirty="0">
                <a:solidFill>
                  <a:srgbClr val="000000"/>
                </a:solidFill>
                <a:effectLst/>
              </a:rPr>
              <a:t>:</a:t>
            </a:r>
            <a:r>
              <a:rPr lang="en-IN" dirty="0">
                <a:solidFill>
                  <a:srgbClr val="A52A2A"/>
                </a:solidFill>
                <a:effectLst/>
              </a:rPr>
              <a:t>"John"</a:t>
            </a:r>
            <a:r>
              <a:rPr lang="en-IN" dirty="0">
                <a:solidFill>
                  <a:srgbClr val="000000"/>
                </a:solidFill>
                <a:effectLst/>
              </a:rPr>
              <a:t>,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 </a:t>
            </a:r>
            <a:r>
              <a:rPr lang="en-IN" dirty="0" err="1">
                <a:solidFill>
                  <a:srgbClr val="000000"/>
                </a:solidFill>
                <a:effectLst/>
              </a:rPr>
              <a:t>lastName</a:t>
            </a:r>
            <a:r>
              <a:rPr lang="en-IN" dirty="0">
                <a:solidFill>
                  <a:srgbClr val="000000"/>
                </a:solidFill>
                <a:effectLst/>
              </a:rPr>
              <a:t>: </a:t>
            </a:r>
            <a:r>
              <a:rPr lang="en-IN" dirty="0">
                <a:solidFill>
                  <a:srgbClr val="A52A2A"/>
                </a:solidFill>
                <a:effectLst/>
              </a:rPr>
              <a:t>"Doe"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CD"/>
                </a:solidFill>
                <a:effectLst/>
              </a:rPr>
              <a:t>var</a:t>
            </a:r>
            <a:r>
              <a:rPr lang="en-IN" dirty="0">
                <a:solidFill>
                  <a:srgbClr val="000000"/>
                </a:solidFill>
                <a:effectLst/>
              </a:rPr>
              <a:t> objperson2 = {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 </a:t>
            </a:r>
            <a:r>
              <a:rPr lang="en-IN" dirty="0" err="1">
                <a:solidFill>
                  <a:srgbClr val="000000"/>
                </a:solidFill>
                <a:effectLst/>
              </a:rPr>
              <a:t>firstName</a:t>
            </a:r>
            <a:r>
              <a:rPr lang="en-IN" dirty="0">
                <a:solidFill>
                  <a:srgbClr val="000000"/>
                </a:solidFill>
                <a:effectLst/>
              </a:rPr>
              <a:t>:</a:t>
            </a:r>
            <a:r>
              <a:rPr lang="en-IN" dirty="0">
                <a:solidFill>
                  <a:srgbClr val="A52A2A"/>
                </a:solidFill>
                <a:effectLst/>
              </a:rPr>
              <a:t>"Mary"</a:t>
            </a:r>
            <a:r>
              <a:rPr lang="en-IN" dirty="0">
                <a:solidFill>
                  <a:srgbClr val="000000"/>
                </a:solidFill>
                <a:effectLst/>
              </a:rPr>
              <a:t>,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  </a:t>
            </a:r>
            <a:r>
              <a:rPr lang="en-IN" dirty="0" err="1">
                <a:solidFill>
                  <a:srgbClr val="000000"/>
                </a:solidFill>
                <a:effectLst/>
              </a:rPr>
              <a:t>lastName</a:t>
            </a:r>
            <a:r>
              <a:rPr lang="en-IN" dirty="0">
                <a:solidFill>
                  <a:srgbClr val="000000"/>
                </a:solidFill>
                <a:effectLst/>
              </a:rPr>
              <a:t>: </a:t>
            </a:r>
            <a:r>
              <a:rPr lang="en-IN" dirty="0">
                <a:solidFill>
                  <a:srgbClr val="A52A2A"/>
                </a:solidFill>
                <a:effectLst/>
              </a:rPr>
              <a:t>"Doe"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>
                <a:solidFill>
                  <a:srgbClr val="000000"/>
                </a:solidFill>
                <a:effectLst/>
              </a:rPr>
              <a:t>}</a:t>
            </a:r>
            <a:br>
              <a:rPr lang="en-IN" dirty="0">
                <a:solidFill>
                  <a:srgbClr val="000000"/>
                </a:solidFill>
                <a:effectLst/>
              </a:rPr>
            </a:br>
            <a:r>
              <a:rPr lang="en-IN" dirty="0" err="1">
                <a:solidFill>
                  <a:srgbClr val="000000"/>
                </a:solidFill>
                <a:effectLst/>
              </a:rPr>
              <a:t>objperson.fullName.call</a:t>
            </a:r>
            <a:r>
              <a:rPr lang="en-IN" dirty="0">
                <a:solidFill>
                  <a:srgbClr val="000000"/>
                </a:solidFill>
                <a:effectLst/>
              </a:rPr>
              <a:t>(obj</a:t>
            </a:r>
            <a:r>
              <a:rPr lang="en-IN" b="1" dirty="0">
                <a:solidFill>
                  <a:srgbClr val="000000"/>
                </a:solidFill>
                <a:effectLst/>
              </a:rPr>
              <a:t>person1</a:t>
            </a:r>
            <a:r>
              <a:rPr lang="en-IN" dirty="0">
                <a:solidFill>
                  <a:srgbClr val="000000"/>
                </a:solidFill>
                <a:effectLst/>
              </a:rPr>
              <a:t>);  </a:t>
            </a:r>
            <a:r>
              <a:rPr lang="en-IN" dirty="0">
                <a:solidFill>
                  <a:srgbClr val="008000"/>
                </a:solidFill>
                <a:effectLst/>
              </a:rPr>
              <a:t>// Will return "John Doe“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</a:rPr>
              <a:t>objperson.fullName.call</a:t>
            </a:r>
            <a:r>
              <a:rPr lang="en-US" dirty="0">
                <a:solidFill>
                  <a:srgbClr val="000000"/>
                </a:solidFill>
                <a:effectLst/>
              </a:rPr>
              <a:t>(obj</a:t>
            </a:r>
            <a:r>
              <a:rPr lang="en-US" b="1" dirty="0">
                <a:solidFill>
                  <a:srgbClr val="000000"/>
                </a:solidFill>
                <a:effectLst/>
              </a:rPr>
              <a:t>person2</a:t>
            </a:r>
            <a:r>
              <a:rPr lang="en-US" dirty="0">
                <a:solidFill>
                  <a:srgbClr val="000000"/>
                </a:solidFill>
                <a:effectLst/>
              </a:rPr>
              <a:t>);  </a:t>
            </a:r>
            <a:r>
              <a:rPr lang="en-US" dirty="0">
                <a:solidFill>
                  <a:srgbClr val="008000"/>
                </a:solidFill>
                <a:effectLst/>
              </a:rPr>
              <a:t>// Will return "Mary Doe" </a:t>
            </a:r>
            <a:r>
              <a:rPr lang="en-IN" dirty="0">
                <a:solidFill>
                  <a:srgbClr val="008000"/>
                </a:solidFill>
                <a:effectLst/>
              </a:rPr>
              <a:t>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367374-48CB-416C-8606-BCFC057B3C0D}"/>
              </a:ext>
            </a:extLst>
          </p:cNvPr>
          <p:cNvSpPr/>
          <p:nvPr/>
        </p:nvSpPr>
        <p:spPr>
          <a:xfrm>
            <a:off x="8575779" y="4356831"/>
            <a:ext cx="674255" cy="544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Jone</a:t>
            </a:r>
            <a:endParaRPr lang="en-IN" dirty="0"/>
          </a:p>
          <a:p>
            <a:pPr algn="ctr"/>
            <a:r>
              <a:rPr lang="en-IN" dirty="0"/>
              <a:t>Doe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613A90-74F1-4164-B2B0-4322E76AB11C}"/>
              </a:ext>
            </a:extLst>
          </p:cNvPr>
          <p:cNvSpPr/>
          <p:nvPr/>
        </p:nvSpPr>
        <p:spPr>
          <a:xfrm>
            <a:off x="10315286" y="4375388"/>
            <a:ext cx="674255" cy="544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Mary</a:t>
            </a:r>
          </a:p>
          <a:p>
            <a:pPr algn="ctr"/>
            <a:r>
              <a:rPr lang="en-IN" dirty="0"/>
              <a:t>Doe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2678C-CF5D-452A-9BC7-6FE8C5E9C042}"/>
              </a:ext>
            </a:extLst>
          </p:cNvPr>
          <p:cNvSpPr txBox="1"/>
          <p:nvPr/>
        </p:nvSpPr>
        <p:spPr>
          <a:xfrm>
            <a:off x="7702973" y="4375388"/>
            <a:ext cx="840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objperson1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D787FE5-70B9-44B6-A16D-A889F157796B}"/>
              </a:ext>
            </a:extLst>
          </p:cNvPr>
          <p:cNvCxnSpPr/>
          <p:nvPr/>
        </p:nvCxnSpPr>
        <p:spPr>
          <a:xfrm>
            <a:off x="7934036" y="4629304"/>
            <a:ext cx="609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040C213-4FAF-4A71-8C7D-665003CFA753}"/>
              </a:ext>
            </a:extLst>
          </p:cNvPr>
          <p:cNvCxnSpPr/>
          <p:nvPr/>
        </p:nvCxnSpPr>
        <p:spPr>
          <a:xfrm>
            <a:off x="9705685" y="4739843"/>
            <a:ext cx="609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7857338-765E-401B-B5C4-096A641D26BF}"/>
              </a:ext>
            </a:extLst>
          </p:cNvPr>
          <p:cNvSpPr txBox="1"/>
          <p:nvPr/>
        </p:nvSpPr>
        <p:spPr>
          <a:xfrm>
            <a:off x="9233755" y="4841591"/>
            <a:ext cx="840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objperson2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4CA2F3-60FE-4156-8F2F-B8EE6D6E1CCB}"/>
              </a:ext>
            </a:extLst>
          </p:cNvPr>
          <p:cNvSpPr txBox="1"/>
          <p:nvPr/>
        </p:nvSpPr>
        <p:spPr>
          <a:xfrm>
            <a:off x="7917423" y="3110029"/>
            <a:ext cx="840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 err="1"/>
              <a:t>objperson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C567C6-409B-4E3A-82EA-D93489903108}"/>
              </a:ext>
            </a:extLst>
          </p:cNvPr>
          <p:cNvSpPr/>
          <p:nvPr/>
        </p:nvSpPr>
        <p:spPr>
          <a:xfrm>
            <a:off x="8807369" y="2909615"/>
            <a:ext cx="1238143" cy="5449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accent1"/>
                </a:solidFill>
                <a:highlight>
                  <a:srgbClr val="FFFF00"/>
                </a:highlight>
              </a:rPr>
              <a:t>fullName</a:t>
            </a:r>
            <a:endParaRPr lang="en-IN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631239-E917-43F9-ACC0-2E9BF8F028C0}"/>
              </a:ext>
            </a:extLst>
          </p:cNvPr>
          <p:cNvCxnSpPr/>
          <p:nvPr/>
        </p:nvCxnSpPr>
        <p:spPr>
          <a:xfrm>
            <a:off x="8283062" y="3361213"/>
            <a:ext cx="6096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D8782BB-E1BA-4211-AB0F-7737EFF3EF2E}"/>
              </a:ext>
            </a:extLst>
          </p:cNvPr>
          <p:cNvSpPr/>
          <p:nvPr/>
        </p:nvSpPr>
        <p:spPr>
          <a:xfrm>
            <a:off x="10315285" y="2974109"/>
            <a:ext cx="1836157" cy="6465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Function</a:t>
            </a:r>
          </a:p>
          <a:p>
            <a:pPr algn="ctr"/>
            <a:r>
              <a:rPr lang="en-IN" sz="1200" dirty="0"/>
              <a:t>this(objperson1)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0173B-3D07-4084-8672-1E12E04B5746}"/>
              </a:ext>
            </a:extLst>
          </p:cNvPr>
          <p:cNvSpPr/>
          <p:nvPr/>
        </p:nvSpPr>
        <p:spPr>
          <a:xfrm>
            <a:off x="8054109" y="3363945"/>
            <a:ext cx="483487" cy="3767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D946BE-D1D0-4C1A-8EA6-1D06AF70F795}"/>
              </a:ext>
            </a:extLst>
          </p:cNvPr>
          <p:cNvSpPr/>
          <p:nvPr/>
        </p:nvSpPr>
        <p:spPr>
          <a:xfrm>
            <a:off x="7723022" y="4653200"/>
            <a:ext cx="483487" cy="3767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F04DB6-20BC-4C34-B5C4-5BE6F214552D}"/>
              </a:ext>
            </a:extLst>
          </p:cNvPr>
          <p:cNvCxnSpPr>
            <a:endCxn id="18" idx="1"/>
          </p:cNvCxnSpPr>
          <p:nvPr/>
        </p:nvCxnSpPr>
        <p:spPr>
          <a:xfrm>
            <a:off x="9938656" y="3236987"/>
            <a:ext cx="376629" cy="60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A03F0D67-ADEE-4ED0-82ED-9434F1EC36D8}"/>
              </a:ext>
            </a:extLst>
          </p:cNvPr>
          <p:cNvSpPr/>
          <p:nvPr/>
        </p:nvSpPr>
        <p:spPr>
          <a:xfrm>
            <a:off x="9643483" y="5080727"/>
            <a:ext cx="483487" cy="3767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09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2C91-7427-4FB5-A17C-894D527A6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670" y="0"/>
            <a:ext cx="6135330" cy="745920"/>
          </a:xfrm>
        </p:spPr>
        <p:txBody>
          <a:bodyPr>
            <a:normAutofit/>
          </a:bodyPr>
          <a:lstStyle/>
          <a:p>
            <a:r>
              <a:rPr lang="en-US" sz="3200" b="1" dirty="0"/>
              <a:t>The call() Method with Arguments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7D66-7650-4BB5-908D-F2FF266DB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935" y="869873"/>
            <a:ext cx="10508226" cy="4665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fullName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","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+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country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person1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"John"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"Doe"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"Mary"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"Doe"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person.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fullName.call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(person1,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 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Mumbai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 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india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88482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91BD6-2122-4B34-A8C0-C521A193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0" y="0"/>
            <a:ext cx="9819968" cy="519778"/>
          </a:xfrm>
        </p:spPr>
        <p:txBody>
          <a:bodyPr>
            <a:normAutofit/>
          </a:bodyPr>
          <a:lstStyle/>
          <a:p>
            <a:r>
              <a:rPr lang="en-US" sz="2000" dirty="0"/>
              <a:t>The apply()  is same as call bit this method takes arguments as an array.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FAA-3AE8-4CD7-9DEF-084ED3823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8" y="950554"/>
            <a:ext cx="7843088" cy="4351338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city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country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al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(this)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 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","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city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","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+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country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"John"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"Doe"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person2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{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firstName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"Mary"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lastName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"Doe"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fullName.apply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(person1,[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Mumbai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"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india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CA5AB3-847A-4434-AABC-C1F92B4AE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87" y="5249799"/>
            <a:ext cx="1196585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JavaScript strict mode, if the first argument of the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apply()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method is not an object, it becomes the owner (object) of the invoked function. In "non-strict" mode, it becomes the global object.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TRY: no===</a:t>
            </a:r>
            <a:r>
              <a:rPr lang="en-US" altLang="en-US" sz="1400" dirty="0">
                <a:latin typeface="Arial" panose="020B0604020202020204" pitchFamily="34" charset="0"/>
              </a:rPr>
              <a:t>‘’use strict”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fullName.apply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(this,[“Mumbai”,”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india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”])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here this will become window object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42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C1A275-980A-4635-BD51-968A02007B4D}"/>
              </a:ext>
            </a:extLst>
          </p:cNvPr>
          <p:cNvSpPr/>
          <p:nvPr/>
        </p:nvSpPr>
        <p:spPr>
          <a:xfrm>
            <a:off x="1330036" y="2697018"/>
            <a:ext cx="3472871" cy="268778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6DE3A7-C71A-4EDA-9F96-13D8D290C96E}"/>
              </a:ext>
            </a:extLst>
          </p:cNvPr>
          <p:cNvSpPr/>
          <p:nvPr/>
        </p:nvSpPr>
        <p:spPr>
          <a:xfrm>
            <a:off x="1463962" y="466439"/>
            <a:ext cx="1838036" cy="10067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Object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C87610-1741-4574-880D-6A1247352E28}"/>
              </a:ext>
            </a:extLst>
          </p:cNvPr>
          <p:cNvCxnSpPr>
            <a:cxnSpLocks/>
          </p:cNvCxnSpPr>
          <p:nvPr/>
        </p:nvCxnSpPr>
        <p:spPr>
          <a:xfrm>
            <a:off x="2549236" y="1473202"/>
            <a:ext cx="0" cy="1454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AF5A4E5-A2EB-4ACC-967F-CFA633E11A25}"/>
              </a:ext>
            </a:extLst>
          </p:cNvPr>
          <p:cNvSpPr/>
          <p:nvPr/>
        </p:nvSpPr>
        <p:spPr>
          <a:xfrm>
            <a:off x="1893455" y="3011055"/>
            <a:ext cx="1902690" cy="1302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function Person(){}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BB59D6-FAC0-48B5-8044-FBAE2A15011B}"/>
              </a:ext>
            </a:extLst>
          </p:cNvPr>
          <p:cNvCxnSpPr>
            <a:cxnSpLocks/>
          </p:cNvCxnSpPr>
          <p:nvPr/>
        </p:nvCxnSpPr>
        <p:spPr>
          <a:xfrm>
            <a:off x="3962400" y="3429000"/>
            <a:ext cx="1958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39BEDC4-6088-4EE0-AF54-E5308E315BAD}"/>
              </a:ext>
            </a:extLst>
          </p:cNvPr>
          <p:cNvSpPr/>
          <p:nvPr/>
        </p:nvSpPr>
        <p:spPr>
          <a:xfrm>
            <a:off x="6271491" y="2586182"/>
            <a:ext cx="2890980" cy="172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Function(){}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8E12FB-6C6C-481B-8577-0F3D74DC4CD8}"/>
              </a:ext>
            </a:extLst>
          </p:cNvPr>
          <p:cNvCxnSpPr>
            <a:cxnSpLocks/>
          </p:cNvCxnSpPr>
          <p:nvPr/>
        </p:nvCxnSpPr>
        <p:spPr>
          <a:xfrm flipH="1">
            <a:off x="3742670" y="1573646"/>
            <a:ext cx="868219" cy="131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D1DED9E-E4A9-4B8F-90A8-A692380C86B7}"/>
              </a:ext>
            </a:extLst>
          </p:cNvPr>
          <p:cNvSpPr/>
          <p:nvPr/>
        </p:nvSpPr>
        <p:spPr>
          <a:xfrm>
            <a:off x="3678014" y="1007342"/>
            <a:ext cx="3232730" cy="1006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Window</a:t>
            </a:r>
          </a:p>
        </p:txBody>
      </p:sp>
    </p:spTree>
    <p:extLst>
      <p:ext uri="{BB962C8B-B14F-4D97-AF65-F5344CB8AC3E}">
        <p14:creationId xmlns:p14="http://schemas.microsoft.com/office/powerpoint/2010/main" val="698146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A1360-4F61-421B-A550-C3D2B8CA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55" y="-6015"/>
            <a:ext cx="9505376" cy="365704"/>
          </a:xfrm>
        </p:spPr>
        <p:txBody>
          <a:bodyPr>
            <a:noAutofit/>
          </a:bodyPr>
          <a:lstStyle/>
          <a:p>
            <a:r>
              <a:rPr lang="en-IN" sz="3600" dirty="0"/>
              <a:t>Inheritance older syntax has changed to extends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E4984-C8E9-457C-ACE7-DD39DD269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85" y="785091"/>
            <a:ext cx="5116943" cy="48398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 strict"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speak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 this is not a function"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 </a:t>
            </a: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"parent 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classmethod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data"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 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C9BD4F-6020-4339-980B-9A6B6985FCD1}"/>
              </a:ext>
            </a:extLst>
          </p:cNvPr>
          <p:cNvSpPr txBox="1"/>
          <p:nvPr/>
        </p:nvSpPr>
        <p:spPr>
          <a:xfrm>
            <a:off x="5412509" y="535900"/>
            <a:ext cx="613294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"raj"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80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"mona"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90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//child class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prototype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prototype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44C5F-779F-4931-9516-704F0C58D41E}"/>
              </a:ext>
            </a:extLst>
          </p:cNvPr>
          <p:cNvSpPr txBox="1"/>
          <p:nvPr/>
        </p:nvSpPr>
        <p:spPr>
          <a:xfrm>
            <a:off x="5116946" y="5155624"/>
            <a:ext cx="613294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//child got access to parent method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54BD6E-2332-4512-9EE2-D23E71B05B4B}"/>
              </a:ext>
            </a:extLst>
          </p:cNvPr>
          <p:cNvSpPr/>
          <p:nvPr/>
        </p:nvSpPr>
        <p:spPr>
          <a:xfrm>
            <a:off x="10030690" y="3730340"/>
            <a:ext cx="1219200" cy="840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child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0232F0-7885-48FE-9092-B07BB91FDA0E}"/>
              </a:ext>
            </a:extLst>
          </p:cNvPr>
          <p:cNvSpPr/>
          <p:nvPr/>
        </p:nvSpPr>
        <p:spPr>
          <a:xfrm>
            <a:off x="8783782" y="4147127"/>
            <a:ext cx="471054" cy="45258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30D275C-A40F-4CC0-923F-6CDF3FF53DC7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9254836" y="4179166"/>
            <a:ext cx="692728" cy="194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7C075728-DBAB-4714-8CB5-3C7B32AA7CED}"/>
              </a:ext>
            </a:extLst>
          </p:cNvPr>
          <p:cNvSpPr/>
          <p:nvPr/>
        </p:nvSpPr>
        <p:spPr>
          <a:xfrm>
            <a:off x="9652003" y="2051631"/>
            <a:ext cx="1099125" cy="792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6DE233-D586-42B6-B3B5-5F2A255A9B1A}"/>
              </a:ext>
            </a:extLst>
          </p:cNvPr>
          <p:cNvSpPr/>
          <p:nvPr/>
        </p:nvSpPr>
        <p:spPr>
          <a:xfrm>
            <a:off x="10898909" y="2574061"/>
            <a:ext cx="1145306" cy="52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display</a:t>
            </a:r>
          </a:p>
          <a:p>
            <a:pPr algn="ctr"/>
            <a:r>
              <a:rPr lang="en-US" dirty="0" err="1"/>
              <a:t>toString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A3106E-D1BA-4B1A-B6F0-817B6183307B}"/>
              </a:ext>
            </a:extLst>
          </p:cNvPr>
          <p:cNvCxnSpPr>
            <a:cxnSpLocks/>
          </p:cNvCxnSpPr>
          <p:nvPr/>
        </p:nvCxnSpPr>
        <p:spPr>
          <a:xfrm>
            <a:off x="10455564" y="2955636"/>
            <a:ext cx="120072" cy="67079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E78760-ED5A-4C4E-8BD9-17D87E56C7DE}"/>
              </a:ext>
            </a:extLst>
          </p:cNvPr>
          <p:cNvCxnSpPr>
            <a:cxnSpLocks/>
          </p:cNvCxnSpPr>
          <p:nvPr/>
        </p:nvCxnSpPr>
        <p:spPr>
          <a:xfrm flipH="1">
            <a:off x="11785598" y="3203285"/>
            <a:ext cx="46185" cy="128472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E235B-7D28-4C52-969E-E23931376886}"/>
              </a:ext>
            </a:extLst>
          </p:cNvPr>
          <p:cNvSpPr/>
          <p:nvPr/>
        </p:nvSpPr>
        <p:spPr>
          <a:xfrm>
            <a:off x="11055931" y="4729809"/>
            <a:ext cx="1145306" cy="52473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174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BEB9B-8938-4BE4-9502-E7B8367B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654" y="87285"/>
            <a:ext cx="7915564" cy="314036"/>
          </a:xfrm>
        </p:spPr>
        <p:txBody>
          <a:bodyPr>
            <a:normAutofit fontScale="90000"/>
          </a:bodyPr>
          <a:lstStyle/>
          <a:p>
            <a:r>
              <a:rPr lang="en-IN" dirty="0"/>
              <a:t>Call has become super in new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0B9E5-C407-479E-9BE7-459F7302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" y="690187"/>
            <a:ext cx="3894743" cy="547762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"use strict"</a:t>
            </a:r>
            <a:endParaRPr lang="en-IN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instanceof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 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TypeError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 this is not a function"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 </a:t>
            </a: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parent </a:t>
            </a:r>
            <a:r>
              <a:rPr lang="en-IN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classmethod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data   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walk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 </a:t>
            </a: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Person can walk 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prototype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 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  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 </a:t>
            </a:r>
            <a:r>
              <a:rPr lang="en-IN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walk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b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obj1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"raj"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obj1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obj1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obj1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"mona"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1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IN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03D42-22E7-47D1-BAAA-1F7E9525A870}"/>
              </a:ext>
            </a:extLst>
          </p:cNvPr>
          <p:cNvSpPr txBox="1"/>
          <p:nvPr/>
        </p:nvSpPr>
        <p:spPr>
          <a:xfrm>
            <a:off x="4026824" y="401321"/>
            <a:ext cx="7220295" cy="7054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call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nm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speak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(){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 uh...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ooooa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uh ..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oooa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;};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prototype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Object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create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prototype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 //extends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prototype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walk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(){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 child can crawl 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child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"rohan"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//child got access to parent method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display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>
              <a:lnSpc>
                <a:spcPct val="120000"/>
              </a:lnSpc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write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walk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&lt;pre&gt;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&lt;h3&gt;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we can use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person.call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this,nm,ag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 parent class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name.call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1st parameter 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refere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to current object(1st parameter has to be of type object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and rest value to initialised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&lt;/h3&gt; &lt;/pre&gt;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4F3823-8935-4539-8FB7-53E5AA9AE381}"/>
              </a:ext>
            </a:extLst>
          </p:cNvPr>
          <p:cNvSpPr/>
          <p:nvPr/>
        </p:nvSpPr>
        <p:spPr>
          <a:xfrm>
            <a:off x="7636971" y="4285672"/>
            <a:ext cx="665019" cy="54263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D1BE47-97B1-455A-B5A6-40659A1C6310}"/>
              </a:ext>
            </a:extLst>
          </p:cNvPr>
          <p:cNvSpPr/>
          <p:nvPr/>
        </p:nvSpPr>
        <p:spPr>
          <a:xfrm>
            <a:off x="9156123" y="3971636"/>
            <a:ext cx="1419513" cy="757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name:Rohan</a:t>
            </a:r>
            <a:endParaRPr lang="en-IN" dirty="0"/>
          </a:p>
          <a:p>
            <a:pPr algn="ctr"/>
            <a:r>
              <a:rPr lang="en-IN" dirty="0"/>
              <a:t>age=60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4C016A-2AD0-4FDC-A960-41675D70C6C5}"/>
              </a:ext>
            </a:extLst>
          </p:cNvPr>
          <p:cNvCxnSpPr>
            <a:cxnSpLocks/>
          </p:cNvCxnSpPr>
          <p:nvPr/>
        </p:nvCxnSpPr>
        <p:spPr>
          <a:xfrm>
            <a:off x="9855200" y="3565236"/>
            <a:ext cx="0" cy="40640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C688F00-28C4-44D3-B33F-87D2385E9B2C}"/>
              </a:ext>
            </a:extLst>
          </p:cNvPr>
          <p:cNvSpPr/>
          <p:nvPr/>
        </p:nvSpPr>
        <p:spPr>
          <a:xfrm>
            <a:off x="9416473" y="2987964"/>
            <a:ext cx="877454" cy="678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B547E3-421F-4B21-8941-56DACAABB5A2}"/>
              </a:ext>
            </a:extLst>
          </p:cNvPr>
          <p:cNvSpPr txBox="1"/>
          <p:nvPr/>
        </p:nvSpPr>
        <p:spPr>
          <a:xfrm>
            <a:off x="9372485" y="26231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84201-3867-49CA-A411-3EAECBBF3B35}"/>
              </a:ext>
            </a:extLst>
          </p:cNvPr>
          <p:cNvSpPr txBox="1"/>
          <p:nvPr/>
        </p:nvSpPr>
        <p:spPr>
          <a:xfrm>
            <a:off x="10212995" y="362995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child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DA4820-784D-4AA7-B1C6-0E1C53FCB56A}"/>
              </a:ext>
            </a:extLst>
          </p:cNvPr>
          <p:cNvSpPr/>
          <p:nvPr/>
        </p:nvSpPr>
        <p:spPr>
          <a:xfrm>
            <a:off x="10372437" y="2724727"/>
            <a:ext cx="1819564" cy="8405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Display</a:t>
            </a:r>
          </a:p>
          <a:p>
            <a:pPr algn="ctr"/>
            <a:r>
              <a:rPr lang="en-IN" dirty="0" err="1"/>
              <a:t>toString</a:t>
            </a:r>
            <a:endParaRPr lang="en-IN" dirty="0"/>
          </a:p>
          <a:p>
            <a:pPr algn="ctr"/>
            <a:r>
              <a:rPr lang="en-IN" dirty="0"/>
              <a:t>walk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59ECA0-3349-46F7-B1E5-3A7C6982F622}"/>
              </a:ext>
            </a:extLst>
          </p:cNvPr>
          <p:cNvSpPr/>
          <p:nvPr/>
        </p:nvSpPr>
        <p:spPr>
          <a:xfrm>
            <a:off x="10575636" y="4220316"/>
            <a:ext cx="1578783" cy="67334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walk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2FD7E8-0B6B-4D3C-88BB-648943062F7D}"/>
              </a:ext>
            </a:extLst>
          </p:cNvPr>
          <p:cNvCxnSpPr/>
          <p:nvPr/>
        </p:nvCxnSpPr>
        <p:spPr>
          <a:xfrm>
            <a:off x="8301990" y="4556990"/>
            <a:ext cx="906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15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4774</TotalTime>
  <Words>4275</Words>
  <Application>Microsoft Office PowerPoint</Application>
  <PresentationFormat>Widescreen</PresentationFormat>
  <Paragraphs>576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Arial</vt:lpstr>
      <vt:lpstr>Arial Unicode MS</vt:lpstr>
      <vt:lpstr>Calibri</vt:lpstr>
      <vt:lpstr>Calibri Light</vt:lpstr>
      <vt:lpstr>Consolas</vt:lpstr>
      <vt:lpstr>Courier New</vt:lpstr>
      <vt:lpstr>inherit</vt:lpstr>
      <vt:lpstr>Inter</vt:lpstr>
      <vt:lpstr>Lato</vt:lpstr>
      <vt:lpstr>Segoe UI</vt:lpstr>
      <vt:lpstr>Symbol</vt:lpstr>
      <vt:lpstr>var(--font-code)</vt:lpstr>
      <vt:lpstr>Wingdings</vt:lpstr>
      <vt:lpstr>Office Theme</vt:lpstr>
      <vt:lpstr>PowerPoint Presentation</vt:lpstr>
      <vt:lpstr>new Object()</vt:lpstr>
      <vt:lpstr>Literal object</vt:lpstr>
      <vt:lpstr>Function can also represent as class</vt:lpstr>
      <vt:lpstr>PowerPoint Presentation</vt:lpstr>
      <vt:lpstr>the differences: constructor object and literal object </vt:lpstr>
      <vt:lpstr>PowerPoint Presentation</vt:lpstr>
      <vt:lpstr>PowerPoint Presentation</vt:lpstr>
      <vt:lpstr>Shallow Copy</vt:lpstr>
      <vt:lpstr>Object.assign() to create a clone of an object. It is Shallow copy</vt:lpstr>
      <vt:lpstr>Object.assign() to create a clone of an object. It is Shallow copy</vt:lpstr>
      <vt:lpstr>PowerPoint Presentation</vt:lpstr>
      <vt:lpstr>Clone object using spread</vt:lpstr>
      <vt:lpstr>PowerPoint Presentation</vt:lpstr>
      <vt:lpstr>How to add method to literal object</vt:lpstr>
      <vt:lpstr>How to add method to constructor object</vt:lpstr>
      <vt:lpstr>Difference: add method  as instance member and add method through prototype</vt:lpstr>
      <vt:lpstr>Call and apply</vt:lpstr>
      <vt:lpstr>The call() Method with Arguments</vt:lpstr>
      <vt:lpstr>The apply()  is same as call bit this method takes arguments as an array.</vt:lpstr>
      <vt:lpstr>PowerPoint Presentation</vt:lpstr>
      <vt:lpstr>Inheritance older syntax has changed to extends</vt:lpstr>
      <vt:lpstr>Call has become super in new syntax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Mantri vidyanidhi infotech academy</dc:creator>
  <cp:lastModifiedBy>sriram mantri vidyanidhi infotech academy</cp:lastModifiedBy>
  <cp:revision>144</cp:revision>
  <dcterms:created xsi:type="dcterms:W3CDTF">2020-09-09T08:20:20Z</dcterms:created>
  <dcterms:modified xsi:type="dcterms:W3CDTF">2026-09-21T09:54:58Z</dcterms:modified>
</cp:coreProperties>
</file>