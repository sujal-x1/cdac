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C71A6-05E3-6CB0-575D-E28549CDF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3FAF2-3D22-1BCE-E7D8-1A0D9C14E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A80EE-866F-35AA-9E75-B8E27C674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6CB7-A34C-4BCA-9F60-9B2E56525A6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19E49-4C96-7B5A-FB41-FC13180D3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C0210-6F79-0ACC-86AC-12A761FAB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89E6-7507-480F-A685-3BA44FFBA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90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6A5B-A52F-2AEB-9C65-433C64317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2DB58-7326-34F7-376B-F7E547866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C22E7-83C6-E800-D326-36D214D26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6CB7-A34C-4BCA-9F60-9B2E56525A6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A1A96-B9D0-E86E-4E78-073237BBE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A6631-D828-6A50-81F7-EA0206778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89E6-7507-480F-A685-3BA44FFBA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859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2B7F6-3514-BAAE-96D5-6738089E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635C1-11EB-38C4-72B0-7F466EBBF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2CF7D-DC77-E488-C90E-EF1302AA9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6CB7-A34C-4BCA-9F60-9B2E56525A6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F5AA1-5723-A594-AC88-8A8019470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C3DB0-362F-4ADC-BAC3-697F3DC95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89E6-7507-480F-A685-3BA44FFBA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82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B289F-26FF-85E6-96E9-7AAF2FBFB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FAB21-4456-78C5-5C9F-48C403F28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990A9-25E6-19AE-2889-A2A5AE763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270CF-2E94-EA5E-7C8C-784A53B4B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6CB7-A34C-4BCA-9F60-9B2E56525A6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62364-074E-6D8B-01EE-B5CC2A87E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E0E6D-779A-7027-DA8C-D4EB5F4D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89E6-7507-480F-A685-3BA44FFBA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38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5DD0-3B95-34D3-65F7-9DBC03E2E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BE838-DEDD-5628-3B38-5180BA433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DFACE-BBBE-31D1-D2D9-98AFD6B3F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ECE33-CD04-8297-5A5D-05BD87E27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E473BB-77E0-6B50-0DCA-A45CC82D9E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6DA5E-BEA8-04FD-7643-76F8004DE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6CB7-A34C-4BCA-9F60-9B2E56525A6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5C4AD2-FC06-1B60-66BD-74E0CB128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8029F9-DF49-EC8F-A5C5-E7BF59C83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89E6-7507-480F-A685-3BA44FFBA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627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3874C-625D-2902-9B3C-74E562A59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63E62-783C-C6D9-11DE-9CA69774F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6CB7-A34C-4BCA-9F60-9B2E56525A6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B4254-31FF-1B3E-B1EE-1C376B4EC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4D198-A60F-CABF-F52D-FDFE9092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89E6-7507-480F-A685-3BA44FFBA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632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8E2FB5-E26F-A1BF-8009-9B726C8E8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6CB7-A34C-4BCA-9F60-9B2E56525A6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C599F4-FBB3-A80C-EA76-F19EB79A7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8B317-CD2A-4748-2992-F877D1BCA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89E6-7507-480F-A685-3BA44FFBA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716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EB99-1DE6-7FA2-47A8-D5D4611D8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A8714-F841-AC27-392A-17CAB842F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7562B-D208-1AED-2348-105E1473D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AE08F-70DD-C14A-A5EA-3268794F5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6CB7-A34C-4BCA-9F60-9B2E56525A6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95A43-5D88-EE01-6668-885E34ABC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60B6A-AE0B-9A8F-F608-E87897A15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89E6-7507-480F-A685-3BA44FFBA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64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B9C0-67DA-DDC9-4615-070C84889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E068F4-2D4C-9126-76DF-94B5D9AB52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E3588-052F-4361-986C-D8F4FF05C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A9C5B-E4B3-84BF-2510-9E726EE9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6CB7-A34C-4BCA-9F60-9B2E56525A6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379F5-6DCB-2295-C141-7337AEA09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73F06-E9B3-48D5-25AC-8710719A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89E6-7507-480F-A685-3BA44FFBA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553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45D51-3AF5-F373-B703-D2C7B1F3D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08D23-4E99-ABF8-90D5-FABE747AD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75280-BF8D-48DB-1891-58DEE08B6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6CB7-A34C-4BCA-9F60-9B2E56525A6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2E7BF-0C8F-36AC-3E0C-05D3C555A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63EB2-04EE-8E6D-BC7A-E0FD09456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89E6-7507-480F-A685-3BA44FFBA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401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F82463-0529-67DC-D98C-A5B861E7E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D4B6F-37F2-9B76-9D48-924963F3B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654E0-6E29-0669-DBBD-1E67BFE6B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6CB7-A34C-4BCA-9F60-9B2E56525A6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A036B-7972-6A5A-FE35-C05BC4CF4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720D4-EE08-8959-D4FE-7A9125C5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A89E6-7507-480F-A685-3BA44FFBA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896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849854-0AC2-1C94-E35C-7F02C70A0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B83E9-F7C3-EC07-C782-1FBD950B2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364E1-9DC4-59F0-E544-CEFD308FA1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06CB7-A34C-4BCA-9F60-9B2E56525A6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62ACB-ED58-4729-BF08-9F658A3C46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BAF5B-4362-6503-A39D-05D47378D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A89E6-7507-480F-A685-3BA44FFBA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073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C1DACB-C6BF-8FCD-21FD-3AA8DA9CB246}"/>
              </a:ext>
            </a:extLst>
          </p:cNvPr>
          <p:cNvSpPr txBox="1"/>
          <p:nvPr/>
        </p:nvSpPr>
        <p:spPr>
          <a:xfrm>
            <a:off x="96716" y="53278"/>
            <a:ext cx="116234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IN" sz="2000" b="1" i="0" dirty="0">
                <a:solidFill>
                  <a:srgbClr val="212529"/>
                </a:solidFill>
                <a:effectLst/>
                <a:latin typeface="-apple-system"/>
              </a:rPr>
              <a:t>Introduction to TypeScript interfaces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78BD0-D157-2E95-99A5-D6732434D809}"/>
              </a:ext>
            </a:extLst>
          </p:cNvPr>
          <p:cNvSpPr txBox="1"/>
          <p:nvPr/>
        </p:nvSpPr>
        <p:spPr>
          <a:xfrm>
            <a:off x="203201" y="761445"/>
            <a:ext cx="66124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TypeScript interfaces define the contracts within your code. They also provide explicit names for type checking.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Let’s start with a simple example: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499D0E-31BC-3519-5EF3-C87AC2154DD8}"/>
              </a:ext>
            </a:extLst>
          </p:cNvPr>
          <p:cNvSpPr txBox="1"/>
          <p:nvPr/>
        </p:nvSpPr>
        <p:spPr>
          <a:xfrm>
            <a:off x="0" y="1985539"/>
            <a:ext cx="900332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dirty="0">
                <a:solidFill>
                  <a:srgbClr val="A626A4"/>
                </a:solidFill>
                <a:effectLst/>
                <a:latin typeface="ui-monospace"/>
              </a:rPr>
              <a:t>function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400" b="0" i="0" dirty="0" err="1">
                <a:solidFill>
                  <a:srgbClr val="4078F2"/>
                </a:solidFill>
                <a:effectLst/>
                <a:latin typeface="ui-monospace"/>
              </a:rPr>
              <a:t>getFullName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(person: { </a:t>
            </a:r>
            <a:r>
              <a:rPr lang="en-IN" sz="2400" b="0" i="0" dirty="0" err="1">
                <a:solidFill>
                  <a:srgbClr val="383A42"/>
                </a:solidFill>
                <a:effectLst/>
                <a:latin typeface="ui-monospace"/>
              </a:rPr>
              <a:t>firstName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4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; </a:t>
            </a:r>
            <a:r>
              <a:rPr lang="en-IN" sz="2400" b="0" i="0" dirty="0" err="1">
                <a:solidFill>
                  <a:srgbClr val="383A42"/>
                </a:solidFill>
                <a:effectLst/>
                <a:latin typeface="ui-monospace"/>
              </a:rPr>
              <a:t>lastName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4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}) </a:t>
            </a:r>
          </a:p>
          <a:p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{</a:t>
            </a:r>
          </a:p>
          <a:p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400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400" b="0" i="0" dirty="0">
                <a:solidFill>
                  <a:srgbClr val="50A14F"/>
                </a:solidFill>
                <a:effectLst/>
                <a:latin typeface="ui-monospace"/>
              </a:rPr>
              <a:t>`</a:t>
            </a:r>
            <a:r>
              <a:rPr lang="en-IN" sz="2400" b="0" i="0" dirty="0">
                <a:solidFill>
                  <a:srgbClr val="E45649"/>
                </a:solidFill>
                <a:effectLst/>
                <a:latin typeface="ui-monospace"/>
              </a:rPr>
              <a:t>${</a:t>
            </a:r>
            <a:r>
              <a:rPr lang="en-IN" sz="2400" b="0" i="0" dirty="0" err="1">
                <a:solidFill>
                  <a:srgbClr val="E45649"/>
                </a:solidFill>
                <a:effectLst/>
                <a:latin typeface="ui-monospace"/>
              </a:rPr>
              <a:t>person.firstName</a:t>
            </a:r>
            <a:r>
              <a:rPr lang="en-IN" sz="2400" b="0" i="0" dirty="0">
                <a:solidFill>
                  <a:srgbClr val="E45649"/>
                </a:solidFill>
                <a:effectLst/>
                <a:latin typeface="ui-monospace"/>
              </a:rPr>
              <a:t>}</a:t>
            </a:r>
            <a:r>
              <a:rPr lang="en-IN" sz="2400" b="0" i="0" dirty="0">
                <a:solidFill>
                  <a:srgbClr val="50A14F"/>
                </a:solidFill>
                <a:effectLst/>
                <a:latin typeface="ui-monospace"/>
              </a:rPr>
              <a:t> </a:t>
            </a:r>
            <a:r>
              <a:rPr lang="en-IN" sz="2400" b="0" i="0" dirty="0">
                <a:solidFill>
                  <a:srgbClr val="E45649"/>
                </a:solidFill>
                <a:effectLst/>
                <a:latin typeface="ui-monospace"/>
              </a:rPr>
              <a:t>${</a:t>
            </a:r>
            <a:r>
              <a:rPr lang="en-IN" sz="2400" b="0" i="0" dirty="0" err="1">
                <a:solidFill>
                  <a:srgbClr val="E45649"/>
                </a:solidFill>
                <a:effectLst/>
                <a:latin typeface="ui-monospace"/>
              </a:rPr>
              <a:t>person.lastName</a:t>
            </a:r>
            <a:r>
              <a:rPr lang="en-IN" sz="2400" b="0" i="0" dirty="0">
                <a:solidFill>
                  <a:srgbClr val="E45649"/>
                </a:solidFill>
                <a:effectLst/>
                <a:latin typeface="ui-monospace"/>
              </a:rPr>
              <a:t>}</a:t>
            </a:r>
            <a:r>
              <a:rPr lang="en-IN" sz="2400" b="0" i="0" dirty="0">
                <a:solidFill>
                  <a:srgbClr val="50A14F"/>
                </a:solidFill>
                <a:effectLst/>
                <a:latin typeface="ui-monospace"/>
              </a:rPr>
              <a:t>`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}</a:t>
            </a:r>
          </a:p>
          <a:p>
            <a:endParaRPr lang="en-IN" sz="2400" dirty="0">
              <a:solidFill>
                <a:srgbClr val="383A42"/>
              </a:solidFill>
              <a:latin typeface="ui-monospace"/>
            </a:endParaRPr>
          </a:p>
          <a:p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4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person = { </a:t>
            </a:r>
            <a:r>
              <a:rPr lang="en-IN" sz="2400" b="0" i="0" dirty="0" err="1">
                <a:solidFill>
                  <a:srgbClr val="383A42"/>
                </a:solidFill>
                <a:effectLst/>
                <a:latin typeface="ui-monospace"/>
              </a:rPr>
              <a:t>firstName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400" b="0" i="0" dirty="0">
                <a:solidFill>
                  <a:srgbClr val="50A14F"/>
                </a:solidFill>
                <a:effectLst/>
                <a:latin typeface="ui-monospace"/>
              </a:rPr>
              <a:t>'John'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400" b="0" i="0" dirty="0" err="1">
                <a:solidFill>
                  <a:srgbClr val="383A42"/>
                </a:solidFill>
                <a:effectLst/>
                <a:latin typeface="ui-monospace"/>
              </a:rPr>
              <a:t>lastName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400" b="0" i="0" dirty="0">
                <a:solidFill>
                  <a:srgbClr val="50A14F"/>
                </a:solidFill>
                <a:effectLst/>
                <a:latin typeface="ui-monospace"/>
              </a:rPr>
              <a:t>'Doe’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};</a:t>
            </a:r>
          </a:p>
          <a:p>
            <a:endParaRPr lang="en-IN" sz="24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400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.log(</a:t>
            </a:r>
            <a:r>
              <a:rPr lang="en-IN" sz="2400" b="0" i="0" dirty="0" err="1">
                <a:solidFill>
                  <a:srgbClr val="383A42"/>
                </a:solidFill>
                <a:effectLst/>
                <a:latin typeface="ui-monospace"/>
              </a:rPr>
              <a:t>getFullName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(person));</a:t>
            </a:r>
            <a:endParaRPr lang="en-IN" sz="4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C38F39-E18E-EDAB-BECA-743F7F8B5FAE}"/>
              </a:ext>
            </a:extLst>
          </p:cNvPr>
          <p:cNvSpPr txBox="1"/>
          <p:nvPr/>
        </p:nvSpPr>
        <p:spPr>
          <a:xfrm>
            <a:off x="6622236" y="3124593"/>
            <a:ext cx="53170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In this example, the TypeScript compiler checks the argument you pass into the </a:t>
            </a:r>
            <a:r>
              <a:rPr lang="en-IN" sz="24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getFullName</a:t>
            </a:r>
            <a:r>
              <a:rPr lang="en-IN" sz="24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()</a:t>
            </a: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 function.</a:t>
            </a:r>
          </a:p>
          <a:p>
            <a:pPr indent="0" algn="l">
              <a:buNone/>
            </a:pPr>
            <a:endParaRPr lang="en-IN" sz="24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If the argument has two properties </a:t>
            </a:r>
            <a:r>
              <a:rPr lang="en-IN" sz="24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firstName</a:t>
            </a: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 and </a:t>
            </a:r>
            <a:r>
              <a:rPr lang="en-IN" sz="24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lastName</a:t>
            </a: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 and their types are strings, then the TypeScript compiler passes the check. Otherwise, it’ll issue an error.</a:t>
            </a:r>
          </a:p>
        </p:txBody>
      </p:sp>
    </p:spTree>
    <p:extLst>
      <p:ext uri="{BB962C8B-B14F-4D97-AF65-F5344CB8AC3E}">
        <p14:creationId xmlns:p14="http://schemas.microsoft.com/office/powerpoint/2010/main" val="2659440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B5BA26-BFFC-0BE6-7440-203215F4412E}"/>
              </a:ext>
            </a:extLst>
          </p:cNvPr>
          <p:cNvSpPr txBox="1"/>
          <p:nvPr/>
        </p:nvSpPr>
        <p:spPr>
          <a:xfrm>
            <a:off x="101600" y="26049"/>
            <a:ext cx="7653867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function argument makes the code difficult to read. To address this issue, TypeScript introduces the concept of interfaces.</a:t>
            </a:r>
          </a:p>
          <a:p>
            <a:pPr indent="0" algn="l">
              <a:buNone/>
            </a:pPr>
            <a:endParaRPr lang="en-IN" sz="11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The following uses an interface </a:t>
            </a:r>
            <a:r>
              <a:rPr lang="en-IN" sz="18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Person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that has two string properties:</a:t>
            </a:r>
          </a:p>
          <a:p>
            <a:pPr indent="0" algn="l">
              <a:buNone/>
            </a:pPr>
            <a:endParaRPr lang="en-IN" sz="18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E45649"/>
                </a:solidFill>
                <a:effectLst/>
                <a:latin typeface="ui-monospace"/>
              </a:rPr>
              <a:t>interface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>
                <a:solidFill>
                  <a:srgbClr val="E45649"/>
                </a:solidFill>
                <a:effectLst/>
                <a:latin typeface="ui-monospace"/>
              </a:rPr>
              <a:t>Person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{</a:t>
            </a: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   </a:t>
            </a:r>
            <a:r>
              <a:rPr lang="en-IN" sz="2000" b="0" i="0" dirty="0" err="1">
                <a:solidFill>
                  <a:srgbClr val="50A14F"/>
                </a:solidFill>
                <a:effectLst/>
                <a:latin typeface="ui-monospace"/>
              </a:rPr>
              <a:t>firstName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string;</a:t>
            </a: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   </a:t>
            </a:r>
            <a:r>
              <a:rPr lang="en-IN" sz="2000" b="0" i="0" dirty="0" err="1">
                <a:solidFill>
                  <a:srgbClr val="50A14F"/>
                </a:solidFill>
                <a:effectLst/>
                <a:latin typeface="ui-monospace"/>
              </a:rPr>
              <a:t>lastName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string;</a:t>
            </a: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  <a:endParaRPr lang="en-IN" sz="24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By convention, the interface names are in the </a:t>
            </a:r>
            <a:r>
              <a:rPr lang="en-IN" sz="1800" b="0" i="0" dirty="0" err="1">
                <a:solidFill>
                  <a:srgbClr val="212529"/>
                </a:solidFill>
                <a:effectLst/>
                <a:latin typeface="-apple-system"/>
              </a:rPr>
              <a:t>PascalCase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. They use a single capitalized letter to separate words in their names. For example,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Person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, </a:t>
            </a:r>
            <a:r>
              <a:rPr lang="en-IN" sz="16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UserProfile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, and </a:t>
            </a:r>
            <a:r>
              <a:rPr lang="en-IN" sz="16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FullName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After defining the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Person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interface, you can use it as a type. For example, you can annotate the function parameter with the interface name:</a:t>
            </a:r>
          </a:p>
          <a:p>
            <a:pPr indent="0" algn="l">
              <a:buNone/>
            </a:pPr>
            <a:endParaRPr lang="en-IN" sz="12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function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 err="1">
                <a:solidFill>
                  <a:srgbClr val="4078F2"/>
                </a:solidFill>
                <a:effectLst/>
                <a:latin typeface="ui-monospace"/>
              </a:rPr>
              <a:t>getFullName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(person: Person) {</a:t>
            </a:r>
          </a:p>
          <a:p>
            <a:pPr marL="0" marR="0" indent="0" algn="l" rtl="0">
              <a:buNone/>
            </a:pPr>
            <a:endParaRPr lang="en-IN" sz="16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   </a:t>
            </a: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`</a:t>
            </a:r>
            <a:r>
              <a:rPr lang="en-IN" sz="1600" b="0" i="0" dirty="0">
                <a:solidFill>
                  <a:srgbClr val="E45649"/>
                </a:solidFill>
                <a:effectLst/>
                <a:latin typeface="ui-monospace"/>
              </a:rPr>
              <a:t>${</a:t>
            </a:r>
            <a:r>
              <a:rPr lang="en-IN" sz="1600" b="0" i="0" dirty="0" err="1">
                <a:solidFill>
                  <a:srgbClr val="E45649"/>
                </a:solidFill>
                <a:effectLst/>
                <a:latin typeface="ui-monospace"/>
              </a:rPr>
              <a:t>person.firstName</a:t>
            </a:r>
            <a:r>
              <a:rPr lang="en-IN" sz="1600" b="0" i="0" dirty="0">
                <a:solidFill>
                  <a:srgbClr val="E45649"/>
                </a:solidFill>
                <a:effectLst/>
                <a:latin typeface="ui-monospace"/>
              </a:rPr>
              <a:t>}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 </a:t>
            </a:r>
            <a:r>
              <a:rPr lang="en-IN" sz="1600" b="0" i="0" dirty="0">
                <a:solidFill>
                  <a:srgbClr val="E45649"/>
                </a:solidFill>
                <a:effectLst/>
                <a:latin typeface="ui-monospace"/>
              </a:rPr>
              <a:t>${</a:t>
            </a:r>
            <a:r>
              <a:rPr lang="en-IN" sz="1600" b="0" i="0" dirty="0" err="1">
                <a:solidFill>
                  <a:srgbClr val="E45649"/>
                </a:solidFill>
                <a:effectLst/>
                <a:latin typeface="ui-monospace"/>
              </a:rPr>
              <a:t>person.lastName</a:t>
            </a:r>
            <a:r>
              <a:rPr lang="en-IN" sz="1600" b="0" i="0" dirty="0">
                <a:solidFill>
                  <a:srgbClr val="E45649"/>
                </a:solidFill>
                <a:effectLst/>
                <a:latin typeface="ui-monospace"/>
              </a:rPr>
              <a:t>}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`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john = {</a:t>
            </a: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   </a:t>
            </a:r>
            <a:r>
              <a:rPr lang="en-IN" sz="1600" b="0" i="0" dirty="0" err="1">
                <a:solidFill>
                  <a:srgbClr val="383A42"/>
                </a:solidFill>
                <a:effectLst/>
                <a:latin typeface="ui-monospace"/>
              </a:rPr>
              <a:t>firstName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'John'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,</a:t>
            </a: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   </a:t>
            </a:r>
            <a:r>
              <a:rPr lang="en-IN" sz="1600" b="0" i="0" dirty="0" err="1">
                <a:solidFill>
                  <a:srgbClr val="383A42"/>
                </a:solidFill>
                <a:effectLst/>
                <a:latin typeface="ui-monospace"/>
              </a:rPr>
              <a:t>lastName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'Doe'</a:t>
            </a:r>
            <a:endParaRPr lang="en-IN" sz="16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};</a:t>
            </a:r>
          </a:p>
          <a:p>
            <a:pPr marL="0" marR="0" indent="0" algn="l">
              <a:buNone/>
            </a:pPr>
            <a:r>
              <a:rPr lang="en-IN" sz="1600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.log(</a:t>
            </a:r>
            <a:r>
              <a:rPr lang="en-IN" sz="1600" b="0" i="0" dirty="0" err="1">
                <a:solidFill>
                  <a:srgbClr val="383A42"/>
                </a:solidFill>
                <a:effectLst/>
                <a:latin typeface="ui-monospace"/>
              </a:rPr>
              <a:t>getFullName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(john));</a:t>
            </a:r>
            <a:endParaRPr lang="en-IN" sz="18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The code now is easier to read than before.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61AB6-7DB1-E9D3-7A7C-4710857E3680}"/>
              </a:ext>
            </a:extLst>
          </p:cNvPr>
          <p:cNvSpPr txBox="1"/>
          <p:nvPr/>
        </p:nvSpPr>
        <p:spPr>
          <a:xfrm>
            <a:off x="7332133" y="381881"/>
            <a:ext cx="4512733" cy="233910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To make the code more concise, you can use the object </a:t>
            </a:r>
            <a:r>
              <a:rPr lang="en-IN" sz="1600" b="0" i="0" dirty="0" err="1">
                <a:solidFill>
                  <a:srgbClr val="212529"/>
                </a:solidFill>
                <a:effectLst/>
                <a:latin typeface="-apple-system"/>
              </a:rPr>
              <a:t>destructuring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 feature of JavaScript:</a:t>
            </a:r>
          </a:p>
          <a:p>
            <a:pPr indent="0" algn="l">
              <a:buNone/>
            </a:pPr>
            <a:endParaRPr lang="en-IN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A626A4"/>
                </a:solidFill>
                <a:effectLst/>
                <a:latin typeface="ui-monospace"/>
              </a:rPr>
              <a:t>function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400" b="0" i="0" dirty="0" err="1">
                <a:solidFill>
                  <a:srgbClr val="4078F2"/>
                </a:solidFill>
                <a:effectLst/>
                <a:latin typeface="ui-monospace"/>
              </a:rPr>
              <a:t>getFullName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({ </a:t>
            </a:r>
            <a:r>
              <a:rPr lang="en-IN" sz="1400" b="0" i="0" dirty="0" err="1">
                <a:solidFill>
                  <a:srgbClr val="383A42"/>
                </a:solidFill>
                <a:effectLst/>
                <a:latin typeface="ui-monospace"/>
              </a:rPr>
              <a:t>firstName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1400" b="0" i="0" dirty="0" err="1">
                <a:solidFill>
                  <a:srgbClr val="383A42"/>
                </a:solidFill>
                <a:effectLst/>
                <a:latin typeface="ui-monospace"/>
              </a:rPr>
              <a:t>lastName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}: Person) </a:t>
            </a:r>
          </a:p>
          <a:p>
            <a:pPr marL="0" marR="0" indent="0" algn="l" rtl="0">
              <a:buNone/>
            </a:pPr>
            <a:endParaRPr lang="en-IN" sz="1400" dirty="0">
              <a:solidFill>
                <a:srgbClr val="383A42"/>
              </a:solidFill>
              <a:latin typeface="ui-monospace"/>
            </a:endParaRP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{</a:t>
            </a:r>
          </a:p>
          <a:p>
            <a:pPr marL="0" marR="0" indent="0" algn="l" rtl="0">
              <a:buNone/>
            </a:pPr>
            <a:endParaRPr lang="en-IN" sz="14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 </a:t>
            </a:r>
            <a:r>
              <a:rPr lang="en-IN" sz="1400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`</a:t>
            </a:r>
            <a:r>
              <a:rPr lang="en-IN" sz="1400" b="0" i="0" dirty="0">
                <a:solidFill>
                  <a:srgbClr val="E45649"/>
                </a:solidFill>
                <a:effectLst/>
                <a:latin typeface="ui-monospace"/>
              </a:rPr>
              <a:t>${</a:t>
            </a:r>
            <a:r>
              <a:rPr lang="en-IN" sz="1400" b="0" i="0" dirty="0" err="1">
                <a:solidFill>
                  <a:srgbClr val="E45649"/>
                </a:solidFill>
                <a:effectLst/>
                <a:latin typeface="ui-monospace"/>
              </a:rPr>
              <a:t>firstName</a:t>
            </a:r>
            <a:r>
              <a:rPr lang="en-IN" sz="1400" b="0" i="0" dirty="0">
                <a:solidFill>
                  <a:srgbClr val="E45649"/>
                </a:solidFill>
                <a:effectLst/>
                <a:latin typeface="ui-monospace"/>
              </a:rPr>
              <a:t>}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 </a:t>
            </a:r>
            <a:r>
              <a:rPr lang="en-IN" sz="1400" b="0" i="0" dirty="0">
                <a:solidFill>
                  <a:srgbClr val="E45649"/>
                </a:solidFill>
                <a:effectLst/>
                <a:latin typeface="ui-monospace"/>
              </a:rPr>
              <a:t>${</a:t>
            </a:r>
            <a:r>
              <a:rPr lang="en-IN" sz="1400" b="0" i="0" dirty="0" err="1">
                <a:solidFill>
                  <a:srgbClr val="E45649"/>
                </a:solidFill>
                <a:effectLst/>
                <a:latin typeface="ui-monospace"/>
              </a:rPr>
              <a:t>lastName</a:t>
            </a:r>
            <a:r>
              <a:rPr lang="en-IN" sz="1400" b="0" i="0" dirty="0">
                <a:solidFill>
                  <a:srgbClr val="E45649"/>
                </a:solidFill>
                <a:effectLst/>
                <a:latin typeface="ui-monospace"/>
              </a:rPr>
              <a:t>}</a:t>
            </a:r>
            <a:r>
              <a:rPr lang="en-IN" sz="1400" b="0" i="0" dirty="0">
                <a:solidFill>
                  <a:srgbClr val="50A14F"/>
                </a:solidFill>
                <a:effectLst/>
                <a:latin typeface="ui-monospace"/>
              </a:rPr>
              <a:t>`</a:t>
            </a: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endParaRPr lang="en-IN" sz="14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>
              <a:buNone/>
            </a:pPr>
            <a:r>
              <a:rPr lang="en-IN" sz="1400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  <a:endParaRPr lang="en-IN" sz="16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172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7D0384-5E75-AB95-8970-72D6E77E4D21}"/>
              </a:ext>
            </a:extLst>
          </p:cNvPr>
          <p:cNvSpPr txBox="1"/>
          <p:nvPr/>
        </p:nvSpPr>
        <p:spPr>
          <a:xfrm>
            <a:off x="355599" y="406400"/>
            <a:ext cx="11717868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The </a:t>
            </a:r>
            <a:r>
              <a:rPr lang="en-IN" sz="16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getFullName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()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function will accept any object that has at least two string properties with the name </a:t>
            </a:r>
            <a:r>
              <a:rPr lang="en-IN" sz="16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firstName</a:t>
            </a:r>
            <a:r>
              <a:rPr lang="en-IN" sz="18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 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and </a:t>
            </a:r>
            <a:r>
              <a:rPr lang="en-IN" sz="16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lastName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For example, the following code declares an object that has four properties:</a:t>
            </a:r>
          </a:p>
          <a:p>
            <a:pPr indent="0" algn="l">
              <a:buNone/>
            </a:pPr>
            <a:endParaRPr lang="en-IN" sz="18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sz="2400" b="0" i="0" dirty="0">
                <a:solidFill>
                  <a:srgbClr val="50A14F"/>
                </a:solidFill>
                <a:effectLst/>
                <a:latin typeface="ui-monospace"/>
              </a:rPr>
              <a:t>let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400" b="0" i="0" dirty="0">
                <a:solidFill>
                  <a:srgbClr val="50A14F"/>
                </a:solidFill>
                <a:effectLst/>
                <a:latin typeface="ui-monospace"/>
              </a:rPr>
              <a:t>jane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400" b="0" i="0" dirty="0">
                <a:solidFill>
                  <a:srgbClr val="50A14F"/>
                </a:solidFill>
                <a:effectLst/>
                <a:latin typeface="ui-monospace"/>
              </a:rPr>
              <a:t>=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400" b="0" i="0" dirty="0">
                <a:solidFill>
                  <a:srgbClr val="50A14F"/>
                </a:solidFill>
                <a:effectLst/>
                <a:latin typeface="ui-monospace"/>
              </a:rPr>
              <a:t>{</a:t>
            </a:r>
            <a:endParaRPr lang="en-IN" sz="24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 </a:t>
            </a:r>
            <a:r>
              <a:rPr lang="en-IN" sz="2400" b="0" i="0" dirty="0" err="1">
                <a:solidFill>
                  <a:srgbClr val="986801"/>
                </a:solidFill>
                <a:effectLst/>
                <a:latin typeface="ui-monospace"/>
              </a:rPr>
              <a:t>firstName</a:t>
            </a:r>
            <a:r>
              <a:rPr lang="en-IN" sz="2400" b="0" i="0" dirty="0">
                <a:solidFill>
                  <a:srgbClr val="986801"/>
                </a:solidFill>
                <a:effectLst/>
                <a:latin typeface="ui-monospace"/>
              </a:rPr>
              <a:t>: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400" b="0" i="0" dirty="0">
                <a:solidFill>
                  <a:srgbClr val="50A14F"/>
                </a:solidFill>
                <a:effectLst/>
                <a:latin typeface="ui-monospace"/>
              </a:rPr>
              <a:t>'Jane',</a:t>
            </a:r>
            <a:endParaRPr lang="en-IN" sz="24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 </a:t>
            </a:r>
            <a:r>
              <a:rPr lang="en-IN" sz="2400" b="0" i="0" dirty="0" err="1">
                <a:solidFill>
                  <a:srgbClr val="986801"/>
                </a:solidFill>
                <a:effectLst/>
                <a:latin typeface="ui-monospace"/>
              </a:rPr>
              <a:t>middleName</a:t>
            </a:r>
            <a:r>
              <a:rPr lang="en-IN" sz="2400" b="0" i="0" dirty="0">
                <a:solidFill>
                  <a:srgbClr val="986801"/>
                </a:solidFill>
                <a:effectLst/>
                <a:latin typeface="ui-monospace"/>
              </a:rPr>
              <a:t>: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400" b="0" i="0" dirty="0">
                <a:solidFill>
                  <a:srgbClr val="50A14F"/>
                </a:solidFill>
                <a:effectLst/>
                <a:latin typeface="ui-monospace"/>
              </a:rPr>
              <a:t>'K.',</a:t>
            </a:r>
            <a:endParaRPr lang="en-IN" sz="24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 </a:t>
            </a:r>
            <a:r>
              <a:rPr lang="en-IN" sz="2400" b="0" i="0" dirty="0" err="1">
                <a:solidFill>
                  <a:srgbClr val="986801"/>
                </a:solidFill>
                <a:effectLst/>
                <a:latin typeface="ui-monospace"/>
              </a:rPr>
              <a:t>lastName</a:t>
            </a:r>
            <a:r>
              <a:rPr lang="en-IN" sz="2400" b="0" i="0" dirty="0">
                <a:solidFill>
                  <a:srgbClr val="986801"/>
                </a:solidFill>
                <a:effectLst/>
                <a:latin typeface="ui-monospace"/>
              </a:rPr>
              <a:t>: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400" b="0" i="0" dirty="0">
                <a:solidFill>
                  <a:srgbClr val="50A14F"/>
                </a:solidFill>
                <a:effectLst/>
                <a:latin typeface="ui-monospace"/>
              </a:rPr>
              <a:t>'Doe',</a:t>
            </a:r>
            <a:endParaRPr lang="en-IN" sz="24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 </a:t>
            </a:r>
            <a:r>
              <a:rPr lang="en-IN" sz="2400" b="0" i="0" dirty="0">
                <a:solidFill>
                  <a:srgbClr val="986801"/>
                </a:solidFill>
                <a:effectLst/>
                <a:latin typeface="ui-monospace"/>
              </a:rPr>
              <a:t>age: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400" b="0" i="0" dirty="0">
                <a:solidFill>
                  <a:srgbClr val="986801"/>
                </a:solidFill>
                <a:effectLst/>
                <a:latin typeface="ui-monospace"/>
              </a:rPr>
              <a:t>22</a:t>
            </a:r>
            <a:r>
              <a:rPr lang="en-IN" sz="2400" b="0" i="0" dirty="0">
                <a:solidFill>
                  <a:srgbClr val="50A14F"/>
                </a:solidFill>
                <a:effectLst/>
                <a:latin typeface="ui-monospace"/>
              </a:rPr>
              <a:t>,</a:t>
            </a:r>
            <a:endParaRPr lang="en-IN" sz="24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>
              <a:buNone/>
            </a:pPr>
            <a:r>
              <a:rPr lang="en-IN" sz="2400" b="0" i="0" dirty="0">
                <a:solidFill>
                  <a:srgbClr val="50A14F"/>
                </a:solidFill>
                <a:effectLst/>
                <a:latin typeface="ui-monospace"/>
              </a:rPr>
              <a:t>};</a:t>
            </a:r>
            <a:endParaRPr lang="en-IN" sz="28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Since the </a:t>
            </a:r>
            <a:r>
              <a:rPr lang="en-IN" sz="18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jane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object has two string properties </a:t>
            </a:r>
            <a:r>
              <a:rPr lang="en-IN" sz="16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firstName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and </a:t>
            </a:r>
            <a:r>
              <a:rPr lang="en-IN" sz="16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lastName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, you can pass it on to the </a:t>
            </a:r>
            <a:r>
              <a:rPr lang="en-IN" sz="16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getFullName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()</a:t>
            </a:r>
            <a:r>
              <a:rPr lang="en-IN" dirty="0">
                <a:solidFill>
                  <a:srgbClr val="212529"/>
                </a:solidFill>
                <a:latin typeface="-apple-system"/>
              </a:rPr>
              <a:t> 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function as follows:</a:t>
            </a:r>
          </a:p>
          <a:p>
            <a:pPr indent="0" algn="l">
              <a:buNone/>
            </a:pPr>
            <a:endParaRPr lang="en-IN" sz="24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fullName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=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getFullName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(jane);</a:t>
            </a:r>
          </a:p>
          <a:p>
            <a:pPr marL="0" marR="0" indent="0" algn="l" rtl="0">
              <a:buNone/>
            </a:pPr>
            <a:endParaRPr lang="en-IN" sz="2000" dirty="0">
              <a:solidFill>
                <a:srgbClr val="383A42"/>
              </a:solidFill>
              <a:latin typeface="ui-monospace"/>
            </a:endParaRPr>
          </a:p>
          <a:p>
            <a:pPr marL="0" marR="0" indent="0" algn="l" rtl="0">
              <a:buNone/>
            </a:pPr>
            <a:endParaRPr lang="en-IN" sz="20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.log(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fullName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); </a:t>
            </a:r>
            <a:r>
              <a:rPr lang="en-IN" sz="2000" b="0" i="1" dirty="0">
                <a:solidFill>
                  <a:srgbClr val="A0A1A7"/>
                </a:solidFill>
                <a:effectLst/>
                <a:latin typeface="ui-monospace"/>
              </a:rPr>
              <a:t>// Jane Doe</a:t>
            </a:r>
            <a:endParaRPr lang="en-IN" sz="24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335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3F6926-7EB1-FF4A-CA89-3BEB84EED3EB}"/>
              </a:ext>
            </a:extLst>
          </p:cNvPr>
          <p:cNvSpPr txBox="1"/>
          <p:nvPr/>
        </p:nvSpPr>
        <p:spPr>
          <a:xfrm>
            <a:off x="414866" y="0"/>
            <a:ext cx="1119293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IN" sz="2800" b="0" i="0" dirty="0">
                <a:solidFill>
                  <a:srgbClr val="212529"/>
                </a:solidFill>
                <a:effectLst/>
                <a:latin typeface="-apple-system"/>
              </a:rPr>
              <a:t>Optional properties </a:t>
            </a:r>
          </a:p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An interface may have optional properties. To declare an optional property, you use the question mark (</a:t>
            </a:r>
            <a:r>
              <a:rPr lang="en-IN" sz="20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?)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 at the end of the property name in the declaration, like this: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BC7DD8-A993-5FB8-45CD-60D703B83BF1}"/>
              </a:ext>
            </a:extLst>
          </p:cNvPr>
          <p:cNvSpPr txBox="1"/>
          <p:nvPr/>
        </p:nvSpPr>
        <p:spPr>
          <a:xfrm>
            <a:off x="812800" y="2267957"/>
            <a:ext cx="32766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dirty="0">
                <a:solidFill>
                  <a:srgbClr val="A626A4"/>
                </a:solidFill>
                <a:effectLst/>
                <a:latin typeface="ui-monospace"/>
              </a:rPr>
              <a:t>interface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Person { </a:t>
            </a:r>
          </a:p>
          <a:p>
            <a:endParaRPr lang="en-IN" sz="24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r>
              <a:rPr lang="en-IN" sz="2400" b="0" i="0" dirty="0" err="1">
                <a:solidFill>
                  <a:srgbClr val="383A42"/>
                </a:solidFill>
                <a:effectLst/>
                <a:latin typeface="ui-monospace"/>
              </a:rPr>
              <a:t>firstName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4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400" b="0" i="0" dirty="0" err="1">
                <a:solidFill>
                  <a:srgbClr val="383A42"/>
                </a:solidFill>
                <a:effectLst/>
                <a:latin typeface="ui-monospace"/>
              </a:rPr>
              <a:t>middleName</a:t>
            </a:r>
            <a:r>
              <a:rPr lang="en-IN" sz="2800" b="1" i="0" dirty="0">
                <a:solidFill>
                  <a:srgbClr val="FF0000"/>
                </a:solidFill>
                <a:effectLst/>
                <a:latin typeface="ui-monospace"/>
              </a:rPr>
              <a:t>?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4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; </a:t>
            </a:r>
          </a:p>
          <a:p>
            <a:r>
              <a:rPr lang="en-IN" sz="2400" b="0" i="0" dirty="0" err="1">
                <a:solidFill>
                  <a:srgbClr val="383A42"/>
                </a:solidFill>
                <a:effectLst/>
                <a:latin typeface="ui-monospace"/>
              </a:rPr>
              <a:t>lastName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4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; </a:t>
            </a:r>
          </a:p>
          <a:p>
            <a:endParaRPr lang="en-IN" sz="2400" dirty="0">
              <a:solidFill>
                <a:srgbClr val="383A42"/>
              </a:solidFill>
              <a:latin typeface="ui-monospace"/>
            </a:endParaRPr>
          </a:p>
          <a:p>
            <a:r>
              <a:rPr lang="en-IN" sz="2400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  <a:endParaRPr lang="en-IN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51BFA-B73A-1DD5-C473-037A4AA65FD0}"/>
              </a:ext>
            </a:extLst>
          </p:cNvPr>
          <p:cNvSpPr txBox="1"/>
          <p:nvPr/>
        </p:nvSpPr>
        <p:spPr>
          <a:xfrm>
            <a:off x="4445000" y="1194518"/>
            <a:ext cx="7628468" cy="3663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343" b="0" i="0" dirty="0">
                <a:solidFill>
                  <a:srgbClr val="212529"/>
                </a:solidFill>
                <a:effectLst/>
                <a:latin typeface="-apple-system"/>
              </a:rPr>
              <a:t>In this example, the </a:t>
            </a:r>
            <a:r>
              <a:rPr lang="en-IN" sz="11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Person</a:t>
            </a:r>
            <a:r>
              <a:rPr lang="en-IN" sz="1343" b="0" i="0" dirty="0">
                <a:solidFill>
                  <a:srgbClr val="212529"/>
                </a:solidFill>
                <a:effectLst/>
                <a:latin typeface="-apple-system"/>
              </a:rPr>
              <a:t> interface has two required properties and one optional property.</a:t>
            </a:r>
          </a:p>
          <a:p>
            <a:pPr indent="0" algn="l">
              <a:buNone/>
            </a:pPr>
            <a:endParaRPr lang="en-IN" sz="1343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1343" b="0" i="0" dirty="0">
                <a:solidFill>
                  <a:srgbClr val="212529"/>
                </a:solidFill>
                <a:effectLst/>
                <a:latin typeface="-apple-system"/>
              </a:rPr>
              <a:t>And the following shows how to use the </a:t>
            </a:r>
            <a:r>
              <a:rPr lang="en-IN" sz="12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Person</a:t>
            </a:r>
            <a:r>
              <a:rPr lang="en-IN" sz="1343" b="0" i="0" dirty="0">
                <a:solidFill>
                  <a:srgbClr val="212529"/>
                </a:solidFill>
                <a:effectLst/>
                <a:latin typeface="-apple-system"/>
              </a:rPr>
              <a:t> interface in the </a:t>
            </a:r>
            <a:r>
              <a:rPr lang="en-IN" sz="12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getFullName</a:t>
            </a:r>
            <a:r>
              <a:rPr lang="en-IN" sz="12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()</a:t>
            </a:r>
            <a:r>
              <a:rPr lang="en-IN" sz="1343" b="0" i="0" dirty="0">
                <a:solidFill>
                  <a:srgbClr val="212529"/>
                </a:solidFill>
                <a:effectLst/>
                <a:latin typeface="-apple-system"/>
              </a:rPr>
              <a:t> function:</a:t>
            </a:r>
          </a:p>
          <a:p>
            <a:pPr marL="0" marR="0" indent="0" algn="l" rtl="0">
              <a:buNone/>
            </a:pPr>
            <a:endParaRPr lang="en-IN" sz="1175" b="0" i="0" dirty="0">
              <a:solidFill>
                <a:srgbClr val="A626A4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function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 err="1">
                <a:solidFill>
                  <a:srgbClr val="4078F2"/>
                </a:solidFill>
                <a:effectLst/>
                <a:latin typeface="ui-monospace"/>
              </a:rPr>
              <a:t>getFullName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(person: Person) {</a:t>
            </a:r>
          </a:p>
          <a:p>
            <a:pPr marL="0" marR="0" indent="0" algn="l" rtl="0">
              <a:buNone/>
            </a:pPr>
            <a:endParaRPr lang="en-IN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   </a:t>
            </a: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if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(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person.middleName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) {</a:t>
            </a:r>
          </a:p>
          <a:p>
            <a:pPr marL="0" marR="0" indent="0" algn="l" rtl="0">
              <a:buNone/>
            </a:pPr>
            <a:endParaRPr lang="en-IN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       </a:t>
            </a: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`</a:t>
            </a:r>
            <a:r>
              <a:rPr lang="en-IN" b="0" i="0" dirty="0">
                <a:solidFill>
                  <a:srgbClr val="E45649"/>
                </a:solidFill>
                <a:effectLst/>
                <a:latin typeface="ui-monospace"/>
              </a:rPr>
              <a:t>${</a:t>
            </a:r>
            <a:r>
              <a:rPr lang="en-IN" b="0" i="0" dirty="0" err="1">
                <a:solidFill>
                  <a:srgbClr val="E45649"/>
                </a:solidFill>
                <a:effectLst/>
                <a:latin typeface="ui-monospace"/>
              </a:rPr>
              <a:t>person.firstName</a:t>
            </a:r>
            <a:r>
              <a:rPr lang="en-IN" b="0" i="0" dirty="0">
                <a:solidFill>
                  <a:srgbClr val="E45649"/>
                </a:solidFill>
                <a:effectLst/>
                <a:latin typeface="ui-monospace"/>
              </a:rPr>
              <a:t>}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 </a:t>
            </a:r>
            <a:r>
              <a:rPr lang="en-IN" b="0" i="0" dirty="0">
                <a:solidFill>
                  <a:srgbClr val="E45649"/>
                </a:solidFill>
                <a:effectLst/>
                <a:latin typeface="ui-monospace"/>
              </a:rPr>
              <a:t>${</a:t>
            </a:r>
            <a:r>
              <a:rPr lang="en-IN" b="0" i="0" dirty="0" err="1">
                <a:solidFill>
                  <a:srgbClr val="E45649"/>
                </a:solidFill>
                <a:effectLst/>
                <a:latin typeface="ui-monospace"/>
              </a:rPr>
              <a:t>person.middleName</a:t>
            </a:r>
            <a:r>
              <a:rPr lang="en-IN" b="0" i="0" dirty="0">
                <a:solidFill>
                  <a:srgbClr val="E45649"/>
                </a:solidFill>
                <a:effectLst/>
                <a:latin typeface="ui-monospace"/>
              </a:rPr>
              <a:t>}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 </a:t>
            </a:r>
            <a:r>
              <a:rPr lang="en-IN" b="0" i="0" dirty="0">
                <a:solidFill>
                  <a:srgbClr val="E45649"/>
                </a:solidFill>
                <a:effectLst/>
                <a:latin typeface="ui-monospace"/>
              </a:rPr>
              <a:t>${</a:t>
            </a:r>
            <a:r>
              <a:rPr lang="en-IN" b="0" i="0" dirty="0" err="1">
                <a:solidFill>
                  <a:srgbClr val="E45649"/>
                </a:solidFill>
                <a:effectLst/>
                <a:latin typeface="ui-monospace"/>
              </a:rPr>
              <a:t>person.lastName</a:t>
            </a:r>
            <a:r>
              <a:rPr lang="en-IN" b="0" i="0" dirty="0">
                <a:solidFill>
                  <a:srgbClr val="E45649"/>
                </a:solidFill>
                <a:effectLst/>
                <a:latin typeface="ui-monospace"/>
              </a:rPr>
              <a:t>}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`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endParaRPr lang="en-IN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   }</a:t>
            </a:r>
          </a:p>
          <a:p>
            <a:pPr marL="0" marR="0" indent="0" algn="l" rtl="0">
              <a:buNone/>
            </a:pP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   </a:t>
            </a: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`</a:t>
            </a:r>
            <a:r>
              <a:rPr lang="en-IN" b="0" i="0" dirty="0">
                <a:solidFill>
                  <a:srgbClr val="E45649"/>
                </a:solidFill>
                <a:effectLst/>
                <a:latin typeface="ui-monospace"/>
              </a:rPr>
              <a:t>${</a:t>
            </a:r>
            <a:r>
              <a:rPr lang="en-IN" b="0" i="0" dirty="0" err="1">
                <a:solidFill>
                  <a:srgbClr val="E45649"/>
                </a:solidFill>
                <a:effectLst/>
                <a:latin typeface="ui-monospace"/>
              </a:rPr>
              <a:t>person.firstName</a:t>
            </a:r>
            <a:r>
              <a:rPr lang="en-IN" b="0" i="0" dirty="0">
                <a:solidFill>
                  <a:srgbClr val="E45649"/>
                </a:solidFill>
                <a:effectLst/>
                <a:latin typeface="ui-monospace"/>
              </a:rPr>
              <a:t>}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 </a:t>
            </a:r>
            <a:r>
              <a:rPr lang="en-IN" b="0" i="0" dirty="0">
                <a:solidFill>
                  <a:srgbClr val="E45649"/>
                </a:solidFill>
                <a:effectLst/>
                <a:latin typeface="ui-monospace"/>
              </a:rPr>
              <a:t>${</a:t>
            </a:r>
            <a:r>
              <a:rPr lang="en-IN" b="0" i="0" dirty="0" err="1">
                <a:solidFill>
                  <a:srgbClr val="E45649"/>
                </a:solidFill>
                <a:effectLst/>
                <a:latin typeface="ui-monospace"/>
              </a:rPr>
              <a:t>person.lastName</a:t>
            </a:r>
            <a:r>
              <a:rPr lang="en-IN" b="0" i="0" dirty="0">
                <a:solidFill>
                  <a:srgbClr val="E45649"/>
                </a:solidFill>
                <a:effectLst/>
                <a:latin typeface="ui-monospace"/>
              </a:rPr>
              <a:t>}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`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endParaRPr lang="en-IN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>
              <a:buNone/>
            </a:pP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  <a:endParaRPr lang="en-IN" sz="20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F4BF9E-49E5-3160-126B-8B217A160CF1}"/>
              </a:ext>
            </a:extLst>
          </p:cNvPr>
          <p:cNvSpPr txBox="1"/>
          <p:nvPr/>
        </p:nvSpPr>
        <p:spPr>
          <a:xfrm>
            <a:off x="5875865" y="4902686"/>
            <a:ext cx="3903133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john = { </a:t>
            </a:r>
          </a:p>
          <a:p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firstName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'John’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</a:p>
          <a:p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lastName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'Doe’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</a:p>
          <a:p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};</a:t>
            </a:r>
          </a:p>
          <a:p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.log(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getFullName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(john));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5135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07FFBE-E851-5CB4-B011-02FE4366F420}"/>
              </a:ext>
            </a:extLst>
          </p:cNvPr>
          <p:cNvSpPr txBox="1"/>
          <p:nvPr/>
        </p:nvSpPr>
        <p:spPr>
          <a:xfrm>
            <a:off x="3505199" y="0"/>
            <a:ext cx="4080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IN" sz="2400" b="0" i="0" dirty="0" err="1">
                <a:solidFill>
                  <a:srgbClr val="212529"/>
                </a:solidFill>
                <a:effectLst/>
                <a:latin typeface="-apple-system"/>
              </a:rPr>
              <a:t>Readonly</a:t>
            </a: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 properties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7E594-39C4-A598-FBCB-1957CA52CB66}"/>
              </a:ext>
            </a:extLst>
          </p:cNvPr>
          <p:cNvSpPr txBox="1"/>
          <p:nvPr/>
        </p:nvSpPr>
        <p:spPr>
          <a:xfrm>
            <a:off x="249765" y="673331"/>
            <a:ext cx="105917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solidFill>
                  <a:srgbClr val="212529"/>
                </a:solidFill>
                <a:effectLst/>
                <a:latin typeface="-apple-system"/>
              </a:rPr>
              <a:t>If properties should be modifiable only when the object is first created, you can use the </a:t>
            </a:r>
            <a:r>
              <a:rPr lang="en-IN" sz="16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readonly</a:t>
            </a:r>
            <a:r>
              <a:rPr lang="en-IN" sz="1400" b="0" i="0" dirty="0">
                <a:solidFill>
                  <a:srgbClr val="212529"/>
                </a:solidFill>
                <a:effectLst/>
                <a:latin typeface="-apple-system"/>
              </a:rPr>
              <a:t> keyword before the name of the property: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89F317-0DD6-A4D2-790C-417A2DDCB7C7}"/>
              </a:ext>
            </a:extLst>
          </p:cNvPr>
          <p:cNvSpPr txBox="1"/>
          <p:nvPr/>
        </p:nvSpPr>
        <p:spPr>
          <a:xfrm>
            <a:off x="249764" y="1322415"/>
            <a:ext cx="79671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interface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Person { </a:t>
            </a:r>
          </a:p>
          <a:p>
            <a:r>
              <a:rPr lang="en-IN" sz="2000" b="0" i="0" dirty="0" err="1">
                <a:solidFill>
                  <a:srgbClr val="FF0000"/>
                </a:solidFill>
                <a:effectLst/>
                <a:latin typeface="ui-monospace"/>
              </a:rPr>
              <a:t>readonly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ssn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; </a:t>
            </a:r>
          </a:p>
          <a:p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firstName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; </a:t>
            </a:r>
          </a:p>
          <a:p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lastName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; </a:t>
            </a:r>
          </a:p>
          <a:p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} </a:t>
            </a:r>
          </a:p>
          <a:p>
            <a:endParaRPr lang="en-IN" sz="2000" dirty="0">
              <a:solidFill>
                <a:srgbClr val="383A42"/>
              </a:solidFill>
              <a:latin typeface="ui-monospace"/>
            </a:endParaRPr>
          </a:p>
          <a:p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person: Person; </a:t>
            </a:r>
          </a:p>
          <a:p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person = {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ssn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'171-28-0926'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firstName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'John'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lastName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'Doe'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};</a:t>
            </a:r>
            <a:endParaRPr lang="en-IN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586936-1E42-4507-5811-76C2B55A46E2}"/>
              </a:ext>
            </a:extLst>
          </p:cNvPr>
          <p:cNvSpPr txBox="1"/>
          <p:nvPr/>
        </p:nvSpPr>
        <p:spPr>
          <a:xfrm>
            <a:off x="249764" y="4491898"/>
            <a:ext cx="1097703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In this example, the </a:t>
            </a:r>
            <a:r>
              <a:rPr lang="en-IN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ssn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 property cannot be changed:</a:t>
            </a:r>
          </a:p>
          <a:p>
            <a:pPr indent="0" algn="l">
              <a:buNone/>
            </a:pPr>
            <a:endParaRPr lang="en-IN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>
              <a:buNone/>
            </a:pPr>
            <a:r>
              <a:rPr lang="en-IN" sz="1600" b="0" i="0" dirty="0" err="1">
                <a:solidFill>
                  <a:srgbClr val="383A42"/>
                </a:solidFill>
                <a:effectLst/>
                <a:latin typeface="ui-monospace"/>
              </a:rPr>
              <a:t>person.ssn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=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'171-28-0000’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>
              <a:buNone/>
            </a:pPr>
            <a:endParaRPr lang="en-IN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b="0" i="0" dirty="0">
                <a:solidFill>
                  <a:srgbClr val="FF0000"/>
                </a:solidFill>
                <a:effectLst/>
                <a:latin typeface="-apple-system"/>
              </a:rPr>
              <a:t>Error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:</a:t>
            </a:r>
          </a:p>
          <a:p>
            <a:pPr marL="0" marR="0" indent="0" algn="l">
              <a:buNone/>
            </a:pP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error TS2540: Cannot assign to 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</a:t>
            </a:r>
            <a:r>
              <a:rPr lang="en-IN" sz="1600" b="0" i="0" dirty="0" err="1">
                <a:solidFill>
                  <a:srgbClr val="50A14F"/>
                </a:solidFill>
                <a:effectLst/>
                <a:latin typeface="ui-monospace"/>
              </a:rPr>
              <a:t>ssn</a:t>
            </a:r>
            <a:r>
              <a:rPr lang="en-IN" sz="1600" b="0" i="0" dirty="0">
                <a:solidFill>
                  <a:srgbClr val="50A14F"/>
                </a:solidFill>
                <a:effectLst/>
                <a:latin typeface="ui-monospace"/>
              </a:rPr>
              <a:t>'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 because it is a read-only property.</a:t>
            </a:r>
            <a:endParaRPr lang="en-IN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93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F35C36-6B28-DE16-7C4E-FA36E6423BF2}"/>
              </a:ext>
            </a:extLst>
          </p:cNvPr>
          <p:cNvSpPr txBox="1"/>
          <p:nvPr/>
        </p:nvSpPr>
        <p:spPr>
          <a:xfrm>
            <a:off x="296333" y="0"/>
            <a:ext cx="6197600" cy="6994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None/>
            </a:pPr>
            <a:r>
              <a:rPr lang="en-IN" b="1" i="0" dirty="0">
                <a:solidFill>
                  <a:srgbClr val="212529"/>
                </a:solidFill>
                <a:effectLst/>
                <a:latin typeface="-apple-system"/>
              </a:rPr>
              <a:t>Function types </a:t>
            </a:r>
          </a:p>
          <a:p>
            <a:pPr indent="0" algn="ctr">
              <a:buNone/>
            </a:pPr>
            <a:endParaRPr lang="en-IN" b="1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In addition to describing an object with properties, interfaces allow you to represent </a:t>
            </a:r>
            <a:r>
              <a:rPr lang="en-IN" sz="1600" b="0" i="0" dirty="0">
                <a:solidFill>
                  <a:srgbClr val="00369A"/>
                </a:solidFill>
                <a:effectLst/>
                <a:latin typeface="-apple-system"/>
              </a:rPr>
              <a:t>function types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</a:p>
          <a:p>
            <a:pPr indent="0" algn="l">
              <a:buNone/>
            </a:pPr>
            <a:endParaRPr lang="en-IN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To describe a function type, you assign the interface to the function signature that contains the parameter list with types and returned types. For example:</a:t>
            </a:r>
          </a:p>
          <a:p>
            <a:pPr indent="0" algn="l">
              <a:buNone/>
            </a:pPr>
            <a:endParaRPr lang="en-IN" sz="18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interface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StringFormat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{</a:t>
            </a: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   (</a:t>
            </a:r>
            <a:r>
              <a:rPr lang="en-IN" sz="2000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ui-monospace"/>
              </a:rPr>
              <a:t>str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 err="1">
                <a:solidFill>
                  <a:srgbClr val="383A42"/>
                </a:solidFill>
                <a:effectLst/>
                <a:highlight>
                  <a:srgbClr val="FFFF00"/>
                </a:highlight>
                <a:latin typeface="ui-monospace"/>
              </a:rPr>
              <a:t>isUpper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boolean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):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endParaRPr lang="en-IN" sz="20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</a:p>
          <a:p>
            <a:pPr marL="0" marR="0" indent="0" algn="l">
              <a:buNone/>
            </a:pPr>
            <a:endParaRPr lang="en-IN" sz="105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Now, you can use this function-type interface.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The following illustrates how to declare a variable of a function type and assign it a function value of the same type:</a:t>
            </a:r>
          </a:p>
          <a:p>
            <a:pPr indent="0" algn="l">
              <a:buNone/>
            </a:pPr>
            <a:endParaRPr lang="en-IN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format: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StringFormat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endParaRPr lang="en-IN" sz="12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format =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function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(str: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isUpper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boolean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) {</a:t>
            </a:r>
          </a:p>
          <a:p>
            <a:pPr marL="0" marR="0" indent="0" algn="l" rtl="0">
              <a:buNone/>
            </a:pPr>
            <a:endParaRPr lang="en-IN" sz="12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   </a:t>
            </a: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isUpper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? 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str.toLocaleUpperCase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() : 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str.toLocaleLowerCase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();</a:t>
            </a:r>
            <a:endParaRPr lang="en-IN" sz="20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};</a:t>
            </a: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.log(format(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'hi'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>
                <a:solidFill>
                  <a:srgbClr val="0184BB"/>
                </a:solidFill>
                <a:effectLst/>
                <a:latin typeface="ui-monospace"/>
              </a:rPr>
              <a:t>true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));</a:t>
            </a:r>
            <a:endParaRPr lang="en-IN" sz="24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Output: </a:t>
            </a:r>
            <a:r>
              <a:rPr lang="en-IN" sz="1600" b="0" i="0" dirty="0">
                <a:solidFill>
                  <a:srgbClr val="383A42"/>
                </a:solidFill>
                <a:effectLst/>
                <a:latin typeface="ui-monospace"/>
              </a:rPr>
              <a:t>HI</a:t>
            </a:r>
            <a:endParaRPr lang="en-IN" sz="18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CD1D6-E944-EDC4-E68D-7F23C9A8409D}"/>
              </a:ext>
            </a:extLst>
          </p:cNvPr>
          <p:cNvSpPr txBox="1"/>
          <p:nvPr/>
        </p:nvSpPr>
        <p:spPr>
          <a:xfrm>
            <a:off x="6493933" y="435109"/>
            <a:ext cx="4809067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Note that the parameter names don’t need to match the function signature. The following example is equivalent to the above example:</a:t>
            </a:r>
          </a:p>
          <a:p>
            <a:pPr indent="0" algn="l">
              <a:buNone/>
            </a:pPr>
            <a:endParaRPr lang="en-IN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format: 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StringFormat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pPr marL="0" marR="0" indent="0" algn="l" rtl="0">
              <a:buNone/>
            </a:pPr>
            <a:endParaRPr lang="en-IN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format = </a:t>
            </a: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function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(</a:t>
            </a:r>
            <a:r>
              <a:rPr lang="en-IN" b="0" i="0" dirty="0" err="1">
                <a:solidFill>
                  <a:srgbClr val="383A42"/>
                </a:solidFill>
                <a:effectLst/>
                <a:highlight>
                  <a:srgbClr val="FFFF00"/>
                </a:highlight>
                <a:latin typeface="ui-monospace"/>
              </a:rPr>
              <a:t>src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b="0" i="0" dirty="0">
                <a:solidFill>
                  <a:srgbClr val="383A42"/>
                </a:solidFill>
                <a:effectLst/>
                <a:highlight>
                  <a:srgbClr val="FFFF00"/>
                </a:highlight>
                <a:latin typeface="ui-monospace"/>
              </a:rPr>
              <a:t>upper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b="0" i="0" dirty="0">
                <a:solidFill>
                  <a:srgbClr val="C18401"/>
                </a:solidFill>
                <a:effectLst/>
                <a:latin typeface="ui-monospace"/>
              </a:rPr>
              <a:t>boolean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) {</a:t>
            </a:r>
          </a:p>
          <a:p>
            <a:pPr marL="0" marR="0" indent="0" algn="l" rtl="0">
              <a:buNone/>
            </a:pP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  </a:t>
            </a:r>
          </a:p>
          <a:p>
            <a:pPr marL="0" marR="0" indent="0" algn="l" rtl="0">
              <a:buNone/>
            </a:pPr>
            <a:endParaRPr lang="en-IN" dirty="0">
              <a:solidFill>
                <a:srgbClr val="383A42"/>
              </a:solidFill>
              <a:latin typeface="ui-monospace"/>
            </a:endParaRPr>
          </a:p>
          <a:p>
            <a:pPr marL="0" marR="0" indent="0" algn="l" rtl="0">
              <a:buNone/>
            </a:pP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upper ? 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src.toLocaleUpperCase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() : </a:t>
            </a:r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src.toLocaleLowerCase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();</a:t>
            </a:r>
          </a:p>
          <a:p>
            <a:pPr marL="0" marR="0" indent="0" algn="l" rtl="0">
              <a:buNone/>
            </a:pPr>
            <a:endParaRPr lang="en-IN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 rtl="0">
              <a:buNone/>
            </a:pP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};</a:t>
            </a:r>
          </a:p>
          <a:p>
            <a:pPr marL="0" marR="0" indent="0" algn="l" rtl="0">
              <a:buNone/>
            </a:pPr>
            <a:endParaRPr lang="en-IN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>
              <a:buNone/>
            </a:pPr>
            <a:r>
              <a:rPr lang="en-IN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.log(format(</a:t>
            </a:r>
            <a:r>
              <a:rPr lang="en-IN" b="0" i="0" dirty="0">
                <a:solidFill>
                  <a:srgbClr val="50A14F"/>
                </a:solidFill>
                <a:effectLst/>
                <a:latin typeface="ui-monospace"/>
              </a:rPr>
              <a:t>'hi'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b="0" i="0" dirty="0">
                <a:solidFill>
                  <a:srgbClr val="0184BB"/>
                </a:solidFill>
                <a:effectLst/>
                <a:latin typeface="ui-monospace"/>
              </a:rPr>
              <a:t>true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));</a:t>
            </a:r>
            <a:endParaRPr lang="en-IN" sz="20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F96E24-DA0E-7B0B-3CF9-3E608C855E95}"/>
              </a:ext>
            </a:extLst>
          </p:cNvPr>
          <p:cNvSpPr txBox="1"/>
          <p:nvPr/>
        </p:nvSpPr>
        <p:spPr>
          <a:xfrm>
            <a:off x="5799667" y="5700868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43" b="0" i="0" dirty="0">
                <a:solidFill>
                  <a:srgbClr val="212529"/>
                </a:solidFill>
                <a:effectLst/>
                <a:latin typeface="-apple-system"/>
              </a:rPr>
              <a:t>The </a:t>
            </a:r>
            <a:r>
              <a:rPr lang="en-IN" sz="14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StringFormat</a:t>
            </a:r>
            <a:r>
              <a:rPr lang="en-IN" sz="1343" b="0" i="0" dirty="0">
                <a:solidFill>
                  <a:srgbClr val="212529"/>
                </a:solidFill>
                <a:effectLst/>
                <a:latin typeface="-apple-system"/>
              </a:rPr>
              <a:t> interface ensures that all the callers of the function that implements it pass in the required arguments: a </a:t>
            </a:r>
            <a:r>
              <a:rPr lang="en-IN" sz="1600" b="0" i="0" dirty="0">
                <a:solidFill>
                  <a:srgbClr val="00369A"/>
                </a:solidFill>
                <a:effectLst/>
                <a:latin typeface="Roboto Mono" panose="00000009000000000000" pitchFamily="49" charset="0"/>
              </a:rPr>
              <a:t>string</a:t>
            </a:r>
            <a:r>
              <a:rPr lang="en-IN" sz="1343" b="0" i="0" dirty="0">
                <a:solidFill>
                  <a:srgbClr val="212529"/>
                </a:solidFill>
                <a:effectLst/>
                <a:latin typeface="-apple-system"/>
              </a:rPr>
              <a:t> and a </a:t>
            </a:r>
            <a:r>
              <a:rPr lang="en-IN" sz="1600" b="0" i="0" dirty="0">
                <a:solidFill>
                  <a:srgbClr val="00369A"/>
                </a:solidFill>
                <a:effectLst/>
                <a:latin typeface="Roboto Mono" panose="00000009000000000000" pitchFamily="49" charset="0"/>
              </a:rPr>
              <a:t>boolean</a:t>
            </a:r>
            <a:r>
              <a:rPr lang="en-IN" sz="1343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3158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75985A-CABD-68FD-D35A-08C6CE61702D}"/>
              </a:ext>
            </a:extLst>
          </p:cNvPr>
          <p:cNvSpPr txBox="1"/>
          <p:nvPr/>
        </p:nvSpPr>
        <p:spPr>
          <a:xfrm>
            <a:off x="3547534" y="86267"/>
            <a:ext cx="36914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IN" sz="2000" b="1" i="0" dirty="0">
                <a:solidFill>
                  <a:srgbClr val="212529"/>
                </a:solidFill>
                <a:effectLst/>
                <a:latin typeface="-apple-system"/>
              </a:rPr>
              <a:t>Class Types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9E2278-FA4B-0CA3-1854-18AEFEA85BA7}"/>
              </a:ext>
            </a:extLst>
          </p:cNvPr>
          <p:cNvSpPr txBox="1"/>
          <p:nvPr/>
        </p:nvSpPr>
        <p:spPr>
          <a:xfrm>
            <a:off x="110064" y="531412"/>
            <a:ext cx="11709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If you have worked with Java or C#, you can find that the main use of the interface is to define a contract between classes.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For example, the following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Json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 interface can be implemented by any class: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B8B489-5586-3C02-A9A2-0073F72C524B}"/>
              </a:ext>
            </a:extLst>
          </p:cNvPr>
          <p:cNvSpPr txBox="1"/>
          <p:nvPr/>
        </p:nvSpPr>
        <p:spPr>
          <a:xfrm>
            <a:off x="186267" y="1545052"/>
            <a:ext cx="3640666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A626A4"/>
                </a:solidFill>
                <a:effectLst/>
                <a:latin typeface="ui-monospace"/>
              </a:rPr>
              <a:t>interface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Json { </a:t>
            </a:r>
          </a:p>
          <a:p>
            <a:endParaRPr lang="en-IN" b="0" i="0" dirty="0">
              <a:solidFill>
                <a:srgbClr val="383A42"/>
              </a:solidFill>
              <a:effectLst/>
              <a:latin typeface="ui-monospace"/>
            </a:endParaRPr>
          </a:p>
          <a:p>
            <a:r>
              <a:rPr lang="en-IN" b="0" i="0" dirty="0" err="1">
                <a:solidFill>
                  <a:srgbClr val="383A42"/>
                </a:solidFill>
                <a:effectLst/>
                <a:latin typeface="ui-monospace"/>
              </a:rPr>
              <a:t>toJson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(): </a:t>
            </a:r>
            <a:r>
              <a:rPr lang="en-IN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;</a:t>
            </a:r>
          </a:p>
          <a:p>
            <a:endParaRPr lang="en-IN" dirty="0">
              <a:solidFill>
                <a:srgbClr val="383A42"/>
              </a:solidFill>
              <a:latin typeface="ui-monospace"/>
            </a:endParaRPr>
          </a:p>
          <a:p>
            <a:r>
              <a:rPr lang="en-IN" b="0" i="0" dirty="0">
                <a:solidFill>
                  <a:srgbClr val="383A42"/>
                </a:solidFill>
                <a:effectLst/>
                <a:latin typeface="ui-monospace"/>
              </a:rPr>
              <a:t> }</a:t>
            </a:r>
            <a:endParaRPr lang="en-IN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BCA187-A8B2-14DB-163F-D3A067414862}"/>
              </a:ext>
            </a:extLst>
          </p:cNvPr>
          <p:cNvSpPr txBox="1"/>
          <p:nvPr/>
        </p:nvSpPr>
        <p:spPr>
          <a:xfrm>
            <a:off x="0" y="35115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The following declares a class that implements the </a:t>
            </a:r>
            <a:r>
              <a:rPr lang="en-IN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Json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interface:</a:t>
            </a:r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F07BE0-887D-FD53-54A1-9E0462CC053E}"/>
              </a:ext>
            </a:extLst>
          </p:cNvPr>
          <p:cNvSpPr txBox="1"/>
          <p:nvPr/>
        </p:nvSpPr>
        <p:spPr>
          <a:xfrm>
            <a:off x="110065" y="3880895"/>
            <a:ext cx="6722536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class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Person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implements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Json {</a:t>
            </a:r>
          </a:p>
          <a:p>
            <a:r>
              <a:rPr lang="en-IN" sz="8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</a:p>
          <a:p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constructor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(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private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firstName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private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lastName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) </a:t>
            </a:r>
          </a:p>
          <a:p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{</a:t>
            </a:r>
          </a:p>
          <a:p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</a:p>
          <a:p>
            <a:endParaRPr lang="en-IN" sz="1100" dirty="0">
              <a:solidFill>
                <a:srgbClr val="383A42"/>
              </a:solidFill>
              <a:latin typeface="ui-monospace"/>
            </a:endParaRPr>
          </a:p>
          <a:p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toJson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(): </a:t>
            </a: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string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{</a:t>
            </a:r>
            <a:endParaRPr lang="en-IN" sz="2000" dirty="0">
              <a:solidFill>
                <a:srgbClr val="383A42"/>
              </a:solidFill>
              <a:latin typeface="ui-monospace"/>
            </a:endParaRPr>
          </a:p>
          <a:p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return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</a:t>
            </a:r>
            <a:r>
              <a:rPr lang="en-IN" sz="2000" b="0" i="0" dirty="0" err="1">
                <a:solidFill>
                  <a:srgbClr val="C18401"/>
                </a:solidFill>
                <a:effectLst/>
                <a:latin typeface="ui-monospace"/>
              </a:rPr>
              <a:t>JSON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.stringify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(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this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); </a:t>
            </a:r>
          </a:p>
          <a:p>
            <a:r>
              <a:rPr lang="en-IN" sz="2000" dirty="0">
                <a:solidFill>
                  <a:srgbClr val="383A42"/>
                </a:solidFill>
                <a:latin typeface="ui-monospace"/>
              </a:rPr>
              <a:t>       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  <a:endParaRPr lang="en-IN" sz="2000" dirty="0">
              <a:solidFill>
                <a:srgbClr val="383A42"/>
              </a:solidFill>
              <a:latin typeface="ui-monospace"/>
            </a:endParaRPr>
          </a:p>
          <a:p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}</a:t>
            </a:r>
            <a:endParaRPr lang="en-IN" sz="3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3FFA4C-CE7B-2D8C-EA18-BD36B0B0707E}"/>
              </a:ext>
            </a:extLst>
          </p:cNvPr>
          <p:cNvSpPr txBox="1"/>
          <p:nvPr/>
        </p:nvSpPr>
        <p:spPr>
          <a:xfrm>
            <a:off x="6942667" y="1203239"/>
            <a:ext cx="498686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In the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Person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class, we implemented the </a:t>
            </a:r>
            <a:r>
              <a:rPr lang="en-IN" sz="16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toJson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()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method of the </a:t>
            </a:r>
            <a:r>
              <a:rPr lang="en-IN" sz="18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Json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interface.</a:t>
            </a:r>
          </a:p>
          <a:p>
            <a:pPr indent="0" algn="l">
              <a:buNone/>
            </a:pPr>
            <a:endParaRPr lang="en-IN" sz="18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The following example shows how to use the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Person</a:t>
            </a:r>
            <a:r>
              <a:rPr lang="en-IN" sz="1800" b="0" i="0" dirty="0">
                <a:solidFill>
                  <a:srgbClr val="212529"/>
                </a:solidFill>
                <a:effectLst/>
                <a:latin typeface="-apple-system"/>
              </a:rPr>
              <a:t> class:</a:t>
            </a:r>
          </a:p>
          <a:p>
            <a:pPr indent="0" algn="l">
              <a:buNone/>
            </a:pPr>
            <a:endParaRPr lang="en-IN" sz="24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let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person =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ui-monospace"/>
              </a:rPr>
              <a:t>new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 Person(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'John'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 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'Doe’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);</a:t>
            </a:r>
          </a:p>
          <a:p>
            <a:pPr marL="0" marR="0" indent="0" algn="l" rtl="0">
              <a:buNone/>
            </a:pPr>
            <a:endParaRPr lang="en-IN" sz="2000" b="0" i="0" dirty="0">
              <a:solidFill>
                <a:srgbClr val="383A42"/>
              </a:solidFill>
              <a:effectLst/>
              <a:latin typeface="ui-monospace"/>
            </a:endParaRP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C18401"/>
                </a:solidFill>
                <a:effectLst/>
                <a:latin typeface="ui-monospace"/>
              </a:rPr>
              <a:t>console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.log(</a:t>
            </a:r>
            <a:r>
              <a:rPr lang="en-IN" sz="2000" b="0" i="0" dirty="0" err="1">
                <a:solidFill>
                  <a:srgbClr val="383A42"/>
                </a:solidFill>
                <a:effectLst/>
                <a:latin typeface="ui-monospace"/>
              </a:rPr>
              <a:t>person.toJson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());</a:t>
            </a:r>
          </a:p>
          <a:p>
            <a:pPr marL="0" marR="0" indent="0" algn="l">
              <a:buNone/>
            </a:pPr>
            <a:endParaRPr lang="en-IN" sz="2000" dirty="0">
              <a:solidFill>
                <a:srgbClr val="383A42"/>
              </a:solidFill>
              <a:latin typeface="ui-monospace"/>
            </a:endParaRPr>
          </a:p>
          <a:p>
            <a:pPr marL="0" marR="0" indent="0" algn="l">
              <a:buNone/>
            </a:pPr>
            <a:endParaRPr lang="en-IN" sz="24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Output:</a:t>
            </a:r>
          </a:p>
          <a:p>
            <a:pPr indent="0" algn="l">
              <a:buNone/>
            </a:pPr>
            <a:endParaRPr lang="en-IN" sz="24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{</a:t>
            </a:r>
            <a:r>
              <a:rPr lang="en-IN" sz="2000" b="0" i="0" dirty="0">
                <a:solidFill>
                  <a:srgbClr val="986801"/>
                </a:solidFill>
                <a:effectLst/>
                <a:latin typeface="ui-monospace"/>
              </a:rPr>
              <a:t>"</a:t>
            </a:r>
            <a:r>
              <a:rPr lang="en-IN" sz="2000" b="0" i="0" dirty="0" err="1">
                <a:solidFill>
                  <a:srgbClr val="986801"/>
                </a:solidFill>
                <a:effectLst/>
                <a:latin typeface="ui-monospace"/>
              </a:rPr>
              <a:t>firstName</a:t>
            </a:r>
            <a:r>
              <a:rPr lang="en-IN" sz="2000" b="0" i="0" dirty="0">
                <a:solidFill>
                  <a:srgbClr val="986801"/>
                </a:solidFill>
                <a:effectLst/>
                <a:latin typeface="ui-monospace"/>
              </a:rPr>
              <a:t>"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"John"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,</a:t>
            </a:r>
            <a:r>
              <a:rPr lang="en-IN" sz="2000" b="0" i="0" dirty="0">
                <a:solidFill>
                  <a:srgbClr val="986801"/>
                </a:solidFill>
                <a:effectLst/>
                <a:latin typeface="ui-monospace"/>
              </a:rPr>
              <a:t>"</a:t>
            </a:r>
            <a:r>
              <a:rPr lang="en-IN" sz="2000" b="0" i="0" dirty="0" err="1">
                <a:solidFill>
                  <a:srgbClr val="986801"/>
                </a:solidFill>
                <a:effectLst/>
                <a:latin typeface="ui-monospace"/>
              </a:rPr>
              <a:t>lastName</a:t>
            </a:r>
            <a:r>
              <a:rPr lang="en-IN" sz="2000" b="0" i="0" dirty="0">
                <a:solidFill>
                  <a:srgbClr val="986801"/>
                </a:solidFill>
                <a:effectLst/>
                <a:latin typeface="ui-monospace"/>
              </a:rPr>
              <a:t>"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:</a:t>
            </a:r>
            <a:r>
              <a:rPr lang="en-IN" sz="2000" b="0" i="0" dirty="0">
                <a:solidFill>
                  <a:srgbClr val="50A14F"/>
                </a:solidFill>
                <a:effectLst/>
                <a:latin typeface="ui-monospace"/>
              </a:rPr>
              <a:t>"Doe"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ui-monospace"/>
              </a:rPr>
              <a:t>}</a:t>
            </a:r>
            <a:endParaRPr lang="en-IN" sz="1800" b="0" i="0" dirty="0">
              <a:solidFill>
                <a:srgbClr val="383A42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35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2DE3C3-D762-2307-534E-785106599D71}"/>
              </a:ext>
            </a:extLst>
          </p:cNvPr>
          <p:cNvSpPr txBox="1"/>
          <p:nvPr/>
        </p:nvSpPr>
        <p:spPr>
          <a:xfrm>
            <a:off x="3158067" y="14553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Interfaces extending one interface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315D8B-80E1-D8EA-0E59-778C0B3942D0}"/>
              </a:ext>
            </a:extLst>
          </p:cNvPr>
          <p:cNvSpPr txBox="1"/>
          <p:nvPr/>
        </p:nvSpPr>
        <p:spPr>
          <a:xfrm>
            <a:off x="457200" y="545645"/>
            <a:ext cx="115824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Suppose that you have an </a:t>
            </a:r>
            <a:r>
              <a:rPr lang="en-IN" sz="2000" b="0" i="0" dirty="0">
                <a:solidFill>
                  <a:srgbClr val="00369A"/>
                </a:solidFill>
                <a:effectLst/>
                <a:latin typeface="-apple-system"/>
              </a:rPr>
              <a:t>interface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 called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Mailable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 that contains two methods called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send()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and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queue()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as follows:</a:t>
            </a:r>
          </a:p>
          <a:p>
            <a:pPr marL="0" marR="0" indent="0" algn="l" rtl="0">
              <a:buNone/>
            </a:pPr>
            <a:r>
              <a:rPr lang="en-IN" dirty="0">
                <a:solidFill>
                  <a:srgbClr val="A626A4"/>
                </a:solidFill>
                <a:latin typeface="ui-monospace"/>
              </a:rPr>
              <a:t>interface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 Mailable {</a:t>
            </a: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    send(email: string): </a:t>
            </a:r>
            <a:r>
              <a:rPr lang="en-IN" sz="2000" b="0" i="0" dirty="0" err="1">
                <a:solidFill>
                  <a:srgbClr val="212529"/>
                </a:solidFill>
                <a:effectLst/>
                <a:latin typeface="inherit"/>
              </a:rPr>
              <a:t>boolean</a:t>
            </a:r>
            <a:endParaRPr lang="en-IN" sz="2000" b="0" i="0" dirty="0">
              <a:solidFill>
                <a:srgbClr val="212529"/>
              </a:solidFill>
              <a:effectLst/>
              <a:latin typeface="inherit"/>
            </a:endParaRP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    queue(email: string): </a:t>
            </a:r>
            <a:r>
              <a:rPr lang="en-IN" sz="2000" b="0" i="0" dirty="0" err="1">
                <a:solidFill>
                  <a:srgbClr val="212529"/>
                </a:solidFill>
                <a:effectLst/>
                <a:latin typeface="inherit"/>
              </a:rPr>
              <a:t>boolean</a:t>
            </a:r>
            <a:endParaRPr lang="en-IN" sz="2000" b="0" i="0" dirty="0">
              <a:solidFill>
                <a:srgbClr val="212529"/>
              </a:solidFill>
              <a:effectLst/>
              <a:latin typeface="inherit"/>
            </a:endParaRP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}</a:t>
            </a:r>
            <a:endParaRPr lang="en-IN" sz="2000" b="0" i="0" dirty="0">
              <a:solidFill>
                <a:srgbClr val="212529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And you have many </a:t>
            </a:r>
            <a:r>
              <a:rPr lang="en-IN" sz="2000" b="0" i="0" dirty="0">
                <a:solidFill>
                  <a:srgbClr val="00369A"/>
                </a:solidFill>
                <a:effectLst/>
                <a:latin typeface="-apple-system"/>
              </a:rPr>
              <a:t>classes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 that already implemented the </a:t>
            </a:r>
            <a:r>
              <a:rPr lang="en-IN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Mailable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 interface.</a:t>
            </a:r>
          </a:p>
          <a:p>
            <a:pPr indent="0" algn="l">
              <a:buNone/>
            </a:pPr>
            <a:endParaRPr lang="en-IN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Now, you want to add a new method to the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Mailable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 interface that sends an email later like this:</a:t>
            </a:r>
          </a:p>
          <a:p>
            <a:pPr indent="0" algn="l">
              <a:buNone/>
            </a:pPr>
            <a:endParaRPr lang="en-IN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later(email: string, after: number): void</a:t>
            </a:r>
          </a:p>
          <a:p>
            <a:pPr marL="0" marR="0" indent="0" algn="l">
              <a:buNone/>
            </a:pPr>
            <a:endParaRPr lang="en-IN" sz="2000" b="0" i="0" dirty="0">
              <a:solidFill>
                <a:srgbClr val="212529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However, adding the </a:t>
            </a:r>
            <a:r>
              <a:rPr lang="en-IN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later()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method to the </a:t>
            </a:r>
            <a:r>
              <a:rPr lang="en-IN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Mailable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 interface would break the current code.</a:t>
            </a:r>
          </a:p>
          <a:p>
            <a:pPr indent="0" algn="l">
              <a:buNone/>
            </a:pPr>
            <a:endParaRPr lang="en-IN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To avoid this, you can create a new interface that extends the </a:t>
            </a:r>
            <a:r>
              <a:rPr lang="en-IN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Mailable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 interface:</a:t>
            </a:r>
          </a:p>
          <a:p>
            <a:pPr indent="0" algn="l">
              <a:buNone/>
            </a:pPr>
            <a:endParaRPr lang="en-IN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dirty="0">
                <a:solidFill>
                  <a:srgbClr val="A626A4"/>
                </a:solidFill>
                <a:latin typeface="ui-monospace"/>
              </a:rPr>
              <a:t>interface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 </a:t>
            </a:r>
            <a:r>
              <a:rPr lang="en-IN" sz="2000" b="0" i="0" dirty="0" err="1">
                <a:solidFill>
                  <a:srgbClr val="212529"/>
                </a:solidFill>
                <a:effectLst/>
                <a:latin typeface="inherit"/>
              </a:rPr>
              <a:t>FutureMailable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 </a:t>
            </a:r>
            <a:r>
              <a:rPr lang="en-IN" dirty="0">
                <a:solidFill>
                  <a:srgbClr val="DA1039"/>
                </a:solidFill>
                <a:latin typeface="Roboto Mono" panose="00000009000000000000" pitchFamily="49" charset="0"/>
              </a:rPr>
              <a:t>extends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 Mailable {</a:t>
            </a: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    later(email: string, after: number): </a:t>
            </a:r>
            <a:r>
              <a:rPr lang="en-IN" sz="2000" b="0" i="0" dirty="0" err="1">
                <a:solidFill>
                  <a:srgbClr val="212529"/>
                </a:solidFill>
                <a:effectLst/>
                <a:latin typeface="inherit"/>
              </a:rPr>
              <a:t>boolean</a:t>
            </a:r>
            <a:endParaRPr lang="en-IN" sz="2000" b="0" i="0" dirty="0">
              <a:solidFill>
                <a:srgbClr val="212529"/>
              </a:solidFill>
              <a:effectLst/>
              <a:latin typeface="inherit"/>
            </a:endParaRP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}</a:t>
            </a:r>
            <a:endParaRPr lang="en-IN" sz="2000" b="0" i="0" dirty="0">
              <a:solidFill>
                <a:srgbClr val="212529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465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3F7889-A575-3427-5C71-13AF6A271479}"/>
              </a:ext>
            </a:extLst>
          </p:cNvPr>
          <p:cNvSpPr txBox="1"/>
          <p:nvPr/>
        </p:nvSpPr>
        <p:spPr>
          <a:xfrm>
            <a:off x="177800" y="296333"/>
            <a:ext cx="11430000" cy="552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Like classes, the </a:t>
            </a:r>
            <a:r>
              <a:rPr lang="en-IN" sz="14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FutureMailable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interface inherits the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send()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and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queue()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methods from the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Mailable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interface.</a:t>
            </a:r>
          </a:p>
          <a:p>
            <a:pPr indent="0" algn="l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The following shows how to implement the </a:t>
            </a:r>
            <a:r>
              <a:rPr lang="en-IN" sz="1400" b="0" i="0" dirty="0" err="1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FutureMailable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-apple-system"/>
              </a:rPr>
              <a:t> interface:</a:t>
            </a:r>
          </a:p>
          <a:p>
            <a:pPr>
              <a:lnSpc>
                <a:spcPct val="113095"/>
              </a:lnSpc>
              <a:buNone/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Mail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FutureMailable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after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`Send email to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in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after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ms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.`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`Sent email to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after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after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ms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 `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`Queue an email to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.`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indent="0" algn="l">
              <a:buNone/>
            </a:pPr>
            <a:endParaRPr lang="en-IN" sz="1600" b="0" i="0" dirty="0">
              <a:solidFill>
                <a:srgbClr val="212529"/>
              </a:solidFill>
              <a:effectLst/>
              <a:latin typeface="Courier New" panose="02070309020205020404" pitchFamily="49" charset="0"/>
            </a:endParaRPr>
          </a:p>
          <a:p>
            <a:pPr indent="0" algn="l">
              <a:buNone/>
            </a:pPr>
            <a:endParaRPr lang="en-IN" sz="1600" b="0" i="0" dirty="0">
              <a:solidFill>
                <a:srgbClr val="212529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979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2B0080-3B74-9EE5-9F53-71BFABB402AC}"/>
              </a:ext>
            </a:extLst>
          </p:cNvPr>
          <p:cNvSpPr txBox="1"/>
          <p:nvPr/>
        </p:nvSpPr>
        <p:spPr>
          <a:xfrm>
            <a:off x="609600" y="235562"/>
            <a:ext cx="10591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To extend an interface, you use the </a:t>
            </a:r>
            <a:r>
              <a:rPr lang="en-IN" sz="20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extends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-apple-system"/>
              </a:rPr>
              <a:t> keyword with the following syntax:</a:t>
            </a:r>
          </a:p>
          <a:p>
            <a:pPr marL="0" marR="0" indent="0" algn="l" rtl="0">
              <a:buNone/>
            </a:pPr>
            <a:r>
              <a:rPr lang="en-IN" dirty="0">
                <a:solidFill>
                  <a:srgbClr val="A626A4"/>
                </a:solidFill>
                <a:latin typeface="ui-monospace"/>
              </a:rPr>
              <a:t>interface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 A {</a:t>
            </a: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    a(): void</a:t>
            </a: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}</a:t>
            </a:r>
          </a:p>
          <a:p>
            <a:pPr marL="0" marR="0" indent="0" algn="l" rtl="0">
              <a:buNone/>
            </a:pPr>
            <a:endParaRPr lang="en-IN" sz="2000" b="0" i="0" dirty="0">
              <a:solidFill>
                <a:srgbClr val="212529"/>
              </a:solidFill>
              <a:effectLst/>
              <a:latin typeface="inherit"/>
            </a:endParaRPr>
          </a:p>
          <a:p>
            <a:pPr marL="0" marR="0" indent="0" algn="l" rtl="0">
              <a:buNone/>
            </a:pPr>
            <a:r>
              <a:rPr lang="en-IN" dirty="0">
                <a:solidFill>
                  <a:srgbClr val="A626A4"/>
                </a:solidFill>
                <a:latin typeface="ui-monospace"/>
              </a:rPr>
              <a:t>interface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 B </a:t>
            </a:r>
            <a:r>
              <a:rPr lang="en-IN" sz="1600" dirty="0">
                <a:solidFill>
                  <a:srgbClr val="DA1039"/>
                </a:solidFill>
                <a:latin typeface="Roboto Mono" panose="00000009000000000000" pitchFamily="49" charset="0"/>
              </a:rPr>
              <a:t>extends</a:t>
            </a: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 A {</a:t>
            </a:r>
          </a:p>
          <a:p>
            <a:pPr marL="0" marR="0" indent="0" algn="l" rtl="0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    b(): void</a:t>
            </a: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212529"/>
                </a:solidFill>
                <a:effectLst/>
                <a:latin typeface="inherit"/>
              </a:rPr>
              <a:t>}</a:t>
            </a:r>
            <a:endParaRPr lang="en-IN" sz="2000" b="0" i="0" dirty="0">
              <a:solidFill>
                <a:srgbClr val="212529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91D90-7402-2434-880D-49B8308507AE}"/>
              </a:ext>
            </a:extLst>
          </p:cNvPr>
          <p:cNvSpPr txBox="1"/>
          <p:nvPr/>
        </p:nvSpPr>
        <p:spPr>
          <a:xfrm>
            <a:off x="372533" y="2851835"/>
            <a:ext cx="9118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44" b="0" i="0" dirty="0">
                <a:solidFill>
                  <a:srgbClr val="212529"/>
                </a:solidFill>
                <a:effectLst/>
                <a:latin typeface="-apple-system"/>
              </a:rPr>
              <a:t>The interface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B</a:t>
            </a:r>
            <a:r>
              <a:rPr lang="en-IN" sz="1344" b="0" i="0" dirty="0">
                <a:solidFill>
                  <a:srgbClr val="212529"/>
                </a:solidFill>
                <a:effectLst/>
                <a:latin typeface="-apple-system"/>
              </a:rPr>
              <a:t> extends the interface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A</a:t>
            </a:r>
            <a:r>
              <a:rPr lang="en-IN" sz="1344" b="0" i="0" dirty="0">
                <a:solidFill>
                  <a:srgbClr val="212529"/>
                </a:solidFill>
                <a:effectLst/>
                <a:latin typeface="-apple-system"/>
              </a:rPr>
              <a:t>, which then has both methods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a()</a:t>
            </a:r>
            <a:r>
              <a:rPr lang="en-IN" sz="1200" b="0" i="0" dirty="0"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lang="en-IN" sz="1344" b="0" i="0" dirty="0">
                <a:solidFill>
                  <a:srgbClr val="212529"/>
                </a:solidFill>
                <a:effectLst/>
                <a:latin typeface="-apple-system"/>
              </a:rPr>
              <a:t>and </a:t>
            </a:r>
            <a:r>
              <a:rPr lang="en-IN" sz="1600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b()</a:t>
            </a:r>
            <a:r>
              <a:rPr lang="en-IN" sz="1200" b="0" i="0" dirty="0"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lang="en-IN" sz="1344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AA6B19-BB67-93B1-E3B5-81D328D70A5D}"/>
              </a:ext>
            </a:extLst>
          </p:cNvPr>
          <p:cNvSpPr txBox="1"/>
          <p:nvPr/>
        </p:nvSpPr>
        <p:spPr>
          <a:xfrm>
            <a:off x="254000" y="3252117"/>
            <a:ext cx="11607800" cy="3267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Interfaces extending multiple interfaces </a:t>
            </a:r>
          </a:p>
          <a:p>
            <a:pPr indent="0" algn="l">
              <a:buNone/>
            </a:pPr>
            <a:r>
              <a:rPr lang="en-IN" sz="1344" b="0" i="0" dirty="0">
                <a:solidFill>
                  <a:srgbClr val="212529"/>
                </a:solidFill>
                <a:effectLst/>
                <a:latin typeface="-apple-system"/>
              </a:rPr>
              <a:t>An interface can extend multiple interfaces, creating a combination of all the interfaces. For example:</a:t>
            </a:r>
          </a:p>
          <a:p>
            <a:pPr indent="0" algn="l">
              <a:buNone/>
            </a:pPr>
            <a:endParaRPr lang="en-IN" sz="16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marR="0" indent="0" algn="l" rtl="0">
              <a:buNone/>
            </a:pPr>
            <a:r>
              <a:rPr lang="en-IN" dirty="0">
                <a:solidFill>
                  <a:srgbClr val="A626A4"/>
                </a:solidFill>
                <a:latin typeface="ui-monospace"/>
              </a:rPr>
              <a:t>interface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inherit"/>
              </a:rPr>
              <a:t> C {</a:t>
            </a: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inherit"/>
              </a:rPr>
              <a:t>    c(): void</a:t>
            </a: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inherit"/>
              </a:rPr>
              <a:t>}</a:t>
            </a:r>
          </a:p>
          <a:p>
            <a:pPr marL="0" marR="0" indent="0" algn="l" rtl="0">
              <a:buNone/>
            </a:pPr>
            <a:endParaRPr lang="en-IN" sz="1600" b="0" i="0" dirty="0">
              <a:solidFill>
                <a:srgbClr val="212529"/>
              </a:solidFill>
              <a:effectLst/>
              <a:latin typeface="inherit"/>
            </a:endParaRPr>
          </a:p>
          <a:p>
            <a:pPr marL="0" marR="0" indent="0" algn="l" rtl="0">
              <a:buNone/>
            </a:pPr>
            <a:r>
              <a:rPr lang="en-IN" dirty="0">
                <a:solidFill>
                  <a:srgbClr val="A626A4"/>
                </a:solidFill>
                <a:latin typeface="ui-monospace"/>
              </a:rPr>
              <a:t>interface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inherit"/>
              </a:rPr>
              <a:t> D </a:t>
            </a:r>
            <a:r>
              <a:rPr lang="en-IN" sz="1600" dirty="0">
                <a:solidFill>
                  <a:srgbClr val="DA1039"/>
                </a:solidFill>
                <a:latin typeface="Roboto Mono" panose="00000009000000000000" pitchFamily="49" charset="0"/>
              </a:rPr>
              <a:t>extends</a:t>
            </a:r>
            <a:r>
              <a:rPr lang="en-IN" sz="1600" b="0" i="0" dirty="0">
                <a:solidFill>
                  <a:srgbClr val="212529"/>
                </a:solidFill>
                <a:effectLst/>
                <a:latin typeface="inherit"/>
              </a:rPr>
              <a:t> B, C {</a:t>
            </a: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inherit"/>
              </a:rPr>
              <a:t>    d(): void</a:t>
            </a:r>
          </a:p>
          <a:p>
            <a:pPr marL="0" marR="0" indent="0" algn="l" rtl="0">
              <a:buNone/>
            </a:pPr>
            <a:r>
              <a:rPr lang="en-IN" sz="1600" b="0" i="0" dirty="0">
                <a:solidFill>
                  <a:srgbClr val="212529"/>
                </a:solidFill>
                <a:effectLst/>
                <a:latin typeface="inherit"/>
              </a:rPr>
              <a:t>}</a:t>
            </a:r>
          </a:p>
          <a:p>
            <a:pPr marL="0" marR="0" indent="0" algn="l" rtl="0">
              <a:buNone/>
            </a:pPr>
            <a:endParaRPr lang="en-IN" sz="1600" dirty="0">
              <a:solidFill>
                <a:srgbClr val="212529"/>
              </a:solidFill>
              <a:latin typeface="inherit"/>
            </a:endParaRPr>
          </a:p>
          <a:p>
            <a:pPr marL="0" marR="0" indent="0" algn="l" rtl="0">
              <a:buNone/>
            </a:pPr>
            <a:endParaRPr lang="en-IN" sz="1344" b="0" i="0" dirty="0">
              <a:solidFill>
                <a:srgbClr val="212529"/>
              </a:solidFill>
              <a:effectLst/>
              <a:latin typeface="inherit"/>
            </a:endParaRPr>
          </a:p>
          <a:p>
            <a:pPr indent="0" algn="l">
              <a:buNone/>
            </a:pPr>
            <a:r>
              <a:rPr lang="en-IN" sz="1344" b="0" i="0" dirty="0">
                <a:solidFill>
                  <a:srgbClr val="212529"/>
                </a:solidFill>
                <a:effectLst/>
                <a:latin typeface="-apple-system"/>
              </a:rPr>
              <a:t>In this example, the interface </a:t>
            </a:r>
            <a:r>
              <a:rPr lang="en-IN" sz="1344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D</a:t>
            </a:r>
            <a:r>
              <a:rPr lang="en-IN" sz="1344" b="0" i="0" dirty="0">
                <a:solidFill>
                  <a:srgbClr val="212529"/>
                </a:solidFill>
                <a:effectLst/>
                <a:latin typeface="-apple-system"/>
              </a:rPr>
              <a:t> extends the interfaces </a:t>
            </a:r>
            <a:r>
              <a:rPr lang="en-IN" sz="1344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B</a:t>
            </a:r>
            <a:r>
              <a:rPr lang="en-IN" sz="1344" b="0" i="0" dirty="0">
                <a:solidFill>
                  <a:srgbClr val="212529"/>
                </a:solidFill>
                <a:effectLst/>
                <a:latin typeface="-apple-system"/>
              </a:rPr>
              <a:t> and </a:t>
            </a:r>
            <a:r>
              <a:rPr lang="en-IN" sz="1344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C</a:t>
            </a:r>
            <a:r>
              <a:rPr lang="en-IN" sz="1344" b="0" i="0" dirty="0">
                <a:solidFill>
                  <a:srgbClr val="212529"/>
                </a:solidFill>
                <a:effectLst/>
                <a:latin typeface="-apple-system"/>
              </a:rPr>
              <a:t>. So </a:t>
            </a:r>
            <a:r>
              <a:rPr lang="en-IN" sz="1344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D</a:t>
            </a:r>
            <a:r>
              <a:rPr lang="en-IN" sz="1344" b="0" i="0" dirty="0">
                <a:solidFill>
                  <a:srgbClr val="212529"/>
                </a:solidFill>
                <a:effectLst/>
                <a:latin typeface="-apple-system"/>
              </a:rPr>
              <a:t> has all the methods of </a:t>
            </a:r>
            <a:r>
              <a:rPr lang="en-IN" sz="1344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B</a:t>
            </a:r>
            <a:r>
              <a:rPr lang="en-IN" sz="1344" b="0" i="0" dirty="0">
                <a:solidFill>
                  <a:srgbClr val="212529"/>
                </a:solidFill>
                <a:effectLst/>
                <a:latin typeface="-apple-system"/>
              </a:rPr>
              <a:t> and </a:t>
            </a:r>
            <a:r>
              <a:rPr lang="en-IN" sz="1344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C</a:t>
            </a:r>
            <a:r>
              <a:rPr lang="en-IN" sz="1344" b="0" i="0" dirty="0">
                <a:solidFill>
                  <a:srgbClr val="212529"/>
                </a:solidFill>
                <a:effectLst/>
                <a:latin typeface="-apple-system"/>
              </a:rPr>
              <a:t> interfaces, which are </a:t>
            </a:r>
            <a:r>
              <a:rPr lang="en-IN" sz="1344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a()</a:t>
            </a:r>
            <a:r>
              <a:rPr lang="en-IN" sz="1344" b="0" i="0" dirty="0">
                <a:solidFill>
                  <a:srgbClr val="212529"/>
                </a:solidFill>
                <a:effectLst/>
                <a:latin typeface="-apple-system"/>
              </a:rPr>
              <a:t>, </a:t>
            </a:r>
            <a:r>
              <a:rPr lang="en-IN" sz="1344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b()</a:t>
            </a:r>
            <a:r>
              <a:rPr lang="en-IN" sz="1344" b="0" i="0" dirty="0">
                <a:solidFill>
                  <a:srgbClr val="212529"/>
                </a:solidFill>
                <a:effectLst/>
                <a:latin typeface="-apple-system"/>
              </a:rPr>
              <a:t>, and </a:t>
            </a:r>
            <a:r>
              <a:rPr lang="en-IN" sz="1344" b="0" i="0" dirty="0">
                <a:solidFill>
                  <a:srgbClr val="DA1039"/>
                </a:solidFill>
                <a:effectLst/>
                <a:latin typeface="Roboto Mono" panose="00000009000000000000" pitchFamily="49" charset="0"/>
              </a:rPr>
              <a:t>c()</a:t>
            </a:r>
            <a:r>
              <a:rPr lang="en-IN" sz="1344" b="0" i="0" dirty="0">
                <a:solidFill>
                  <a:srgbClr val="212529"/>
                </a:solidFill>
                <a:effectLst/>
                <a:latin typeface="-apple-system"/>
              </a:rPr>
              <a:t> methods.</a:t>
            </a:r>
          </a:p>
        </p:txBody>
      </p:sp>
    </p:spTree>
    <p:extLst>
      <p:ext uri="{BB962C8B-B14F-4D97-AF65-F5344CB8AC3E}">
        <p14:creationId xmlns:p14="http://schemas.microsoft.com/office/powerpoint/2010/main" val="2034948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1624E6-4ACB-430D-FD40-779A6AD48A24}"/>
              </a:ext>
            </a:extLst>
          </p:cNvPr>
          <p:cNvSpPr txBox="1"/>
          <p:nvPr/>
        </p:nvSpPr>
        <p:spPr>
          <a:xfrm>
            <a:off x="84667" y="313267"/>
            <a:ext cx="1199726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en-IN" sz="2800" b="1" i="0" dirty="0">
                <a:solidFill>
                  <a:srgbClr val="212529"/>
                </a:solidFill>
                <a:effectLst/>
                <a:latin typeface="-apple-system"/>
              </a:rPr>
              <a:t>Interfaces extending classes 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TypeScript allows an interface to extend a class. In this case, the interface inherits the properties and methods of the class. 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Also, the interface can inherit the </a:t>
            </a:r>
            <a:r>
              <a:rPr lang="en-IN" b="1" i="1" dirty="0">
                <a:solidFill>
                  <a:srgbClr val="212529"/>
                </a:solidFill>
                <a:effectLst/>
                <a:latin typeface="-apple-system"/>
              </a:rPr>
              <a:t>private and protected members of the class</a:t>
            </a: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, not just the public members.</a:t>
            </a:r>
          </a:p>
          <a:p>
            <a:pPr indent="0" algn="l">
              <a:buNone/>
            </a:pPr>
            <a:endParaRPr lang="en-IN" sz="11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It means that when an </a:t>
            </a:r>
            <a:r>
              <a:rPr lang="en-IN" b="1" i="1" dirty="0">
                <a:solidFill>
                  <a:srgbClr val="212529"/>
                </a:solidFill>
                <a:effectLst/>
                <a:latin typeface="-apple-system"/>
              </a:rPr>
              <a:t>interface extends a class with private or protected members, the interface can only be implemented by that class or subclasses of that class from which the interface extends.</a:t>
            </a:r>
          </a:p>
          <a:p>
            <a:pPr indent="0" algn="l">
              <a:buNone/>
            </a:pPr>
            <a:endParaRPr lang="en-IN" sz="12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indent="0" algn="l">
              <a:buNone/>
            </a:pPr>
            <a:r>
              <a:rPr lang="en-IN" b="0" i="0" dirty="0">
                <a:solidFill>
                  <a:srgbClr val="212529"/>
                </a:solidFill>
                <a:effectLst/>
                <a:latin typeface="-apple-system"/>
              </a:rPr>
              <a:t>By doing this, you restrict the usage of the interface to only classes or subclasses of the class from which the interface extends. If you attempt to implement the interface from a class that is not a subclass of the class that the interface inherited, you’ll get an error. For example: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112A30-DA8C-50B8-EAC7-4F4E56609083}"/>
              </a:ext>
            </a:extLst>
          </p:cNvPr>
          <p:cNvSpPr txBox="1"/>
          <p:nvPr/>
        </p:nvSpPr>
        <p:spPr>
          <a:xfrm>
            <a:off x="211666" y="3191451"/>
            <a:ext cx="5063067" cy="341420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Control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StatefulControl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Control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enable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Control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StatefulControl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enable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 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5A3AFC-EE4F-07A4-0F46-C0F0E463B723}"/>
              </a:ext>
            </a:extLst>
          </p:cNvPr>
          <p:cNvSpPr txBox="1"/>
          <p:nvPr/>
        </p:nvSpPr>
        <p:spPr>
          <a:xfrm>
            <a:off x="5698068" y="3444764"/>
            <a:ext cx="6096000" cy="28587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TextBox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extends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Control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implements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StatefulControl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enable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{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extends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Control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Error: cannot implement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Chart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implements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StatefulControl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enable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{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29BEF7-34D6-FEF2-5772-56CB437C6B77}"/>
              </a:ext>
            </a:extLst>
          </p:cNvPr>
          <p:cNvSpPr txBox="1"/>
          <p:nvPr/>
        </p:nvSpPr>
        <p:spPr>
          <a:xfrm>
            <a:off x="211666" y="0"/>
            <a:ext cx="11870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 particular interface must be implemented by a specific class only.. and it’s subclass : How to do that</a:t>
            </a:r>
          </a:p>
        </p:txBody>
      </p:sp>
    </p:spTree>
    <p:extLst>
      <p:ext uri="{BB962C8B-B14F-4D97-AF65-F5344CB8AC3E}">
        <p14:creationId xmlns:p14="http://schemas.microsoft.com/office/powerpoint/2010/main" val="1874069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CD0AA5-3A72-9652-FC90-657CF76FCDE2}"/>
              </a:ext>
            </a:extLst>
          </p:cNvPr>
          <p:cNvSpPr txBox="1"/>
          <p:nvPr/>
        </p:nvSpPr>
        <p:spPr>
          <a:xfrm>
            <a:off x="270933" y="1199597"/>
            <a:ext cx="11734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An interface can extend one or multiple existing interfaces.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212529"/>
                </a:solidFill>
                <a:effectLst/>
                <a:latin typeface="-apple-system"/>
              </a:rPr>
              <a:t>An interface also can extend a class. If the class contains private or protected members, the interface can only be implemented by the class or subclasses of that class.</a:t>
            </a:r>
          </a:p>
        </p:txBody>
      </p:sp>
    </p:spTree>
    <p:extLst>
      <p:ext uri="{BB962C8B-B14F-4D97-AF65-F5344CB8AC3E}">
        <p14:creationId xmlns:p14="http://schemas.microsoft.com/office/powerpoint/2010/main" val="2647203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1743</Words>
  <Application>Microsoft Office PowerPoint</Application>
  <PresentationFormat>Widescreen</PresentationFormat>
  <Paragraphs>256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-apple-system</vt:lpstr>
      <vt:lpstr>Arial</vt:lpstr>
      <vt:lpstr>Calibri</vt:lpstr>
      <vt:lpstr>Calibri Light</vt:lpstr>
      <vt:lpstr>Consolas</vt:lpstr>
      <vt:lpstr>Courier New</vt:lpstr>
      <vt:lpstr>inherit</vt:lpstr>
      <vt:lpstr>Roboto Mono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58</cp:revision>
  <dcterms:created xsi:type="dcterms:W3CDTF">2026-09-08T06:42:30Z</dcterms:created>
  <dcterms:modified xsi:type="dcterms:W3CDTF">2026-09-24T04:21:10Z</dcterms:modified>
</cp:coreProperties>
</file>