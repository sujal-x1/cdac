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62" r:id="rId2"/>
    <p:sldId id="263" r:id="rId3"/>
    <p:sldId id="264" r:id="rId4"/>
    <p:sldId id="265" r:id="rId5"/>
    <p:sldId id="274" r:id="rId6"/>
    <p:sldId id="273" r:id="rId7"/>
    <p:sldId id="267" r:id="rId8"/>
    <p:sldId id="275" r:id="rId9"/>
    <p:sldId id="276" r:id="rId10"/>
    <p:sldId id="268" r:id="rId11"/>
    <p:sldId id="269" r:id="rId12"/>
    <p:sldId id="271" r:id="rId13"/>
    <p:sldId id="272" r:id="rId14"/>
    <p:sldId id="277" r:id="rId15"/>
    <p:sldId id="270" r:id="rId16"/>
    <p:sldId id="256" r:id="rId17"/>
    <p:sldId id="257" r:id="rId18"/>
    <p:sldId id="258" r:id="rId19"/>
    <p:sldId id="259" r:id="rId20"/>
    <p:sldId id="260" r:id="rId21"/>
    <p:sldId id="26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4FAB5-856A-4306-B389-F3A9FF6AF195}" type="datetimeFigureOut">
              <a:rPr lang="en-IN" smtClean="0"/>
              <a:t>10-03-2023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2278A-00FA-489D-A9CA-1209EB112B88}" type="slidenum">
              <a:rPr lang="en-IN" smtClean="0"/>
              <a:t>‹#›</a:t>
            </a:fld>
            <a:endParaRPr lang="en-IN"/>
          </a:p>
        </p:txBody>
      </p:sp>
    </p:spTree>
    <p:extLst>
      <p:ext uri="{BB962C8B-B14F-4D97-AF65-F5344CB8AC3E}">
        <p14:creationId xmlns:p14="http://schemas.microsoft.com/office/powerpoint/2010/main" val="954906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EB2278A-00FA-489D-A9CA-1209EB112B88}" type="slidenum">
              <a:rPr lang="en-IN" smtClean="0"/>
              <a:t>11</a:t>
            </a:fld>
            <a:endParaRPr lang="en-IN"/>
          </a:p>
        </p:txBody>
      </p:sp>
    </p:spTree>
    <p:extLst>
      <p:ext uri="{BB962C8B-B14F-4D97-AF65-F5344CB8AC3E}">
        <p14:creationId xmlns:p14="http://schemas.microsoft.com/office/powerpoint/2010/main" val="2088874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89075-D52E-4256-9E9D-8AFA0F1BF9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A87982-A154-4D6C-B6B3-EA953F454A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E0DD42-CB7C-45FB-A737-694F4286E933}"/>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5" name="Footer Placeholder 4">
            <a:extLst>
              <a:ext uri="{FF2B5EF4-FFF2-40B4-BE49-F238E27FC236}">
                <a16:creationId xmlns:a16="http://schemas.microsoft.com/office/drawing/2014/main" id="{3418821B-C683-4C3C-A920-22798C64DB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E0FED2-B5F8-4422-93E6-3A01B63AD6CC}"/>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9364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4263E-BD1F-4A2A-8C15-1B9F9BDE0A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FA8318-714E-4F31-9AA9-4C69315FB9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26D79D-938A-45C9-B1C3-DB666F356324}"/>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5" name="Footer Placeholder 4">
            <a:extLst>
              <a:ext uri="{FF2B5EF4-FFF2-40B4-BE49-F238E27FC236}">
                <a16:creationId xmlns:a16="http://schemas.microsoft.com/office/drawing/2014/main" id="{61FC9AB8-1175-4A8B-B8CB-A9B331CAFC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49D192-B465-4A0D-9FFE-D5AC572BB54B}"/>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465393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06EEF-AEFF-4590-A970-F7DC47102E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74A56E-D394-4EA9-9424-65808F9BF0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9D099D-B63C-494C-A0E5-574BA649F04F}"/>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5" name="Footer Placeholder 4">
            <a:extLst>
              <a:ext uri="{FF2B5EF4-FFF2-40B4-BE49-F238E27FC236}">
                <a16:creationId xmlns:a16="http://schemas.microsoft.com/office/drawing/2014/main" id="{426137DE-323B-449F-9642-AE83C02F1D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3B23AD-8DD2-4216-A1DA-0C0A8FE90CCC}"/>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968502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61598-724D-40FF-86D7-A4560BB038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3EBAEE-9D91-4172-9923-DE6F7B2079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85FAC05-0DA5-4E67-995C-BA6C95908D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8A89AA-7D81-485B-BD54-F3CF95F32190}"/>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6" name="Footer Placeholder 5">
            <a:extLst>
              <a:ext uri="{FF2B5EF4-FFF2-40B4-BE49-F238E27FC236}">
                <a16:creationId xmlns:a16="http://schemas.microsoft.com/office/drawing/2014/main" id="{41310E92-F5EA-43A1-B165-6EADF13656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9D8BCF-E061-4BEF-AFE9-1A8DF4F71DF4}"/>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124874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55448-AD71-40B2-B382-CC1FBE9375C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39C03C-41CC-4773-BB24-F864CA1F3A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65B806-1E28-4FE7-B739-E73207A2E7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FB742F-938C-45D6-B5FF-32830C2108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EC71BF-D83F-467F-B4D7-7D702B6C73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6F4286-4279-437D-A5E5-F84488E889B9}"/>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8" name="Footer Placeholder 7">
            <a:extLst>
              <a:ext uri="{FF2B5EF4-FFF2-40B4-BE49-F238E27FC236}">
                <a16:creationId xmlns:a16="http://schemas.microsoft.com/office/drawing/2014/main" id="{456B53E4-86BC-4B7C-9FBA-88F8C7B79C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A0090ED-CFF7-4024-A5F6-166D06415D80}"/>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042293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F20D-9E21-4C43-83B7-FAC04E89C1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3403C0-C121-4983-ADAB-FE26235774A6}"/>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4" name="Footer Placeholder 3">
            <a:extLst>
              <a:ext uri="{FF2B5EF4-FFF2-40B4-BE49-F238E27FC236}">
                <a16:creationId xmlns:a16="http://schemas.microsoft.com/office/drawing/2014/main" id="{ACE3F71C-80C8-41B0-B40B-409FD2692F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46DF8E-3F21-4D50-A26D-B48B0C84BBE3}"/>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4130157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E3EA-4DA2-4396-B556-8E15C04F05EB}"/>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3" name="Footer Placeholder 2">
            <a:extLst>
              <a:ext uri="{FF2B5EF4-FFF2-40B4-BE49-F238E27FC236}">
                <a16:creationId xmlns:a16="http://schemas.microsoft.com/office/drawing/2014/main" id="{051112C7-925C-48B5-B41E-A77D5ADAC52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5C36B2-B2F9-4708-ADA4-ED2DB11E8958}"/>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2386727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3C75D-DD09-42E8-A913-760E8F7C2B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F2E30E-64B9-4D28-86A6-A10BC88A6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132A1E-88C6-49FE-8B93-319B5DCE0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DC1C70-3621-485B-A2D3-C6EF6303075A}"/>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6" name="Footer Placeholder 5">
            <a:extLst>
              <a:ext uri="{FF2B5EF4-FFF2-40B4-BE49-F238E27FC236}">
                <a16:creationId xmlns:a16="http://schemas.microsoft.com/office/drawing/2014/main" id="{E4B720DA-E41F-4AD2-B096-93EF9FDB2C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EEEBA5-004C-497D-B59E-F156B149789A}"/>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1990828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F923-08F7-46F3-AAF3-BC07256D41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38F90D-86B6-4294-A576-3FE03DDC51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15808ED-FCAC-4E25-A332-1A12603CCB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A21287-E3DC-46F6-BFAB-C917C8BBF065}"/>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6" name="Footer Placeholder 5">
            <a:extLst>
              <a:ext uri="{FF2B5EF4-FFF2-40B4-BE49-F238E27FC236}">
                <a16:creationId xmlns:a16="http://schemas.microsoft.com/office/drawing/2014/main" id="{1369FA3D-3AF8-4D2F-8F2A-5F34AD3F59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F53FC24-1F57-40CB-B0A2-A91EE528DF17}"/>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23415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F4EF-E07E-4402-AF9B-721ADB7FFE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D00BA2-E3F0-4440-AD99-3CDFC5961F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52295A-F2D5-4163-B5C4-C0A8E51DE566}"/>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5" name="Footer Placeholder 4">
            <a:extLst>
              <a:ext uri="{FF2B5EF4-FFF2-40B4-BE49-F238E27FC236}">
                <a16:creationId xmlns:a16="http://schemas.microsoft.com/office/drawing/2014/main" id="{278CF3E9-1B70-4F7C-9B5A-4EC4A796C2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06577B-7D0D-42D1-8A6B-E38C632D0D8E}"/>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3687919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E4C955-0F83-4B0C-BACD-BF7C600474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0270A8-570B-4BB9-8B2F-E62FF648E1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23C15A-C3AD-4917-A723-C6B8A837611B}"/>
              </a:ext>
            </a:extLst>
          </p:cNvPr>
          <p:cNvSpPr>
            <a:spLocks noGrp="1"/>
          </p:cNvSpPr>
          <p:nvPr>
            <p:ph type="dt" sz="half" idx="10"/>
          </p:nvPr>
        </p:nvSpPr>
        <p:spPr/>
        <p:txBody>
          <a:bodyPr/>
          <a:lstStyle/>
          <a:p>
            <a:fld id="{33F642CB-8FAE-45D3-91F9-1A029D845179}" type="datetimeFigureOut">
              <a:rPr lang="en-IN" smtClean="0"/>
              <a:t>10-03-2023</a:t>
            </a:fld>
            <a:endParaRPr lang="en-IN"/>
          </a:p>
        </p:txBody>
      </p:sp>
      <p:sp>
        <p:nvSpPr>
          <p:cNvPr id="5" name="Footer Placeholder 4">
            <a:extLst>
              <a:ext uri="{FF2B5EF4-FFF2-40B4-BE49-F238E27FC236}">
                <a16:creationId xmlns:a16="http://schemas.microsoft.com/office/drawing/2014/main" id="{546CD896-706E-410A-9FB4-33E82F8BD8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3DB7FB-2750-47A0-954F-0BE83C36AFD6}"/>
              </a:ext>
            </a:extLst>
          </p:cNvPr>
          <p:cNvSpPr>
            <a:spLocks noGrp="1"/>
          </p:cNvSpPr>
          <p:nvPr>
            <p:ph type="sldNum" sz="quarter" idx="12"/>
          </p:nvPr>
        </p:nvSpPr>
        <p:spPr/>
        <p:txBody>
          <a:bodyPr/>
          <a:lstStyle/>
          <a:p>
            <a:fld id="{1160EEB3-5A57-435D-A621-91A8736A04F1}" type="slidenum">
              <a:rPr lang="en-IN" smtClean="0"/>
              <a:t>‹#›</a:t>
            </a:fld>
            <a:endParaRPr lang="en-IN"/>
          </a:p>
        </p:txBody>
      </p:sp>
    </p:spTree>
    <p:extLst>
      <p:ext uri="{BB962C8B-B14F-4D97-AF65-F5344CB8AC3E}">
        <p14:creationId xmlns:p14="http://schemas.microsoft.com/office/powerpoint/2010/main" val="215511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280B78-5A40-41DB-A57D-DC53DA4577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EF563A-D4A6-4A31-A7E4-B3888D7A7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C49AFC-A7D4-4ECB-9E47-AE2C26B8E3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F642CB-8FAE-45D3-91F9-1A029D845179}" type="datetimeFigureOut">
              <a:rPr lang="en-IN" smtClean="0"/>
              <a:t>10-03-2023</a:t>
            </a:fld>
            <a:endParaRPr lang="en-IN"/>
          </a:p>
        </p:txBody>
      </p:sp>
      <p:sp>
        <p:nvSpPr>
          <p:cNvPr id="5" name="Footer Placeholder 4">
            <a:extLst>
              <a:ext uri="{FF2B5EF4-FFF2-40B4-BE49-F238E27FC236}">
                <a16:creationId xmlns:a16="http://schemas.microsoft.com/office/drawing/2014/main" id="{6C5974FB-005E-464C-AF7F-AC5DEF2627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83D8A1A-BD18-479E-8401-A50BCE6F2D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EEB3-5A57-435D-A621-91A8736A04F1}" type="slidenum">
              <a:rPr lang="en-IN" smtClean="0"/>
              <a:t>‹#›</a:t>
            </a:fld>
            <a:endParaRPr lang="en-IN"/>
          </a:p>
        </p:txBody>
      </p:sp>
    </p:spTree>
    <p:extLst>
      <p:ext uri="{BB962C8B-B14F-4D97-AF65-F5344CB8AC3E}">
        <p14:creationId xmlns:p14="http://schemas.microsoft.com/office/powerpoint/2010/main" val="1369157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9E10BB-6A46-4A55-8A56-0B6D6D889A0D}"/>
              </a:ext>
            </a:extLst>
          </p:cNvPr>
          <p:cNvSpPr txBox="1"/>
          <p:nvPr/>
        </p:nvSpPr>
        <p:spPr>
          <a:xfrm>
            <a:off x="3657600" y="139798"/>
            <a:ext cx="3205316"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gn="l"/>
            <a:r>
              <a:rPr lang="en-IN" b="0" i="0" dirty="0" err="1">
                <a:solidFill>
                  <a:srgbClr val="000000"/>
                </a:solidFill>
                <a:effectLst/>
                <a:latin typeface="Segoe UI" panose="020B0502040204020203" pitchFamily="34" charset="0"/>
              </a:rPr>
              <a:t>useContext</a:t>
            </a:r>
            <a:r>
              <a:rPr lang="en-IN" b="0" i="0" dirty="0">
                <a:solidFill>
                  <a:srgbClr val="000000"/>
                </a:solidFill>
                <a:effectLst/>
                <a:latin typeface="Segoe UI" panose="020B0502040204020203" pitchFamily="34" charset="0"/>
              </a:rPr>
              <a:t> Hook</a:t>
            </a:r>
          </a:p>
        </p:txBody>
      </p:sp>
      <p:sp>
        <p:nvSpPr>
          <p:cNvPr id="7" name="TextBox 6">
            <a:extLst>
              <a:ext uri="{FF2B5EF4-FFF2-40B4-BE49-F238E27FC236}">
                <a16:creationId xmlns:a16="http://schemas.microsoft.com/office/drawing/2014/main" id="{0CD15B97-AD19-4CC5-8883-D05303C558D5}"/>
              </a:ext>
            </a:extLst>
          </p:cNvPr>
          <p:cNvSpPr txBox="1"/>
          <p:nvPr/>
        </p:nvSpPr>
        <p:spPr>
          <a:xfrm>
            <a:off x="186812" y="588691"/>
            <a:ext cx="11326761" cy="1200329"/>
          </a:xfrm>
          <a:prstGeom prst="rect">
            <a:avLst/>
          </a:prstGeom>
          <a:noFill/>
        </p:spPr>
        <p:txBody>
          <a:bodyPr wrap="square">
            <a:spAutoFit/>
          </a:bodyPr>
          <a:lstStyle/>
          <a:p>
            <a:r>
              <a:rPr lang="en-US" dirty="0"/>
              <a:t>React Context is a way to manage </a:t>
            </a:r>
            <a:r>
              <a:rPr lang="en-US" b="1" dirty="0"/>
              <a:t>state globally.</a:t>
            </a:r>
          </a:p>
          <a:p>
            <a:endParaRPr lang="en-US" dirty="0"/>
          </a:p>
          <a:p>
            <a:r>
              <a:rPr lang="en-US" dirty="0"/>
              <a:t>It can be used together with the </a:t>
            </a:r>
            <a:r>
              <a:rPr lang="en-US" dirty="0" err="1"/>
              <a:t>useState</a:t>
            </a:r>
            <a:r>
              <a:rPr lang="en-US" dirty="0"/>
              <a:t> Hook to share state between deeply nested components more easily than with </a:t>
            </a:r>
            <a:r>
              <a:rPr lang="en-US" dirty="0" err="1"/>
              <a:t>useState</a:t>
            </a:r>
            <a:r>
              <a:rPr lang="en-US" dirty="0"/>
              <a:t> alone.</a:t>
            </a:r>
            <a:endParaRPr lang="en-IN" dirty="0"/>
          </a:p>
        </p:txBody>
      </p:sp>
      <p:sp>
        <p:nvSpPr>
          <p:cNvPr id="9" name="TextBox 8">
            <a:extLst>
              <a:ext uri="{FF2B5EF4-FFF2-40B4-BE49-F238E27FC236}">
                <a16:creationId xmlns:a16="http://schemas.microsoft.com/office/drawing/2014/main" id="{BC90E65B-2FE5-4D19-9FF8-59B8CEE6304F}"/>
              </a:ext>
            </a:extLst>
          </p:cNvPr>
          <p:cNvSpPr txBox="1"/>
          <p:nvPr/>
        </p:nvSpPr>
        <p:spPr>
          <a:xfrm>
            <a:off x="221226" y="1550091"/>
            <a:ext cx="11749548" cy="1569660"/>
          </a:xfrm>
          <a:prstGeom prst="rect">
            <a:avLst/>
          </a:prstGeom>
          <a:noFill/>
        </p:spPr>
        <p:txBody>
          <a:bodyPr wrap="square">
            <a:spAutoFit/>
          </a:bodyPr>
          <a:lstStyle/>
          <a:p>
            <a:pPr algn="ctr"/>
            <a:r>
              <a:rPr lang="en-US" sz="1600" b="1" i="0" dirty="0">
                <a:solidFill>
                  <a:srgbClr val="000000"/>
                </a:solidFill>
                <a:effectLst/>
                <a:latin typeface="Segoe UI" panose="020B0502040204020203" pitchFamily="34" charset="0"/>
              </a:rPr>
              <a:t>The Problem</a:t>
            </a:r>
          </a:p>
          <a:p>
            <a:pPr algn="l"/>
            <a:r>
              <a:rPr lang="en-US" sz="1600" b="0" i="0" dirty="0">
                <a:solidFill>
                  <a:srgbClr val="000000"/>
                </a:solidFill>
                <a:effectLst/>
                <a:latin typeface="Verdana" panose="020B0604030504040204" pitchFamily="34" charset="0"/>
              </a:rPr>
              <a:t>State should be held by the highest parent component in the stack that requires access to the state.</a:t>
            </a:r>
          </a:p>
          <a:p>
            <a:pPr algn="l"/>
            <a:r>
              <a:rPr lang="en-US" sz="1600" b="0" i="0" dirty="0">
                <a:solidFill>
                  <a:srgbClr val="000000"/>
                </a:solidFill>
                <a:effectLst/>
                <a:latin typeface="Verdana" panose="020B0604030504040204" pitchFamily="34" charset="0"/>
              </a:rPr>
              <a:t>To illustrate, we have many nested components. The component at the top and bottom of the stack need access to the state.</a:t>
            </a:r>
          </a:p>
          <a:p>
            <a:pPr algn="l"/>
            <a:r>
              <a:rPr lang="en-US" sz="1600" b="0" i="0" dirty="0">
                <a:solidFill>
                  <a:srgbClr val="000000"/>
                </a:solidFill>
                <a:effectLst/>
                <a:latin typeface="Verdana" panose="020B0604030504040204" pitchFamily="34" charset="0"/>
              </a:rPr>
              <a:t>To do this without Context, we will need to pass the state as "props" through each nested component. This is called "prop drilling"</a:t>
            </a:r>
          </a:p>
        </p:txBody>
      </p:sp>
      <p:sp>
        <p:nvSpPr>
          <p:cNvPr id="11" name="TextBox 10">
            <a:extLst>
              <a:ext uri="{FF2B5EF4-FFF2-40B4-BE49-F238E27FC236}">
                <a16:creationId xmlns:a16="http://schemas.microsoft.com/office/drawing/2014/main" id="{0C8CF02F-376C-4F86-AB00-A81CBC819749}"/>
              </a:ext>
            </a:extLst>
          </p:cNvPr>
          <p:cNvSpPr txBox="1"/>
          <p:nvPr/>
        </p:nvSpPr>
        <p:spPr>
          <a:xfrm>
            <a:off x="0" y="3119751"/>
            <a:ext cx="5102943" cy="3108543"/>
          </a:xfrm>
          <a:prstGeom prst="rect">
            <a:avLst/>
          </a:prstGeom>
          <a:noFill/>
        </p:spPr>
        <p:txBody>
          <a:bodyPr wrap="square">
            <a:spAutoFit/>
          </a:bodyPr>
          <a:lstStyle/>
          <a:p>
            <a:endParaRPr lang="en-IN" sz="1400" b="0" dirty="0">
              <a:solidFill>
                <a:srgbClr val="000000"/>
              </a:solidFill>
              <a:effectLst/>
              <a:latin typeface="Consolas" panose="020B0609020204030204" pitchFamily="49" charset="0"/>
            </a:endParaRP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Component1</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setUser</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“Vita DAC"</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B61DBCBB-0C4D-4274-ADC6-08FB763B4D00}"/>
              </a:ext>
            </a:extLst>
          </p:cNvPr>
          <p:cNvSpPr txBox="1"/>
          <p:nvPr/>
        </p:nvSpPr>
        <p:spPr>
          <a:xfrm>
            <a:off x="5102943" y="3048219"/>
            <a:ext cx="3175818" cy="29700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Component2</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2</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Component3</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Component3</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3</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Component4</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5" name="TextBox 14">
            <a:extLst>
              <a:ext uri="{FF2B5EF4-FFF2-40B4-BE49-F238E27FC236}">
                <a16:creationId xmlns:a16="http://schemas.microsoft.com/office/drawing/2014/main" id="{ACDDB209-541D-46C5-9E48-156EF2180F6C}"/>
              </a:ext>
            </a:extLst>
          </p:cNvPr>
          <p:cNvSpPr txBox="1"/>
          <p:nvPr/>
        </p:nvSpPr>
        <p:spPr>
          <a:xfrm>
            <a:off x="8176752" y="2812662"/>
            <a:ext cx="4291782" cy="36471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Component4</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4</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Component5</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Component5</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5</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`Hello </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user</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again!`</a:t>
            </a:r>
            <a:r>
              <a:rPr kumimoji="0" lang="en-IN" sz="11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1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1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1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Component1</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1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1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7" name="TextBox 16">
            <a:extLst>
              <a:ext uri="{FF2B5EF4-FFF2-40B4-BE49-F238E27FC236}">
                <a16:creationId xmlns:a16="http://schemas.microsoft.com/office/drawing/2014/main" id="{5EBF95BF-1907-4306-ABFB-DB08E2686514}"/>
              </a:ext>
            </a:extLst>
          </p:cNvPr>
          <p:cNvSpPr txBox="1"/>
          <p:nvPr/>
        </p:nvSpPr>
        <p:spPr>
          <a:xfrm>
            <a:off x="843118" y="5982072"/>
            <a:ext cx="6105832" cy="830997"/>
          </a:xfrm>
          <a:prstGeom prst="rect">
            <a:avLst/>
          </a:prstGeom>
          <a:noFill/>
        </p:spPr>
        <p:txBody>
          <a:bodyPr wrap="square">
            <a:spAutoFit/>
          </a:bodyPr>
          <a:lstStyle/>
          <a:p>
            <a:pPr algn="l"/>
            <a:r>
              <a:rPr lang="en-US" sz="1600" b="0" i="0" dirty="0">
                <a:solidFill>
                  <a:srgbClr val="000000"/>
                </a:solidFill>
                <a:effectLst/>
                <a:latin typeface="Verdana" panose="020B0604030504040204" pitchFamily="34" charset="0"/>
              </a:rPr>
              <a:t>Even though components 2-4 did not need the state, they had to pass the state along so that it could reach component 5.</a:t>
            </a:r>
          </a:p>
        </p:txBody>
      </p:sp>
      <p:sp>
        <p:nvSpPr>
          <p:cNvPr id="3" name="TextBox 2">
            <a:extLst>
              <a:ext uri="{FF2B5EF4-FFF2-40B4-BE49-F238E27FC236}">
                <a16:creationId xmlns:a16="http://schemas.microsoft.com/office/drawing/2014/main" id="{D6BBD8DD-2F63-ED2B-0A6A-09C8C6EABCE9}"/>
              </a:ext>
            </a:extLst>
          </p:cNvPr>
          <p:cNvSpPr txBox="1"/>
          <p:nvPr/>
        </p:nvSpPr>
        <p:spPr>
          <a:xfrm>
            <a:off x="6003570" y="2666182"/>
            <a:ext cx="189076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1800" b="0" dirty="0">
                <a:solidFill>
                  <a:srgbClr val="FF0000"/>
                </a:solidFill>
                <a:effectLst/>
                <a:latin typeface="Consolas" panose="020B0609020204030204" pitchFamily="49" charset="0"/>
              </a:rPr>
              <a:t>{user</a:t>
            </a:r>
            <a:r>
              <a:rPr lang="en-IN" dirty="0">
                <a:solidFill>
                  <a:srgbClr val="000000"/>
                </a:solidFill>
                <a:latin typeface="Consolas" panose="020B0609020204030204" pitchFamily="49" charset="0"/>
              </a:rPr>
              <a:t> :</a:t>
            </a:r>
            <a:r>
              <a:rPr lang="en-IN" sz="1800" b="0" dirty="0">
                <a:solidFill>
                  <a:srgbClr val="0070C1"/>
                </a:solidFill>
                <a:effectLst/>
                <a:latin typeface="Consolas" panose="020B0609020204030204" pitchFamily="49" charset="0"/>
              </a:rPr>
              <a:t>user</a:t>
            </a:r>
            <a:r>
              <a:rPr lang="en-IN" sz="1800" b="0" dirty="0">
                <a:solidFill>
                  <a:srgbClr val="0000FF"/>
                </a:solidFill>
                <a:effectLst/>
                <a:latin typeface="Consolas" panose="020B0609020204030204" pitchFamily="49" charset="0"/>
              </a:rPr>
              <a:t>}</a:t>
            </a:r>
            <a:r>
              <a:rPr lang="en-IN" sz="1800" b="0" dirty="0">
                <a:solidFill>
                  <a:srgbClr val="000000"/>
                </a:solidFill>
                <a:effectLst/>
                <a:latin typeface="Consolas" panose="020B0609020204030204" pitchFamily="49" charset="0"/>
              </a:rPr>
              <a:t> </a:t>
            </a:r>
            <a:endParaRPr lang="en-IN" dirty="0"/>
          </a:p>
        </p:txBody>
      </p:sp>
    </p:spTree>
    <p:extLst>
      <p:ext uri="{BB962C8B-B14F-4D97-AF65-F5344CB8AC3E}">
        <p14:creationId xmlns:p14="http://schemas.microsoft.com/office/powerpoint/2010/main" val="292175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50A8899-A273-4092-8EEB-593B8F456152}"/>
              </a:ext>
            </a:extLst>
          </p:cNvPr>
          <p:cNvSpPr>
            <a:spLocks noChangeArrowheads="1"/>
          </p:cNvSpPr>
          <p:nvPr/>
        </p:nvSpPr>
        <p:spPr bwMode="auto">
          <a:xfrm>
            <a:off x="294968" y="-76943"/>
            <a:ext cx="11434916" cy="5590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The solution is to create context</a:t>
            </a:r>
            <a:r>
              <a:rPr kumimoji="0" lang="en-US" altLang="en-US" sz="1600" b="0" i="0" u="none" strike="noStrike" cap="none" normalizeH="0" baseline="0" dirty="0">
                <a:ln>
                  <a:noFill/>
                </a:ln>
                <a:solidFill>
                  <a:srgbClr val="000000"/>
                </a:solidFill>
                <a:effectLst/>
                <a:latin typeface="Verdana" panose="020B0604030504040204" pitchFamily="34" charset="0"/>
              </a:rPr>
              <a:t>.   </a:t>
            </a:r>
            <a:r>
              <a:rPr kumimoji="0" lang="en-US" altLang="en-US" sz="28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Create Context </a:t>
            </a:r>
            <a:r>
              <a:rPr kumimoji="0" lang="en-US" altLang="en-US" sz="1100" b="0" i="0" u="none" strike="noStrike" cap="none" normalizeH="0" baseline="0" dirty="0">
                <a:ln>
                  <a:noFill/>
                </a:ln>
                <a:solidFill>
                  <a:srgbClr val="000000"/>
                </a:solidFill>
                <a:effectLst/>
                <a:latin typeface="Verdana" panose="020B0604030504040204" pitchFamily="34" charset="0"/>
              </a:rPr>
              <a:t>To create context, you must Import </a:t>
            </a:r>
            <a:r>
              <a:rPr kumimoji="0" lang="en-US" altLang="en-US" sz="1100" b="0" i="0" u="none" strike="noStrike" cap="none" normalizeH="0" baseline="0" dirty="0" err="1">
                <a:ln>
                  <a:noFill/>
                </a:ln>
                <a:solidFill>
                  <a:srgbClr val="DC143C"/>
                </a:solidFill>
                <a:effectLst/>
                <a:latin typeface="Consolas" panose="020B0609020204030204" pitchFamily="49" charset="0"/>
              </a:rPr>
              <a:t>createContext</a:t>
            </a:r>
            <a:r>
              <a:rPr kumimoji="0" lang="en-US" altLang="en-US" sz="1100" b="0" i="0" u="none" strike="noStrike" cap="none" normalizeH="0" baseline="0" dirty="0">
                <a:ln>
                  <a:noFill/>
                </a:ln>
                <a:solidFill>
                  <a:srgbClr val="000000"/>
                </a:solidFill>
                <a:effectLst/>
                <a:latin typeface="Verdana" panose="020B0604030504040204" pitchFamily="34" charset="0"/>
              </a:rPr>
              <a:t> and initialize it: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C28F5655-E13E-4EA1-9494-085D96C2AC0E}"/>
              </a:ext>
            </a:extLst>
          </p:cNvPr>
          <p:cNvSpPr txBox="1"/>
          <p:nvPr/>
        </p:nvSpPr>
        <p:spPr>
          <a:xfrm>
            <a:off x="98323" y="129953"/>
            <a:ext cx="6096000" cy="6986528"/>
          </a:xfrm>
          <a:prstGeom prst="rect">
            <a:avLst/>
          </a:prstGeom>
          <a:noFill/>
        </p:spPr>
        <p:txBody>
          <a:bodyPr wrap="square">
            <a:spAutoFit/>
          </a:bodyPr>
          <a:lstStyle/>
          <a:p>
            <a:endParaRPr lang="en-IN" sz="1400" b="0" dirty="0">
              <a:solidFill>
                <a:srgbClr val="000000"/>
              </a:solidFill>
              <a:effectLst/>
              <a:latin typeface="Consolas" panose="020B0609020204030204" pitchFamily="49" charset="0"/>
            </a:endParaRP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 </a:t>
            </a:r>
            <a:r>
              <a:rPr lang="en-IN" sz="1400" b="0" dirty="0" err="1">
                <a:solidFill>
                  <a:srgbClr val="001080"/>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createContext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useContext</a:t>
            </a:r>
            <a:r>
              <a:rPr lang="en-IN" sz="1400" b="0" dirty="0">
                <a:solidFill>
                  <a:srgbClr val="000000"/>
                </a:solidFill>
                <a:effectLst/>
                <a:latin typeface="Consolas" panose="020B0609020204030204" pitchFamily="49" charset="0"/>
              </a:rPr>
              <a:t> }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a:solidFill>
                  <a:srgbClr val="000000"/>
                </a:solidFill>
                <a:effectLst/>
                <a:latin typeface="Consolas" panose="020B0609020204030204" pitchFamily="49" charset="0"/>
              </a:rPr>
              <a:t>;</a:t>
            </a:r>
          </a:p>
          <a:p>
            <a:r>
              <a:rPr lang="en-IN" sz="1400" b="0" dirty="0">
                <a:solidFill>
                  <a:srgbClr val="AF00DB"/>
                </a:solidFill>
                <a:effectLst/>
                <a:latin typeface="Consolas" panose="020B0609020204030204" pitchFamily="49" charset="0"/>
              </a:rPr>
              <a:t>import</a:t>
            </a:r>
            <a:r>
              <a:rPr lang="en-IN" sz="1400" b="0" dirty="0">
                <a:solidFill>
                  <a:srgbClr val="000000"/>
                </a:solidFill>
                <a:effectLst/>
                <a:latin typeface="Consolas" panose="020B0609020204030204" pitchFamily="49" charset="0"/>
              </a:rPr>
              <a:t> </a:t>
            </a:r>
            <a:r>
              <a:rPr lang="en-IN" sz="1400" b="0" dirty="0" err="1">
                <a:solidFill>
                  <a:srgbClr val="001080"/>
                </a:solidFill>
                <a:effectLst/>
                <a:latin typeface="Consolas" panose="020B0609020204030204" pitchFamily="49" charset="0"/>
              </a:rPr>
              <a:t>ReactDOM</a:t>
            </a: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from</a:t>
            </a:r>
            <a:r>
              <a:rPr lang="en-IN" sz="1400" b="0" dirty="0">
                <a:solidFill>
                  <a:srgbClr val="000000"/>
                </a:solidFill>
                <a:effectLst/>
                <a:latin typeface="Consolas" panose="020B0609020204030204" pitchFamily="49" charset="0"/>
              </a:rPr>
              <a:t> </a:t>
            </a:r>
            <a:r>
              <a:rPr lang="en-IN" sz="1400" b="0" dirty="0">
                <a:solidFill>
                  <a:srgbClr val="A31515"/>
                </a:solidFill>
                <a:effectLst/>
                <a:latin typeface="Consolas" panose="020B0609020204030204" pitchFamily="49" charset="0"/>
              </a:rPr>
              <a:t>"react-</a:t>
            </a:r>
            <a:r>
              <a:rPr lang="en-IN" sz="1400" b="0" dirty="0" err="1">
                <a:solidFill>
                  <a:srgbClr val="A31515"/>
                </a:solidFill>
                <a:effectLst/>
                <a:latin typeface="Consolas" panose="020B0609020204030204" pitchFamily="49" charset="0"/>
              </a:rPr>
              <a:t>dom</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err="1">
                <a:solidFill>
                  <a:srgbClr val="0070C1"/>
                </a:solidFill>
                <a:effectLst/>
                <a:highlight>
                  <a:srgbClr val="FFFF00"/>
                </a:highlight>
                <a:latin typeface="Consolas" panose="020B0609020204030204" pitchFamily="49" charset="0"/>
              </a:rPr>
              <a:t>UserContex</a:t>
            </a:r>
            <a:r>
              <a:rPr lang="en-IN" sz="1400" b="0" dirty="0" err="1">
                <a:solidFill>
                  <a:srgbClr val="0070C1"/>
                </a:solidFill>
                <a:effectLst/>
                <a:latin typeface="Consolas" panose="020B0609020204030204" pitchFamily="49" charset="0"/>
              </a:rPr>
              <a:t>t</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createContext</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Component1</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err="1">
                <a:solidFill>
                  <a:srgbClr val="0000FF"/>
                </a:solidFill>
                <a:effectLst/>
                <a:latin typeface="Consolas" panose="020B0609020204030204" pitchFamily="49" charset="0"/>
              </a:rPr>
              <a:t>const</a:t>
            </a: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 </a:t>
            </a:r>
            <a:r>
              <a:rPr lang="en-IN" sz="1400" b="0" dirty="0" err="1">
                <a:solidFill>
                  <a:srgbClr val="795E26"/>
                </a:solidFill>
                <a:effectLst/>
                <a:latin typeface="Consolas" panose="020B0609020204030204" pitchFamily="49" charset="0"/>
              </a:rPr>
              <a:t>setUser</a:t>
            </a:r>
            <a:r>
              <a:rPr lang="en-IN" sz="1400" b="0" dirty="0">
                <a:solidFill>
                  <a:srgbClr val="000000"/>
                </a:solidFill>
                <a:effectLst/>
                <a:latin typeface="Consolas" panose="020B0609020204030204" pitchFamily="49" charset="0"/>
              </a:rPr>
              <a:t>] = </a:t>
            </a:r>
            <a:r>
              <a:rPr lang="en-IN" sz="1400" b="0" dirty="0" err="1">
                <a:solidFill>
                  <a:srgbClr val="795E26"/>
                </a:solidFill>
                <a:effectLst/>
                <a:latin typeface="Consolas" panose="020B0609020204030204" pitchFamily="49" charset="0"/>
              </a:rPr>
              <a:t>useState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“vita DAC"</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highlight>
                  <a:srgbClr val="FFFF00"/>
                </a:highlight>
                <a:latin typeface="Consolas" panose="020B0609020204030204" pitchFamily="49" charset="0"/>
              </a:rPr>
              <a:t>UserContext</a:t>
            </a:r>
            <a:r>
              <a:rPr lang="en-IN" sz="1400" b="0" dirty="0" err="1">
                <a:solidFill>
                  <a:srgbClr val="267F99"/>
                </a:solidFill>
                <a:effectLst/>
                <a:latin typeface="Consolas" panose="020B0609020204030204" pitchFamily="49" charset="0"/>
              </a:rPr>
              <a:t>.Provider</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value</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`Hello </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user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a:solidFill>
                  <a:srgbClr val="0070C1"/>
                </a:solidFill>
                <a:effectLst/>
                <a:latin typeface="Consolas" panose="020B0609020204030204" pitchFamily="49" charset="0"/>
              </a:rPr>
              <a:t>user</a:t>
            </a:r>
            <a:r>
              <a:rPr lang="en-IN" sz="1400" b="0" dirty="0">
                <a:solidFill>
                  <a:srgbClr val="0000FF"/>
                </a:solidFill>
                <a:effectLst/>
                <a:latin typeface="Consolas" panose="020B0609020204030204" pitchFamily="49" charset="0"/>
              </a:rPr>
              <a:t>}</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err="1">
                <a:solidFill>
                  <a:srgbClr val="267F99"/>
                </a:solidFill>
                <a:effectLst/>
                <a:latin typeface="Consolas" panose="020B0609020204030204" pitchFamily="49" charset="0"/>
              </a:rPr>
              <a:t>UserContext.Provider</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Component2</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Component 2</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Component3</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Component3</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AF00DB"/>
                </a:solidFill>
                <a:effectLst/>
                <a:latin typeface="Consolas" panose="020B0609020204030204" pitchFamily="49" charset="0"/>
              </a:rPr>
              <a:t>return</a:t>
            </a:r>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&lt;h1&gt;</a:t>
            </a:r>
            <a:r>
              <a:rPr lang="en-IN" sz="1400" b="0" dirty="0">
                <a:solidFill>
                  <a:srgbClr val="000000"/>
                </a:solidFill>
                <a:effectLst/>
                <a:latin typeface="Consolas" panose="020B0609020204030204" pitchFamily="49" charset="0"/>
              </a:rPr>
              <a:t>Component 3</a:t>
            </a:r>
            <a:r>
              <a:rPr lang="en-IN" sz="1400" b="0" dirty="0">
                <a:solidFill>
                  <a:srgbClr val="800000"/>
                </a:solidFill>
                <a:effectLst/>
                <a:latin typeface="Consolas" panose="020B0609020204030204" pitchFamily="49" charset="0"/>
              </a:rPr>
              <a:t>&lt;/h1&gt;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a:t>
            </a:r>
            <a:r>
              <a:rPr lang="en-IN" sz="1400" b="0" dirty="0">
                <a:solidFill>
                  <a:srgbClr val="267F99"/>
                </a:solidFill>
                <a:effectLst/>
                <a:latin typeface="Consolas" panose="020B0609020204030204" pitchFamily="49" charset="0"/>
              </a:rPr>
              <a:t>Component4</a:t>
            </a:r>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r>
              <a:rPr lang="en-IN" sz="1400" b="0" dirty="0">
                <a:solidFill>
                  <a:srgbClr val="800000"/>
                </a:solidFill>
                <a:effectLst/>
                <a:latin typeface="Consolas" panose="020B0609020204030204" pitchFamily="49" charset="0"/>
              </a:rPr>
              <a:t>&lt;/&gt;</a:t>
            </a:r>
            <a:endParaRPr lang="en-IN" sz="1400" b="0" dirty="0">
              <a:solidFill>
                <a:srgbClr val="000000"/>
              </a:solidFill>
              <a:effectLst/>
              <a:latin typeface="Consolas" panose="020B0609020204030204" pitchFamily="49" charset="0"/>
            </a:endParaRP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E35996D1-340F-498C-8078-1F14139B14C5}"/>
              </a:ext>
            </a:extLst>
          </p:cNvPr>
          <p:cNvSpPr txBox="1"/>
          <p:nvPr/>
        </p:nvSpPr>
        <p:spPr>
          <a:xfrm>
            <a:off x="6666271" y="482144"/>
            <a:ext cx="4857135" cy="504753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Component4</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4</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Component5</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Component5</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user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useContext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highlight>
                  <a:srgbClr val="FFFF00"/>
                </a:highlight>
                <a:uLnTx/>
                <a:uFillTx/>
                <a:latin typeface="Consolas" panose="020B0609020204030204" pitchFamily="49" charset="0"/>
                <a:ea typeface="+mn-ea"/>
                <a:cs typeface="+mn-cs"/>
              </a:rPr>
              <a:t>UserContext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Component 5</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`Hello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user</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 again!`</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Component1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285877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3448FD-5566-4907-B1C1-D252F677CB25}"/>
              </a:ext>
            </a:extLst>
          </p:cNvPr>
          <p:cNvSpPr txBox="1"/>
          <p:nvPr/>
        </p:nvSpPr>
        <p:spPr>
          <a:xfrm>
            <a:off x="403122" y="0"/>
            <a:ext cx="7374194" cy="369332"/>
          </a:xfrm>
          <a:prstGeom prst="rect">
            <a:avLst/>
          </a:prstGeom>
          <a:noFill/>
        </p:spPr>
        <p:txBody>
          <a:bodyPr wrap="square">
            <a:spAutoFit/>
          </a:bodyPr>
          <a:lstStyle/>
          <a:p>
            <a:r>
              <a:rPr lang="en-US" dirty="0"/>
              <a:t>To create context, you must </a:t>
            </a:r>
            <a:r>
              <a:rPr lang="en-US" b="1" dirty="0"/>
              <a:t>Import </a:t>
            </a:r>
            <a:r>
              <a:rPr lang="en-US" b="1" dirty="0" err="1"/>
              <a:t>createContext</a:t>
            </a:r>
            <a:r>
              <a:rPr lang="en-US" b="1" dirty="0"/>
              <a:t> </a:t>
            </a:r>
            <a:r>
              <a:rPr lang="en-US" dirty="0"/>
              <a:t>and initialize it:</a:t>
            </a:r>
            <a:endParaRPr lang="en-IN" dirty="0"/>
          </a:p>
        </p:txBody>
      </p:sp>
      <p:sp>
        <p:nvSpPr>
          <p:cNvPr id="8" name="TextBox 7">
            <a:extLst>
              <a:ext uri="{FF2B5EF4-FFF2-40B4-BE49-F238E27FC236}">
                <a16:creationId xmlns:a16="http://schemas.microsoft.com/office/drawing/2014/main" id="{6B39D10A-7330-4513-AA08-C98CE282B20D}"/>
              </a:ext>
            </a:extLst>
          </p:cNvPr>
          <p:cNvSpPr txBox="1"/>
          <p:nvPr/>
        </p:nvSpPr>
        <p:spPr>
          <a:xfrm>
            <a:off x="403122" y="523086"/>
            <a:ext cx="6096000" cy="20313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useState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createContext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useContext</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a:solidFill>
                  <a:srgbClr val="000000"/>
                </a:solidFill>
                <a:effectLst/>
                <a:latin typeface="Consolas" panose="020B0609020204030204" pitchFamily="49" charset="0"/>
              </a:rPr>
              <a:t>;</a:t>
            </a:r>
          </a:p>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ReactDOM</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"react-</a:t>
            </a:r>
            <a:r>
              <a:rPr lang="en-US" b="0" dirty="0" err="1">
                <a:solidFill>
                  <a:srgbClr val="A31515"/>
                </a:solidFill>
                <a:effectLst/>
                <a:latin typeface="Consolas" panose="020B0609020204030204" pitchFamily="49" charset="0"/>
              </a:rPr>
              <a:t>dom</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err="1">
                <a:solidFill>
                  <a:srgbClr val="0070C1"/>
                </a:solidFill>
                <a:effectLst/>
                <a:latin typeface="Consolas" panose="020B0609020204030204" pitchFamily="49" charset="0"/>
              </a:rPr>
              <a:t>UserContext</a:t>
            </a:r>
            <a:r>
              <a:rPr lang="en-US" b="0" dirty="0">
                <a:solidFill>
                  <a:srgbClr val="000000"/>
                </a:solidFill>
                <a:effectLst/>
                <a:latin typeface="Consolas" panose="020B0609020204030204" pitchFamily="49" charset="0"/>
              </a:rPr>
              <a:t> = </a:t>
            </a:r>
            <a:r>
              <a:rPr lang="en-US" b="0" dirty="0" err="1">
                <a:solidFill>
                  <a:srgbClr val="795E26"/>
                </a:solidFill>
                <a:effectLst/>
                <a:latin typeface="Consolas" panose="020B0609020204030204" pitchFamily="49" charset="0"/>
              </a:rPr>
              <a:t>createContext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EA0CD066-4422-4058-B0B2-63487A00A8E2}"/>
              </a:ext>
            </a:extLst>
          </p:cNvPr>
          <p:cNvSpPr txBox="1"/>
          <p:nvPr/>
        </p:nvSpPr>
        <p:spPr>
          <a:xfrm>
            <a:off x="157316" y="2708165"/>
            <a:ext cx="6096000" cy="923330"/>
          </a:xfrm>
          <a:prstGeom prst="rect">
            <a:avLst/>
          </a:prstGeom>
          <a:noFill/>
        </p:spPr>
        <p:txBody>
          <a:bodyPr wrap="square">
            <a:spAutoFit/>
          </a:bodyPr>
          <a:lstStyle/>
          <a:p>
            <a:pPr algn="l"/>
            <a:r>
              <a:rPr lang="en-US" b="1" i="0" dirty="0">
                <a:solidFill>
                  <a:srgbClr val="000000"/>
                </a:solidFill>
                <a:effectLst/>
                <a:latin typeface="Segoe UI" panose="020B0502040204020203" pitchFamily="34" charset="0"/>
              </a:rPr>
              <a:t>Context Provider</a:t>
            </a:r>
          </a:p>
          <a:p>
            <a:pPr algn="l"/>
            <a:r>
              <a:rPr lang="en-US" b="0" i="0" dirty="0">
                <a:solidFill>
                  <a:srgbClr val="000000"/>
                </a:solidFill>
                <a:effectLst/>
                <a:latin typeface="Verdana" panose="020B0604030504040204" pitchFamily="34" charset="0"/>
              </a:rPr>
              <a:t>Wrap child components in the Context Provider and supply the state value.</a:t>
            </a:r>
          </a:p>
        </p:txBody>
      </p:sp>
      <p:sp>
        <p:nvSpPr>
          <p:cNvPr id="12" name="TextBox 11">
            <a:extLst>
              <a:ext uri="{FF2B5EF4-FFF2-40B4-BE49-F238E27FC236}">
                <a16:creationId xmlns:a16="http://schemas.microsoft.com/office/drawing/2014/main" id="{6D4CF329-C9B8-4A22-B0C7-F20AFBCC4632}"/>
              </a:ext>
            </a:extLst>
          </p:cNvPr>
          <p:cNvSpPr txBox="1"/>
          <p:nvPr/>
        </p:nvSpPr>
        <p:spPr>
          <a:xfrm>
            <a:off x="19664" y="3631495"/>
            <a:ext cx="6558118"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795E26"/>
                </a:solidFill>
                <a:effectLst/>
                <a:latin typeface="Consolas" panose="020B0609020204030204" pitchFamily="49" charset="0"/>
              </a:rPr>
              <a:t>Component1</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00FF"/>
                </a:solidFill>
                <a:effectLst/>
                <a:latin typeface="Consolas" panose="020B0609020204030204" pitchFamily="49" charset="0"/>
              </a:rPr>
              <a:t>const</a:t>
            </a: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user</a:t>
            </a:r>
            <a:r>
              <a:rPr lang="en-IN" b="0" dirty="0">
                <a:solidFill>
                  <a:srgbClr val="000000"/>
                </a:solidFill>
                <a:effectLst/>
                <a:latin typeface="Consolas" panose="020B0609020204030204" pitchFamily="49" charset="0"/>
              </a:rPr>
              <a:t>, </a:t>
            </a:r>
            <a:r>
              <a:rPr lang="en-IN" b="0" dirty="0" err="1">
                <a:solidFill>
                  <a:srgbClr val="795E26"/>
                </a:solidFill>
                <a:effectLst/>
                <a:latin typeface="Consolas" panose="020B0609020204030204" pitchFamily="49" charset="0"/>
              </a:rPr>
              <a:t>setUser</a:t>
            </a:r>
            <a:r>
              <a:rPr lang="en-IN" b="0" dirty="0">
                <a:solidFill>
                  <a:srgbClr val="000000"/>
                </a:solidFill>
                <a:effectLst/>
                <a:latin typeface="Consolas" panose="020B0609020204030204" pitchFamily="49" charset="0"/>
              </a:rPr>
              <a:t>] = </a:t>
            </a:r>
            <a:r>
              <a:rPr lang="en-IN" b="0" dirty="0" err="1">
                <a:solidFill>
                  <a:srgbClr val="795E26"/>
                </a:solidFill>
                <a:effectLst/>
                <a:latin typeface="Consolas" panose="020B0609020204030204" pitchFamily="49" charset="0"/>
              </a:rPr>
              <a:t>useState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“CDAC"</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AF00DB"/>
                </a:solidFill>
                <a:effectLst/>
                <a:latin typeface="Consolas" panose="020B0609020204030204" pitchFamily="49" charset="0"/>
              </a:rPr>
              <a:t>return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UserContext.Provider</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value</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&lt;h1&gt;</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`Hello </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a:solidFill>
                  <a:srgbClr val="267F99"/>
                </a:solidFill>
                <a:effectLst/>
                <a:latin typeface="Consolas" panose="020B0609020204030204" pitchFamily="49" charset="0"/>
              </a:rPr>
              <a:t>Component2</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user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a:solidFill>
                  <a:srgbClr val="0070C1"/>
                </a:solidFill>
                <a:effectLst/>
                <a:latin typeface="Consolas" panose="020B0609020204030204" pitchFamily="49" charset="0"/>
              </a:rPr>
              <a:t>user</a:t>
            </a:r>
            <a:r>
              <a:rPr lang="en-IN" b="0" dirty="0">
                <a:solidFill>
                  <a:srgbClr val="0000FF"/>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800000"/>
                </a:solidFill>
                <a:effectLst/>
                <a:latin typeface="Consolas" panose="020B0609020204030204" pitchFamily="49" charset="0"/>
              </a:rPr>
              <a:t>&lt;/</a:t>
            </a:r>
            <a:r>
              <a:rPr lang="en-IN" b="0" dirty="0" err="1">
                <a:solidFill>
                  <a:srgbClr val="267F99"/>
                </a:solidFill>
                <a:effectLst/>
                <a:latin typeface="Consolas" panose="020B0609020204030204" pitchFamily="49" charset="0"/>
              </a:rPr>
              <a:t>UserContext.Provider</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a:t>
            </a:r>
          </a:p>
        </p:txBody>
      </p:sp>
      <p:sp>
        <p:nvSpPr>
          <p:cNvPr id="13" name="Rectangle 2">
            <a:extLst>
              <a:ext uri="{FF2B5EF4-FFF2-40B4-BE49-F238E27FC236}">
                <a16:creationId xmlns:a16="http://schemas.microsoft.com/office/drawing/2014/main" id="{DC396337-22C3-4416-957E-52978DCB22A0}"/>
              </a:ext>
            </a:extLst>
          </p:cNvPr>
          <p:cNvSpPr>
            <a:spLocks noChangeArrowheads="1"/>
          </p:cNvSpPr>
          <p:nvPr/>
        </p:nvSpPr>
        <p:spPr bwMode="auto">
          <a:xfrm>
            <a:off x="6902245" y="169145"/>
            <a:ext cx="5299587" cy="17901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Now, all components in this tree will have access to the user Context.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Use the </a:t>
            </a:r>
            <a:r>
              <a:rPr kumimoji="0" lang="en-US" altLang="en-US" sz="1200" b="0" i="0" u="none" strike="noStrike" cap="none" normalizeH="0" baseline="0" dirty="0" err="1">
                <a:ln>
                  <a:noFill/>
                </a:ln>
                <a:solidFill>
                  <a:srgbClr val="DC143C"/>
                </a:solidFill>
                <a:effectLst/>
                <a:latin typeface="Consolas" panose="020B0609020204030204" pitchFamily="49" charset="0"/>
                <a:cs typeface="Segoe UI" panose="020B0502040204020203" pitchFamily="34" charset="0"/>
              </a:rPr>
              <a:t>useContext</a:t>
            </a:r>
            <a:r>
              <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Hook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In order to use the Context in a child component, we need to access it using the </a:t>
            </a:r>
            <a:r>
              <a:rPr kumimoji="0" lang="en-US" altLang="en-US" sz="1200" b="0" i="0" u="none" strike="noStrike" cap="none" normalizeH="0" baseline="0" dirty="0" err="1">
                <a:ln>
                  <a:noFill/>
                </a:ln>
                <a:solidFill>
                  <a:srgbClr val="DC143C"/>
                </a:solidFill>
                <a:effectLst/>
                <a:latin typeface="Consolas" panose="020B0609020204030204" pitchFamily="49" charset="0"/>
              </a:rPr>
              <a:t>useContext</a:t>
            </a:r>
            <a:r>
              <a:rPr kumimoji="0" lang="en-US" altLang="en-US" sz="1200" b="0" i="0" u="none" strike="noStrike" cap="none" normalizeH="0" baseline="0" dirty="0">
                <a:ln>
                  <a:noFill/>
                </a:ln>
                <a:solidFill>
                  <a:srgbClr val="000000"/>
                </a:solidFill>
                <a:effectLst/>
                <a:latin typeface="Verdana" panose="020B0604030504040204" pitchFamily="34" charset="0"/>
              </a:rPr>
              <a:t> Hook.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Verdana" panose="020B0604030504040204" pitchFamily="34" charset="0"/>
              </a:rPr>
              <a:t>First, include the </a:t>
            </a:r>
            <a:r>
              <a:rPr kumimoji="0" lang="en-US" altLang="en-US" sz="1200" b="0" i="0" u="none" strike="noStrike" cap="none" normalizeH="0" baseline="0" dirty="0" err="1">
                <a:ln>
                  <a:noFill/>
                </a:ln>
                <a:solidFill>
                  <a:srgbClr val="DC143C"/>
                </a:solidFill>
                <a:effectLst/>
                <a:latin typeface="Consolas" panose="020B0609020204030204" pitchFamily="49" charset="0"/>
              </a:rPr>
              <a:t>useContext</a:t>
            </a:r>
            <a:r>
              <a:rPr kumimoji="0" lang="en-US" altLang="en-US" sz="1200" b="0" i="0" u="none" strike="noStrike" cap="none" normalizeH="0" baseline="0" dirty="0">
                <a:ln>
                  <a:noFill/>
                </a:ln>
                <a:solidFill>
                  <a:srgbClr val="000000"/>
                </a:solidFill>
                <a:effectLst/>
                <a:latin typeface="Verdana" panose="020B0604030504040204" pitchFamily="34" charset="0"/>
              </a:rPr>
              <a:t> in the import statement:</a:t>
            </a: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CFA6D3F7-F209-422A-BD39-053A557330BE}"/>
              </a:ext>
            </a:extLst>
          </p:cNvPr>
          <p:cNvSpPr txBox="1"/>
          <p:nvPr/>
        </p:nvSpPr>
        <p:spPr>
          <a:xfrm>
            <a:off x="6882580" y="2347750"/>
            <a:ext cx="5289755" cy="83099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endParaRPr lang="en-US" sz="1200" b="0" dirty="0">
              <a:solidFill>
                <a:srgbClr val="000000"/>
              </a:solidFill>
              <a:effectLst/>
              <a:latin typeface="Consolas" panose="020B0609020204030204" pitchFamily="49" charset="0"/>
            </a:endParaRPr>
          </a:p>
          <a:p>
            <a:r>
              <a:rPr lang="en-US" sz="1200" b="0" dirty="0">
                <a:solidFill>
                  <a:srgbClr val="AF00DB"/>
                </a:solidFill>
                <a:effectLst/>
                <a:latin typeface="Consolas" panose="020B0609020204030204" pitchFamily="49" charset="0"/>
              </a:rPr>
              <a:t>import</a:t>
            </a:r>
            <a:r>
              <a:rPr lang="en-US" sz="1200" b="0" dirty="0">
                <a:solidFill>
                  <a:srgbClr val="000000"/>
                </a:solidFill>
                <a:effectLst/>
                <a:latin typeface="Consolas" panose="020B0609020204030204" pitchFamily="49" charset="0"/>
              </a:rPr>
              <a:t> { </a:t>
            </a:r>
            <a:r>
              <a:rPr lang="en-US" sz="1200" b="0" dirty="0" err="1">
                <a:solidFill>
                  <a:srgbClr val="001080"/>
                </a:solidFill>
                <a:effectLst/>
                <a:latin typeface="Consolas" panose="020B0609020204030204" pitchFamily="49" charset="0"/>
              </a:rPr>
              <a:t>useState</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createContext</a:t>
            </a:r>
            <a:r>
              <a:rPr lang="en-US" sz="1200" b="0" dirty="0">
                <a:solidFill>
                  <a:srgbClr val="000000"/>
                </a:solidFill>
                <a:effectLst/>
                <a:latin typeface="Consolas" panose="020B0609020204030204" pitchFamily="49" charset="0"/>
              </a:rPr>
              <a:t>, </a:t>
            </a:r>
            <a:r>
              <a:rPr lang="en-US" sz="1200" b="0" dirty="0" err="1">
                <a:solidFill>
                  <a:srgbClr val="001080"/>
                </a:solidFill>
                <a:effectLst/>
                <a:latin typeface="Consolas" panose="020B0609020204030204" pitchFamily="49" charset="0"/>
              </a:rPr>
              <a:t>useContext</a:t>
            </a:r>
            <a:r>
              <a:rPr lang="en-US" sz="1200" b="0" dirty="0">
                <a:solidFill>
                  <a:srgbClr val="000000"/>
                </a:solidFill>
                <a:effectLst/>
                <a:latin typeface="Consolas" panose="020B0609020204030204" pitchFamily="49" charset="0"/>
              </a:rPr>
              <a:t> } </a:t>
            </a:r>
            <a:r>
              <a:rPr lang="en-US" sz="1200" b="0" dirty="0">
                <a:solidFill>
                  <a:srgbClr val="AF00DB"/>
                </a:solidFill>
                <a:effectLst/>
                <a:latin typeface="Consolas" panose="020B0609020204030204" pitchFamily="49" charset="0"/>
              </a:rPr>
              <a:t>from</a:t>
            </a:r>
            <a:r>
              <a:rPr lang="en-US" sz="1200" b="0" dirty="0">
                <a:solidFill>
                  <a:srgbClr val="000000"/>
                </a:solidFill>
                <a:effectLst/>
                <a:latin typeface="Consolas" panose="020B0609020204030204" pitchFamily="49" charset="0"/>
              </a:rPr>
              <a:t> </a:t>
            </a:r>
            <a:r>
              <a:rPr lang="en-US" sz="1200" b="0" dirty="0">
                <a:solidFill>
                  <a:srgbClr val="A31515"/>
                </a:solidFill>
                <a:effectLst/>
                <a:latin typeface="Consolas" panose="020B0609020204030204" pitchFamily="49" charset="0"/>
              </a:rPr>
              <a:t>"react"</a:t>
            </a:r>
            <a:r>
              <a:rPr lang="en-US" sz="1200" b="0" dirty="0">
                <a:solidFill>
                  <a:srgbClr val="000000"/>
                </a:solidFill>
                <a:effectLst/>
                <a:latin typeface="Consolas" panose="020B0609020204030204" pitchFamily="49" charset="0"/>
              </a:rPr>
              <a:t>;</a:t>
            </a:r>
          </a:p>
          <a:p>
            <a:br>
              <a:rPr lang="en-US" sz="1200" b="0" dirty="0">
                <a:solidFill>
                  <a:srgbClr val="000000"/>
                </a:solidFill>
                <a:effectLst/>
                <a:latin typeface="Consolas" panose="020B0609020204030204" pitchFamily="49" charset="0"/>
              </a:rPr>
            </a:br>
            <a:endParaRPr lang="en-US" sz="1200" b="0" dirty="0">
              <a:solidFill>
                <a:srgbClr val="000000"/>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2EE2803D-C959-41A3-A870-F653843F7233}"/>
              </a:ext>
            </a:extLst>
          </p:cNvPr>
          <p:cNvSpPr txBox="1"/>
          <p:nvPr/>
        </p:nvSpPr>
        <p:spPr>
          <a:xfrm>
            <a:off x="6882580" y="3317314"/>
            <a:ext cx="5132439" cy="286232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br>
              <a:rPr lang="en-US" sz="1600" b="0" dirty="0">
                <a:solidFill>
                  <a:srgbClr val="000000"/>
                </a:solidFill>
                <a:effectLst/>
                <a:latin typeface="Consolas" panose="020B0609020204030204" pitchFamily="49" charset="0"/>
              </a:rPr>
            </a:b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Component5</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user</a:t>
            </a:r>
            <a:r>
              <a:rPr lang="en-US" sz="1600" b="0" dirty="0">
                <a:solidFill>
                  <a:srgbClr val="000000"/>
                </a:solidFill>
                <a:effectLst/>
                <a:latin typeface="Consolas" panose="020B0609020204030204" pitchFamily="49" charset="0"/>
              </a:rPr>
              <a:t> = </a:t>
            </a:r>
            <a:r>
              <a:rPr lang="en-US" sz="1600" b="0" dirty="0" err="1">
                <a:solidFill>
                  <a:srgbClr val="795E26"/>
                </a:solidFill>
                <a:effectLst/>
                <a:latin typeface="Consolas" panose="020B0609020204030204" pitchFamily="49" charset="0"/>
              </a:rPr>
              <a:t>useContext</a:t>
            </a:r>
            <a:r>
              <a:rPr lang="en-US" sz="1600" b="0" dirty="0">
                <a:solidFill>
                  <a:srgbClr val="000000"/>
                </a:solidFill>
                <a:effectLst/>
                <a:latin typeface="Consolas" panose="020B0609020204030204" pitchFamily="49" charset="0"/>
              </a:rPr>
              <a:t>(</a:t>
            </a:r>
            <a:r>
              <a:rPr lang="en-US" sz="1600" b="0" dirty="0" err="1">
                <a:solidFill>
                  <a:srgbClr val="0070C1"/>
                </a:solidFill>
                <a:effectLst/>
                <a:latin typeface="Consolas" panose="020B0609020204030204" pitchFamily="49" charset="0"/>
              </a:rPr>
              <a:t>UserContext</a:t>
            </a:r>
            <a:r>
              <a:rPr lang="en-US" sz="1600" b="0" dirty="0">
                <a:solidFill>
                  <a:srgbClr val="000000"/>
                </a:solidFill>
                <a:effectLst/>
                <a:latin typeface="Consolas" panose="020B0609020204030204" pitchFamily="49" charset="0"/>
              </a:rPr>
              <a:t>);</a:t>
            </a:r>
          </a:p>
          <a:p>
            <a:br>
              <a:rPr lang="en-US" sz="1600" b="0" dirty="0">
                <a:solidFill>
                  <a:srgbClr val="000000"/>
                </a:solidFill>
                <a:effectLst/>
                <a:latin typeface="Consolas" panose="020B0609020204030204" pitchFamily="49" charset="0"/>
              </a:rPr>
            </a:br>
            <a:r>
              <a:rPr lang="en-US" sz="1600" b="0" dirty="0">
                <a:solidFill>
                  <a:srgbClr val="000000"/>
                </a:solidFill>
                <a:effectLst/>
                <a:latin typeface="Consolas" panose="020B0609020204030204" pitchFamily="49" charset="0"/>
              </a:rPr>
              <a:t>  </a:t>
            </a:r>
            <a:r>
              <a:rPr lang="en-US" sz="1600" b="0" dirty="0">
                <a:solidFill>
                  <a:srgbClr val="AF00DB"/>
                </a:solidFill>
                <a:effectLst/>
                <a:latin typeface="Consolas" panose="020B0609020204030204" pitchFamily="49" charset="0"/>
              </a:rPr>
              <a:t>return</a:t>
            </a:r>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&lt;h1&gt;</a:t>
            </a:r>
            <a:r>
              <a:rPr lang="en-US" sz="1600" b="0" dirty="0">
                <a:solidFill>
                  <a:srgbClr val="000000"/>
                </a:solidFill>
                <a:effectLst/>
                <a:latin typeface="Consolas" panose="020B0609020204030204" pitchFamily="49" charset="0"/>
              </a:rPr>
              <a:t>Component 5</a:t>
            </a:r>
            <a:r>
              <a:rPr lang="en-US" sz="1600" b="0" dirty="0">
                <a:solidFill>
                  <a:srgbClr val="800000"/>
                </a:solidFill>
                <a:effectLst/>
                <a:latin typeface="Consolas" panose="020B0609020204030204" pitchFamily="49" charset="0"/>
              </a:rPr>
              <a:t>&lt;/h1&gt;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&lt;h2&gt;</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`Hello </a:t>
            </a:r>
            <a:r>
              <a:rPr lang="en-US" sz="1600" b="0" dirty="0">
                <a:solidFill>
                  <a:srgbClr val="0000FF"/>
                </a:solidFill>
                <a:effectLst/>
                <a:latin typeface="Consolas" panose="020B0609020204030204" pitchFamily="49" charset="0"/>
              </a:rPr>
              <a:t>${</a:t>
            </a:r>
            <a:r>
              <a:rPr lang="en-US" sz="1600" b="0" dirty="0">
                <a:solidFill>
                  <a:srgbClr val="0070C1"/>
                </a:solidFill>
                <a:effectLst/>
                <a:latin typeface="Consolas" panose="020B0609020204030204" pitchFamily="49" charset="0"/>
              </a:rPr>
              <a:t>user</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 again!`</a:t>
            </a:r>
            <a:r>
              <a:rPr lang="en-US" sz="1600" b="0" dirty="0">
                <a:solidFill>
                  <a:srgbClr val="0000FF"/>
                </a:solidFill>
                <a:effectLst/>
                <a:latin typeface="Consolas" panose="020B0609020204030204" pitchFamily="49" charset="0"/>
              </a:rPr>
              <a:t>}</a:t>
            </a:r>
            <a:r>
              <a:rPr lang="en-US" sz="1600" b="0" dirty="0">
                <a:solidFill>
                  <a:srgbClr val="800000"/>
                </a:solidFill>
                <a:effectLst/>
                <a:latin typeface="Consolas" panose="020B0609020204030204" pitchFamily="49" charset="0"/>
              </a:rPr>
              <a:t>&lt;/h2&gt;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r>
              <a:rPr lang="en-US" sz="1600" b="0" dirty="0">
                <a:solidFill>
                  <a:srgbClr val="800000"/>
                </a:solidFill>
                <a:effectLst/>
                <a:latin typeface="Consolas" panose="020B0609020204030204" pitchFamily="49" charset="0"/>
              </a:rPr>
              <a:t>&lt;/&gt;</a:t>
            </a:r>
            <a:endParaRPr lang="en-US" sz="1600" b="0" dirty="0">
              <a:solidFill>
                <a:srgbClr val="000000"/>
              </a:solidFill>
              <a:effectLst/>
              <a:latin typeface="Consolas" panose="020B0609020204030204" pitchFamily="49" charset="0"/>
            </a:endParaRPr>
          </a:p>
          <a:p>
            <a:r>
              <a:rPr lang="en-US" sz="1600" b="0" dirty="0">
                <a:solidFill>
                  <a:srgbClr val="000000"/>
                </a:solidFill>
                <a:effectLst/>
                <a:latin typeface="Consolas" panose="020B0609020204030204" pitchFamily="49" charset="0"/>
              </a:rPr>
              <a:t>  );</a:t>
            </a:r>
          </a:p>
          <a:p>
            <a:r>
              <a:rPr lang="en-US"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245031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19B7A23-8665-42F8-A405-6BA3E8EBA66D}"/>
              </a:ext>
            </a:extLst>
          </p:cNvPr>
          <p:cNvSpPr txBox="1"/>
          <p:nvPr/>
        </p:nvSpPr>
        <p:spPr>
          <a:xfrm>
            <a:off x="201561" y="254052"/>
            <a:ext cx="11788877" cy="3416320"/>
          </a:xfrm>
          <a:prstGeom prst="rect">
            <a:avLst/>
          </a:prstGeom>
          <a:noFill/>
        </p:spPr>
        <p:txBody>
          <a:bodyPr wrap="square">
            <a:spAutoFit/>
          </a:bodyPr>
          <a:lstStyle/>
          <a:p>
            <a:pPr algn="ctr"/>
            <a:r>
              <a:rPr lang="en-US" dirty="0"/>
              <a:t>The React </a:t>
            </a:r>
            <a:r>
              <a:rPr lang="en-US" b="1" u="sng" dirty="0" err="1"/>
              <a:t>useCallback</a:t>
            </a:r>
            <a:r>
              <a:rPr lang="en-US" b="1" u="sng" dirty="0"/>
              <a:t> </a:t>
            </a:r>
            <a:r>
              <a:rPr lang="en-US" dirty="0"/>
              <a:t>Hook returns a </a:t>
            </a:r>
            <a:r>
              <a:rPr lang="en-US" dirty="0" err="1"/>
              <a:t>memoized</a:t>
            </a:r>
            <a:r>
              <a:rPr lang="en-US" dirty="0"/>
              <a:t> callback function.</a:t>
            </a:r>
          </a:p>
          <a:p>
            <a:endParaRPr lang="en-US" dirty="0"/>
          </a:p>
          <a:p>
            <a:r>
              <a:rPr lang="en-US" dirty="0"/>
              <a:t>Think of </a:t>
            </a:r>
            <a:r>
              <a:rPr lang="en-US" dirty="0" err="1"/>
              <a:t>memoization</a:t>
            </a:r>
            <a:r>
              <a:rPr lang="en-US" dirty="0"/>
              <a:t> as caching a value so that it does not need to be recalculated.</a:t>
            </a:r>
          </a:p>
          <a:p>
            <a:endParaRPr lang="en-US" dirty="0"/>
          </a:p>
          <a:p>
            <a:r>
              <a:rPr lang="en-US" dirty="0"/>
              <a:t>This allows us to isolate resource intensive functions so that they will not automatically run on every render.</a:t>
            </a:r>
          </a:p>
          <a:p>
            <a:endParaRPr lang="en-US" dirty="0"/>
          </a:p>
          <a:p>
            <a:r>
              <a:rPr lang="en-US" dirty="0"/>
              <a:t>The </a:t>
            </a:r>
            <a:r>
              <a:rPr lang="en-US" dirty="0" err="1"/>
              <a:t>useCallback</a:t>
            </a:r>
            <a:r>
              <a:rPr lang="en-US" dirty="0"/>
              <a:t> Hook only runs when one of its dependencies update.</a:t>
            </a:r>
          </a:p>
          <a:p>
            <a:endParaRPr lang="en-US" dirty="0"/>
          </a:p>
          <a:p>
            <a:r>
              <a:rPr lang="en-US" dirty="0"/>
              <a:t>This can improve performance.</a:t>
            </a:r>
          </a:p>
          <a:p>
            <a:endParaRPr lang="en-US" dirty="0"/>
          </a:p>
          <a:p>
            <a:r>
              <a:rPr lang="en-US" dirty="0"/>
              <a:t>The </a:t>
            </a:r>
            <a:r>
              <a:rPr lang="en-US" dirty="0" err="1"/>
              <a:t>useCallback</a:t>
            </a:r>
            <a:r>
              <a:rPr lang="en-US" dirty="0"/>
              <a:t> and </a:t>
            </a:r>
            <a:r>
              <a:rPr lang="en-US" dirty="0" err="1"/>
              <a:t>useMemo</a:t>
            </a:r>
            <a:r>
              <a:rPr lang="en-US" dirty="0"/>
              <a:t> Hooks are similar. </a:t>
            </a:r>
          </a:p>
          <a:p>
            <a:r>
              <a:rPr lang="en-US" dirty="0"/>
              <a:t>The main difference is that </a:t>
            </a:r>
            <a:r>
              <a:rPr lang="en-US" dirty="0" err="1">
                <a:highlight>
                  <a:srgbClr val="00FFFF"/>
                </a:highlight>
              </a:rPr>
              <a:t>useMemo</a:t>
            </a:r>
            <a:r>
              <a:rPr lang="en-US" dirty="0">
                <a:highlight>
                  <a:srgbClr val="00FFFF"/>
                </a:highlight>
              </a:rPr>
              <a:t> </a:t>
            </a:r>
            <a:r>
              <a:rPr lang="en-US" dirty="0"/>
              <a:t>returns a </a:t>
            </a:r>
            <a:r>
              <a:rPr lang="en-US" dirty="0" err="1"/>
              <a:t>memoized</a:t>
            </a:r>
            <a:r>
              <a:rPr lang="en-US" dirty="0"/>
              <a:t> </a:t>
            </a:r>
            <a:r>
              <a:rPr lang="en-US" b="1" dirty="0">
                <a:highlight>
                  <a:srgbClr val="00FFFF"/>
                </a:highlight>
              </a:rPr>
              <a:t>value</a:t>
            </a:r>
            <a:r>
              <a:rPr lang="en-US" dirty="0"/>
              <a:t> and </a:t>
            </a:r>
            <a:r>
              <a:rPr lang="en-US" dirty="0" err="1">
                <a:highlight>
                  <a:srgbClr val="FFFF00"/>
                </a:highlight>
              </a:rPr>
              <a:t>useCallback</a:t>
            </a:r>
            <a:r>
              <a:rPr lang="en-US" dirty="0"/>
              <a:t> returns a </a:t>
            </a:r>
            <a:r>
              <a:rPr lang="en-US" dirty="0" err="1"/>
              <a:t>memoized</a:t>
            </a:r>
            <a:r>
              <a:rPr lang="en-US" dirty="0"/>
              <a:t> </a:t>
            </a:r>
            <a:r>
              <a:rPr lang="en-US" b="1" dirty="0">
                <a:highlight>
                  <a:srgbClr val="FFFF00"/>
                </a:highlight>
              </a:rPr>
              <a:t>function</a:t>
            </a:r>
            <a:endParaRPr lang="en-IN" b="1" dirty="0">
              <a:highlight>
                <a:srgbClr val="FFFF00"/>
              </a:highlight>
            </a:endParaRPr>
          </a:p>
        </p:txBody>
      </p:sp>
      <p:sp>
        <p:nvSpPr>
          <p:cNvPr id="12" name="TextBox 11">
            <a:extLst>
              <a:ext uri="{FF2B5EF4-FFF2-40B4-BE49-F238E27FC236}">
                <a16:creationId xmlns:a16="http://schemas.microsoft.com/office/drawing/2014/main" id="{1F62BA99-4B45-44EE-9069-333CD8C6948C}"/>
              </a:ext>
            </a:extLst>
          </p:cNvPr>
          <p:cNvSpPr txBox="1"/>
          <p:nvPr/>
        </p:nvSpPr>
        <p:spPr>
          <a:xfrm>
            <a:off x="0" y="4058631"/>
            <a:ext cx="5791200" cy="1754326"/>
          </a:xfrm>
          <a:prstGeom prst="rect">
            <a:avLst/>
          </a:prstGeom>
          <a:noFill/>
        </p:spPr>
        <p:txBody>
          <a:bodyPr wrap="square">
            <a:spAutoFit/>
          </a:bodyPr>
          <a:lstStyle/>
          <a:p>
            <a:r>
              <a:rPr lang="en-US" b="1" dirty="0"/>
              <a:t>Problem</a:t>
            </a:r>
          </a:p>
          <a:p>
            <a:r>
              <a:rPr lang="en-US" dirty="0"/>
              <a:t>One reason to use </a:t>
            </a:r>
            <a:r>
              <a:rPr lang="en-US" dirty="0" err="1"/>
              <a:t>useCallback</a:t>
            </a:r>
            <a:r>
              <a:rPr lang="en-US" dirty="0"/>
              <a:t> is to prevent a component </a:t>
            </a:r>
            <a:r>
              <a:rPr lang="en-US" b="1" dirty="0">
                <a:highlight>
                  <a:srgbClr val="FFFF00"/>
                </a:highlight>
              </a:rPr>
              <a:t>from re-rendering unless its props have changed.</a:t>
            </a:r>
          </a:p>
          <a:p>
            <a:endParaRPr lang="en-US" b="1" dirty="0">
              <a:highlight>
                <a:srgbClr val="FFFF00"/>
              </a:highlight>
            </a:endParaRPr>
          </a:p>
          <a:p>
            <a:r>
              <a:rPr lang="en-US" dirty="0"/>
              <a:t>In this example, you might think that the </a:t>
            </a:r>
            <a:r>
              <a:rPr lang="en-US" dirty="0" err="1"/>
              <a:t>Todos</a:t>
            </a:r>
            <a:r>
              <a:rPr lang="en-US" dirty="0"/>
              <a:t> component will not re-render unless the </a:t>
            </a:r>
            <a:r>
              <a:rPr lang="en-US" dirty="0" err="1"/>
              <a:t>todos</a:t>
            </a:r>
            <a:r>
              <a:rPr lang="en-US" dirty="0"/>
              <a:t> change:</a:t>
            </a:r>
            <a:endParaRPr lang="en-IN" dirty="0"/>
          </a:p>
        </p:txBody>
      </p:sp>
    </p:spTree>
    <p:extLst>
      <p:ext uri="{BB962C8B-B14F-4D97-AF65-F5344CB8AC3E}">
        <p14:creationId xmlns:p14="http://schemas.microsoft.com/office/powerpoint/2010/main" val="436015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31B9B6-EC1F-8400-4945-5AF41F2A67A6}"/>
              </a:ext>
            </a:extLst>
          </p:cNvPr>
          <p:cNvSpPr txBox="1"/>
          <p:nvPr/>
        </p:nvSpPr>
        <p:spPr>
          <a:xfrm>
            <a:off x="68345" y="80775"/>
            <a:ext cx="6094428" cy="4401205"/>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err="1">
                <a:solidFill>
                  <a:srgbClr val="D4D4D4"/>
                </a:solidFill>
                <a:effectLst/>
                <a:latin typeface="Consolas" panose="020B0609020204030204" pitchFamily="49" charset="0"/>
              </a:rPr>
              <a:t>,</a:t>
            </a:r>
            <a:r>
              <a:rPr lang="en-IN" sz="1400" b="0" dirty="0" err="1">
                <a:solidFill>
                  <a:srgbClr val="9CDCFE"/>
                </a:solidFill>
                <a:effectLst/>
                <a:highlight>
                  <a:srgbClr val="800000"/>
                </a:highlight>
                <a:latin typeface="Consolas" panose="020B0609020204030204" pitchFamily="49" charset="0"/>
              </a:rPr>
              <a:t>useCallback</a:t>
            </a:r>
            <a:r>
              <a:rPr lang="en-IN" sz="1400" b="0" dirty="0">
                <a:solidFill>
                  <a:srgbClr val="D4D4D4"/>
                </a:solidFill>
                <a:effectLst/>
                <a:highlight>
                  <a:srgbClr val="800000"/>
                </a:highlight>
                <a:latin typeface="Consolas" panose="020B0609020204030204" pitchFamily="49" charset="0"/>
              </a:rPr>
              <a:t> </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"data1"</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"data2"</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78EF644-4BBF-30B7-F7A1-CB4606EABE07}"/>
              </a:ext>
            </a:extLst>
          </p:cNvPr>
          <p:cNvSpPr txBox="1"/>
          <p:nvPr/>
        </p:nvSpPr>
        <p:spPr>
          <a:xfrm>
            <a:off x="6318316" y="0"/>
            <a:ext cx="6094428" cy="4801314"/>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err="1">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map</a:t>
            </a:r>
            <a:r>
              <a:rPr lang="en-IN" b="0" dirty="0">
                <a:solidFill>
                  <a:srgbClr val="D4D4D4"/>
                </a:solidFill>
                <a:effectLst/>
                <a:latin typeface="Consolas" panose="020B0609020204030204" pitchFamily="49" charset="0"/>
              </a:rPr>
              <a:t>((</a:t>
            </a:r>
            <a:r>
              <a:rPr lang="en-IN" b="0" dirty="0" err="1">
                <a:solidFill>
                  <a:srgbClr val="9CDCFE"/>
                </a:solidFill>
                <a:effectLst/>
                <a:latin typeface="Consolas" panose="020B0609020204030204" pitchFamily="49" charset="0"/>
              </a:rPr>
              <a:t>todo</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index</a:t>
            </a:r>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p</a:t>
            </a:r>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a:solidFill>
                  <a:srgbClr val="9CDCFE"/>
                </a:solidFill>
                <a:effectLst/>
                <a:latin typeface="Consolas" panose="020B0609020204030204" pitchFamily="49" charset="0"/>
              </a:rPr>
              <a:t>index</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p</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569CD6"/>
                </a:solidFill>
                <a:effectLst/>
                <a:latin typeface="Consolas" panose="020B0609020204030204" pitchFamily="49" charset="0"/>
              </a:rPr>
              <a: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86876F4-E1BB-D5E2-B105-EF70CE17B884}"/>
              </a:ext>
            </a:extLst>
          </p:cNvPr>
          <p:cNvSpPr txBox="1"/>
          <p:nvPr/>
        </p:nvSpPr>
        <p:spPr>
          <a:xfrm>
            <a:off x="367644" y="5015060"/>
            <a:ext cx="10482607" cy="923330"/>
          </a:xfrm>
          <a:prstGeom prst="rect">
            <a:avLst/>
          </a:prstGeom>
          <a:noFill/>
        </p:spPr>
        <p:txBody>
          <a:bodyPr wrap="square" rtlCol="0">
            <a:spAutoFit/>
          </a:bodyPr>
          <a:lstStyle/>
          <a:p>
            <a:r>
              <a:rPr lang="en-US" dirty="0"/>
              <a:t>Run above </a:t>
            </a:r>
            <a:r>
              <a:rPr lang="en-US" dirty="0">
                <a:highlight>
                  <a:srgbClr val="FFFF00"/>
                </a:highlight>
              </a:rPr>
              <a:t>code without memo </a:t>
            </a:r>
          </a:p>
          <a:p>
            <a:r>
              <a:rPr lang="en-US" dirty="0"/>
              <a:t>Click button 3 time you will see child render in console every time even though child data is not modified</a:t>
            </a:r>
          </a:p>
          <a:p>
            <a:r>
              <a:rPr lang="en-US" dirty="0"/>
              <a:t>But When we use memo method it will not re render</a:t>
            </a:r>
            <a:endParaRPr lang="en-IN" dirty="0"/>
          </a:p>
        </p:txBody>
      </p:sp>
    </p:spTree>
    <p:extLst>
      <p:ext uri="{BB962C8B-B14F-4D97-AF65-F5344CB8AC3E}">
        <p14:creationId xmlns:p14="http://schemas.microsoft.com/office/powerpoint/2010/main" val="3251829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DDF2CBC-05BF-7DD7-9739-1D14124FD787}"/>
              </a:ext>
            </a:extLst>
          </p:cNvPr>
          <p:cNvSpPr/>
          <p:nvPr/>
        </p:nvSpPr>
        <p:spPr>
          <a:xfrm>
            <a:off x="10821971" y="1404594"/>
            <a:ext cx="1585435" cy="1715678"/>
          </a:xfrm>
          <a:custGeom>
            <a:avLst/>
            <a:gdLst>
              <a:gd name="connsiteX0" fmla="*/ 0 w 1585435"/>
              <a:gd name="connsiteY0" fmla="*/ 707010 h 1715678"/>
              <a:gd name="connsiteX1" fmla="*/ 65988 w 1585435"/>
              <a:gd name="connsiteY1" fmla="*/ 207390 h 1715678"/>
              <a:gd name="connsiteX2" fmla="*/ 103695 w 1585435"/>
              <a:gd name="connsiteY2" fmla="*/ 103695 h 1715678"/>
              <a:gd name="connsiteX3" fmla="*/ 263951 w 1585435"/>
              <a:gd name="connsiteY3" fmla="*/ 9427 h 1715678"/>
              <a:gd name="connsiteX4" fmla="*/ 480767 w 1585435"/>
              <a:gd name="connsiteY4" fmla="*/ 0 h 1715678"/>
              <a:gd name="connsiteX5" fmla="*/ 1102936 w 1585435"/>
              <a:gd name="connsiteY5" fmla="*/ 28280 h 1715678"/>
              <a:gd name="connsiteX6" fmla="*/ 1197204 w 1585435"/>
              <a:gd name="connsiteY6" fmla="*/ 75414 h 1715678"/>
              <a:gd name="connsiteX7" fmla="*/ 1348033 w 1585435"/>
              <a:gd name="connsiteY7" fmla="*/ 197963 h 1715678"/>
              <a:gd name="connsiteX8" fmla="*/ 1414021 w 1585435"/>
              <a:gd name="connsiteY8" fmla="*/ 245097 h 1715678"/>
              <a:gd name="connsiteX9" fmla="*/ 1489435 w 1585435"/>
              <a:gd name="connsiteY9" fmla="*/ 367645 h 1715678"/>
              <a:gd name="connsiteX10" fmla="*/ 1574276 w 1585435"/>
              <a:gd name="connsiteY10" fmla="*/ 641022 h 1715678"/>
              <a:gd name="connsiteX11" fmla="*/ 1555423 w 1585435"/>
              <a:gd name="connsiteY11" fmla="*/ 1084082 h 1715678"/>
              <a:gd name="connsiteX12" fmla="*/ 1508289 w 1585435"/>
              <a:gd name="connsiteY12" fmla="*/ 1178350 h 1715678"/>
              <a:gd name="connsiteX13" fmla="*/ 1225485 w 1585435"/>
              <a:gd name="connsiteY13" fmla="*/ 1414020 h 1715678"/>
              <a:gd name="connsiteX14" fmla="*/ 791852 w 1585435"/>
              <a:gd name="connsiteY14" fmla="*/ 1630837 h 1715678"/>
              <a:gd name="connsiteX15" fmla="*/ 678730 w 1585435"/>
              <a:gd name="connsiteY15" fmla="*/ 1706251 h 1715678"/>
              <a:gd name="connsiteX16" fmla="*/ 669303 w 1585435"/>
              <a:gd name="connsiteY16" fmla="*/ 1715678 h 171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85435" h="1715678">
                <a:moveTo>
                  <a:pt x="0" y="707010"/>
                </a:moveTo>
                <a:cubicBezTo>
                  <a:pt x="34397" y="213995"/>
                  <a:pt x="-22962" y="440885"/>
                  <a:pt x="65988" y="207390"/>
                </a:cubicBezTo>
                <a:cubicBezTo>
                  <a:pt x="79081" y="173020"/>
                  <a:pt x="86387" y="136147"/>
                  <a:pt x="103695" y="103695"/>
                </a:cubicBezTo>
                <a:cubicBezTo>
                  <a:pt x="128311" y="57540"/>
                  <a:pt x="238916" y="14295"/>
                  <a:pt x="263951" y="9427"/>
                </a:cubicBezTo>
                <a:cubicBezTo>
                  <a:pt x="334961" y="-4380"/>
                  <a:pt x="408495" y="3142"/>
                  <a:pt x="480767" y="0"/>
                </a:cubicBezTo>
                <a:cubicBezTo>
                  <a:pt x="688157" y="9427"/>
                  <a:pt x="896473" y="6547"/>
                  <a:pt x="1102936" y="28280"/>
                </a:cubicBezTo>
                <a:cubicBezTo>
                  <a:pt x="1137875" y="31958"/>
                  <a:pt x="1168319" y="55417"/>
                  <a:pt x="1197204" y="75414"/>
                </a:cubicBezTo>
                <a:cubicBezTo>
                  <a:pt x="1250465" y="112287"/>
                  <a:pt x="1297019" y="158039"/>
                  <a:pt x="1348033" y="197963"/>
                </a:cubicBezTo>
                <a:cubicBezTo>
                  <a:pt x="1369320" y="214622"/>
                  <a:pt x="1392025" y="229386"/>
                  <a:pt x="1414021" y="245097"/>
                </a:cubicBezTo>
                <a:cubicBezTo>
                  <a:pt x="1439159" y="285946"/>
                  <a:pt x="1467985" y="324744"/>
                  <a:pt x="1489435" y="367645"/>
                </a:cubicBezTo>
                <a:cubicBezTo>
                  <a:pt x="1548967" y="486710"/>
                  <a:pt x="1547534" y="516226"/>
                  <a:pt x="1574276" y="641022"/>
                </a:cubicBezTo>
                <a:cubicBezTo>
                  <a:pt x="1587153" y="821292"/>
                  <a:pt x="1597066" y="860251"/>
                  <a:pt x="1555423" y="1084082"/>
                </a:cubicBezTo>
                <a:cubicBezTo>
                  <a:pt x="1548997" y="1118621"/>
                  <a:pt x="1526364" y="1148225"/>
                  <a:pt x="1508289" y="1178350"/>
                </a:cubicBezTo>
                <a:cubicBezTo>
                  <a:pt x="1436557" y="1297903"/>
                  <a:pt x="1376042" y="1353797"/>
                  <a:pt x="1225485" y="1414020"/>
                </a:cubicBezTo>
                <a:cubicBezTo>
                  <a:pt x="947928" y="1525044"/>
                  <a:pt x="1097595" y="1454804"/>
                  <a:pt x="791852" y="1630837"/>
                </a:cubicBezTo>
                <a:cubicBezTo>
                  <a:pt x="717895" y="1673418"/>
                  <a:pt x="738102" y="1656775"/>
                  <a:pt x="678730" y="1706251"/>
                </a:cubicBezTo>
                <a:cubicBezTo>
                  <a:pt x="675316" y="1709096"/>
                  <a:pt x="672445" y="1712536"/>
                  <a:pt x="669303" y="1715678"/>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6B30BFC-4FCA-5E4D-23B8-27652CD8ED6E}"/>
              </a:ext>
            </a:extLst>
          </p:cNvPr>
          <p:cNvPicPr>
            <a:picLocks noChangeAspect="1"/>
          </p:cNvPicPr>
          <p:nvPr/>
        </p:nvPicPr>
        <p:blipFill rotWithShape="1">
          <a:blip r:embed="rId2"/>
          <a:srcRect l="-600" t="-26392" r="-1771" b="51135"/>
          <a:stretch/>
        </p:blipFill>
        <p:spPr>
          <a:xfrm>
            <a:off x="95999" y="659876"/>
            <a:ext cx="12481089" cy="5161176"/>
          </a:xfrm>
          <a:prstGeom prst="rect">
            <a:avLst/>
          </a:prstGeom>
        </p:spPr>
      </p:pic>
      <p:sp>
        <p:nvSpPr>
          <p:cNvPr id="4" name="Rectangle 3">
            <a:extLst>
              <a:ext uri="{FF2B5EF4-FFF2-40B4-BE49-F238E27FC236}">
                <a16:creationId xmlns:a16="http://schemas.microsoft.com/office/drawing/2014/main" id="{186CD9FC-52BB-6D14-CE86-815060F9343C}"/>
              </a:ext>
            </a:extLst>
          </p:cNvPr>
          <p:cNvSpPr/>
          <p:nvPr/>
        </p:nvSpPr>
        <p:spPr>
          <a:xfrm>
            <a:off x="2149311" y="3813143"/>
            <a:ext cx="2064470" cy="90025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chrome</a:t>
            </a:r>
            <a:endParaRPr lang="en-IN" dirty="0"/>
          </a:p>
        </p:txBody>
      </p:sp>
    </p:spTree>
    <p:extLst>
      <p:ext uri="{BB962C8B-B14F-4D97-AF65-F5344CB8AC3E}">
        <p14:creationId xmlns:p14="http://schemas.microsoft.com/office/powerpoint/2010/main" val="230576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A3C82C-925C-41D1-9DED-1C37F547106A}"/>
              </a:ext>
            </a:extLst>
          </p:cNvPr>
          <p:cNvSpPr txBox="1"/>
          <p:nvPr/>
        </p:nvSpPr>
        <p:spPr>
          <a:xfrm>
            <a:off x="-14748" y="1014254"/>
            <a:ext cx="6110748" cy="5478423"/>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useCallback</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highlight>
                  <a:srgbClr val="FF0000"/>
                </a:highlight>
                <a:latin typeface="Consolas" panose="020B0609020204030204" pitchFamily="49" charset="0"/>
              </a:rPr>
              <a:t>const</a:t>
            </a:r>
            <a:r>
              <a:rPr lang="en-IN" sz="1400" b="0" dirty="0">
                <a:solidFill>
                  <a:srgbClr val="D4D4D4"/>
                </a:solidFill>
                <a:effectLst/>
                <a:highlight>
                  <a:srgbClr val="FF0000"/>
                </a:highlight>
                <a:latin typeface="Consolas" panose="020B0609020204030204" pitchFamily="49" charset="0"/>
              </a:rPr>
              <a:t> </a:t>
            </a:r>
            <a:r>
              <a:rPr lang="en-IN" sz="1400" b="0" dirty="0" err="1">
                <a:solidFill>
                  <a:srgbClr val="4FC1FF"/>
                </a:solidFill>
                <a:effectLst/>
                <a:highlight>
                  <a:srgbClr val="FF0000"/>
                </a:highlight>
                <a:latin typeface="Consolas" panose="020B0609020204030204" pitchFamily="49" charset="0"/>
              </a:rPr>
              <a:t>addTodo</a:t>
            </a:r>
            <a:r>
              <a:rPr lang="en-IN" sz="1400" b="0" dirty="0">
                <a:solidFill>
                  <a:srgbClr val="D4D4D4"/>
                </a:solidFill>
                <a:effectLst/>
                <a:highlight>
                  <a:srgbClr val="FF0000"/>
                </a:highlight>
                <a:latin typeface="Consolas" panose="020B0609020204030204" pitchFamily="49" charset="0"/>
              </a:rPr>
              <a:t> () </a:t>
            </a:r>
            <a:r>
              <a:rPr lang="en-IN" sz="1400" b="0" dirty="0">
                <a:solidFill>
                  <a:srgbClr val="569CD6"/>
                </a:solidFill>
                <a:effectLst/>
                <a:highlight>
                  <a:srgbClr val="FF0000"/>
                </a:highlight>
                <a:latin typeface="Consolas" panose="020B0609020204030204" pitchFamily="49" charset="0"/>
              </a:rPr>
              <a:t>=&gt;</a:t>
            </a:r>
            <a:r>
              <a:rPr lang="en-IN" sz="1400" b="0" dirty="0">
                <a:solidFill>
                  <a:srgbClr val="D4D4D4"/>
                </a:solidFill>
                <a:effectLst/>
                <a:highlight>
                  <a:srgbClr val="FF0000"/>
                </a:highlight>
                <a:latin typeface="Consolas" panose="020B0609020204030204" pitchFamily="49" charset="0"/>
              </a:rPr>
              <a:t> {</a:t>
            </a:r>
          </a:p>
          <a:p>
            <a:r>
              <a:rPr lang="en-IN" sz="1400" b="0" dirty="0">
                <a:solidFill>
                  <a:srgbClr val="D4D4D4"/>
                </a:solidFill>
                <a:effectLst/>
                <a:highlight>
                  <a:srgbClr val="FF0000"/>
                </a:highlight>
                <a:latin typeface="Consolas" panose="020B0609020204030204" pitchFamily="49" charset="0"/>
              </a:rPr>
              <a:t>    </a:t>
            </a:r>
            <a:r>
              <a:rPr lang="en-IN" sz="1400" b="0" dirty="0" err="1">
                <a:solidFill>
                  <a:srgbClr val="DCDCAA"/>
                </a:solidFill>
                <a:effectLst/>
                <a:highlight>
                  <a:srgbClr val="FF0000"/>
                </a:highlight>
                <a:latin typeface="Consolas" panose="020B0609020204030204" pitchFamily="49" charset="0"/>
              </a:rPr>
              <a:t>setTodos</a:t>
            </a:r>
            <a:r>
              <a:rPr lang="en-IN" sz="1400" b="0" dirty="0">
                <a:solidFill>
                  <a:srgbClr val="D4D4D4"/>
                </a:solidFill>
                <a:effectLst/>
                <a:highlight>
                  <a:srgbClr val="FF0000"/>
                </a:highlight>
                <a:latin typeface="Consolas" panose="020B0609020204030204" pitchFamily="49" charset="0"/>
              </a:rPr>
              <a:t>((</a:t>
            </a:r>
            <a:r>
              <a:rPr lang="en-IN" sz="1400" b="0" dirty="0" err="1">
                <a:solidFill>
                  <a:srgbClr val="9CDCFE"/>
                </a:solidFill>
                <a:effectLst/>
                <a:highlight>
                  <a:srgbClr val="FF0000"/>
                </a:highlight>
                <a:latin typeface="Consolas" panose="020B0609020204030204" pitchFamily="49" charset="0"/>
              </a:rPr>
              <a:t>todos</a:t>
            </a:r>
            <a:r>
              <a:rPr lang="en-IN" sz="1400" b="0" dirty="0">
                <a:solidFill>
                  <a:srgbClr val="D4D4D4"/>
                </a:solidFill>
                <a:effectLst/>
                <a:highlight>
                  <a:srgbClr val="FF0000"/>
                </a:highlight>
                <a:latin typeface="Consolas" panose="020B0609020204030204" pitchFamily="49" charset="0"/>
              </a:rPr>
              <a:t>)</a:t>
            </a:r>
            <a:r>
              <a:rPr lang="en-IN" sz="1400" b="0" dirty="0">
                <a:solidFill>
                  <a:srgbClr val="569CD6"/>
                </a:solidFill>
                <a:effectLst/>
                <a:highlight>
                  <a:srgbClr val="FF0000"/>
                </a:highlight>
                <a:latin typeface="Consolas" panose="020B0609020204030204" pitchFamily="49" charset="0"/>
              </a:rPr>
              <a:t>=&gt;</a:t>
            </a:r>
            <a:r>
              <a:rPr lang="en-IN" sz="1400" b="0" dirty="0">
                <a:solidFill>
                  <a:srgbClr val="9CDCFE"/>
                </a:solidFill>
                <a:effectLst/>
                <a:highlight>
                  <a:srgbClr val="FF0000"/>
                </a:highlight>
                <a:latin typeface="Consolas" panose="020B0609020204030204" pitchFamily="49" charset="0"/>
              </a:rPr>
              <a:t>todos</a:t>
            </a:r>
            <a:r>
              <a:rPr lang="en-IN" sz="1400" b="0" dirty="0">
                <a:solidFill>
                  <a:srgbClr val="D4D4D4"/>
                </a:solidFill>
                <a:effectLst/>
                <a:highlight>
                  <a:srgbClr val="FF0000"/>
                </a:highlight>
                <a:latin typeface="Consolas" panose="020B0609020204030204" pitchFamily="49" charset="0"/>
              </a:rPr>
              <a:t>+</a:t>
            </a:r>
            <a:r>
              <a:rPr lang="en-IN" sz="1400" b="0" dirty="0">
                <a:solidFill>
                  <a:srgbClr val="B5CEA8"/>
                </a:solidFill>
                <a:effectLst/>
                <a:highlight>
                  <a:srgbClr val="FF0000"/>
                </a:highlight>
                <a:latin typeface="Consolas" panose="020B0609020204030204" pitchFamily="49" charset="0"/>
              </a:rPr>
              <a:t>1</a:t>
            </a:r>
            <a:r>
              <a:rPr lang="en-IN" sz="1400" b="0" dirty="0">
                <a:solidFill>
                  <a:srgbClr val="D4D4D4"/>
                </a:solidFill>
                <a:effectLst/>
                <a:highlight>
                  <a:srgbClr val="FF0000"/>
                </a:highlight>
                <a:latin typeface="Consolas" panose="020B0609020204030204" pitchFamily="49" charset="0"/>
              </a:rPr>
              <a:t>);</a:t>
            </a:r>
          </a:p>
          <a:p>
            <a:r>
              <a:rPr lang="en-IN" sz="1400" b="0" dirty="0">
                <a:solidFill>
                  <a:srgbClr val="D4D4D4"/>
                </a:solidFill>
                <a:effectLst/>
                <a:highlight>
                  <a:srgbClr val="FF0000"/>
                </a:highlight>
                <a:latin typeface="Consolas" panose="020B0609020204030204" pitchFamily="49" charset="0"/>
              </a:rPr>
              <a:t>  };</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addTodo</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a:p>
            <a:endParaRPr lang="en-IN" sz="14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D16823E-E0EF-4EC0-87AB-9B9B0043A650}"/>
              </a:ext>
            </a:extLst>
          </p:cNvPr>
          <p:cNvSpPr txBox="1"/>
          <p:nvPr/>
        </p:nvSpPr>
        <p:spPr>
          <a:xfrm>
            <a:off x="6268063" y="751447"/>
            <a:ext cx="5855111" cy="4524315"/>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addTodo</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onClick</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addTodo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Add </a:t>
            </a:r>
            <a:r>
              <a:rPr lang="en-IN" b="0" dirty="0" err="1">
                <a:solidFill>
                  <a:srgbClr val="D4D4D4"/>
                </a:solidFill>
                <a:effectLst/>
                <a:latin typeface="Consolas" panose="020B0609020204030204" pitchFamily="49" charset="0"/>
              </a:rPr>
              <a:t>Todo</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9A38DF9A-740E-4391-8A40-04492705B7F2}"/>
              </a:ext>
            </a:extLst>
          </p:cNvPr>
          <p:cNvSpPr txBox="1"/>
          <p:nvPr/>
        </p:nvSpPr>
        <p:spPr>
          <a:xfrm>
            <a:off x="6007509" y="5964869"/>
            <a:ext cx="6110748" cy="646331"/>
          </a:xfrm>
          <a:prstGeom prst="rect">
            <a:avLst/>
          </a:prstGeom>
          <a:noFill/>
        </p:spPr>
        <p:txBody>
          <a:bodyPr wrap="square">
            <a:spAutoFit/>
          </a:bodyPr>
          <a:lstStyle/>
          <a:p>
            <a:r>
              <a:rPr lang="en-US" dirty="0"/>
              <a:t>Now the </a:t>
            </a:r>
            <a:r>
              <a:rPr lang="en-US" dirty="0" err="1"/>
              <a:t>Todos</a:t>
            </a:r>
            <a:r>
              <a:rPr lang="en-US" dirty="0"/>
              <a:t> component will </a:t>
            </a:r>
            <a:r>
              <a:rPr lang="en-US" b="1" dirty="0"/>
              <a:t> re-render </a:t>
            </a:r>
            <a:r>
              <a:rPr lang="en-US" dirty="0"/>
              <a:t> even though we have </a:t>
            </a:r>
            <a:r>
              <a:rPr lang="en-US" dirty="0">
                <a:highlight>
                  <a:srgbClr val="FFFF00"/>
                </a:highlight>
              </a:rPr>
              <a:t>use memo</a:t>
            </a:r>
            <a:endParaRPr lang="en-IN" b="1" dirty="0">
              <a:highlight>
                <a:srgbClr val="FFFF00"/>
              </a:highlight>
            </a:endParaRPr>
          </a:p>
        </p:txBody>
      </p:sp>
    </p:spTree>
    <p:extLst>
      <p:ext uri="{BB962C8B-B14F-4D97-AF65-F5344CB8AC3E}">
        <p14:creationId xmlns:p14="http://schemas.microsoft.com/office/powerpoint/2010/main" val="2504705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BAAF6-726F-6B5A-43A5-A9E637888B95}"/>
              </a:ext>
            </a:extLst>
          </p:cNvPr>
          <p:cNvSpPr>
            <a:spLocks noGrp="1"/>
          </p:cNvSpPr>
          <p:nvPr>
            <p:ph idx="1"/>
          </p:nvPr>
        </p:nvSpPr>
        <p:spPr>
          <a:xfrm>
            <a:off x="498834" y="449311"/>
            <a:ext cx="11218684" cy="1049551"/>
          </a:xfrm>
        </p:spPr>
        <p:txBody>
          <a:bodyPr>
            <a:normAutofit/>
          </a:bodyPr>
          <a:lstStyle/>
          <a:p>
            <a:pPr marL="0" indent="0">
              <a:buNone/>
            </a:pPr>
            <a:r>
              <a:rPr lang="en-US" sz="2000" dirty="0"/>
              <a:t>Now lets add function to modify child component</a:t>
            </a:r>
          </a:p>
          <a:p>
            <a:pPr marL="0" indent="0">
              <a:buNone/>
            </a:pPr>
            <a:r>
              <a:rPr lang="en-US" sz="2000" dirty="0"/>
              <a:t>What we observe is even though we are not modifying child component still child component get re render</a:t>
            </a:r>
          </a:p>
          <a:p>
            <a:pPr marL="0" indent="0">
              <a:buNone/>
            </a:pPr>
            <a:endParaRPr lang="en-IN" sz="2000" dirty="0"/>
          </a:p>
        </p:txBody>
      </p:sp>
      <p:sp>
        <p:nvSpPr>
          <p:cNvPr id="5" name="TextBox 4">
            <a:extLst>
              <a:ext uri="{FF2B5EF4-FFF2-40B4-BE49-F238E27FC236}">
                <a16:creationId xmlns:a16="http://schemas.microsoft.com/office/drawing/2014/main" id="{61C14516-8219-11BC-D611-DE61AB389DFF}"/>
              </a:ext>
            </a:extLst>
          </p:cNvPr>
          <p:cNvSpPr txBox="1"/>
          <p:nvPr/>
        </p:nvSpPr>
        <p:spPr>
          <a:xfrm>
            <a:off x="355683" y="2168499"/>
            <a:ext cx="10438008" cy="3046988"/>
          </a:xfrm>
          <a:prstGeom prst="rect">
            <a:avLst/>
          </a:prstGeom>
          <a:noFill/>
        </p:spPr>
        <p:txBody>
          <a:bodyPr wrap="square">
            <a:spAutoFit/>
          </a:bodyPr>
          <a:lstStyle/>
          <a:p>
            <a:r>
              <a:rPr lang="en-US" sz="1600" dirty="0"/>
              <a:t>Try running this and click the count increment button in next code.</a:t>
            </a:r>
          </a:p>
          <a:p>
            <a:endParaRPr lang="en-US" sz="1600" dirty="0"/>
          </a:p>
          <a:p>
            <a:r>
              <a:rPr lang="en-US" sz="1600" dirty="0"/>
              <a:t>You will notice that the </a:t>
            </a:r>
            <a:r>
              <a:rPr lang="en-US" sz="1600" dirty="0" err="1"/>
              <a:t>Todos</a:t>
            </a:r>
            <a:r>
              <a:rPr lang="en-US" sz="1600" dirty="0"/>
              <a:t> component re-renders even when the </a:t>
            </a:r>
            <a:r>
              <a:rPr lang="en-US" sz="1600" dirty="0" err="1"/>
              <a:t>todos</a:t>
            </a:r>
            <a:r>
              <a:rPr lang="en-US" sz="1600" dirty="0"/>
              <a:t> do not change.</a:t>
            </a:r>
          </a:p>
          <a:p>
            <a:endParaRPr lang="en-US" sz="1600" dirty="0"/>
          </a:p>
          <a:p>
            <a:r>
              <a:rPr lang="en-US" sz="1600" dirty="0"/>
              <a:t>Why does this not work? We are using memo, so the </a:t>
            </a:r>
            <a:r>
              <a:rPr lang="en-US" sz="1600" dirty="0" err="1"/>
              <a:t>Todos</a:t>
            </a:r>
            <a:r>
              <a:rPr lang="en-US" sz="1600" dirty="0"/>
              <a:t> component should not re-render since neither the </a:t>
            </a:r>
            <a:r>
              <a:rPr lang="en-US" sz="1600" dirty="0" err="1"/>
              <a:t>todos</a:t>
            </a:r>
            <a:r>
              <a:rPr lang="en-US" sz="1600" dirty="0"/>
              <a:t> state nor the </a:t>
            </a:r>
            <a:r>
              <a:rPr lang="en-US" sz="1600" dirty="0" err="1"/>
              <a:t>addTodo</a:t>
            </a:r>
            <a:r>
              <a:rPr lang="en-US" sz="1600" dirty="0"/>
              <a:t> function are changing when the count is incremented.</a:t>
            </a:r>
          </a:p>
          <a:p>
            <a:endParaRPr lang="en-US" sz="1600" dirty="0"/>
          </a:p>
          <a:p>
            <a:r>
              <a:rPr lang="en-US" sz="1600" dirty="0"/>
              <a:t>This is because of something called </a:t>
            </a:r>
            <a:r>
              <a:rPr lang="en-US" sz="1600" b="1" dirty="0"/>
              <a:t>"referential equality".</a:t>
            </a:r>
          </a:p>
          <a:p>
            <a:endParaRPr lang="en-US" sz="1600" dirty="0"/>
          </a:p>
          <a:p>
            <a:r>
              <a:rPr lang="en-US" sz="1600" dirty="0"/>
              <a:t>Every time a component re-renders, </a:t>
            </a:r>
            <a:r>
              <a:rPr lang="en-US" sz="1600" b="1" dirty="0"/>
              <a:t>its functions get recreated. Because of this, the </a:t>
            </a:r>
            <a:r>
              <a:rPr lang="en-US" sz="1600" b="1" dirty="0" err="1"/>
              <a:t>addTodo</a:t>
            </a:r>
            <a:r>
              <a:rPr lang="en-US" sz="1600" b="1" dirty="0"/>
              <a:t> function has actually changed.</a:t>
            </a:r>
          </a:p>
          <a:p>
            <a:endParaRPr lang="en-US" sz="1600" dirty="0"/>
          </a:p>
        </p:txBody>
      </p:sp>
    </p:spTree>
    <p:extLst>
      <p:ext uri="{BB962C8B-B14F-4D97-AF65-F5344CB8AC3E}">
        <p14:creationId xmlns:p14="http://schemas.microsoft.com/office/powerpoint/2010/main" val="388042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9F0384B-706F-4536-A201-74D74DBFBFD9}"/>
              </a:ext>
            </a:extLst>
          </p:cNvPr>
          <p:cNvSpPr>
            <a:spLocks noChangeArrowheads="1"/>
          </p:cNvSpPr>
          <p:nvPr/>
        </p:nvSpPr>
        <p:spPr bwMode="auto">
          <a:xfrm>
            <a:off x="150829" y="-94876"/>
            <a:ext cx="11706874" cy="8360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Solution  	</a:t>
            </a:r>
            <a:r>
              <a:rPr kumimoji="0" lang="en-US" altLang="en-US" sz="3200" b="0" i="0" u="none" strike="noStrike" cap="none" normalizeH="0" baseline="0" dirty="0">
                <a:ln>
                  <a:noFill/>
                </a:ln>
                <a:solidFill>
                  <a:srgbClr val="000000"/>
                </a:solidFill>
                <a:effectLst/>
                <a:latin typeface="Segoe UI" panose="020B0502040204020203" pitchFamily="34" charset="0"/>
                <a:cs typeface="Segoe UI" panose="020B0502040204020203" pitchFamily="34" charset="0"/>
              </a:rPr>
              <a:t> </a:t>
            </a:r>
            <a:r>
              <a:rPr kumimoji="0" lang="en-US" altLang="en-US" sz="1400" b="0" i="0" u="none" strike="noStrike" cap="none" normalizeH="0" baseline="0" dirty="0">
                <a:ln>
                  <a:noFill/>
                </a:ln>
                <a:solidFill>
                  <a:srgbClr val="000000"/>
                </a:solidFill>
                <a:effectLst/>
                <a:latin typeface="Verdana" panose="020B0604030504040204" pitchFamily="34" charset="0"/>
              </a:rPr>
              <a:t>To fix this, we can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function from being recreated unless necessary.</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a:t>
            </a:r>
            <a:r>
              <a:rPr kumimoji="0" lang="en-US" altLang="en-US" sz="1400" b="0" i="0" u="none" strike="noStrike" cap="none" normalizeH="0" baseline="0" dirty="0" err="1">
                <a:ln>
                  <a:noFill/>
                </a:ln>
                <a:solidFill>
                  <a:srgbClr val="DC143C"/>
                </a:solidFill>
                <a:effectLst/>
                <a:latin typeface="Consolas" panose="020B0609020204030204" pitchFamily="49" charset="0"/>
              </a:rPr>
              <a:t>Todos</a:t>
            </a:r>
            <a:r>
              <a:rPr kumimoji="0" lang="en-US" altLang="en-US" sz="1400" b="0" i="0" u="none" strike="noStrike" cap="none" normalizeH="0" baseline="0" dirty="0">
                <a:ln>
                  <a:noFill/>
                </a:ln>
                <a:solidFill>
                  <a:srgbClr val="000000"/>
                </a:solidFill>
                <a:effectLst/>
                <a:latin typeface="Verdana" panose="020B0604030504040204" pitchFamily="34" charset="0"/>
              </a:rPr>
              <a:t> component from re-rendering needlessly:</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94A3C82C-925C-41D1-9DED-1C37F547106A}"/>
              </a:ext>
            </a:extLst>
          </p:cNvPr>
          <p:cNvSpPr txBox="1"/>
          <p:nvPr/>
        </p:nvSpPr>
        <p:spPr>
          <a:xfrm>
            <a:off x="-14748" y="1132777"/>
            <a:ext cx="6110748" cy="5478423"/>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useCallback</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a:t>
            </a:r>
            <a:r>
              <a:rPr lang="en-IN" sz="1400" b="0" dirty="0" err="1">
                <a:solidFill>
                  <a:srgbClr val="CE9178"/>
                </a:solidFill>
                <a:effectLst/>
                <a:latin typeface="Consolas" panose="020B0609020204030204" pitchFamily="49" charset="0"/>
              </a:rPr>
              <a:t>Todos</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useCallback</a:t>
            </a:r>
            <a:r>
              <a:rPr lang="en-IN" sz="1400" b="0" dirty="0">
                <a:solidFill>
                  <a:srgbClr val="FF0000"/>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1" dirty="0">
                <a:solidFill>
                  <a:srgbClr val="FF0000"/>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err="1">
                <a:solidFill>
                  <a:srgbClr val="4EC9B0"/>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todos</a:t>
            </a:r>
            <a:r>
              <a:rPr lang="en-IN" sz="1400" b="0" dirty="0">
                <a:solidFill>
                  <a:srgbClr val="569CD6"/>
                </a:solidFill>
                <a:effectLst/>
                <a:latin typeface="Consolas" panose="020B0609020204030204" pitchFamily="49" charset="0"/>
              </a:rPr>
              <a: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err="1">
                <a:solidFill>
                  <a:srgbClr val="4FC1FF"/>
                </a:solidFill>
                <a:effectLst/>
                <a:latin typeface="Consolas" panose="020B0609020204030204" pitchFamily="49" charset="0"/>
              </a:rPr>
              <a:t>addTodo</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hr</a:t>
            </a:r>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Count: </a:t>
            </a:r>
            <a:r>
              <a:rPr lang="en-IN" sz="1400" b="0" dirty="0">
                <a:solidFill>
                  <a:srgbClr val="569CD6"/>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569CD6"/>
                </a:solidFill>
                <a:effectLst/>
                <a:latin typeface="Consolas" panose="020B0609020204030204" pitchFamily="49" charset="0"/>
              </a:rPr>
              <a: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onClick</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a:t>
            </a:r>
            <a:r>
              <a:rPr lang="en-IN" sz="1400" b="0" dirty="0">
                <a:solidFill>
                  <a:srgbClr val="DCDCAA"/>
                </a:solidFill>
                <a:effectLst/>
                <a:latin typeface="Consolas" panose="020B0609020204030204" pitchFamily="49" charset="0"/>
              </a:rPr>
              <a:t>increment</a:t>
            </a:r>
            <a:r>
              <a:rPr lang="en-IN" sz="1400" b="0" dirty="0">
                <a:solidFill>
                  <a:srgbClr val="569CD6"/>
                </a:solidFill>
                <a:effectLst/>
                <a:latin typeface="Consolas" panose="020B0609020204030204" pitchFamily="49" charset="0"/>
              </a:rPr>
              <a:t>}</a:t>
            </a:r>
            <a:r>
              <a:rPr lang="en-IN" sz="1400" b="0" dirty="0">
                <a:solidFill>
                  <a:srgbClr val="808080"/>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button</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a:t>
            </a:r>
            <a:r>
              <a:rPr lang="en-IN" sz="1400" b="0" dirty="0">
                <a:solidFill>
                  <a:srgbClr val="569CD6"/>
                </a:solidFill>
                <a:effectLst/>
                <a:latin typeface="Consolas" panose="020B0609020204030204" pitchFamily="49" charset="0"/>
              </a:rPr>
              <a:t>div</a:t>
            </a:r>
            <a:r>
              <a:rPr lang="en-IN" sz="1400" b="0" dirty="0">
                <a:solidFill>
                  <a:srgbClr val="808080"/>
                </a:solidFill>
                <a:effectLst/>
                <a:latin typeface="Consolas" panose="020B0609020204030204" pitchFamily="49" charset="0"/>
              </a:rPr>
              <a: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r>
              <a:rPr lang="en-IN" sz="1400" b="0" dirty="0">
                <a:solidFill>
                  <a:srgbClr val="808080"/>
                </a:solidFill>
                <a:effectLst/>
                <a:latin typeface="Consolas" panose="020B0609020204030204" pitchFamily="49" charset="0"/>
              </a:rPr>
              <a:t>&lt;/&gt;</a:t>
            </a:r>
            <a:endParaRPr lang="en-IN" sz="1400" b="0" dirty="0">
              <a:solidFill>
                <a:srgbClr val="D4D4D4"/>
              </a:solidFill>
              <a:effectLst/>
              <a:latin typeface="Consolas" panose="020B0609020204030204" pitchFamily="49" charset="0"/>
            </a:endParaRP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export</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default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endParaRPr lang="en-IN" sz="1400" b="0" dirty="0">
              <a:solidFill>
                <a:srgbClr val="D4D4D4"/>
              </a:solidFill>
              <a:effectLst/>
              <a:latin typeface="Consolas" panose="020B0609020204030204" pitchFamily="49" charset="0"/>
            </a:endParaRPr>
          </a:p>
          <a:p>
            <a:endParaRPr lang="en-IN" sz="1400" b="0" dirty="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6D16823E-E0EF-4EC0-87AB-9B9B0043A650}"/>
              </a:ext>
            </a:extLst>
          </p:cNvPr>
          <p:cNvSpPr txBox="1"/>
          <p:nvPr/>
        </p:nvSpPr>
        <p:spPr>
          <a:xfrm>
            <a:off x="6263146" y="1166842"/>
            <a:ext cx="5855111" cy="4524315"/>
          </a:xfrm>
          <a:prstGeom prst="rect">
            <a:avLst/>
          </a:prstGeom>
          <a:solidFill>
            <a:schemeClr val="tx1"/>
          </a:solidFill>
        </p:spPr>
        <p:txBody>
          <a:bodyPr wrap="square">
            <a:spAutoFit/>
          </a:bodyPr>
          <a:lstStyle/>
          <a:p>
            <a:r>
              <a:rPr lang="en-IN" b="0" dirty="0">
                <a:solidFill>
                  <a:srgbClr val="C586C0"/>
                </a:solidFill>
                <a:effectLst/>
                <a:latin typeface="Consolas" panose="020B0609020204030204" pitchFamily="49" charset="0"/>
              </a:rPr>
              <a:t>import</a:t>
            </a:r>
            <a:r>
              <a:rPr lang="en-IN" b="0" dirty="0">
                <a:solidFill>
                  <a:srgbClr val="D4D4D4"/>
                </a:solidFill>
                <a:effectLst/>
                <a:latin typeface="Consolas" panose="020B0609020204030204" pitchFamily="49" charset="0"/>
              </a:rPr>
              <a:t> { </a:t>
            </a:r>
            <a:r>
              <a:rPr lang="en-IN" b="0" dirty="0">
                <a:solidFill>
                  <a:srgbClr val="9CDCFE"/>
                </a:solidFill>
                <a:effectLst/>
                <a:latin typeface="Consolas" panose="020B0609020204030204" pitchFamily="49" charset="0"/>
              </a:rPr>
              <a:t>memo</a:t>
            </a:r>
            <a:r>
              <a:rPr lang="en-IN" b="0" dirty="0">
                <a:solidFill>
                  <a:srgbClr val="D4D4D4"/>
                </a:solidFill>
                <a:effectLst/>
                <a:latin typeface="Consolas" panose="020B0609020204030204" pitchFamily="49" charset="0"/>
              </a:rPr>
              <a:t> } </a:t>
            </a:r>
            <a:r>
              <a:rPr lang="en-IN" b="0" dirty="0">
                <a:solidFill>
                  <a:srgbClr val="C586C0"/>
                </a:solidFill>
                <a:effectLst/>
                <a:latin typeface="Consolas" panose="020B0609020204030204" pitchFamily="49" charset="0"/>
              </a:rPr>
              <a:t>from</a:t>
            </a:r>
            <a:r>
              <a:rPr lang="en-IN" b="0" dirty="0">
                <a:solidFill>
                  <a:srgbClr val="D4D4D4"/>
                </a:solidFill>
                <a:effectLst/>
                <a:latin typeface="Consolas" panose="020B0609020204030204" pitchFamily="49" charset="0"/>
              </a:rPr>
              <a:t> </a:t>
            </a:r>
            <a:r>
              <a:rPr lang="en-IN" b="0" dirty="0">
                <a:solidFill>
                  <a:srgbClr val="CE9178"/>
                </a:solidFill>
                <a:effectLst/>
                <a:latin typeface="Consolas" panose="020B0609020204030204" pitchFamily="49" charset="0"/>
              </a:rPr>
              <a:t>"react"</a:t>
            </a:r>
            <a:r>
              <a:rPr lang="en-IN" b="0" dirty="0">
                <a:solidFill>
                  <a:srgbClr val="D4D4D4"/>
                </a:solidFill>
                <a:effectLst/>
                <a:latin typeface="Consolas" panose="020B0609020204030204" pitchFamily="49" charset="0"/>
              </a:rPr>
              <a:t>;</a:t>
            </a:r>
          </a:p>
          <a:p>
            <a:r>
              <a:rPr lang="en-IN" b="0" dirty="0" err="1">
                <a:solidFill>
                  <a:srgbClr val="569CD6"/>
                </a:solidFill>
                <a:effectLst/>
                <a:latin typeface="Consolas" panose="020B0609020204030204" pitchFamily="49" charset="0"/>
              </a:rPr>
              <a:t>const</a:t>
            </a:r>
            <a:r>
              <a:rPr lang="en-IN" b="0" dirty="0">
                <a:solidFill>
                  <a:srgbClr val="D4D4D4"/>
                </a:solidFill>
                <a:effectLst/>
                <a:latin typeface="Consolas" panose="020B0609020204030204" pitchFamily="49" charset="0"/>
              </a:rPr>
              <a:t> </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 = ({ </a:t>
            </a:r>
            <a:r>
              <a:rPr lang="en-IN" b="0" dirty="0" err="1">
                <a:solidFill>
                  <a:srgbClr val="9CDCFE"/>
                </a:solidFill>
                <a:effectLst/>
                <a:latin typeface="Consolas" panose="020B0609020204030204" pitchFamily="49" charset="0"/>
              </a:rPr>
              <a:t>todos</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addTodo</a:t>
            </a:r>
            <a:r>
              <a:rPr lang="en-IN" b="0" dirty="0">
                <a:solidFill>
                  <a:srgbClr val="D4D4D4"/>
                </a:solidFill>
                <a:effectLst/>
                <a:latin typeface="Consolas" panose="020B0609020204030204" pitchFamily="49" charset="0"/>
              </a:rPr>
              <a:t> }) </a:t>
            </a:r>
            <a:r>
              <a:rPr lang="en-IN" b="0" dirty="0">
                <a:solidFill>
                  <a:srgbClr val="569CD6"/>
                </a:solidFill>
                <a:effectLst/>
                <a:latin typeface="Consolas" panose="020B0609020204030204" pitchFamily="49" charset="0"/>
              </a:rPr>
              <a:t>=&gt;</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D4D4D4"/>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D4D4D4"/>
                </a:solidFill>
                <a:effectLst/>
                <a:latin typeface="Consolas" panose="020B0609020204030204" pitchFamily="49" charset="0"/>
              </a:rPr>
              <a:t>(</a:t>
            </a:r>
            <a:r>
              <a:rPr lang="en-IN" b="0" dirty="0">
                <a:solidFill>
                  <a:srgbClr val="CE9178"/>
                </a:solidFill>
                <a:effectLst/>
                <a:latin typeface="Consolas" panose="020B0609020204030204" pitchFamily="49" charset="0"/>
              </a:rPr>
              <a:t>"child render"</a:t>
            </a:r>
            <a:r>
              <a:rPr lang="en-IN" b="0" dirty="0">
                <a:solidFill>
                  <a:srgbClr val="D4D4D4"/>
                </a:solidFill>
                <a:effectLst/>
                <a:latin typeface="Consolas" panose="020B0609020204030204" pitchFamily="49" charset="0"/>
              </a:rPr>
              <a:t>);</a:t>
            </a:r>
          </a:p>
          <a:p>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return</a:t>
            </a:r>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My </a:t>
            </a:r>
            <a:r>
              <a:rPr lang="en-IN" b="0" dirty="0" err="1">
                <a:solidFill>
                  <a:srgbClr val="D4D4D4"/>
                </a:solidFill>
                <a:effectLst/>
                <a:latin typeface="Consolas" panose="020B0609020204030204" pitchFamily="49" charset="0"/>
              </a:rPr>
              <a:t>Todos</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h2</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todos</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span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D4D4D4"/>
                </a:solidFill>
                <a:effectLst/>
                <a:latin typeface="Consolas" panose="020B0609020204030204" pitchFamily="49" charset="0"/>
              </a:rPr>
              <a:t> </a:t>
            </a:r>
            <a:r>
              <a:rPr lang="en-IN" b="0" dirty="0" err="1">
                <a:solidFill>
                  <a:srgbClr val="9CDCFE"/>
                </a:solidFill>
                <a:effectLst/>
                <a:latin typeface="Consolas" panose="020B0609020204030204" pitchFamily="49" charset="0"/>
              </a:rPr>
              <a:t>onClick</a:t>
            </a:r>
            <a:r>
              <a:rPr lang="en-IN" b="0" dirty="0">
                <a:solidFill>
                  <a:srgbClr val="D4D4D4"/>
                </a:solidFill>
                <a:effectLst/>
                <a:latin typeface="Consolas" panose="020B0609020204030204" pitchFamily="49" charset="0"/>
              </a:rPr>
              <a:t>=</a:t>
            </a:r>
            <a:r>
              <a:rPr lang="en-IN" b="0" dirty="0">
                <a:solidFill>
                  <a:srgbClr val="569CD6"/>
                </a:solidFill>
                <a:effectLst/>
                <a:latin typeface="Consolas" panose="020B0609020204030204" pitchFamily="49" charset="0"/>
              </a:rPr>
              <a:t>{</a:t>
            </a:r>
            <a:r>
              <a:rPr lang="en-IN" b="0" dirty="0" err="1">
                <a:solidFill>
                  <a:srgbClr val="9CDCFE"/>
                </a:solidFill>
                <a:effectLst/>
                <a:latin typeface="Consolas" panose="020B0609020204030204" pitchFamily="49" charset="0"/>
              </a:rPr>
              <a:t>addTodo</a:t>
            </a:r>
            <a:r>
              <a:rPr lang="en-IN" b="0" dirty="0">
                <a:solidFill>
                  <a:srgbClr val="569CD6"/>
                </a:solidFill>
                <a:effectLst/>
                <a:latin typeface="Consolas" panose="020B0609020204030204" pitchFamily="49" charset="0"/>
              </a:rPr>
              <a:t>}</a:t>
            </a:r>
            <a:r>
              <a:rPr lang="en-IN" b="0" dirty="0">
                <a:solidFill>
                  <a:srgbClr val="808080"/>
                </a:solidFill>
                <a:effectLst/>
                <a:latin typeface="Consolas" panose="020B0609020204030204" pitchFamily="49" charset="0"/>
              </a:rPr>
              <a:t>&gt;</a:t>
            </a:r>
            <a:r>
              <a:rPr lang="en-IN" b="0" dirty="0">
                <a:solidFill>
                  <a:srgbClr val="D4D4D4"/>
                </a:solidFill>
                <a:effectLst/>
                <a:latin typeface="Consolas" panose="020B0609020204030204" pitchFamily="49" charset="0"/>
              </a:rPr>
              <a:t>Add </a:t>
            </a:r>
            <a:r>
              <a:rPr lang="en-IN" b="0" dirty="0" err="1">
                <a:solidFill>
                  <a:srgbClr val="D4D4D4"/>
                </a:solidFill>
                <a:effectLst/>
                <a:latin typeface="Consolas" panose="020B0609020204030204" pitchFamily="49" charset="0"/>
              </a:rPr>
              <a:t>Todo</a:t>
            </a:r>
            <a:r>
              <a:rPr lang="en-IN" b="0" dirty="0">
                <a:solidFill>
                  <a:srgbClr val="808080"/>
                </a:solidFill>
                <a:effectLst/>
                <a:latin typeface="Consolas" panose="020B0609020204030204" pitchFamily="49" charset="0"/>
              </a:rPr>
              <a:t>&lt;/</a:t>
            </a:r>
            <a:r>
              <a:rPr lang="en-IN" b="0" dirty="0">
                <a:solidFill>
                  <a:srgbClr val="569CD6"/>
                </a:solidFill>
                <a:effectLst/>
                <a:latin typeface="Consolas" panose="020B0609020204030204" pitchFamily="49" charset="0"/>
              </a:rPr>
              <a:t>button</a:t>
            </a:r>
            <a:r>
              <a:rPr lang="en-IN" b="0" dirty="0">
                <a:solidFill>
                  <a:srgbClr val="808080"/>
                </a:solidFill>
                <a:effectLst/>
                <a:latin typeface="Consolas" panose="020B0609020204030204" pitchFamily="49" charset="0"/>
              </a:rPr>
              <a: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r>
              <a:rPr lang="en-IN" b="0" dirty="0">
                <a:solidFill>
                  <a:srgbClr val="808080"/>
                </a:solidFill>
                <a:effectLst/>
                <a:latin typeface="Consolas" panose="020B0609020204030204" pitchFamily="49" charset="0"/>
              </a:rPr>
              <a:t>&lt;/&gt;</a:t>
            </a:r>
            <a:endParaRPr lang="en-IN" b="0" dirty="0">
              <a:solidFill>
                <a:srgbClr val="D4D4D4"/>
              </a:solidFill>
              <a:effectLst/>
              <a:latin typeface="Consolas" panose="020B0609020204030204" pitchFamily="49" charset="0"/>
            </a:endParaRPr>
          </a:p>
          <a:p>
            <a:r>
              <a:rPr lang="en-IN" b="0" dirty="0">
                <a:solidFill>
                  <a:srgbClr val="D4D4D4"/>
                </a:solidFill>
                <a:effectLst/>
                <a:latin typeface="Consolas" panose="020B0609020204030204" pitchFamily="49" charset="0"/>
              </a:rPr>
              <a:t>    );</a:t>
            </a:r>
          </a:p>
          <a:p>
            <a:r>
              <a:rPr lang="en-IN" b="0" dirty="0">
                <a:solidFill>
                  <a:srgbClr val="D4D4D4"/>
                </a:solidFill>
                <a:effectLst/>
                <a:latin typeface="Consolas" panose="020B0609020204030204" pitchFamily="49" charset="0"/>
              </a:rPr>
              <a:t>};</a:t>
            </a:r>
          </a:p>
          <a:p>
            <a:r>
              <a:rPr lang="en-IN" b="0" dirty="0">
                <a:solidFill>
                  <a:srgbClr val="C586C0"/>
                </a:solidFill>
                <a:effectLst/>
                <a:latin typeface="Consolas" panose="020B0609020204030204" pitchFamily="49" charset="0"/>
              </a:rPr>
              <a:t>export</a:t>
            </a:r>
            <a:r>
              <a:rPr lang="en-IN" b="0" dirty="0">
                <a:solidFill>
                  <a:srgbClr val="D4D4D4"/>
                </a:solidFill>
                <a:effectLst/>
                <a:latin typeface="Consolas" panose="020B0609020204030204" pitchFamily="49" charset="0"/>
              </a:rPr>
              <a:t> </a:t>
            </a:r>
            <a:r>
              <a:rPr lang="en-IN" b="0" dirty="0">
                <a:solidFill>
                  <a:srgbClr val="C586C0"/>
                </a:solidFill>
                <a:effectLst/>
                <a:latin typeface="Consolas" panose="020B0609020204030204" pitchFamily="49" charset="0"/>
              </a:rPr>
              <a:t>default</a:t>
            </a:r>
            <a:r>
              <a:rPr lang="en-IN" b="0" dirty="0">
                <a:solidFill>
                  <a:srgbClr val="D4D4D4"/>
                </a:solidFill>
                <a:effectLst/>
                <a:latin typeface="Consolas" panose="020B0609020204030204" pitchFamily="49" charset="0"/>
              </a:rPr>
              <a:t> </a:t>
            </a:r>
            <a:r>
              <a:rPr lang="en-IN" b="0" dirty="0">
                <a:solidFill>
                  <a:srgbClr val="DCDCAA"/>
                </a:solidFill>
                <a:effectLst/>
                <a:latin typeface="Consolas" panose="020B0609020204030204" pitchFamily="49" charset="0"/>
              </a:rPr>
              <a:t>memo</a:t>
            </a:r>
            <a:r>
              <a:rPr lang="en-IN" b="0" dirty="0">
                <a:solidFill>
                  <a:srgbClr val="D4D4D4"/>
                </a:solidFill>
                <a:effectLst/>
                <a:latin typeface="Consolas" panose="020B0609020204030204" pitchFamily="49" charset="0"/>
              </a:rPr>
              <a:t>(</a:t>
            </a:r>
            <a:r>
              <a:rPr lang="en-IN" b="0" dirty="0" err="1">
                <a:solidFill>
                  <a:srgbClr val="DCDCAA"/>
                </a:solidFill>
                <a:effectLst/>
                <a:latin typeface="Consolas" panose="020B0609020204030204" pitchFamily="49" charset="0"/>
              </a:rPr>
              <a:t>Todos</a:t>
            </a:r>
            <a:r>
              <a:rPr lang="en-IN" b="0" dirty="0">
                <a:solidFill>
                  <a:srgbClr val="D4D4D4"/>
                </a:solidFill>
                <a:effectLst/>
                <a:latin typeface="Consolas" panose="020B0609020204030204" pitchFamily="49" charset="0"/>
              </a:rPr>
              <a:t>);</a:t>
            </a:r>
          </a:p>
          <a:p>
            <a:br>
              <a:rPr lang="en-IN" b="0" dirty="0">
                <a:solidFill>
                  <a:srgbClr val="D4D4D4"/>
                </a:solidFill>
                <a:effectLst/>
                <a:latin typeface="Consolas" panose="020B0609020204030204" pitchFamily="49" charset="0"/>
              </a:rPr>
            </a:br>
            <a:endParaRPr lang="en-IN" b="0" dirty="0">
              <a:solidFill>
                <a:srgbClr val="D4D4D4"/>
              </a:solidFill>
              <a:effectLst/>
              <a:latin typeface="Consolas" panose="020B0609020204030204" pitchFamily="49" charset="0"/>
            </a:endParaRPr>
          </a:p>
          <a:p>
            <a:endParaRPr lang="en-IN"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9A38DF9A-740E-4391-8A40-04492705B7F2}"/>
              </a:ext>
            </a:extLst>
          </p:cNvPr>
          <p:cNvSpPr txBox="1"/>
          <p:nvPr/>
        </p:nvSpPr>
        <p:spPr>
          <a:xfrm>
            <a:off x="6007509" y="5964869"/>
            <a:ext cx="6110748" cy="646331"/>
          </a:xfrm>
          <a:prstGeom prst="rect">
            <a:avLst/>
          </a:prstGeom>
          <a:noFill/>
        </p:spPr>
        <p:txBody>
          <a:bodyPr wrap="square">
            <a:spAutoFit/>
          </a:bodyPr>
          <a:lstStyle/>
          <a:p>
            <a:r>
              <a:rPr lang="en-US" dirty="0"/>
              <a:t>Now the </a:t>
            </a:r>
            <a:r>
              <a:rPr lang="en-US" dirty="0" err="1"/>
              <a:t>Todos</a:t>
            </a:r>
            <a:r>
              <a:rPr lang="en-US" dirty="0"/>
              <a:t> component will </a:t>
            </a:r>
            <a:r>
              <a:rPr lang="en-US" b="1" dirty="0"/>
              <a:t>only re-render </a:t>
            </a:r>
            <a:r>
              <a:rPr lang="en-US" dirty="0"/>
              <a:t>when the </a:t>
            </a:r>
            <a:r>
              <a:rPr lang="en-US" dirty="0" err="1"/>
              <a:t>todos</a:t>
            </a:r>
            <a:r>
              <a:rPr lang="en-US" dirty="0"/>
              <a:t> </a:t>
            </a:r>
            <a:r>
              <a:rPr lang="en-US" b="1" dirty="0"/>
              <a:t>prop changes.</a:t>
            </a:r>
            <a:endParaRPr lang="en-IN" b="1" dirty="0"/>
          </a:p>
        </p:txBody>
      </p:sp>
    </p:spTree>
    <p:extLst>
      <p:ext uri="{BB962C8B-B14F-4D97-AF65-F5344CB8AC3E}">
        <p14:creationId xmlns:p14="http://schemas.microsoft.com/office/powerpoint/2010/main" val="185412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97FF26-BCC0-47E3-A0BA-DA153FD2012F}"/>
              </a:ext>
            </a:extLst>
          </p:cNvPr>
          <p:cNvSpPr txBox="1"/>
          <p:nvPr/>
        </p:nvSpPr>
        <p:spPr>
          <a:xfrm>
            <a:off x="98322" y="0"/>
            <a:ext cx="12093677" cy="2308324"/>
          </a:xfrm>
          <a:prstGeom prst="rect">
            <a:avLst/>
          </a:prstGeom>
          <a:noFill/>
        </p:spPr>
        <p:txBody>
          <a:bodyPr wrap="square">
            <a:spAutoFit/>
          </a:bodyPr>
          <a:lstStyle/>
          <a:p>
            <a:pPr algn="ctr"/>
            <a:r>
              <a:rPr lang="en-US" sz="1600" dirty="0"/>
              <a:t>The React </a:t>
            </a:r>
            <a:r>
              <a:rPr lang="en-US" sz="1600" b="1" u="sng" dirty="0" err="1"/>
              <a:t>useMemo</a:t>
            </a:r>
            <a:r>
              <a:rPr lang="en-US" sz="1600" dirty="0"/>
              <a:t> Hook returns a </a:t>
            </a:r>
            <a:r>
              <a:rPr lang="en-US" sz="1600" dirty="0" err="1"/>
              <a:t>memoized</a:t>
            </a:r>
            <a:r>
              <a:rPr lang="en-US" sz="1600" dirty="0"/>
              <a:t> value.</a:t>
            </a:r>
          </a:p>
          <a:p>
            <a:endParaRPr lang="en-US" sz="1600" dirty="0"/>
          </a:p>
          <a:p>
            <a:r>
              <a:rPr lang="en-US" sz="1600" dirty="0"/>
              <a:t>Think of </a:t>
            </a:r>
            <a:r>
              <a:rPr lang="en-US" sz="1600" dirty="0" err="1"/>
              <a:t>memoization</a:t>
            </a:r>
            <a:r>
              <a:rPr lang="en-US" sz="1600" dirty="0"/>
              <a:t> as caching a value so that it does not need to be recalculated.</a:t>
            </a:r>
          </a:p>
          <a:p>
            <a:r>
              <a:rPr lang="en-US" sz="1600" dirty="0"/>
              <a:t>The </a:t>
            </a:r>
            <a:r>
              <a:rPr lang="en-US" sz="1600" dirty="0" err="1"/>
              <a:t>useMemo</a:t>
            </a:r>
            <a:r>
              <a:rPr lang="en-US" sz="1600" dirty="0"/>
              <a:t> Hook only runs when one of its dependencies update.</a:t>
            </a:r>
          </a:p>
          <a:p>
            <a:r>
              <a:rPr lang="en-US" sz="1600" dirty="0"/>
              <a:t>This can improve performance.</a:t>
            </a:r>
          </a:p>
          <a:p>
            <a:r>
              <a:rPr lang="en-US" sz="1600" dirty="0"/>
              <a:t>The </a:t>
            </a:r>
            <a:r>
              <a:rPr lang="en-US" sz="1600" dirty="0" err="1"/>
              <a:t>useMemo</a:t>
            </a:r>
            <a:r>
              <a:rPr lang="en-US" sz="1600" dirty="0"/>
              <a:t> and </a:t>
            </a:r>
            <a:r>
              <a:rPr lang="en-US" sz="1600" dirty="0" err="1"/>
              <a:t>useCallback</a:t>
            </a:r>
            <a:r>
              <a:rPr lang="en-US" sz="1600" dirty="0"/>
              <a:t> Hooks are similar. The main difference is that </a:t>
            </a:r>
            <a:r>
              <a:rPr lang="en-US" sz="1600" dirty="0" err="1"/>
              <a:t>useMemo</a:t>
            </a:r>
            <a:r>
              <a:rPr lang="en-US" sz="1600" dirty="0"/>
              <a:t> returns </a:t>
            </a:r>
            <a:r>
              <a:rPr lang="en-US" sz="1600" dirty="0">
                <a:highlight>
                  <a:srgbClr val="FFFF00"/>
                </a:highlight>
              </a:rPr>
              <a:t>a </a:t>
            </a:r>
            <a:r>
              <a:rPr lang="en-US" sz="1600" dirty="0" err="1">
                <a:highlight>
                  <a:srgbClr val="FFFF00"/>
                </a:highlight>
              </a:rPr>
              <a:t>memoized</a:t>
            </a:r>
            <a:r>
              <a:rPr lang="en-US" sz="1600" dirty="0">
                <a:highlight>
                  <a:srgbClr val="FFFF00"/>
                </a:highlight>
              </a:rPr>
              <a:t> value </a:t>
            </a:r>
            <a:r>
              <a:rPr lang="en-US" sz="1600" dirty="0"/>
              <a:t>and </a:t>
            </a:r>
            <a:r>
              <a:rPr lang="en-US" sz="1600" dirty="0" err="1"/>
              <a:t>useCallback</a:t>
            </a:r>
            <a:r>
              <a:rPr lang="en-US" sz="1600" dirty="0"/>
              <a:t> returns a </a:t>
            </a:r>
            <a:r>
              <a:rPr lang="en-US" sz="1600" dirty="0" err="1">
                <a:highlight>
                  <a:srgbClr val="FFFF00"/>
                </a:highlight>
              </a:rPr>
              <a:t>memoized</a:t>
            </a:r>
            <a:r>
              <a:rPr lang="en-US" sz="1600" dirty="0">
                <a:highlight>
                  <a:srgbClr val="FFFF00"/>
                </a:highlight>
              </a:rPr>
              <a:t> function</a:t>
            </a:r>
            <a:r>
              <a:rPr lang="en-US" sz="1600" dirty="0"/>
              <a:t>. You can learn more about </a:t>
            </a:r>
            <a:r>
              <a:rPr lang="en-US" sz="1600" dirty="0" err="1"/>
              <a:t>useCallback</a:t>
            </a:r>
            <a:r>
              <a:rPr lang="en-US" sz="1600" dirty="0"/>
              <a:t> in the </a:t>
            </a:r>
            <a:r>
              <a:rPr lang="en-US" sz="1600" dirty="0" err="1"/>
              <a:t>useCallback</a:t>
            </a:r>
            <a:r>
              <a:rPr lang="en-US" sz="1600" dirty="0"/>
              <a:t> chapter.</a:t>
            </a:r>
          </a:p>
          <a:p>
            <a:r>
              <a:rPr lang="en-US" sz="1600" b="1" dirty="0"/>
              <a:t>Performance</a:t>
            </a:r>
          </a:p>
          <a:p>
            <a:r>
              <a:rPr lang="en-US" sz="1600" dirty="0"/>
              <a:t>The </a:t>
            </a:r>
            <a:r>
              <a:rPr lang="en-US" sz="1600" dirty="0" err="1"/>
              <a:t>useMemo</a:t>
            </a:r>
            <a:r>
              <a:rPr lang="en-US" sz="1600" dirty="0"/>
              <a:t> Hook can be used to keep expensive, resource intensive functions from needlessly running.</a:t>
            </a:r>
            <a:endParaRPr lang="en-IN" sz="1600" dirty="0"/>
          </a:p>
        </p:txBody>
      </p:sp>
      <p:sp>
        <p:nvSpPr>
          <p:cNvPr id="7" name="TextBox 6">
            <a:extLst>
              <a:ext uri="{FF2B5EF4-FFF2-40B4-BE49-F238E27FC236}">
                <a16:creationId xmlns:a16="http://schemas.microsoft.com/office/drawing/2014/main" id="{069E50BC-D396-4075-90AB-A3D813E08036}"/>
              </a:ext>
            </a:extLst>
          </p:cNvPr>
          <p:cNvSpPr txBox="1"/>
          <p:nvPr/>
        </p:nvSpPr>
        <p:spPr>
          <a:xfrm>
            <a:off x="0" y="2308324"/>
            <a:ext cx="11592232" cy="523220"/>
          </a:xfrm>
          <a:prstGeom prst="rect">
            <a:avLst/>
          </a:prstGeom>
          <a:noFill/>
        </p:spPr>
        <p:txBody>
          <a:bodyPr wrap="square">
            <a:spAutoFit/>
          </a:bodyPr>
          <a:lstStyle/>
          <a:p>
            <a:pPr algn="l"/>
            <a:r>
              <a:rPr lang="en-US" sz="1400" b="0" i="0" dirty="0">
                <a:solidFill>
                  <a:srgbClr val="000000"/>
                </a:solidFill>
                <a:effectLst/>
                <a:latin typeface="Verdana" panose="020B0604030504040204" pitchFamily="34" charset="0"/>
              </a:rPr>
              <a:t>In this example, we have an expensive function that runs on every render.</a:t>
            </a:r>
          </a:p>
          <a:p>
            <a:pPr algn="l"/>
            <a:r>
              <a:rPr lang="en-US" sz="1400" b="0" i="0" dirty="0">
                <a:solidFill>
                  <a:srgbClr val="000000"/>
                </a:solidFill>
                <a:effectLst/>
                <a:latin typeface="Verdana" panose="020B0604030504040204" pitchFamily="34" charset="0"/>
              </a:rPr>
              <a:t>When changing the count or adding a </a:t>
            </a:r>
            <a:r>
              <a:rPr lang="en-US" sz="1400" b="0" i="0" dirty="0" err="1">
                <a:solidFill>
                  <a:srgbClr val="000000"/>
                </a:solidFill>
                <a:effectLst/>
                <a:latin typeface="Verdana" panose="020B0604030504040204" pitchFamily="34" charset="0"/>
              </a:rPr>
              <a:t>todo</a:t>
            </a:r>
            <a:r>
              <a:rPr lang="en-US" sz="1400" b="0" i="0" dirty="0">
                <a:solidFill>
                  <a:srgbClr val="000000"/>
                </a:solidFill>
                <a:effectLst/>
                <a:latin typeface="Verdana" panose="020B0604030504040204" pitchFamily="34" charset="0"/>
              </a:rPr>
              <a:t>, you will notice </a:t>
            </a:r>
            <a:r>
              <a:rPr lang="en-US" sz="1400" b="1" i="0" dirty="0">
                <a:solidFill>
                  <a:srgbClr val="000000"/>
                </a:solidFill>
                <a:effectLst/>
                <a:latin typeface="Verdana" panose="020B0604030504040204" pitchFamily="34" charset="0"/>
              </a:rPr>
              <a:t>a delay in execution</a:t>
            </a:r>
            <a:r>
              <a:rPr lang="en-US" sz="1400" b="0" i="0" dirty="0">
                <a:solidFill>
                  <a:srgbClr val="000000"/>
                </a:solidFill>
                <a:effectLst/>
                <a:latin typeface="Verdana" panose="020B0604030504040204" pitchFamily="34" charset="0"/>
              </a:rPr>
              <a:t>.</a:t>
            </a:r>
          </a:p>
        </p:txBody>
      </p:sp>
      <p:sp>
        <p:nvSpPr>
          <p:cNvPr id="9" name="TextBox 8">
            <a:extLst>
              <a:ext uri="{FF2B5EF4-FFF2-40B4-BE49-F238E27FC236}">
                <a16:creationId xmlns:a16="http://schemas.microsoft.com/office/drawing/2014/main" id="{83334D3A-4AF6-4560-8F28-C66AB680DED2}"/>
              </a:ext>
            </a:extLst>
          </p:cNvPr>
          <p:cNvSpPr txBox="1"/>
          <p:nvPr/>
        </p:nvSpPr>
        <p:spPr>
          <a:xfrm>
            <a:off x="39328" y="2831544"/>
            <a:ext cx="4827640" cy="2677656"/>
          </a:xfrm>
          <a:prstGeom prst="rect">
            <a:avLst/>
          </a:prstGeom>
          <a:solidFill>
            <a:schemeClr val="tx1"/>
          </a:solidFill>
        </p:spPr>
        <p:txBody>
          <a:bodyPr wrap="square">
            <a:spAutoFit/>
          </a:bodyPr>
          <a:lstStyle/>
          <a:p>
            <a:r>
              <a:rPr lang="en-IN" sz="1200" b="0" dirty="0">
                <a:solidFill>
                  <a:srgbClr val="C586C0"/>
                </a:solidFill>
                <a:effectLst/>
                <a:latin typeface="Consolas" panose="020B0609020204030204" pitchFamily="49" charset="0"/>
              </a:rPr>
              <a:t>import</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 } </a:t>
            </a:r>
            <a:r>
              <a:rPr lang="en-IN" sz="1200" b="0" dirty="0">
                <a:solidFill>
                  <a:srgbClr val="C586C0"/>
                </a:solidFill>
                <a:effectLst/>
                <a:latin typeface="Consolas" panose="020B0609020204030204" pitchFamily="49" charset="0"/>
              </a:rPr>
              <a:t>from</a:t>
            </a:r>
            <a:r>
              <a:rPr lang="en-IN" sz="1200" b="0" dirty="0">
                <a:solidFill>
                  <a:srgbClr val="D4D4D4"/>
                </a:solidFill>
                <a:effectLst/>
                <a:latin typeface="Consolas" panose="020B0609020204030204" pitchFamily="49" charset="0"/>
              </a:rPr>
              <a:t> </a:t>
            </a:r>
            <a:r>
              <a:rPr lang="en-IN" sz="1200" b="0" dirty="0">
                <a:solidFill>
                  <a:srgbClr val="CE9178"/>
                </a:solidFill>
                <a:effectLst/>
                <a:latin typeface="Consolas" panose="020B0609020204030204" pitchFamily="49" charset="0"/>
              </a:rPr>
              <a:t>"react"</a:t>
            </a:r>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import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ReactDOM</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from</a:t>
            </a:r>
            <a:r>
              <a:rPr lang="en-IN" sz="1200" b="0" dirty="0">
                <a:solidFill>
                  <a:srgbClr val="D4D4D4"/>
                </a:solidFill>
                <a:effectLst/>
                <a:latin typeface="Consolas" panose="020B0609020204030204" pitchFamily="49" charset="0"/>
              </a:rPr>
              <a:t> </a:t>
            </a:r>
            <a:r>
              <a:rPr lang="en-IN" sz="1200" b="0" dirty="0">
                <a:solidFill>
                  <a:srgbClr val="CE9178"/>
                </a:solidFill>
                <a:effectLst/>
                <a:latin typeface="Consolas" panose="020B0609020204030204" pitchFamily="49" charset="0"/>
              </a:rPr>
              <a:t>"react-</a:t>
            </a:r>
            <a:r>
              <a:rPr lang="en-IN" sz="1200" b="0" dirty="0" err="1">
                <a:solidFill>
                  <a:srgbClr val="CE9178"/>
                </a:solidFill>
                <a:effectLst/>
                <a:latin typeface="Consolas" panose="020B0609020204030204" pitchFamily="49" charset="0"/>
              </a:rPr>
              <a:t>dom</a:t>
            </a:r>
            <a:r>
              <a:rPr lang="en-IN" sz="1200" b="0" dirty="0">
                <a:solidFill>
                  <a:srgbClr val="CE9178"/>
                </a:solidFill>
                <a:effectLst/>
                <a:latin typeface="Consolas" panose="020B0609020204030204" pitchFamily="49" charset="0"/>
              </a:rPr>
              <a:t>"</a:t>
            </a:r>
            <a:r>
              <a:rPr lang="en-IN" sz="1200" b="0" dirty="0">
                <a:solidFill>
                  <a:srgbClr val="D4D4D4"/>
                </a:solidFill>
                <a:effectLst/>
                <a:latin typeface="Consolas" panose="020B0609020204030204" pitchFamily="49" charset="0"/>
              </a:rPr>
              <a:t>;</a:t>
            </a:r>
          </a:p>
          <a:p>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4FC1FF"/>
                </a:solidFill>
                <a:effectLst/>
                <a:latin typeface="Consolas" panose="020B0609020204030204" pitchFamily="49" charset="0"/>
              </a:rPr>
              <a:t>count</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setCount</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todos</a:t>
            </a:r>
            <a:r>
              <a:rPr lang="en-IN" sz="1200" b="0" dirty="0">
                <a:solidFill>
                  <a:srgbClr val="D4D4D4"/>
                </a:solidFill>
                <a:effectLst/>
                <a:latin typeface="Consolas" panose="020B0609020204030204" pitchFamily="49" charset="0"/>
              </a:rPr>
              <a:t>, </a:t>
            </a:r>
            <a:r>
              <a:rPr lang="en-IN" sz="1200" b="0" dirty="0" err="1">
                <a:solidFill>
                  <a:srgbClr val="4FC1FF"/>
                </a:solidFill>
                <a:effectLst/>
                <a:latin typeface="Consolas" panose="020B0609020204030204" pitchFamily="49" charset="0"/>
              </a:rPr>
              <a:t>setTodos</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useState</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4FC1FF"/>
                </a:solidFill>
                <a:effectLst/>
                <a:latin typeface="Consolas" panose="020B0609020204030204" pitchFamily="49" charset="0"/>
              </a:rPr>
              <a:t>calculation</a:t>
            </a:r>
            <a:r>
              <a:rPr lang="en-IN" sz="1200" b="0" dirty="0">
                <a:solidFill>
                  <a:srgbClr val="D4D4D4"/>
                </a:solidFill>
                <a:effectLst/>
                <a:latin typeface="Consolas" panose="020B0609020204030204" pitchFamily="49" charset="0"/>
              </a:rPr>
              <a:t> =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increment</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setCount</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c</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addTodo</a:t>
            </a:r>
            <a:r>
              <a:rPr lang="en-IN" sz="1200" b="0" dirty="0">
                <a:solidFill>
                  <a:srgbClr val="D4D4D4"/>
                </a:solidFill>
                <a:effectLst/>
                <a:latin typeface="Consolas" panose="020B0609020204030204" pitchFamily="49" charset="0"/>
              </a:rPr>
              <a:t> = ()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setTodos</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t</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t</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p:txBody>
      </p:sp>
      <p:sp>
        <p:nvSpPr>
          <p:cNvPr id="11" name="TextBox 10">
            <a:extLst>
              <a:ext uri="{FF2B5EF4-FFF2-40B4-BE49-F238E27FC236}">
                <a16:creationId xmlns:a16="http://schemas.microsoft.com/office/drawing/2014/main" id="{2CBB5FA4-EA46-413D-ADB5-50411F3540C7}"/>
              </a:ext>
            </a:extLst>
          </p:cNvPr>
          <p:cNvSpPr txBox="1"/>
          <p:nvPr/>
        </p:nvSpPr>
        <p:spPr>
          <a:xfrm>
            <a:off x="5043948" y="2831544"/>
            <a:ext cx="7148052" cy="3970318"/>
          </a:xfrm>
          <a:prstGeom prst="rect">
            <a:avLst/>
          </a:prstGeom>
          <a:solidFill>
            <a:schemeClr val="tx1"/>
          </a:solidFill>
        </p:spPr>
        <p:txBody>
          <a:bodyPr wrap="square">
            <a:spAutoFit/>
          </a:bodyPr>
          <a:lstStyle/>
          <a:p>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My </a:t>
            </a:r>
            <a:r>
              <a:rPr lang="en-IN" sz="1200" b="0" dirty="0" err="1">
                <a:solidFill>
                  <a:srgbClr val="D4D4D4"/>
                </a:solidFill>
                <a:effectLst/>
                <a:latin typeface="Consolas" panose="020B0609020204030204" pitchFamily="49" charset="0"/>
              </a:rPr>
              <a:t>Todos</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r>
              <a:rPr lang="en-IN" sz="1200" b="0" dirty="0">
                <a:solidFill>
                  <a:srgbClr val="569CD6"/>
                </a:solidFill>
                <a:effectLst/>
                <a:latin typeface="Consolas" panose="020B0609020204030204" pitchFamily="49" charset="0"/>
              </a:rPr>
              <a:t>{</a:t>
            </a:r>
            <a:r>
              <a:rPr lang="en-IN" sz="1200" b="0" dirty="0" err="1">
                <a:solidFill>
                  <a:srgbClr val="4FC1FF"/>
                </a:solidFill>
                <a:effectLst/>
                <a:latin typeface="Consolas" panose="020B0609020204030204" pitchFamily="49" charset="0"/>
              </a:rPr>
              <a:t>todos</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addTodo</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Add </a:t>
            </a:r>
            <a:r>
              <a:rPr lang="en-IN" sz="1200" b="0" dirty="0" err="1">
                <a:solidFill>
                  <a:srgbClr val="D4D4D4"/>
                </a:solidFill>
                <a:effectLst/>
                <a:latin typeface="Consolas" panose="020B0609020204030204" pitchFamily="49" charset="0"/>
              </a:rPr>
              <a:t>Todo</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hr</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Count: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a:solidFill>
                  <a:srgbClr val="DCDCAA"/>
                </a:solidFill>
                <a:effectLst/>
                <a:latin typeface="Consolas" panose="020B0609020204030204" pitchFamily="49" charset="0"/>
              </a:rPr>
              <a:t>increment</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Expensive Calculation</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calculation</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"Calculating..."</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for</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let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&lt; </a:t>
            </a:r>
            <a:r>
              <a:rPr lang="en-IN" sz="1200" b="0" dirty="0">
                <a:solidFill>
                  <a:srgbClr val="B5CEA8"/>
                </a:solidFill>
                <a:effectLst/>
                <a:latin typeface="Consolas" panose="020B0609020204030204" pitchFamily="49" charset="0"/>
              </a:rPr>
              <a:t>1000000000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export</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default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693125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C3BE6EA-02DA-4CFA-A33F-513110A44215}"/>
              </a:ext>
            </a:extLst>
          </p:cNvPr>
          <p:cNvSpPr txBox="1"/>
          <p:nvPr/>
        </p:nvSpPr>
        <p:spPr>
          <a:xfrm>
            <a:off x="216310" y="100128"/>
            <a:ext cx="11887200" cy="2308324"/>
          </a:xfrm>
          <a:prstGeom prst="rect">
            <a:avLst/>
          </a:prstGeom>
          <a:noFill/>
        </p:spPr>
        <p:txBody>
          <a:bodyPr wrap="square">
            <a:spAutoFit/>
          </a:bodyPr>
          <a:lstStyle/>
          <a:p>
            <a:pPr algn="ctr"/>
            <a:r>
              <a:rPr lang="en-US" sz="1600" dirty="0"/>
              <a:t>Use </a:t>
            </a:r>
            <a:r>
              <a:rPr lang="en-US" sz="1600" b="1" dirty="0" err="1"/>
              <a:t>useMemo</a:t>
            </a:r>
            <a:endParaRPr lang="en-US" sz="1600" b="1" dirty="0"/>
          </a:p>
          <a:p>
            <a:r>
              <a:rPr lang="en-US" sz="1600" dirty="0"/>
              <a:t>To fix this performance issue, we can use the </a:t>
            </a:r>
            <a:r>
              <a:rPr lang="en-US" sz="1600" dirty="0" err="1"/>
              <a:t>useMemo</a:t>
            </a:r>
            <a:r>
              <a:rPr lang="en-US" sz="1600" dirty="0"/>
              <a:t> Hook to </a:t>
            </a:r>
            <a:r>
              <a:rPr lang="en-US" sz="1600" dirty="0" err="1"/>
              <a:t>memoize</a:t>
            </a:r>
            <a:r>
              <a:rPr lang="en-US" sz="1600" dirty="0"/>
              <a:t> the </a:t>
            </a:r>
            <a:r>
              <a:rPr lang="en-US" sz="1600" dirty="0" err="1"/>
              <a:t>expensiveCalculation</a:t>
            </a:r>
            <a:r>
              <a:rPr lang="en-US" sz="1600" dirty="0"/>
              <a:t> function. This will cause the function to only run when needed.</a:t>
            </a:r>
          </a:p>
          <a:p>
            <a:endParaRPr lang="en-US" sz="1600" dirty="0"/>
          </a:p>
          <a:p>
            <a:r>
              <a:rPr lang="en-US" sz="1600" dirty="0"/>
              <a:t>We can wrap the expensive function call with </a:t>
            </a:r>
            <a:r>
              <a:rPr lang="en-US" sz="1600" dirty="0" err="1"/>
              <a:t>useMemo</a:t>
            </a:r>
            <a:r>
              <a:rPr lang="en-US" sz="1600" dirty="0"/>
              <a:t>.</a:t>
            </a:r>
          </a:p>
          <a:p>
            <a:endParaRPr lang="en-US" sz="1600" dirty="0"/>
          </a:p>
          <a:p>
            <a:r>
              <a:rPr lang="en-US" sz="1600" dirty="0"/>
              <a:t>The </a:t>
            </a:r>
            <a:r>
              <a:rPr lang="en-US" sz="1600" dirty="0" err="1"/>
              <a:t>useMemoHook</a:t>
            </a:r>
            <a:r>
              <a:rPr lang="en-US" sz="1600" dirty="0"/>
              <a:t> accepts a second parameter to declare dependencies. The expensive function will only run when its dependencies have changed.</a:t>
            </a:r>
          </a:p>
          <a:p>
            <a:r>
              <a:rPr lang="en-US" sz="1600" dirty="0"/>
              <a:t>In the following example, the expensive function will only run when count is changed and not when </a:t>
            </a:r>
            <a:r>
              <a:rPr lang="en-US" sz="1600" dirty="0" err="1"/>
              <a:t>todo's</a:t>
            </a:r>
            <a:r>
              <a:rPr lang="en-US" sz="1600" dirty="0"/>
              <a:t> are added.</a:t>
            </a:r>
            <a:endParaRPr lang="en-IN" sz="1600" dirty="0"/>
          </a:p>
        </p:txBody>
      </p:sp>
      <p:sp>
        <p:nvSpPr>
          <p:cNvPr id="7" name="TextBox 6">
            <a:extLst>
              <a:ext uri="{FF2B5EF4-FFF2-40B4-BE49-F238E27FC236}">
                <a16:creationId xmlns:a16="http://schemas.microsoft.com/office/drawing/2014/main" id="{0E74C046-D0D0-4672-AE8A-C6A280857DA6}"/>
              </a:ext>
            </a:extLst>
          </p:cNvPr>
          <p:cNvSpPr txBox="1"/>
          <p:nvPr/>
        </p:nvSpPr>
        <p:spPr>
          <a:xfrm>
            <a:off x="216310" y="2566151"/>
            <a:ext cx="5073445" cy="2893100"/>
          </a:xfrm>
          <a:prstGeom prst="rect">
            <a:avLst/>
          </a:prstGeom>
          <a:solidFill>
            <a:schemeClr val="tx1"/>
          </a:solidFill>
        </p:spPr>
        <p:txBody>
          <a:bodyPr wrap="square">
            <a:spAutoFit/>
          </a:bodyPr>
          <a:lstStyle/>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useMemo</a:t>
            </a:r>
            <a:r>
              <a:rPr lang="en-IN" sz="1400" b="0" dirty="0">
                <a:solidFill>
                  <a:srgbClr val="D4D4D4"/>
                </a:solidFill>
                <a:effectLst/>
                <a:latin typeface="Consolas" panose="020B0609020204030204" pitchFamily="49" charset="0"/>
              </a:rPr>
              <a:t> }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a:solidFill>
                  <a:srgbClr val="D4D4D4"/>
                </a:solidFill>
                <a:effectLst/>
                <a:latin typeface="Consolas" panose="020B0609020204030204" pitchFamily="49" charset="0"/>
              </a:rPr>
              <a:t>;</a:t>
            </a:r>
          </a:p>
          <a:p>
            <a:r>
              <a:rPr lang="en-IN" sz="1400" b="0" dirty="0">
                <a:solidFill>
                  <a:srgbClr val="C586C0"/>
                </a:solidFill>
                <a:effectLst/>
                <a:latin typeface="Consolas" panose="020B0609020204030204" pitchFamily="49" charset="0"/>
              </a:rPr>
              <a:t>import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ReactDOM</a:t>
            </a:r>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from</a:t>
            </a:r>
            <a:r>
              <a:rPr lang="en-IN" sz="1400" b="0" dirty="0">
                <a:solidFill>
                  <a:srgbClr val="D4D4D4"/>
                </a:solidFill>
                <a:effectLst/>
                <a:latin typeface="Consolas" panose="020B0609020204030204" pitchFamily="49" charset="0"/>
              </a:rPr>
              <a:t> </a:t>
            </a:r>
            <a:r>
              <a:rPr lang="en-IN" sz="1400" b="0" dirty="0">
                <a:solidFill>
                  <a:srgbClr val="CE9178"/>
                </a:solidFill>
                <a:effectLst/>
                <a:latin typeface="Consolas" panose="020B0609020204030204" pitchFamily="49" charset="0"/>
              </a:rPr>
              <a:t>"react-</a:t>
            </a:r>
            <a:r>
              <a:rPr lang="en-IN" sz="1400" b="0" dirty="0" err="1">
                <a:solidFill>
                  <a:srgbClr val="CE9178"/>
                </a:solidFill>
                <a:effectLst/>
                <a:latin typeface="Consolas" panose="020B0609020204030204" pitchFamily="49" charset="0"/>
              </a:rPr>
              <a:t>dom</a:t>
            </a:r>
            <a:r>
              <a:rPr lang="en-IN" sz="1400" b="0" dirty="0">
                <a:solidFill>
                  <a:srgbClr val="CE9178"/>
                </a:solidFill>
                <a:effectLst/>
                <a:latin typeface="Consolas" panose="020B0609020204030204" pitchFamily="49" charset="0"/>
              </a:rPr>
              <a:t>"</a:t>
            </a:r>
            <a:r>
              <a:rPr lang="en-IN" sz="1400" b="0" dirty="0">
                <a:solidFill>
                  <a:srgbClr val="D4D4D4"/>
                </a:solidFill>
                <a:effectLst/>
                <a:latin typeface="Consolas" panose="020B0609020204030204" pitchFamily="49" charset="0"/>
              </a:rPr>
              <a:t>;</a:t>
            </a:r>
          </a:p>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App</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todos</a:t>
            </a:r>
            <a:r>
              <a:rPr lang="en-IN" sz="1400" b="0" dirty="0">
                <a:solidFill>
                  <a:srgbClr val="D4D4D4"/>
                </a:solidFill>
                <a:effectLst/>
                <a:latin typeface="Consolas" panose="020B0609020204030204" pitchFamily="49" charset="0"/>
              </a:rPr>
              <a:t>, </a:t>
            </a:r>
            <a:r>
              <a:rPr lang="en-IN" sz="1400" b="0" dirty="0" err="1">
                <a:solidFill>
                  <a:srgbClr val="4FC1FF"/>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 = </a:t>
            </a:r>
            <a:r>
              <a:rPr lang="en-IN" sz="1400" b="0" dirty="0" err="1">
                <a:solidFill>
                  <a:srgbClr val="DCDCAA"/>
                </a:solidFill>
                <a:effectLst/>
                <a:latin typeface="Consolas" panose="020B0609020204030204" pitchFamily="49" charset="0"/>
              </a:rPr>
              <a:t>useState</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calculation</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useMemo</a:t>
            </a:r>
            <a:r>
              <a:rPr lang="en-IN" sz="1400" b="0" dirty="0">
                <a:solidFill>
                  <a:srgbClr val="FF0000"/>
                </a:solidFill>
                <a:effectLst/>
                <a:highlight>
                  <a:srgbClr val="FFFF00"/>
                </a:highligh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addTodo</a:t>
            </a:r>
            <a:r>
              <a:rPr lang="en-IN" sz="1400" b="0" dirty="0">
                <a:solidFill>
                  <a:srgbClr val="D4D4D4"/>
                </a:solidFill>
                <a:effectLst/>
                <a:latin typeface="Consolas" panose="020B0609020204030204" pitchFamily="49" charset="0"/>
              </a:rPr>
              <a:t> = ()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setTodos</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t</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t</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DCDCAA"/>
                </a:solidFill>
                <a:effectLst/>
                <a:latin typeface="Consolas" panose="020B0609020204030204" pitchFamily="49" charset="0"/>
              </a:rPr>
              <a:t>increment</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a:t>
            </a:r>
            <a:r>
              <a:rPr lang="en-IN" sz="1400" b="0" dirty="0" err="1">
                <a:solidFill>
                  <a:srgbClr val="DCDCAA"/>
                </a:solidFill>
                <a:effectLst/>
                <a:latin typeface="Consolas" panose="020B0609020204030204" pitchFamily="49" charset="0"/>
              </a:rPr>
              <a:t>setCount</a:t>
            </a:r>
            <a:r>
              <a:rPr lang="en-IN" sz="1400" b="0" dirty="0">
                <a:solidFill>
                  <a:srgbClr val="D4D4D4"/>
                </a:solidFill>
                <a:effectLst/>
                <a:latin typeface="Consolas" panose="020B0609020204030204" pitchFamily="49" charset="0"/>
              </a:rPr>
              <a: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a:t>
            </a:r>
            <a:r>
              <a:rPr lang="en-IN" sz="1400" b="0" dirty="0">
                <a:solidFill>
                  <a:srgbClr val="569CD6"/>
                </a:solidFill>
                <a:effectLst/>
                <a:latin typeface="Consolas" panose="020B0609020204030204" pitchFamily="49" charset="0"/>
              </a:rPr>
              <a:t>=&gt;</a:t>
            </a:r>
            <a:r>
              <a:rPr lang="en-IN" sz="1400" b="0" dirty="0">
                <a:solidFill>
                  <a:srgbClr val="9CDCFE"/>
                </a:solidFill>
                <a:effectLst/>
                <a:latin typeface="Consolas" panose="020B0609020204030204" pitchFamily="49" charset="0"/>
              </a:rPr>
              <a:t>c</a:t>
            </a:r>
            <a:r>
              <a:rPr lang="en-IN" sz="1400" b="0" dirty="0">
                <a:solidFill>
                  <a:srgbClr val="D4D4D4"/>
                </a:solidFill>
                <a:effectLst/>
                <a:latin typeface="Consolas" panose="020B0609020204030204" pitchFamily="49" charset="0"/>
              </a:rPr>
              <a:t>+</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endParaRPr lang="en-IN" sz="1400"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F1A866E1-CE01-479C-AFE4-6776DDBCFAAE}"/>
              </a:ext>
            </a:extLst>
          </p:cNvPr>
          <p:cNvSpPr txBox="1"/>
          <p:nvPr/>
        </p:nvSpPr>
        <p:spPr>
          <a:xfrm>
            <a:off x="5789882" y="2408452"/>
            <a:ext cx="6479458" cy="4524315"/>
          </a:xfrm>
          <a:prstGeom prst="rect">
            <a:avLst/>
          </a:prstGeom>
          <a:solidFill>
            <a:schemeClr val="tx1"/>
          </a:solidFill>
        </p:spPr>
        <p:txBody>
          <a:bodyPr wrap="square">
            <a:spAutoFit/>
          </a:bodyPr>
          <a:lstStyle/>
          <a:p>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My </a:t>
            </a:r>
            <a:r>
              <a:rPr lang="en-IN" sz="1200" b="0" dirty="0" err="1">
                <a:solidFill>
                  <a:srgbClr val="D4D4D4"/>
                </a:solidFill>
                <a:effectLst/>
                <a:latin typeface="Consolas" panose="020B0609020204030204" pitchFamily="49" charset="0"/>
              </a:rPr>
              <a:t>Todos</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r>
              <a:rPr lang="en-IN" sz="1200" b="0" dirty="0">
                <a:solidFill>
                  <a:srgbClr val="569CD6"/>
                </a:solidFill>
                <a:effectLst/>
                <a:latin typeface="Consolas" panose="020B0609020204030204" pitchFamily="49" charset="0"/>
              </a:rPr>
              <a:t>{</a:t>
            </a:r>
            <a:r>
              <a:rPr lang="en-IN" sz="1200" b="0" dirty="0" err="1">
                <a:solidFill>
                  <a:srgbClr val="4FC1FF"/>
                </a:solidFill>
                <a:effectLst/>
                <a:latin typeface="Consolas" panose="020B0609020204030204" pitchFamily="49" charset="0"/>
              </a:rPr>
              <a:t>todos</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span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addTodo</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Add </a:t>
            </a:r>
            <a:r>
              <a:rPr lang="en-IN" sz="1200" b="0" dirty="0" err="1">
                <a:solidFill>
                  <a:srgbClr val="D4D4D4"/>
                </a:solidFill>
                <a:effectLst/>
                <a:latin typeface="Consolas" panose="020B0609020204030204" pitchFamily="49" charset="0"/>
              </a:rPr>
              <a:t>Todo</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hr</a:t>
            </a:r>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Count: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count</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onClick</a:t>
            </a:r>
            <a:r>
              <a:rPr lang="en-IN" sz="1200" b="0" dirty="0">
                <a:solidFill>
                  <a:srgbClr val="D4D4D4"/>
                </a:solidFill>
                <a:effectLst/>
                <a:latin typeface="Consolas" panose="020B0609020204030204" pitchFamily="49" charset="0"/>
              </a:rPr>
              <a:t>=</a:t>
            </a:r>
            <a:r>
              <a:rPr lang="en-IN" sz="1200" b="0" dirty="0">
                <a:solidFill>
                  <a:srgbClr val="569CD6"/>
                </a:solidFill>
                <a:effectLst/>
                <a:latin typeface="Consolas" panose="020B0609020204030204" pitchFamily="49" charset="0"/>
              </a:rPr>
              <a:t>{</a:t>
            </a:r>
            <a:r>
              <a:rPr lang="en-IN" sz="1200" b="0" dirty="0">
                <a:solidFill>
                  <a:srgbClr val="DCDCAA"/>
                </a:solidFill>
                <a:effectLst/>
                <a:latin typeface="Consolas" panose="020B0609020204030204" pitchFamily="49" charset="0"/>
              </a:rPr>
              <a:t>increment</a:t>
            </a:r>
            <a:r>
              <a:rPr lang="en-IN" sz="1200" b="0" dirty="0">
                <a:solidFill>
                  <a:srgbClr val="569CD6"/>
                </a:solidFill>
                <a:effectLst/>
                <a:latin typeface="Consolas" panose="020B0609020204030204" pitchFamily="49" charset="0"/>
              </a:rPr>
              <a:t>}</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button</a:t>
            </a:r>
            <a:r>
              <a:rPr lang="en-IN" sz="1200" b="0" dirty="0">
                <a:solidFill>
                  <a:srgbClr val="808080"/>
                </a:solidFill>
                <a:effectLst/>
                <a:latin typeface="Consolas" panose="020B0609020204030204" pitchFamily="49" charset="0"/>
              </a:rPr>
              <a:t>&gt;&lt;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r>
              <a:rPr lang="en-IN" sz="1200" b="0" dirty="0">
                <a:solidFill>
                  <a:srgbClr val="D4D4D4"/>
                </a:solidFill>
                <a:effectLst/>
                <a:latin typeface="Consolas" panose="020B0609020204030204" pitchFamily="49" charset="0"/>
              </a:rPr>
              <a:t>Expensive Calculation</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h2</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a:t>
            </a:r>
            <a:r>
              <a:rPr lang="en-IN" sz="1200" b="0" dirty="0">
                <a:solidFill>
                  <a:srgbClr val="4FC1FF"/>
                </a:solidFill>
                <a:effectLst/>
                <a:latin typeface="Consolas" panose="020B0609020204030204" pitchFamily="49" charset="0"/>
              </a:rPr>
              <a:t>calculation</a:t>
            </a:r>
            <a:r>
              <a:rPr lang="en-IN" sz="1200" b="0" dirty="0">
                <a:solidFill>
                  <a:srgbClr val="569CD6"/>
                </a:solidFill>
                <a:effectLst/>
                <a:latin typeface="Consolas" panose="020B0609020204030204" pitchFamily="49" charset="0"/>
              </a:rPr>
              <a: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r>
              <a:rPr lang="en-IN" sz="1200" b="0" dirty="0">
                <a:solidFill>
                  <a:srgbClr val="808080"/>
                </a:solidFill>
                <a:effectLst/>
                <a:latin typeface="Consolas" panose="020B0609020204030204" pitchFamily="49" charset="0"/>
              </a:rPr>
              <a:t>&lt;/</a:t>
            </a:r>
            <a:r>
              <a:rPr lang="en-IN" sz="1200" b="0" dirty="0">
                <a:solidFill>
                  <a:srgbClr val="569CD6"/>
                </a:solidFill>
                <a:effectLst/>
                <a:latin typeface="Consolas" panose="020B0609020204030204" pitchFamily="49" charset="0"/>
              </a:rPr>
              <a:t>div</a:t>
            </a:r>
            <a:r>
              <a:rPr lang="en-IN" sz="1200" b="0" dirty="0">
                <a:solidFill>
                  <a:srgbClr val="808080"/>
                </a:solidFill>
                <a:effectLst/>
                <a:latin typeface="Consolas" panose="020B0609020204030204" pitchFamily="49" charset="0"/>
              </a:rPr>
              <a:t>&gt;</a:t>
            </a:r>
            <a:endParaRPr lang="en-IN" sz="1200" b="0" dirty="0">
              <a:solidFill>
                <a:srgbClr val="D4D4D4"/>
              </a:solidFill>
              <a:effectLst/>
              <a:latin typeface="Consolas" panose="020B0609020204030204" pitchFamily="49" charset="0"/>
            </a:endParaRP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p>
          <a:p>
            <a:r>
              <a:rPr lang="en-IN" sz="1200" b="0" dirty="0" err="1">
                <a:solidFill>
                  <a:srgbClr val="569CD6"/>
                </a:solidFill>
                <a:effectLst/>
                <a:latin typeface="Consolas" panose="020B0609020204030204" pitchFamily="49" charset="0"/>
              </a:rPr>
              <a:t>const</a:t>
            </a:r>
            <a:r>
              <a:rPr lang="en-IN" sz="1200" b="0" dirty="0">
                <a:solidFill>
                  <a:srgbClr val="D4D4D4"/>
                </a:solidFill>
                <a:effectLst/>
                <a:latin typeface="Consolas" panose="020B0609020204030204" pitchFamily="49" charset="0"/>
              </a:rPr>
              <a:t> </a:t>
            </a:r>
            <a:r>
              <a:rPr lang="en-IN" sz="1200" b="0" dirty="0" err="1">
                <a:solidFill>
                  <a:srgbClr val="DCDCAA"/>
                </a:solidFill>
                <a:effectLst/>
                <a:latin typeface="Consolas" panose="020B0609020204030204" pitchFamily="49" charset="0"/>
              </a:rPr>
              <a:t>expensiveCalculation</a:t>
            </a:r>
            <a:r>
              <a:rPr lang="en-IN" sz="1200" b="0" dirty="0">
                <a:solidFill>
                  <a:srgbClr val="D4D4D4"/>
                </a:solidFill>
                <a:effectLst/>
                <a:latin typeface="Consolas" panose="020B0609020204030204" pitchFamily="49" charset="0"/>
              </a:rPr>
              <a:t> =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=&gt;</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"Calculating..."</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for</a:t>
            </a:r>
            <a:r>
              <a:rPr lang="en-IN" sz="1200" b="0" dirty="0">
                <a:solidFill>
                  <a:srgbClr val="D4D4D4"/>
                </a:solidFill>
                <a:effectLst/>
                <a:latin typeface="Consolas" panose="020B0609020204030204" pitchFamily="49" charset="0"/>
              </a:rPr>
              <a:t> (</a:t>
            </a:r>
            <a:r>
              <a:rPr lang="en-IN" sz="1200" b="0" dirty="0">
                <a:solidFill>
                  <a:srgbClr val="569CD6"/>
                </a:solidFill>
                <a:effectLst/>
                <a:latin typeface="Consolas" panose="020B0609020204030204" pitchFamily="49" charset="0"/>
              </a:rPr>
              <a:t>let</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&lt; </a:t>
            </a:r>
            <a:r>
              <a:rPr lang="en-IN" sz="1200" b="0" dirty="0">
                <a:solidFill>
                  <a:srgbClr val="B5CEA8"/>
                </a:solidFill>
                <a:effectLst/>
                <a:latin typeface="Consolas" panose="020B0609020204030204" pitchFamily="49" charset="0"/>
              </a:rPr>
              <a:t>1000000000</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i</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 += </a:t>
            </a:r>
            <a:r>
              <a:rPr lang="en-IN" sz="1200" b="0" dirty="0">
                <a:solidFill>
                  <a:srgbClr val="B5CEA8"/>
                </a:solidFill>
                <a:effectLst/>
                <a:latin typeface="Consolas" panose="020B0609020204030204" pitchFamily="49" charset="0"/>
              </a:rPr>
              <a:t>1</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return</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num</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r>
              <a:rPr lang="en-IN" sz="1200" b="0" dirty="0">
                <a:solidFill>
                  <a:srgbClr val="C586C0"/>
                </a:solidFill>
                <a:effectLst/>
                <a:latin typeface="Consolas" panose="020B0609020204030204" pitchFamily="49" charset="0"/>
              </a:rPr>
              <a:t>export</a:t>
            </a:r>
            <a:r>
              <a:rPr lang="en-IN" sz="1200" b="0" dirty="0">
                <a:solidFill>
                  <a:srgbClr val="D4D4D4"/>
                </a:solidFill>
                <a:effectLst/>
                <a:latin typeface="Consolas" panose="020B0609020204030204" pitchFamily="49" charset="0"/>
              </a:rPr>
              <a:t> </a:t>
            </a:r>
            <a:r>
              <a:rPr lang="en-IN" sz="1200" b="0" dirty="0">
                <a:solidFill>
                  <a:srgbClr val="C586C0"/>
                </a:solidFill>
                <a:effectLst/>
                <a:latin typeface="Consolas" panose="020B0609020204030204" pitchFamily="49" charset="0"/>
              </a:rPr>
              <a:t>default</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App</a:t>
            </a:r>
            <a:r>
              <a:rPr lang="en-IN" sz="1200" b="0" dirty="0">
                <a:solidFill>
                  <a:srgbClr val="D4D4D4"/>
                </a:solidFill>
                <a:effectLst/>
                <a:latin typeface="Consolas" panose="020B0609020204030204" pitchFamily="49" charset="0"/>
              </a:rPr>
              <a:t>;</a:t>
            </a:r>
          </a:p>
          <a:p>
            <a:endParaRPr lang="en-IN" sz="12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935561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52567A-F6B4-4F99-BA04-E02C7FEE9E75}"/>
              </a:ext>
            </a:extLst>
          </p:cNvPr>
          <p:cNvSpPr>
            <a:spLocks noChangeArrowheads="1"/>
          </p:cNvSpPr>
          <p:nvPr/>
        </p:nvSpPr>
        <p:spPr bwMode="auto">
          <a:xfrm>
            <a:off x="78658" y="96524"/>
            <a:ext cx="9863021" cy="6771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Hooks are reusable functions.</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When you have component logic that needs to be used by multiple components, we can extract that logic to a custom Hook.</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Custom Hooks start with "use". Example: </a:t>
            </a:r>
            <a:r>
              <a:rPr kumimoji="0" lang="en-US" altLang="en-US" sz="12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useFetch</a:t>
            </a: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 name="TextBox 3">
            <a:extLst>
              <a:ext uri="{FF2B5EF4-FFF2-40B4-BE49-F238E27FC236}">
                <a16:creationId xmlns:a16="http://schemas.microsoft.com/office/drawing/2014/main" id="{7E047321-3F1F-46EA-804E-0D8D06600D87}"/>
              </a:ext>
            </a:extLst>
          </p:cNvPr>
          <p:cNvSpPr txBox="1"/>
          <p:nvPr/>
        </p:nvSpPr>
        <p:spPr>
          <a:xfrm>
            <a:off x="78657" y="966214"/>
            <a:ext cx="11857703"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Build a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the following code, we are fetching data in our Home component and displaying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We will 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JSONPlaceholder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to fetch fake data. This service is great for testing applications when there is no existing data.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learn more, check out the JavaScript Fetch API section.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JSONPlaceholder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to fetch fake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todo</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items and display the titles on the page: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80D8B6A-0A22-4AB4-B73C-3C5D9FCB69CA}"/>
              </a:ext>
            </a:extLst>
          </p:cNvPr>
          <p:cNvSpPr txBox="1"/>
          <p:nvPr/>
        </p:nvSpPr>
        <p:spPr>
          <a:xfrm>
            <a:off x="0" y="3573293"/>
            <a:ext cx="6096000" cy="31085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Home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"https://jsonplaceholder.typicode.com/</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todos</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8" name="TextBox 7">
            <a:extLst>
              <a:ext uri="{FF2B5EF4-FFF2-40B4-BE49-F238E27FC236}">
                <a16:creationId xmlns:a16="http://schemas.microsoft.com/office/drawing/2014/main" id="{5B3E354B-90CC-41D4-AC6B-742C57DB9D79}"/>
              </a:ext>
            </a:extLst>
          </p:cNvPr>
          <p:cNvSpPr txBox="1"/>
          <p:nvPr/>
        </p:nvSpPr>
        <p:spPr>
          <a:xfrm>
            <a:off x="6007508" y="3511737"/>
            <a:ext cx="6105832" cy="31700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data</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map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key</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item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title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Home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6574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44286-A623-40A8-A6A9-5AE9937820E3}"/>
              </a:ext>
            </a:extLst>
          </p:cNvPr>
          <p:cNvSpPr txBox="1"/>
          <p:nvPr/>
        </p:nvSpPr>
        <p:spPr>
          <a:xfrm>
            <a:off x="255639" y="137652"/>
            <a:ext cx="11454580"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fetch logic may be needed in other components as well, so we will extract that into a custom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Move the fetch logic to a new file to be used as a custom Hook:</a:t>
            </a:r>
          </a:p>
        </p:txBody>
      </p:sp>
      <p:sp>
        <p:nvSpPr>
          <p:cNvPr id="7" name="TextBox 6">
            <a:extLst>
              <a:ext uri="{FF2B5EF4-FFF2-40B4-BE49-F238E27FC236}">
                <a16:creationId xmlns:a16="http://schemas.microsoft.com/office/drawing/2014/main" id="{D6CF94DA-47E8-4833-90BC-E5647987F033}"/>
              </a:ext>
            </a:extLst>
          </p:cNvPr>
          <p:cNvSpPr txBox="1"/>
          <p:nvPr/>
        </p:nvSpPr>
        <p:spPr>
          <a:xfrm>
            <a:off x="255639" y="1166842"/>
            <a:ext cx="6096000"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highlight>
                  <a:srgbClr val="FFFF00"/>
                </a:highlight>
                <a:uLnTx/>
                <a:uFillTx/>
                <a:latin typeface="Consolas" panose="020B0609020204030204" pitchFamily="49" charset="0"/>
                <a:ea typeface="+mn-ea"/>
                <a:cs typeface="+mn-cs"/>
              </a:rPr>
              <a:t>useFetch</a:t>
            </a:r>
            <a:r>
              <a:rPr kumimoji="0" lang="en-IN" sz="1800" b="0" i="0" u="none" strike="noStrike" kern="1200" cap="none" spc="0" normalizeH="0" baseline="0" noProof="0" dirty="0">
                <a:ln>
                  <a:noFill/>
                </a:ln>
                <a:solidFill>
                  <a:srgbClr val="000000"/>
                </a:solidFill>
                <a:effectLst/>
                <a:highlight>
                  <a:srgbClr val="FFFF00"/>
                </a:highligh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fetch</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res</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res</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json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then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url</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export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default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useFetch</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7E01D8AE-1127-43FB-AF55-ECD111A262EB}"/>
              </a:ext>
            </a:extLst>
          </p:cNvPr>
          <p:cNvSpPr txBox="1"/>
          <p:nvPr/>
        </p:nvSpPr>
        <p:spPr>
          <a:xfrm>
            <a:off x="6095999" y="973550"/>
            <a:ext cx="6096001" cy="477053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highlight>
                  <a:srgbClr val="FFFF00"/>
                </a:highligh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useFetch</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"https://jsonplaceholder.typicode.com/</a:t>
            </a:r>
            <a:r>
              <a:rPr kumimoji="0" lang="en-IN" sz="16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todos</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&amp;&amp;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data</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map</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key</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id</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item</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title</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&lt;/p&gt;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6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Home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2" name="TextBox 11">
            <a:extLst>
              <a:ext uri="{FF2B5EF4-FFF2-40B4-BE49-F238E27FC236}">
                <a16:creationId xmlns:a16="http://schemas.microsoft.com/office/drawing/2014/main" id="{43345B0B-416B-4627-B751-101CD72C3E35}"/>
              </a:ext>
            </a:extLst>
          </p:cNvPr>
          <p:cNvSpPr txBox="1"/>
          <p:nvPr/>
        </p:nvSpPr>
        <p:spPr>
          <a:xfrm>
            <a:off x="102009" y="5688449"/>
            <a:ext cx="11987980" cy="116955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We have created a new file called useFetch.js containing a function called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useFetch</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which contains all of the logic needed to fetch our data.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We removed the hard-coded URL and replaced it with a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url</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variable that can be passed to the custom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Lastly, we are returning our data from our Hook.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In index.js, we are importing our </a:t>
            </a:r>
            <a:r>
              <a:rPr kumimoji="0" lang="en-US" sz="1400" b="0" i="0" u="none" strike="noStrike" kern="1200" cap="none" spc="0" normalizeH="0" baseline="0" noProof="0" dirty="0" err="1">
                <a:ln>
                  <a:noFill/>
                </a:ln>
                <a:solidFill>
                  <a:prstClr val="black"/>
                </a:solidFill>
                <a:effectLst/>
                <a:uLnTx/>
                <a:uFillTx/>
                <a:latin typeface="Calibri" panose="020F0502020204030204"/>
                <a:ea typeface="+mn-ea"/>
                <a:cs typeface="+mn-cs"/>
              </a:rPr>
              <a:t>useFetch</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Hook and utilizing it like any other Hook. This is where we pass in the URL to fetch data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Now we can reuse this custom Hook in any component to fetch data from any URL.</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07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0C22BBD-80E5-A409-15E4-611F5CD2741D}"/>
              </a:ext>
            </a:extLst>
          </p:cNvPr>
          <p:cNvGraphicFramePr>
            <a:graphicFrameLocks noGrp="1"/>
          </p:cNvGraphicFramePr>
          <p:nvPr>
            <p:extLst>
              <p:ext uri="{D42A27DB-BD31-4B8C-83A1-F6EECF244321}">
                <p14:modId xmlns:p14="http://schemas.microsoft.com/office/powerpoint/2010/main" val="2146727374"/>
              </p:ext>
            </p:extLst>
          </p:nvPr>
        </p:nvGraphicFramePr>
        <p:xfrm>
          <a:off x="768807" y="0"/>
          <a:ext cx="9657238" cy="6543040"/>
        </p:xfrm>
        <a:graphic>
          <a:graphicData uri="http://schemas.openxmlformats.org/drawingml/2006/table">
            <a:tbl>
              <a:tblPr firstRow="1" bandRow="1">
                <a:tableStyleId>{5C22544A-7EE6-4342-B048-85BDC9FD1C3A}</a:tableStyleId>
              </a:tblPr>
              <a:tblGrid>
                <a:gridCol w="4828619">
                  <a:extLst>
                    <a:ext uri="{9D8B030D-6E8A-4147-A177-3AD203B41FA5}">
                      <a16:colId xmlns:a16="http://schemas.microsoft.com/office/drawing/2014/main" val="2783463423"/>
                    </a:ext>
                  </a:extLst>
                </a:gridCol>
                <a:gridCol w="4828619">
                  <a:extLst>
                    <a:ext uri="{9D8B030D-6E8A-4147-A177-3AD203B41FA5}">
                      <a16:colId xmlns:a16="http://schemas.microsoft.com/office/drawing/2014/main" val="354719775"/>
                    </a:ext>
                  </a:extLst>
                </a:gridCol>
              </a:tblGrid>
              <a:tr h="370840">
                <a:tc>
                  <a:txBody>
                    <a:bodyPr/>
                    <a:lstStyle/>
                    <a:p>
                      <a:r>
                        <a:rPr lang="en-US" sz="1400" dirty="0" err="1"/>
                        <a:t>useMemo</a:t>
                      </a:r>
                      <a:endParaRPr lang="en-IN" sz="1400" dirty="0"/>
                    </a:p>
                  </a:txBody>
                  <a:tcPr/>
                </a:tc>
                <a:tc>
                  <a:txBody>
                    <a:bodyPr/>
                    <a:lstStyle/>
                    <a:p>
                      <a:r>
                        <a:rPr lang="en-US" sz="1400" dirty="0" err="1"/>
                        <a:t>useCallback</a:t>
                      </a:r>
                      <a:endParaRPr lang="en-IN" sz="1400" dirty="0"/>
                    </a:p>
                  </a:txBody>
                  <a:tcPr/>
                </a:tc>
                <a:extLst>
                  <a:ext uri="{0D108BD9-81ED-4DB2-BD59-A6C34878D82A}">
                    <a16:rowId xmlns:a16="http://schemas.microsoft.com/office/drawing/2014/main" val="3116805956"/>
                  </a:ext>
                </a:extLst>
              </a:tr>
              <a:tr h="370840">
                <a:tc>
                  <a:txBody>
                    <a:bodyPr/>
                    <a:lstStyle/>
                    <a:p>
                      <a:r>
                        <a:rPr lang="en-US" sz="1400" dirty="0" err="1">
                          <a:highlight>
                            <a:srgbClr val="00FFFF"/>
                          </a:highlight>
                        </a:rPr>
                        <a:t>useMemo</a:t>
                      </a:r>
                      <a:r>
                        <a:rPr lang="en-US" sz="1400" dirty="0">
                          <a:highlight>
                            <a:srgbClr val="00FFFF"/>
                          </a:highlight>
                        </a:rPr>
                        <a:t> </a:t>
                      </a:r>
                      <a:r>
                        <a:rPr lang="en-US" sz="1400" dirty="0"/>
                        <a:t>returns a </a:t>
                      </a:r>
                      <a:r>
                        <a:rPr lang="en-US" sz="1400" dirty="0" err="1"/>
                        <a:t>memoized</a:t>
                      </a:r>
                      <a:r>
                        <a:rPr lang="en-US" sz="1400" dirty="0"/>
                        <a:t> </a:t>
                      </a:r>
                      <a:r>
                        <a:rPr lang="en-US" sz="1400" b="1" dirty="0">
                          <a:highlight>
                            <a:srgbClr val="00FFFF"/>
                          </a:highlight>
                        </a:rPr>
                        <a:t>value</a:t>
                      </a:r>
                      <a:endParaRPr lang="en-IN" sz="1400" dirty="0"/>
                    </a:p>
                  </a:txBody>
                  <a:tcPr/>
                </a:tc>
                <a:tc>
                  <a:txBody>
                    <a:bodyPr/>
                    <a:lstStyle/>
                    <a:p>
                      <a:r>
                        <a:rPr lang="en-US" sz="1400" dirty="0" err="1">
                          <a:highlight>
                            <a:srgbClr val="FFFF00"/>
                          </a:highlight>
                        </a:rPr>
                        <a:t>useCallback</a:t>
                      </a:r>
                      <a:r>
                        <a:rPr lang="en-US" sz="1400" dirty="0"/>
                        <a:t> returns a </a:t>
                      </a:r>
                      <a:r>
                        <a:rPr lang="en-US" sz="1400" dirty="0" err="1"/>
                        <a:t>memoized</a:t>
                      </a:r>
                      <a:r>
                        <a:rPr lang="en-US" sz="1400" dirty="0"/>
                        <a:t> </a:t>
                      </a:r>
                      <a:r>
                        <a:rPr lang="en-US" sz="1400" b="1" dirty="0">
                          <a:highlight>
                            <a:srgbClr val="FFFF00"/>
                          </a:highlight>
                        </a:rPr>
                        <a:t>function </a:t>
                      </a:r>
                      <a:r>
                        <a:rPr lang="en-US" sz="1400" b="1" dirty="0" err="1">
                          <a:highlight>
                            <a:srgbClr val="FFFF00"/>
                          </a:highlight>
                        </a:rPr>
                        <a:t>defination</a:t>
                      </a:r>
                      <a:endParaRPr lang="en-IN" sz="1400" dirty="0"/>
                    </a:p>
                  </a:txBody>
                  <a:tcPr/>
                </a:tc>
                <a:extLst>
                  <a:ext uri="{0D108BD9-81ED-4DB2-BD59-A6C34878D82A}">
                    <a16:rowId xmlns:a16="http://schemas.microsoft.com/office/drawing/2014/main" val="85805671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The </a:t>
                      </a:r>
                      <a:r>
                        <a:rPr lang="en-US" sz="1400" dirty="0" err="1"/>
                        <a:t>useMemo</a:t>
                      </a:r>
                      <a:r>
                        <a:rPr lang="en-US" sz="1400" dirty="0"/>
                        <a:t> Hook can be used to keep expensive, resource intensive functions from needlessly running.</a:t>
                      </a:r>
                      <a:endParaRPr lang="en-IN" sz="1400" dirty="0"/>
                    </a:p>
                  </a:txBody>
                  <a:tcPr/>
                </a:tc>
                <a:tc>
                  <a:txBody>
                    <a:bodyPr/>
                    <a:lstStyle/>
                    <a:p>
                      <a:r>
                        <a:rPr lang="en-US" sz="1400" dirty="0"/>
                        <a:t>It use method </a:t>
                      </a:r>
                    </a:p>
                    <a:p>
                      <a:r>
                        <a:rPr lang="en-US" sz="1400" dirty="0"/>
                        <a:t>memo(name of component)</a:t>
                      </a:r>
                    </a:p>
                    <a:p>
                      <a:endParaRPr lang="en-US" sz="1400" dirty="0"/>
                    </a:p>
                    <a:p>
                      <a:r>
                        <a:rPr lang="en-US" sz="1400" dirty="0"/>
                        <a:t>It ensure that if parent component modified and </a:t>
                      </a:r>
                      <a:r>
                        <a:rPr lang="en-US" sz="1400" dirty="0" err="1"/>
                        <a:t>chlid</a:t>
                      </a:r>
                      <a:r>
                        <a:rPr lang="en-US" sz="1400" dirty="0"/>
                        <a:t> component is not modify it will not re-render child component.</a:t>
                      </a:r>
                      <a:endParaRPr lang="en-IN" sz="1400" dirty="0"/>
                    </a:p>
                  </a:txBody>
                  <a:tcPr/>
                </a:tc>
                <a:extLst>
                  <a:ext uri="{0D108BD9-81ED-4DB2-BD59-A6C34878D82A}">
                    <a16:rowId xmlns:a16="http://schemas.microsoft.com/office/drawing/2014/main" val="1387085741"/>
                  </a:ext>
                </a:extLst>
              </a:tr>
              <a:tr h="370840">
                <a:tc>
                  <a:txBody>
                    <a:bodyPr/>
                    <a:lstStyle/>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calculation</a:t>
                      </a:r>
                      <a:r>
                        <a:rPr lang="en-IN" sz="1400" b="0" dirty="0">
                          <a:solidFill>
                            <a:srgbClr val="D4D4D4"/>
                          </a:solidFill>
                          <a:effectLst/>
                          <a:latin typeface="Consolas" panose="020B0609020204030204" pitchFamily="49" charset="0"/>
                        </a:rPr>
                        <a:t> = </a:t>
                      </a:r>
                      <a:r>
                        <a:rPr lang="en-IN" sz="1400" b="0" dirty="0" err="1">
                          <a:solidFill>
                            <a:srgbClr val="FF0000"/>
                          </a:solidFill>
                          <a:effectLst/>
                          <a:highlight>
                            <a:srgbClr val="FFFF00"/>
                          </a:highlight>
                          <a:latin typeface="Consolas" panose="020B0609020204030204" pitchFamily="49" charset="0"/>
                        </a:rPr>
                        <a:t>useMemo</a:t>
                      </a:r>
                      <a:r>
                        <a:rPr lang="en-IN" sz="1400" b="0" dirty="0">
                          <a:solidFill>
                            <a:srgbClr val="FF0000"/>
                          </a:solidFill>
                          <a:effectLst/>
                          <a:highlight>
                            <a:srgbClr val="FFFF00"/>
                          </a:highligh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 [</a:t>
                      </a:r>
                      <a:r>
                        <a:rPr lang="en-IN" sz="1400" b="0" dirty="0">
                          <a:solidFill>
                            <a:srgbClr val="4FC1FF"/>
                          </a:solidFill>
                          <a:effectLst/>
                          <a:latin typeface="Consolas" panose="020B0609020204030204" pitchFamily="49" charset="0"/>
                        </a:rPr>
                        <a:t>count</a:t>
                      </a:r>
                      <a:r>
                        <a:rPr lang="en-IN" sz="1400" b="0" dirty="0">
                          <a:solidFill>
                            <a:srgbClr val="D4D4D4"/>
                          </a:solidFill>
                          <a:effectLst/>
                          <a:latin typeface="Consolas" panose="020B0609020204030204" pitchFamily="49" charset="0"/>
                        </a:rPr>
                        <a:t>]);</a:t>
                      </a:r>
                    </a:p>
                    <a:p>
                      <a:br>
                        <a:rPr lang="en-IN" sz="1400" b="0" dirty="0">
                          <a:solidFill>
                            <a:srgbClr val="D4D4D4"/>
                          </a:solidFill>
                          <a:effectLst/>
                          <a:latin typeface="Consolas" panose="020B0609020204030204" pitchFamily="49" charset="0"/>
                        </a:rPr>
                      </a:br>
                      <a:endParaRPr lang="en-IN" sz="1400" dirty="0"/>
                    </a:p>
                  </a:txBody>
                  <a:tcP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Some time due  </a:t>
                      </a:r>
                      <a:r>
                        <a:rPr lang="en-US" sz="1400" b="1" dirty="0"/>
                        <a:t>"referential equality".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Even if you use memo it still re-render child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memo(name of component)</a:t>
                      </a:r>
                    </a:p>
                  </a:txBody>
                  <a:tcPr/>
                </a:tc>
                <a:extLst>
                  <a:ext uri="{0D108BD9-81ED-4DB2-BD59-A6C34878D82A}">
                    <a16:rowId xmlns:a16="http://schemas.microsoft.com/office/drawing/2014/main" val="1969762108"/>
                  </a:ext>
                </a:extLst>
              </a:tr>
              <a:tr h="370840">
                <a:tc>
                  <a:txBody>
                    <a:bodyPr/>
                    <a:lstStyle/>
                    <a:p>
                      <a:r>
                        <a:rPr lang="en-IN" sz="1400" b="0" dirty="0" err="1">
                          <a:solidFill>
                            <a:srgbClr val="569CD6"/>
                          </a:solidFill>
                          <a:effectLst/>
                          <a:latin typeface="Consolas" panose="020B0609020204030204" pitchFamily="49" charset="0"/>
                        </a:rPr>
                        <a:t>const</a:t>
                      </a:r>
                      <a:r>
                        <a:rPr lang="en-IN" sz="1400" b="0" dirty="0">
                          <a:solidFill>
                            <a:srgbClr val="D4D4D4"/>
                          </a:solidFill>
                          <a:effectLst/>
                          <a:latin typeface="Consolas" panose="020B0609020204030204" pitchFamily="49" charset="0"/>
                        </a:rPr>
                        <a:t> </a:t>
                      </a:r>
                      <a:r>
                        <a:rPr lang="en-IN" sz="1400" b="0" dirty="0" err="1">
                          <a:solidFill>
                            <a:srgbClr val="DCDCAA"/>
                          </a:solidFill>
                          <a:effectLst/>
                          <a:latin typeface="Consolas" panose="020B0609020204030204" pitchFamily="49" charset="0"/>
                        </a:rPr>
                        <a:t>expensiveCalculation</a:t>
                      </a:r>
                      <a:r>
                        <a:rPr lang="en-IN" sz="1400" b="0" dirty="0">
                          <a:solidFill>
                            <a:srgbClr val="D4D4D4"/>
                          </a:solidFill>
                          <a:effectLst/>
                          <a:latin typeface="Consolas" panose="020B0609020204030204" pitchFamily="49" charset="0"/>
                        </a:rPr>
                        <a:t> =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=&gt;</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9CDCFE"/>
                          </a:solidFill>
                          <a:effectLst/>
                          <a:latin typeface="Consolas" panose="020B0609020204030204" pitchFamily="49" charset="0"/>
                        </a:rPr>
                        <a:t>console</a:t>
                      </a:r>
                      <a:r>
                        <a:rPr lang="en-IN" sz="1400" b="0" dirty="0">
                          <a:solidFill>
                            <a:srgbClr val="D4D4D4"/>
                          </a:solidFill>
                          <a:effectLst/>
                          <a:latin typeface="Consolas" panose="020B0609020204030204" pitchFamily="49" charset="0"/>
                        </a:rPr>
                        <a:t>.</a:t>
                      </a:r>
                      <a:r>
                        <a:rPr lang="en-IN" sz="1400" b="0" dirty="0">
                          <a:solidFill>
                            <a:srgbClr val="DCDCAA"/>
                          </a:solidFill>
                          <a:effectLst/>
                          <a:latin typeface="Consolas" panose="020B0609020204030204" pitchFamily="49" charset="0"/>
                        </a:rPr>
                        <a:t>log</a:t>
                      </a:r>
                      <a:r>
                        <a:rPr lang="en-IN" sz="1400" b="0" dirty="0">
                          <a:solidFill>
                            <a:srgbClr val="D4D4D4"/>
                          </a:solidFill>
                          <a:effectLst/>
                          <a:latin typeface="Consolas" panose="020B0609020204030204" pitchFamily="49" charset="0"/>
                        </a:rPr>
                        <a:t>(</a:t>
                      </a:r>
                      <a:r>
                        <a:rPr lang="en-IN" sz="1400" b="0" dirty="0">
                          <a:solidFill>
                            <a:srgbClr val="CE9178"/>
                          </a:solidFill>
                          <a:effectLst/>
                          <a:latin typeface="Consolas" panose="020B0609020204030204" pitchFamily="49" charset="0"/>
                        </a:rPr>
                        <a:t>"Calculating..."</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for</a:t>
                      </a:r>
                      <a:r>
                        <a:rPr lang="en-IN" sz="1400" b="0" dirty="0">
                          <a:solidFill>
                            <a:srgbClr val="D4D4D4"/>
                          </a:solidFill>
                          <a:effectLst/>
                          <a:latin typeface="Consolas" panose="020B0609020204030204" pitchFamily="49" charset="0"/>
                        </a:rPr>
                        <a:t> (</a:t>
                      </a:r>
                      <a:r>
                        <a:rPr lang="en-IN" sz="1400" b="0" dirty="0">
                          <a:solidFill>
                            <a:srgbClr val="569CD6"/>
                          </a:solidFill>
                          <a:effectLst/>
                          <a:latin typeface="Consolas" panose="020B0609020204030204" pitchFamily="49" charset="0"/>
                        </a:rPr>
                        <a:t>let</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0</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&lt; </a:t>
                      </a:r>
                      <a:r>
                        <a:rPr lang="en-IN" sz="1400" b="0" dirty="0">
                          <a:solidFill>
                            <a:srgbClr val="B5CEA8"/>
                          </a:solidFill>
                          <a:effectLst/>
                          <a:latin typeface="Consolas" panose="020B0609020204030204" pitchFamily="49" charset="0"/>
                        </a:rPr>
                        <a:t>1000000000</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i</a:t>
                      </a:r>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 += </a:t>
                      </a:r>
                      <a:r>
                        <a:rPr lang="en-IN" sz="1400" b="0" dirty="0">
                          <a:solidFill>
                            <a:srgbClr val="B5CEA8"/>
                          </a:solidFill>
                          <a:effectLst/>
                          <a:latin typeface="Consolas" panose="020B0609020204030204" pitchFamily="49" charset="0"/>
                        </a:rPr>
                        <a:t>1</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  }</a:t>
                      </a:r>
                    </a:p>
                    <a:p>
                      <a:r>
                        <a:rPr lang="en-IN" sz="1400" b="0" dirty="0">
                          <a:solidFill>
                            <a:srgbClr val="D4D4D4"/>
                          </a:solidFill>
                          <a:effectLst/>
                          <a:latin typeface="Consolas" panose="020B0609020204030204" pitchFamily="49" charset="0"/>
                        </a:rPr>
                        <a:t>  </a:t>
                      </a:r>
                      <a:r>
                        <a:rPr lang="en-IN" sz="1400" b="0" dirty="0">
                          <a:solidFill>
                            <a:srgbClr val="C586C0"/>
                          </a:solidFill>
                          <a:effectLst/>
                          <a:latin typeface="Consolas" panose="020B0609020204030204" pitchFamily="49" charset="0"/>
                        </a:rPr>
                        <a:t>return</a:t>
                      </a:r>
                      <a:r>
                        <a:rPr lang="en-IN" sz="1400" b="0" dirty="0">
                          <a:solidFill>
                            <a:srgbClr val="D4D4D4"/>
                          </a:solidFill>
                          <a:effectLst/>
                          <a:latin typeface="Consolas" panose="020B0609020204030204" pitchFamily="49" charset="0"/>
                        </a:rPr>
                        <a:t> </a:t>
                      </a:r>
                      <a:r>
                        <a:rPr lang="en-IN" sz="1400" b="0" dirty="0" err="1">
                          <a:solidFill>
                            <a:srgbClr val="9CDCFE"/>
                          </a:solidFill>
                          <a:effectLst/>
                          <a:latin typeface="Consolas" panose="020B0609020204030204" pitchFamily="49" charset="0"/>
                        </a:rPr>
                        <a:t>num</a:t>
                      </a:r>
                      <a:r>
                        <a:rPr lang="en-IN" sz="1400" b="0" dirty="0">
                          <a:solidFill>
                            <a:srgbClr val="D4D4D4"/>
                          </a:solidFill>
                          <a:effectLst/>
                          <a:latin typeface="Consolas" panose="020B0609020204030204" pitchFamily="49" charset="0"/>
                        </a:rPr>
                        <a:t>;</a:t>
                      </a:r>
                    </a:p>
                    <a:p>
                      <a:r>
                        <a:rPr lang="en-IN" sz="1400" b="0" dirty="0">
                          <a:solidFill>
                            <a:srgbClr val="D4D4D4"/>
                          </a:solidFill>
                          <a:effectLst/>
                          <a:latin typeface="Consolas" panose="020B0609020204030204" pitchFamily="49" charset="0"/>
                        </a:rPr>
                        <a:t>};</a:t>
                      </a:r>
                    </a:p>
                    <a:p>
                      <a:endParaRPr lang="en-IN" sz="1400" dirty="0"/>
                    </a:p>
                  </a:txBody>
                  <a:tcPr>
                    <a:solidFill>
                      <a:schemeClr val="tx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To fix this, we can use the </a:t>
                      </a:r>
                      <a:r>
                        <a:rPr kumimoji="0" lang="en-US" altLang="en-US" sz="1400" b="0" i="0" u="none" strike="noStrike" cap="none" normalizeH="0" baseline="0" dirty="0" err="1">
                          <a:ln>
                            <a:noFill/>
                          </a:ln>
                          <a:solidFill>
                            <a:srgbClr val="DC143C"/>
                          </a:solidFill>
                          <a:effectLst/>
                          <a:latin typeface="Consolas" panose="020B0609020204030204" pitchFamily="49" charset="0"/>
                        </a:rPr>
                        <a:t>useCallback</a:t>
                      </a:r>
                      <a:r>
                        <a:rPr kumimoji="0" lang="en-US" altLang="en-US" sz="1400" b="0" i="0" u="none" strike="noStrike" cap="none" normalizeH="0" baseline="0" dirty="0">
                          <a:ln>
                            <a:noFill/>
                          </a:ln>
                          <a:solidFill>
                            <a:srgbClr val="000000"/>
                          </a:solidFill>
                          <a:effectLst/>
                          <a:latin typeface="Verdana" panose="020B0604030504040204" pitchFamily="34" charset="0"/>
                        </a:rPr>
                        <a:t> hook to prevent the function from being recreated unless necessary.</a:t>
                      </a:r>
                      <a:endParaRPr kumimoji="0" lang="en-US" altLang="en-US" sz="1400" b="0" i="0" u="none" strike="noStrike" cap="none" normalizeH="0" baseline="0" dirty="0">
                        <a:ln>
                          <a:noFill/>
                        </a:ln>
                        <a:solidFill>
                          <a:schemeClr val="tx1"/>
                        </a:solidFill>
                        <a:effectLst/>
                      </a:endParaRPr>
                    </a:p>
                  </a:txBody>
                  <a:tcPr/>
                </a:tc>
                <a:extLst>
                  <a:ext uri="{0D108BD9-81ED-4DB2-BD59-A6C34878D82A}">
                    <a16:rowId xmlns:a16="http://schemas.microsoft.com/office/drawing/2014/main" val="3483157643"/>
                  </a:ext>
                </a:extLst>
              </a:tr>
              <a:tr h="370840">
                <a:tc>
                  <a:txBody>
                    <a:bodyPr/>
                    <a:lstStyle/>
                    <a:p>
                      <a:r>
                        <a:rPr lang="en-US" sz="1400" dirty="0"/>
                        <a:t>Think of </a:t>
                      </a:r>
                      <a:r>
                        <a:rPr lang="en-US" sz="1400" dirty="0" err="1"/>
                        <a:t>memoization</a:t>
                      </a:r>
                      <a:r>
                        <a:rPr lang="en-US" sz="1400" dirty="0"/>
                        <a:t> as caching </a:t>
                      </a:r>
                      <a:r>
                        <a:rPr lang="en-US" sz="1400" dirty="0">
                          <a:highlight>
                            <a:srgbClr val="FFFF00"/>
                          </a:highlight>
                        </a:rPr>
                        <a:t>a value </a:t>
                      </a:r>
                      <a:r>
                        <a:rPr lang="en-US" sz="1400" dirty="0"/>
                        <a:t>so that it does not need to be recalculated.</a:t>
                      </a:r>
                    </a:p>
                    <a:p>
                      <a:r>
                        <a:rPr lang="en-US" sz="1400" dirty="0"/>
                        <a:t>The </a:t>
                      </a:r>
                      <a:r>
                        <a:rPr lang="en-US" sz="1400" dirty="0" err="1"/>
                        <a:t>useMemo</a:t>
                      </a:r>
                      <a:r>
                        <a:rPr lang="en-US" sz="1400" dirty="0"/>
                        <a:t> Hook only runs when o</a:t>
                      </a:r>
                      <a:r>
                        <a:rPr lang="en-US" sz="1400" dirty="0">
                          <a:highlight>
                            <a:srgbClr val="FFFF00"/>
                          </a:highlight>
                        </a:rPr>
                        <a:t>ne of its dependencies update</a:t>
                      </a:r>
                      <a:r>
                        <a:rPr lang="en-US" sz="1400" dirty="0"/>
                        <a:t>.</a:t>
                      </a:r>
                    </a:p>
                    <a:p>
                      <a:r>
                        <a:rPr lang="en-US" sz="1400" dirty="0"/>
                        <a:t>This can improve performance</a:t>
                      </a:r>
                      <a:endParaRPr lang="en-IN" sz="1400" dirty="0"/>
                    </a:p>
                  </a:txBody>
                  <a:tcPr/>
                </a:tc>
                <a:tc>
                  <a:txBody>
                    <a:bodyPr/>
                    <a:lstStyle/>
                    <a:p>
                      <a:endParaRPr lang="en-IN" sz="1400"/>
                    </a:p>
                  </a:txBody>
                  <a:tcPr/>
                </a:tc>
                <a:extLst>
                  <a:ext uri="{0D108BD9-81ED-4DB2-BD59-A6C34878D82A}">
                    <a16:rowId xmlns:a16="http://schemas.microsoft.com/office/drawing/2014/main" val="3966997140"/>
                  </a:ext>
                </a:extLst>
              </a:tr>
              <a:tr h="370840">
                <a:tc>
                  <a:txBody>
                    <a:bodyPr/>
                    <a:lstStyle/>
                    <a:p>
                      <a:endParaRPr lang="en-IN" sz="1400"/>
                    </a:p>
                  </a:txBody>
                  <a:tcPr/>
                </a:tc>
                <a:tc>
                  <a:txBody>
                    <a:bodyPr/>
                    <a:lstStyle/>
                    <a:p>
                      <a:endParaRPr lang="en-IN" sz="1400"/>
                    </a:p>
                  </a:txBody>
                  <a:tcPr/>
                </a:tc>
                <a:extLst>
                  <a:ext uri="{0D108BD9-81ED-4DB2-BD59-A6C34878D82A}">
                    <a16:rowId xmlns:a16="http://schemas.microsoft.com/office/drawing/2014/main" val="1489359188"/>
                  </a:ext>
                </a:extLst>
              </a:tr>
              <a:tr h="370840">
                <a:tc>
                  <a:txBody>
                    <a:bodyPr/>
                    <a:lstStyle/>
                    <a:p>
                      <a:endParaRPr lang="en-IN" sz="1400"/>
                    </a:p>
                  </a:txBody>
                  <a:tcPr/>
                </a:tc>
                <a:tc>
                  <a:txBody>
                    <a:bodyPr/>
                    <a:lstStyle/>
                    <a:p>
                      <a:endParaRPr lang="en-IN" sz="1400" dirty="0"/>
                    </a:p>
                  </a:txBody>
                  <a:tcPr/>
                </a:tc>
                <a:extLst>
                  <a:ext uri="{0D108BD9-81ED-4DB2-BD59-A6C34878D82A}">
                    <a16:rowId xmlns:a16="http://schemas.microsoft.com/office/drawing/2014/main" val="3572817248"/>
                  </a:ext>
                </a:extLst>
              </a:tr>
            </a:tbl>
          </a:graphicData>
        </a:graphic>
      </p:graphicFrame>
    </p:spTree>
    <p:extLst>
      <p:ext uri="{BB962C8B-B14F-4D97-AF65-F5344CB8AC3E}">
        <p14:creationId xmlns:p14="http://schemas.microsoft.com/office/powerpoint/2010/main" val="1816520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AE6BEB-542E-7B43-09A7-ACA81F41811D}"/>
              </a:ext>
            </a:extLst>
          </p:cNvPr>
          <p:cNvSpPr txBox="1"/>
          <p:nvPr/>
        </p:nvSpPr>
        <p:spPr>
          <a:xfrm>
            <a:off x="652808" y="1935473"/>
            <a:ext cx="10150309"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means that the code below will result in you having an array with duplicate elements.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numbers1 = [1, 2, 3, 4,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 numbers2 = [ ...numbers1, 1, 2, 6,7,8]; // this will be [1, 2, 3, 4, 5, 1, 2, 6, 7, 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const numbers3 = [ ...numbers1]; //1,2,3,4,5</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Think of it as a replacement for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Array.prototype.concat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51B6949-3D06-E9E0-8FF7-6F3A943B6EC9}"/>
              </a:ext>
            </a:extLst>
          </p:cNvPr>
          <p:cNvSpPr txBox="1"/>
          <p:nvPr/>
        </p:nvSpPr>
        <p:spPr>
          <a:xfrm>
            <a:off x="737647" y="420735"/>
            <a:ext cx="1057451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a similar situation with arrays. Except that instead of spreading over keys and values, the operator spreads indexes and values. Unlike object spread, where you won’t have duplicate properties because that’s just how JavaScript objects work (you can’t have an object with two name properties), with arrays you may end up with duplicate values, if you plan to implement something similar to our object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C537DA25-543A-5DAD-940A-6688B5BF890B}"/>
              </a:ext>
            </a:extLst>
          </p:cNvPr>
          <p:cNvSpPr txBox="1"/>
          <p:nvPr/>
        </p:nvSpPr>
        <p:spPr>
          <a:xfrm>
            <a:off x="6846217" y="3094970"/>
            <a:ext cx="4465947" cy="369331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dirty="0"/>
              <a:t>&lt;script&gt;</a:t>
            </a:r>
          </a:p>
          <a:p>
            <a:r>
              <a:rPr lang="en-IN" dirty="0" err="1"/>
              <a:t>const</a:t>
            </a:r>
            <a:r>
              <a:rPr lang="en-IN" dirty="0"/>
              <a:t> go=(function()</a:t>
            </a:r>
          </a:p>
          <a:p>
            <a:r>
              <a:rPr lang="en-IN" dirty="0"/>
              <a:t>{</a:t>
            </a:r>
          </a:p>
          <a:p>
            <a:r>
              <a:rPr lang="en-IN" dirty="0"/>
              <a:t>let data=["data"];</a:t>
            </a:r>
          </a:p>
          <a:p>
            <a:endParaRPr lang="en-IN" dirty="0"/>
          </a:p>
          <a:p>
            <a:r>
              <a:rPr lang="en-IN" dirty="0"/>
              <a:t>return () =&gt; [...</a:t>
            </a:r>
            <a:r>
              <a:rPr lang="en-IN" dirty="0" err="1"/>
              <a:t>data,"new</a:t>
            </a:r>
            <a:r>
              <a:rPr lang="en-IN" dirty="0"/>
              <a:t> data"]</a:t>
            </a:r>
          </a:p>
          <a:p>
            <a:endParaRPr lang="en-IN" dirty="0"/>
          </a:p>
          <a:p>
            <a:r>
              <a:rPr lang="en-IN" dirty="0"/>
              <a:t>}());</a:t>
            </a:r>
          </a:p>
          <a:p>
            <a:r>
              <a:rPr lang="en-IN" dirty="0"/>
              <a:t>let a=go();</a:t>
            </a:r>
          </a:p>
          <a:p>
            <a:r>
              <a:rPr lang="en-IN" dirty="0"/>
              <a:t>console.log(a);</a:t>
            </a:r>
          </a:p>
          <a:p>
            <a:r>
              <a:rPr lang="en-IN" dirty="0"/>
              <a:t>a=go();</a:t>
            </a:r>
          </a:p>
          <a:p>
            <a:r>
              <a:rPr lang="en-IN" dirty="0"/>
              <a:t>console.log(a);</a:t>
            </a:r>
          </a:p>
          <a:p>
            <a:r>
              <a:rPr lang="en-IN" dirty="0"/>
              <a:t>&lt;/script&gt;</a:t>
            </a:r>
          </a:p>
        </p:txBody>
      </p:sp>
    </p:spTree>
    <p:extLst>
      <p:ext uri="{BB962C8B-B14F-4D97-AF65-F5344CB8AC3E}">
        <p14:creationId xmlns:p14="http://schemas.microsoft.com/office/powerpoint/2010/main" val="2589661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0D9C446-44E7-4A68-821B-262ADBACF5D1}"/>
              </a:ext>
            </a:extLst>
          </p:cNvPr>
          <p:cNvSpPr>
            <a:spLocks noChangeArrowheads="1"/>
          </p:cNvSpPr>
          <p:nvPr/>
        </p:nvSpPr>
        <p:spPr bwMode="auto">
          <a:xfrm>
            <a:off x="4080387" y="-15389"/>
            <a:ext cx="6096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ui-monospace"/>
                <a:ea typeface="+mn-ea"/>
                <a:cs typeface="+mn-cs"/>
              </a:rPr>
              <a:t>useRef</a:t>
            </a:r>
            <a:r>
              <a:rPr kumimoji="0" lang="en-US" altLang="en-US" sz="2000" b="0" i="0" u="none" strike="noStrike" kern="1200" cap="none" spc="0" normalizeH="0" baseline="0" noProof="0" dirty="0">
                <a:ln>
                  <a:noFill/>
                </a:ln>
                <a:solidFill>
                  <a:srgbClr val="000000"/>
                </a:solidFill>
                <a:effectLst/>
                <a:uLnTx/>
                <a:uFillTx/>
                <a:latin typeface="Montserrat" panose="020B0604020202020204" pitchFamily="2" charset="0"/>
                <a:ea typeface="+mn-ea"/>
                <a:cs typeface="+mn-cs"/>
              </a:rPr>
              <a:t> </a:t>
            </a:r>
            <a:r>
              <a:rPr kumimoji="0" lang="en-US" altLang="en-US" sz="1800" b="0" i="0" u="none" strike="noStrike" kern="1200" cap="none" spc="0" normalizeH="0" baseline="0" noProof="0" dirty="0">
                <a:ln>
                  <a:noFill/>
                </a:ln>
                <a:solidFill>
                  <a:srgbClr val="000000"/>
                </a:solidFill>
                <a:effectLst/>
                <a:uLnTx/>
                <a:uFillTx/>
                <a:latin typeface="Montserrat" panose="020B0604020202020204" pitchFamily="2" charset="0"/>
                <a:ea typeface="+mn-ea"/>
                <a:cs typeface="+mn-cs"/>
              </a:rPr>
              <a:t>is a built-in React Hook</a:t>
            </a: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p>
        </p:txBody>
      </p:sp>
      <p:sp>
        <p:nvSpPr>
          <p:cNvPr id="6" name="TextBox 5">
            <a:extLst>
              <a:ext uri="{FF2B5EF4-FFF2-40B4-BE49-F238E27FC236}">
                <a16:creationId xmlns:a16="http://schemas.microsoft.com/office/drawing/2014/main" id="{31DF5FDE-EE1B-41FC-A73C-C046F7DA34FC}"/>
              </a:ext>
            </a:extLst>
          </p:cNvPr>
          <p:cNvSpPr txBox="1"/>
          <p:nvPr/>
        </p:nvSpPr>
        <p:spPr>
          <a:xfrm>
            <a:off x="207694" y="379867"/>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What is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used for?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BF58EE9-B947-4EDB-A2DB-2F1DA966D67B}"/>
              </a:ext>
            </a:extLst>
          </p:cNvPr>
          <p:cNvSpPr txBox="1"/>
          <p:nvPr/>
        </p:nvSpPr>
        <p:spPr>
          <a:xfrm>
            <a:off x="127819" y="871214"/>
            <a:ext cx="1183803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in React can be used to directly access DOM nodes, as well as persist a mutable value across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rerenders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component.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CDF685D-AE1F-4618-837D-FF21A5F94DB7}"/>
              </a:ext>
            </a:extLst>
          </p:cNvPr>
          <p:cNvSpPr txBox="1"/>
          <p:nvPr/>
        </p:nvSpPr>
        <p:spPr>
          <a:xfrm>
            <a:off x="63910" y="1557512"/>
            <a:ext cx="11562735"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allows you to </a:t>
            </a:r>
            <a:r>
              <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persist values between renders.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can be used to store a mutable value that does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not cause a re-render when updated.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can be used to access a </a:t>
            </a:r>
            <a:r>
              <a:rPr kumimoji="0" lang="en-US"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DOM element directly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BC916BA2-8E32-4FA6-B31A-5E56A9A576C1}"/>
              </a:ext>
            </a:extLst>
          </p:cNvPr>
          <p:cNvSpPr txBox="1"/>
          <p:nvPr/>
        </p:nvSpPr>
        <p:spPr>
          <a:xfrm>
            <a:off x="63910" y="3091304"/>
            <a:ext cx="11838038"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Does Not Cause Re-renders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we tried to count how many times our application renders using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useState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 we would be caught in an infinite loop since this Hook itself causes a re-render.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avoid this, we can 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Hook.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B33A1C9-FA2F-1FD5-9F42-BEEFF3630C84}"/>
              </a:ext>
            </a:extLst>
          </p:cNvPr>
          <p:cNvSpPr txBox="1"/>
          <p:nvPr/>
        </p:nvSpPr>
        <p:spPr>
          <a:xfrm>
            <a:off x="14748" y="4902094"/>
            <a:ext cx="1206418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Why we use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useRef</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instead of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useState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If you want to update data and cause a UI update,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useState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your Hook. </a:t>
            </a:r>
            <a:r>
              <a:rPr kumimoji="0" lang="en-US" sz="1800" b="1"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If you need some kind of data container throughout the component's lifecycle without causing render cycles on mutating your variable</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then </a:t>
            </a:r>
            <a:r>
              <a:rPr kumimoji="0" lang="en-US" sz="1800" b="0" i="0" u="none" strike="noStrike" kern="1200" cap="none" spc="0" normalizeH="0" baseline="0" noProof="0" dirty="0" err="1">
                <a:ln>
                  <a:noFill/>
                </a:ln>
                <a:solidFill>
                  <a:srgbClr val="202124"/>
                </a:solidFill>
                <a:effectLst/>
                <a:uLnTx/>
                <a:uFillTx/>
                <a:latin typeface="arial" panose="020B0604020202020204" pitchFamily="34" charset="0"/>
                <a:ea typeface="+mn-ea"/>
                <a:cs typeface="+mn-cs"/>
              </a:rPr>
              <a:t>useRef</a:t>
            </a:r>
            <a:r>
              <a:rPr kumimoji="0" lang="en-US" sz="1800" b="0" i="0" u="none" strike="noStrike" kern="1200" cap="none" spc="0" normalizeH="0" baseline="0" noProof="0" dirty="0">
                <a:ln>
                  <a:noFill/>
                </a:ln>
                <a:solidFill>
                  <a:srgbClr val="202124"/>
                </a:solidFill>
                <a:effectLst/>
                <a:uLnTx/>
                <a:uFillTx/>
                <a:latin typeface="arial" panose="020B0604020202020204" pitchFamily="34" charset="0"/>
                <a:ea typeface="+mn-ea"/>
                <a:cs typeface="+mn-cs"/>
              </a:rPr>
              <a:t> is your solution.</a:t>
            </a:r>
          </a:p>
        </p:txBody>
      </p:sp>
      <p:sp>
        <p:nvSpPr>
          <p:cNvPr id="5" name="TextBox 4">
            <a:extLst>
              <a:ext uri="{FF2B5EF4-FFF2-40B4-BE49-F238E27FC236}">
                <a16:creationId xmlns:a16="http://schemas.microsoft.com/office/drawing/2014/main" id="{F33C2EDD-DC3D-83B1-857A-40D3B70BE1F5}"/>
              </a:ext>
            </a:extLst>
          </p:cNvPr>
          <p:cNvSpPr txBox="1"/>
          <p:nvPr/>
        </p:nvSpPr>
        <p:spPr>
          <a:xfrm>
            <a:off x="2245936" y="6216523"/>
            <a:ext cx="785959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only returns one item. It returns an Object called </a:t>
            </a:r>
            <a:r>
              <a:rPr kumimoji="0" lang="en-US" altLang="en-US" sz="16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current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p>
        </p:txBody>
      </p:sp>
    </p:spTree>
    <p:extLst>
      <p:ext uri="{BB962C8B-B14F-4D97-AF65-F5344CB8AC3E}">
        <p14:creationId xmlns:p14="http://schemas.microsoft.com/office/powerpoint/2010/main" val="2909218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FAAAE8-7C30-41A0-B1CC-96F53FB9A081}"/>
              </a:ext>
            </a:extLst>
          </p:cNvPr>
          <p:cNvSpPr txBox="1"/>
          <p:nvPr/>
        </p:nvSpPr>
        <p:spPr>
          <a:xfrm>
            <a:off x="0" y="175900"/>
            <a:ext cx="6096000" cy="526297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0</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098658"/>
                </a:solidFill>
                <a:effectLst/>
                <a:uLnTx/>
                <a:uFillTx/>
                <a:latin typeface="Consolas" panose="020B0609020204030204" pitchFamily="49" charset="0"/>
                <a:ea typeface="+mn-ea"/>
                <a:cs typeface="+mn-cs"/>
              </a:rPr>
              <a:t>1</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Render Count: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count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&lt;/h1&gt;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6" name="Rectangle 1">
            <a:extLst>
              <a:ext uri="{FF2B5EF4-FFF2-40B4-BE49-F238E27FC236}">
                <a16:creationId xmlns:a16="http://schemas.microsoft.com/office/drawing/2014/main" id="{4CE5DEBD-6163-4412-8872-71F9C57217E9}"/>
              </a:ext>
            </a:extLst>
          </p:cNvPr>
          <p:cNvSpPr>
            <a:spLocks noChangeArrowheads="1"/>
          </p:cNvSpPr>
          <p:nvPr/>
        </p:nvSpPr>
        <p:spPr bwMode="auto">
          <a:xfrm>
            <a:off x="6538453" y="1007907"/>
            <a:ext cx="4218038" cy="206719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rPr>
              <a:t>Does Not Cause Re-renders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3200"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If we tried to count how many times our application renders using 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useState</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 we would be caught in an infinite loop since this Hook itself causes a re-render.</a:t>
            </a: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To avoid this, we can use 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D951B3BC-C985-4B76-96A2-4FFDB65C584B}"/>
              </a:ext>
            </a:extLst>
          </p:cNvPr>
          <p:cNvSpPr>
            <a:spLocks noChangeArrowheads="1"/>
          </p:cNvSpPr>
          <p:nvPr/>
        </p:nvSpPr>
        <p:spPr bwMode="auto">
          <a:xfrm>
            <a:off x="6715431" y="4287172"/>
            <a:ext cx="4866969" cy="1400383"/>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only returns one item. It returns an Object called </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current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When we initialize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set the initial value: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(0)</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It's like doing this: </a:t>
            </a:r>
            <a:r>
              <a:rPr kumimoji="0" lang="en-US" altLang="en-US" sz="1100" b="0" i="0" u="none" strike="noStrike" kern="1200" cap="none" spc="0" normalizeH="0" baseline="0" noProof="0" dirty="0">
                <a:ln>
                  <a:noFill/>
                </a:ln>
                <a:solidFill>
                  <a:srgbClr val="DC143C"/>
                </a:solidFill>
                <a:effectLst/>
                <a:uLnTx/>
                <a:uFillTx/>
                <a:latin typeface="Consolas" panose="020B0609020204030204" pitchFamily="49" charset="0"/>
                <a:ea typeface="+mn-ea"/>
                <a:cs typeface="+mn-cs"/>
              </a:rPr>
              <a:t>const count = {current: 0}</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can access the count by using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count.current</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endPar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Run this on your computer and try typing in the input to see the application render count increase.</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63270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F29B05-B0AE-48E2-8462-91BCCF4541E2}"/>
              </a:ext>
            </a:extLst>
          </p:cNvPr>
          <p:cNvSpPr txBox="1"/>
          <p:nvPr/>
        </p:nvSpPr>
        <p:spPr>
          <a:xfrm>
            <a:off x="491613" y="132674"/>
            <a:ext cx="10903974" cy="45243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Essentially,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like a “box” that can hold a mutable value in its .current property.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You might be familiar with refs primarily as a way to access the DOM. If you pass a ref object to React with &lt;div ref={</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/&gt;, React will set its .current property to the corresponding DOM node whenever that node changes.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However,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useful for more than the ref attribute. It’s handy for keeping any mutable value around similar to how you’d use instance fields in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works because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creates a plain JavaScript object. The only difference between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creating a {current: ...} object yourself is that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give you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same ref object on every render.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Keep in mind that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doesn’t notify you when its content changes. Mutating the .current property doesn’t cause a re-render. If you want to run some code when React attaches or detaches a ref to a DOM node, you may want to u use a callback ref instead.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85F96F8-2896-430D-BBE4-02766A75F540}"/>
              </a:ext>
            </a:extLst>
          </p:cNvPr>
          <p:cNvSpPr txBox="1"/>
          <p:nvPr/>
        </p:nvSpPr>
        <p:spPr>
          <a:xfrm>
            <a:off x="629263" y="5369712"/>
            <a:ext cx="86327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https://gist.github.com/HuyAms/782553a6e275e4bfc694a6a3a6d1a46f</a:t>
            </a:r>
          </a:p>
        </p:txBody>
      </p:sp>
    </p:spTree>
    <p:extLst>
      <p:ext uri="{BB962C8B-B14F-4D97-AF65-F5344CB8AC3E}">
        <p14:creationId xmlns:p14="http://schemas.microsoft.com/office/powerpoint/2010/main" val="4078128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A561B7-7CA9-4039-A4E1-AD1BE5A5C0DF}"/>
              </a:ext>
            </a:extLst>
          </p:cNvPr>
          <p:cNvSpPr txBox="1"/>
          <p:nvPr/>
        </p:nvSpPr>
        <p:spPr>
          <a:xfrm>
            <a:off x="3539613" y="0"/>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Accessing DOM Elements</a:t>
            </a:r>
          </a:p>
        </p:txBody>
      </p:sp>
      <p:sp>
        <p:nvSpPr>
          <p:cNvPr id="6" name="Rectangle 1">
            <a:extLst>
              <a:ext uri="{FF2B5EF4-FFF2-40B4-BE49-F238E27FC236}">
                <a16:creationId xmlns:a16="http://schemas.microsoft.com/office/drawing/2014/main" id="{6585BCBD-5483-4C0C-9D02-7D76CC8DFB1C}"/>
              </a:ext>
            </a:extLst>
          </p:cNvPr>
          <p:cNvSpPr>
            <a:spLocks noChangeArrowheads="1"/>
          </p:cNvSpPr>
          <p:nvPr/>
        </p:nvSpPr>
        <p:spPr bwMode="auto">
          <a:xfrm>
            <a:off x="275304" y="970853"/>
            <a:ext cx="9212826"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 general, we want to let React handle all DOM manipulation.</a:t>
            </a:r>
            <a:endParaRPr kumimoji="0" lang="en-US" altLang="en-US"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But there are some instances where </a:t>
            </a:r>
            <a:r>
              <a:rPr kumimoji="0" lang="en-US" altLang="en-US" sz="16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can be used without causing issues.</a:t>
            </a:r>
            <a:endParaRPr kumimoji="0" lang="en-US" altLang="en-US" sz="105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In React, we can add a </a:t>
            </a:r>
            <a:r>
              <a:rPr kumimoji="0" lang="en-US" altLang="en-US" sz="16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ref</a:t>
            </a:r>
            <a:r>
              <a:rPr kumimoji="0" lang="en-US" altLang="en-US" sz="16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attribute to an element to access it directly in the DOM.</a:t>
            </a:r>
            <a:endParaRPr kumimoji="0" lang="en-US" altLang="en-US" sz="2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81D6B0DD-55F4-4DBE-BAD1-9F4A564F9102}"/>
              </a:ext>
            </a:extLst>
          </p:cNvPr>
          <p:cNvSpPr>
            <a:spLocks noChangeArrowheads="1"/>
          </p:cNvSpPr>
          <p:nvPr/>
        </p:nvSpPr>
        <p:spPr bwMode="auto">
          <a:xfrm>
            <a:off x="432619" y="1858518"/>
            <a:ext cx="2979174" cy="261610"/>
          </a:xfrm>
          <a:prstGeom prst="rect">
            <a:avLst/>
          </a:prstGeom>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Use </a:t>
            </a:r>
            <a:r>
              <a:rPr kumimoji="0" lang="en-US" altLang="en-US" sz="1100" b="0" i="0" u="none" strike="noStrike" kern="1200" cap="none" spc="0" normalizeH="0" baseline="0" noProof="0">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to focus the input:</a:t>
            </a:r>
            <a:r>
              <a:rPr kumimoji="0" lang="en-US" altLang="en-US" sz="800" b="0" i="0" u="none" strike="noStrike" kern="1200" cap="none" spc="0" normalizeH="0" baseline="0" noProof="0">
                <a:ln>
                  <a:noFill/>
                </a:ln>
                <a:solidFill>
                  <a:prstClr val="black"/>
                </a:solidFill>
                <a:effectLst/>
                <a:uLnTx/>
                <a:uFillTx/>
                <a:latin typeface="Arial" panose="020B0604020202020204" pitchFamily="34" charset="0"/>
                <a:ea typeface="+mn-ea"/>
                <a:cs typeface="+mn-cs"/>
              </a:rPr>
              <a:t> </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TextBox 8">
            <a:extLst>
              <a:ext uri="{FF2B5EF4-FFF2-40B4-BE49-F238E27FC236}">
                <a16:creationId xmlns:a16="http://schemas.microsoft.com/office/drawing/2014/main" id="{81C868F2-6D4C-4FDE-99CC-C5B2D002E36B}"/>
              </a:ext>
            </a:extLst>
          </p:cNvPr>
          <p:cNvSpPr txBox="1"/>
          <p:nvPr/>
        </p:nvSpPr>
        <p:spPr>
          <a:xfrm>
            <a:off x="137653" y="2176796"/>
            <a:ext cx="6096000"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4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ref</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inputElement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onClick</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focusInput</a:t>
            </a:r>
            <a:r>
              <a:rPr kumimoji="0" lang="en-IN" sz="14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Focus Input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4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4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Tree>
    <p:extLst>
      <p:ext uri="{BB962C8B-B14F-4D97-AF65-F5344CB8AC3E}">
        <p14:creationId xmlns:p14="http://schemas.microsoft.com/office/powerpoint/2010/main" val="447464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9DB011-A84F-41C0-8BC0-1CBE25FBF61A}"/>
              </a:ext>
            </a:extLst>
          </p:cNvPr>
          <p:cNvSpPr txBox="1"/>
          <p:nvPr/>
        </p:nvSpPr>
        <p:spPr>
          <a:xfrm>
            <a:off x="3805084" y="159462"/>
            <a:ext cx="290051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Tracking State Changes</a:t>
            </a:r>
          </a:p>
        </p:txBody>
      </p:sp>
      <p:sp>
        <p:nvSpPr>
          <p:cNvPr id="6" name="Rectangle 1">
            <a:extLst>
              <a:ext uri="{FF2B5EF4-FFF2-40B4-BE49-F238E27FC236}">
                <a16:creationId xmlns:a16="http://schemas.microsoft.com/office/drawing/2014/main" id="{764E3CB0-D123-455C-A4E0-4941880A4EEA}"/>
              </a:ext>
            </a:extLst>
          </p:cNvPr>
          <p:cNvSpPr>
            <a:spLocks noChangeArrowheads="1"/>
          </p:cNvSpPr>
          <p:nvPr/>
        </p:nvSpPr>
        <p:spPr bwMode="auto">
          <a:xfrm>
            <a:off x="167148" y="619253"/>
            <a:ext cx="6921910"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The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Hook can also be used to keep track of previous state values.</a:t>
            </a: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This is because we are able to persist </a:t>
            </a:r>
            <a:r>
              <a:rPr kumimoji="0" lang="en-US" altLang="en-US" sz="14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4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values between renders.</a:t>
            </a: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 name="Rectangle 2">
            <a:extLst>
              <a:ext uri="{FF2B5EF4-FFF2-40B4-BE49-F238E27FC236}">
                <a16:creationId xmlns:a16="http://schemas.microsoft.com/office/drawing/2014/main" id="{7C47451A-A690-47EA-81C7-DBA4CAF775B1}"/>
              </a:ext>
            </a:extLst>
          </p:cNvPr>
          <p:cNvSpPr>
            <a:spLocks noChangeArrowheads="1"/>
          </p:cNvSpPr>
          <p:nvPr/>
        </p:nvSpPr>
        <p:spPr bwMode="auto">
          <a:xfrm>
            <a:off x="98322" y="1461185"/>
            <a:ext cx="4572000" cy="261610"/>
          </a:xfrm>
          <a:prstGeom prst="rect">
            <a:avLst/>
          </a:prstGeom>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Use </a:t>
            </a:r>
            <a:r>
              <a:rPr kumimoji="0" lang="en-US" altLang="en-US" sz="11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1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to keep track of previous state values:</a:t>
            </a:r>
            <a:r>
              <a:rPr kumimoji="0" lang="en-US"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a:t>
            </a:r>
            <a:endPar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 name="TextBox 8">
            <a:extLst>
              <a:ext uri="{FF2B5EF4-FFF2-40B4-BE49-F238E27FC236}">
                <a16:creationId xmlns:a16="http://schemas.microsoft.com/office/drawing/2014/main" id="{D2E0498C-ACA4-4AED-8B22-2352BF9000BF}"/>
              </a:ext>
            </a:extLst>
          </p:cNvPr>
          <p:cNvSpPr txBox="1"/>
          <p:nvPr/>
        </p:nvSpPr>
        <p:spPr>
          <a:xfrm>
            <a:off x="0" y="1964353"/>
            <a:ext cx="6449961" cy="489364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useState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useEffect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useRef</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import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from</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"react-</a:t>
            </a:r>
            <a:r>
              <a:rPr kumimoji="0" lang="en-IN" sz="1200" b="0" i="0" u="none" strike="noStrike" kern="1200" cap="none" spc="0" normalizeH="0" baseline="0" noProof="0" dirty="0" err="1">
                <a:ln>
                  <a:noFill/>
                </a:ln>
                <a:solidFill>
                  <a:srgbClr val="A31515"/>
                </a:solidFill>
                <a:effectLst/>
                <a:uLnTx/>
                <a:uFillTx/>
                <a:latin typeface="Consolas" panose="020B0609020204030204" pitchFamily="49" charset="0"/>
                <a:ea typeface="+mn-ea"/>
                <a:cs typeface="+mn-cs"/>
              </a:rPr>
              <a:t>dom</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useState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useEffect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onChange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setInputValue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target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value</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Current Value: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inputValue</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Previous Value: </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previousInputValue</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2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&lt;/h2&gt;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ReactDOM</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render</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a:t>
            </a:r>
            <a:r>
              <a:rPr kumimoji="0" lang="en-IN" sz="1200" b="0" i="0" u="none" strike="noStrike" kern="1200" cap="none" spc="0" normalizeH="0" baseline="0" noProof="0" dirty="0">
                <a:ln>
                  <a:noFill/>
                </a:ln>
                <a:solidFill>
                  <a:srgbClr val="267F99"/>
                </a:solidFill>
                <a:effectLst/>
                <a:uLnTx/>
                <a:uFillTx/>
                <a:latin typeface="Consolas" panose="020B0609020204030204" pitchFamily="49" charset="0"/>
                <a:ea typeface="+mn-ea"/>
                <a:cs typeface="+mn-cs"/>
              </a:rPr>
              <a:t>App</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document</a:t>
            </a:r>
            <a:r>
              <a:rPr kumimoji="0" lang="en-IN" sz="12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getElementById</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2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'root'</a:t>
            </a:r>
            <a:r>
              <a:rPr kumimoji="0" lang="en-IN" sz="12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10" name="Rectangle 3">
            <a:extLst>
              <a:ext uri="{FF2B5EF4-FFF2-40B4-BE49-F238E27FC236}">
                <a16:creationId xmlns:a16="http://schemas.microsoft.com/office/drawing/2014/main" id="{EB6D5AF1-6CAA-4433-9A25-29D3EF4998C7}"/>
              </a:ext>
            </a:extLst>
          </p:cNvPr>
          <p:cNvSpPr>
            <a:spLocks noChangeArrowheads="1"/>
          </p:cNvSpPr>
          <p:nvPr/>
        </p:nvSpPr>
        <p:spPr bwMode="auto">
          <a:xfrm>
            <a:off x="5678128" y="2686489"/>
            <a:ext cx="6209072" cy="14850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This time we use a combination of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useState</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useEffect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and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to keep track of the previous state.</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In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useEffect</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we are updating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useRef</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current value each time the </a:t>
            </a:r>
            <a:r>
              <a:rPr kumimoji="0" lang="en-US" altLang="en-US" sz="1600" b="0" i="0" u="none" strike="noStrike" kern="1200" cap="none" spc="0" normalizeH="0" baseline="0" noProof="0" dirty="0" err="1">
                <a:ln>
                  <a:noFill/>
                </a:ln>
                <a:solidFill>
                  <a:srgbClr val="DC143C"/>
                </a:solidFill>
                <a:effectLst/>
                <a:uLnTx/>
                <a:uFillTx/>
                <a:latin typeface="Consolas" panose="020B0609020204030204" pitchFamily="49" charset="0"/>
                <a:ea typeface="+mn-ea"/>
                <a:cs typeface="+mn-cs"/>
              </a:rPr>
              <a:t>inputValue</a:t>
            </a:r>
            <a:r>
              <a:rPr kumimoji="0" lang="en-US" altLang="en-US" sz="16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is updated by entering text into the input field.</a:t>
            </a:r>
            <a:endParaRPr kumimoji="0" lang="en-US" altLang="en-US" sz="2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27350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5796810-2DF4-4624-981A-40F31728B67C}"/>
              </a:ext>
            </a:extLst>
          </p:cNvPr>
          <p:cNvSpPr>
            <a:spLocks noChangeArrowheads="1"/>
          </p:cNvSpPr>
          <p:nvPr/>
        </p:nvSpPr>
        <p:spPr bwMode="auto">
          <a:xfrm>
            <a:off x="4050891" y="81560"/>
            <a:ext cx="2045109"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err="1">
                <a:ln>
                  <a:noFill/>
                </a:ln>
                <a:solidFill>
                  <a:srgbClr val="000000"/>
                </a:solidFill>
                <a:effectLst/>
                <a:uLnTx/>
                <a:uFillTx/>
                <a:latin typeface="source-code-pro"/>
                <a:ea typeface="+mn-ea"/>
                <a:cs typeface="+mn-cs"/>
              </a:rPr>
              <a:t>useRef</a:t>
            </a:r>
            <a:r>
              <a:rPr kumimoji="0" lang="en-US" altLang="en-US" sz="1400" b="1" i="0" u="none" strike="noStrike" kern="1200" cap="none" spc="0" normalizeH="0" baseline="0" noProof="0" dirty="0">
                <a:ln>
                  <a:noFill/>
                </a:ln>
                <a:solidFill>
                  <a:srgbClr val="000000"/>
                </a:solidFill>
                <a:effectLst/>
                <a:uLnTx/>
                <a:uFillTx/>
                <a:latin typeface="source-code-pro"/>
                <a:ea typeface="+mn-ea"/>
                <a:cs typeface="+mn-cs"/>
              </a:rPr>
              <a:t> as per API </a:t>
            </a:r>
            <a:endPar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 name="TextBox 5">
            <a:extLst>
              <a:ext uri="{FF2B5EF4-FFF2-40B4-BE49-F238E27FC236}">
                <a16:creationId xmlns:a16="http://schemas.microsoft.com/office/drawing/2014/main" id="{D2033921-2F25-4E7C-BA42-0E09732AECAD}"/>
              </a:ext>
            </a:extLst>
          </p:cNvPr>
          <p:cNvSpPr txBox="1"/>
          <p:nvPr/>
        </p:nvSpPr>
        <p:spPr>
          <a:xfrm>
            <a:off x="265471" y="385606"/>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refContainer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initialValue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sp>
        <p:nvSpPr>
          <p:cNvPr id="9" name="TextBox 8">
            <a:extLst>
              <a:ext uri="{FF2B5EF4-FFF2-40B4-BE49-F238E27FC236}">
                <a16:creationId xmlns:a16="http://schemas.microsoft.com/office/drawing/2014/main" id="{7D3FD0A6-0DAC-49A9-B606-AB63018DFE1C}"/>
              </a:ext>
            </a:extLst>
          </p:cNvPr>
          <p:cNvSpPr txBox="1"/>
          <p:nvPr/>
        </p:nvSpPr>
        <p:spPr>
          <a:xfrm>
            <a:off x="176981" y="843540"/>
            <a:ext cx="609600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useRef</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returns a mutable ref object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whose .current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property is initialized to the passed argument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initialValue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returned object will persist for the full lifetime of the component.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common use case is to access a child imperatively: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574E5CD-1E0D-4E43-93DA-AF2968BC7CB8}"/>
              </a:ext>
            </a:extLst>
          </p:cNvPr>
          <p:cNvSpPr txBox="1"/>
          <p:nvPr/>
        </p:nvSpPr>
        <p:spPr>
          <a:xfrm>
            <a:off x="176981" y="2874865"/>
            <a:ext cx="6096000" cy="38779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function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TextInputWithFocusButton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useRef</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null</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00FF"/>
                </a:solidFill>
                <a:effectLst/>
                <a:uLnTx/>
                <a:uFillTx/>
                <a:latin typeface="Consolas" panose="020B0609020204030204" pitchFamily="49" charset="0"/>
                <a:ea typeface="+mn-ea"/>
                <a:cs typeface="+mn-cs"/>
              </a:rPr>
              <a:t>const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onButtonClick</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 () </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`current` points to the mounted text input element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current</a:t>
            </a: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focus</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AF00DB"/>
                </a:solidFill>
                <a:effectLst/>
                <a:uLnTx/>
                <a:uFillTx/>
                <a:latin typeface="Consolas" panose="020B0609020204030204" pitchFamily="49" charset="0"/>
                <a:ea typeface="+mn-ea"/>
                <a:cs typeface="+mn-cs"/>
              </a:rPr>
              <a:t>return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&lt;input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ref</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0070C1"/>
                </a:solidFill>
                <a:effectLst/>
                <a:uLnTx/>
                <a:uFillTx/>
                <a:latin typeface="Consolas" panose="020B0609020204030204" pitchFamily="49" charset="0"/>
                <a:ea typeface="+mn-ea"/>
                <a:cs typeface="+mn-cs"/>
              </a:rPr>
              <a:t>inputEl</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type</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"text"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err="1">
                <a:ln>
                  <a:noFill/>
                </a:ln>
                <a:solidFill>
                  <a:srgbClr val="FF0000"/>
                </a:solidFill>
                <a:effectLst/>
                <a:uLnTx/>
                <a:uFillTx/>
                <a:latin typeface="Consolas" panose="020B0609020204030204" pitchFamily="49" charset="0"/>
                <a:ea typeface="+mn-ea"/>
                <a:cs typeface="+mn-cs"/>
              </a:rPr>
              <a:t>onClick</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onButtonClick</a:t>
            </a:r>
            <a:r>
              <a:rPr kumimoji="0" lang="en-IN" sz="16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&gt;</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Focus the input</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&lt;/button&gt;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0"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&lt;/&gt;</a:t>
            </a:r>
            <a:endPar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p:txBody>
      </p:sp>
      <p:sp>
        <p:nvSpPr>
          <p:cNvPr id="3" name="TextBox 2">
            <a:extLst>
              <a:ext uri="{FF2B5EF4-FFF2-40B4-BE49-F238E27FC236}">
                <a16:creationId xmlns:a16="http://schemas.microsoft.com/office/drawing/2014/main" id="{963D2D93-F897-67BF-B72A-FA8830A21E8A}"/>
              </a:ext>
            </a:extLst>
          </p:cNvPr>
          <p:cNvSpPr txBox="1"/>
          <p:nvPr/>
        </p:nvSpPr>
        <p:spPr>
          <a:xfrm>
            <a:off x="5919019" y="6103062"/>
            <a:ext cx="6096000"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https://blog.logrocket.com/usestate-vs-useref/</a:t>
            </a:r>
          </a:p>
        </p:txBody>
      </p:sp>
    </p:spTree>
    <p:extLst>
      <p:ext uri="{BB962C8B-B14F-4D97-AF65-F5344CB8AC3E}">
        <p14:creationId xmlns:p14="http://schemas.microsoft.com/office/powerpoint/2010/main" val="1334002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TotalTime>
  <Words>4560</Words>
  <Application>Microsoft Office PowerPoint</Application>
  <PresentationFormat>Widescreen</PresentationFormat>
  <Paragraphs>604</Paragraphs>
  <Slides>21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Arial</vt:lpstr>
      <vt:lpstr>Calibri</vt:lpstr>
      <vt:lpstr>Calibri Light</vt:lpstr>
      <vt:lpstr>Consolas</vt:lpstr>
      <vt:lpstr>Montserrat</vt:lpstr>
      <vt:lpstr>Segoe UI</vt:lpstr>
      <vt:lpstr>source-code-pro</vt:lpstr>
      <vt:lpstr>ui-monospace</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60</cp:revision>
  <dcterms:created xsi:type="dcterms:W3CDTF">2022-03-03T12:56:57Z</dcterms:created>
  <dcterms:modified xsi:type="dcterms:W3CDTF">2023-03-10T09:52:28Z</dcterms:modified>
</cp:coreProperties>
</file>