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60" r:id="rId2"/>
    <p:sldId id="262" r:id="rId3"/>
    <p:sldId id="264" r:id="rId4"/>
    <p:sldId id="265" r:id="rId5"/>
    <p:sldId id="266" r:id="rId6"/>
    <p:sldId id="267" r:id="rId7"/>
    <p:sldId id="268" r:id="rId8"/>
    <p:sldId id="269" r:id="rId9"/>
    <p:sldId id="270" r:id="rId10"/>
    <p:sldId id="282" r:id="rId11"/>
    <p:sldId id="283" r:id="rId12"/>
    <p:sldId id="284" r:id="rId13"/>
    <p:sldId id="285" r:id="rId14"/>
    <p:sldId id="286" r:id="rId15"/>
    <p:sldId id="279" r:id="rId16"/>
    <p:sldId id="280" r:id="rId17"/>
    <p:sldId id="281" r:id="rId18"/>
    <p:sldId id="278" r:id="rId19"/>
    <p:sldId id="290" r:id="rId20"/>
    <p:sldId id="291" r:id="rId21"/>
    <p:sldId id="292" r:id="rId22"/>
    <p:sldId id="272" r:id="rId23"/>
    <p:sldId id="287" r:id="rId24"/>
    <p:sldId id="288" r:id="rId25"/>
    <p:sldId id="28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9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08-10-2026</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08-10-2026</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react.dev/reference/react/useStat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7D1034-DF92-43F3-946A-A57401085A83}"/>
              </a:ext>
            </a:extLst>
          </p:cNvPr>
          <p:cNvSpPr>
            <a:spLocks noGrp="1"/>
          </p:cNvSpPr>
          <p:nvPr>
            <p:ph idx="1"/>
          </p:nvPr>
        </p:nvSpPr>
        <p:spPr>
          <a:xfrm>
            <a:off x="127819" y="845574"/>
            <a:ext cx="4513007" cy="5439544"/>
          </a:xfrm>
        </p:spPr>
        <p:txBody>
          <a:bodyPr>
            <a:normAutofit fontScale="55000" lnSpcReduction="20000"/>
          </a:bodyPr>
          <a:lstStyle/>
          <a:p>
            <a:r>
              <a:rPr lang="en-US" i="1" dirty="0"/>
              <a:t>Hooks</a:t>
            </a:r>
            <a:r>
              <a:rPr lang="en-US" dirty="0"/>
              <a:t> are a new addition in React 16.8. They let you use state and other React features without writing a class.</a:t>
            </a:r>
          </a:p>
          <a:p>
            <a:pPr marL="0" indent="0">
              <a:buNone/>
            </a:pP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Example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Declare a new state variable, which we'll call “count“</a:t>
            </a:r>
          </a:p>
          <a:p>
            <a:pPr marL="0" indent="0">
              <a:buNone/>
            </a:pPr>
            <a:r>
              <a:rPr lang="en-IN" b="0" dirty="0">
                <a:solidFill>
                  <a:schemeClr val="accent1"/>
                </a:solidFill>
                <a:effectLst/>
                <a:latin typeface="Consolas" panose="020B0609020204030204" pitchFamily="49" charset="0"/>
              </a:rPr>
              <a:t>  </a:t>
            </a:r>
            <a:r>
              <a:rPr lang="en-IN" b="0" dirty="0" err="1">
                <a:solidFill>
                  <a:schemeClr val="accent1"/>
                </a:solidFill>
                <a:effectLst/>
                <a:latin typeface="Consolas" panose="020B0609020204030204" pitchFamily="49" charset="0"/>
              </a:rPr>
              <a:t>const</a:t>
            </a:r>
            <a:r>
              <a:rPr lang="en-IN" b="0" dirty="0">
                <a:solidFill>
                  <a:srgbClr val="008000"/>
                </a:solidFill>
                <a:effectLst/>
                <a:latin typeface="Consolas" panose="020B0609020204030204" pitchFamily="49" charset="0"/>
              </a:rPr>
              <a:t> [count, </a:t>
            </a:r>
            <a:r>
              <a:rPr lang="en-IN" b="0" dirty="0" err="1">
                <a:solidFill>
                  <a:srgbClr val="008000"/>
                </a:solidFill>
                <a:effectLst/>
                <a:latin typeface="Consolas" panose="020B0609020204030204" pitchFamily="49" charset="0"/>
              </a:rPr>
              <a:t>setCount</a:t>
            </a:r>
            <a:r>
              <a:rPr lang="en-IN" b="0" dirty="0">
                <a:solidFill>
                  <a:srgbClr val="008000"/>
                </a:solidFill>
                <a:effectLst/>
                <a:latin typeface="Consolas" panose="020B0609020204030204" pitchFamily="49" charset="0"/>
              </a:rPr>
              <a:t>] = </a:t>
            </a:r>
            <a:r>
              <a:rPr lang="en-IN" b="0" dirty="0" err="1">
                <a:solidFill>
                  <a:srgbClr val="008000"/>
                </a:solidFill>
                <a:effectLst/>
                <a:latin typeface="Consolas" panose="020B0609020204030204" pitchFamily="49" charset="0"/>
              </a:rPr>
              <a:t>useState</a:t>
            </a:r>
            <a:r>
              <a:rPr lang="en-IN" b="0" dirty="0">
                <a:solidFill>
                  <a:srgbClr val="008000"/>
                </a:solidFill>
                <a:effectLst/>
                <a:latin typeface="Consolas" panose="020B0609020204030204" pitchFamily="49" charset="0"/>
              </a:rPr>
              <a:t>(0);</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 </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You clicked </a:t>
            </a:r>
            <a:r>
              <a:rPr lang="en-IN" b="0" dirty="0">
                <a:solidFill>
                  <a:srgbClr val="0000FF"/>
                </a:solidFill>
                <a:effectLst/>
                <a:latin typeface="Consolas" panose="020B0609020204030204" pitchFamily="49" charset="0"/>
              </a:rPr>
              <a:t>{</a:t>
            </a:r>
            <a:r>
              <a:rPr lang="en-IN" b="0" dirty="0">
                <a:solidFill>
                  <a:srgbClr val="00108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setCount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count</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Click me</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p>
          <a:p>
            <a:pPr marL="0" indent="0">
              <a:buNone/>
            </a:pPr>
            <a:r>
              <a:rPr lang="en-US" dirty="0">
                <a:solidFill>
                  <a:srgbClr val="800000"/>
                </a:solidFill>
                <a:latin typeface="Consolas" panose="020B0609020204030204" pitchFamily="49" charset="0"/>
              </a:rPr>
              <a:t>{count}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endParaRPr lang="en-IN" dirty="0"/>
          </a:p>
        </p:txBody>
      </p:sp>
      <p:cxnSp>
        <p:nvCxnSpPr>
          <p:cNvPr id="4" name="Straight Arrow Connector 3">
            <a:extLst>
              <a:ext uri="{FF2B5EF4-FFF2-40B4-BE49-F238E27FC236}">
                <a16:creationId xmlns:a16="http://schemas.microsoft.com/office/drawing/2014/main" id="{D1ED76E5-FDE8-9F4B-F593-24BECA554130}"/>
              </a:ext>
            </a:extLst>
          </p:cNvPr>
          <p:cNvCxnSpPr/>
          <p:nvPr/>
        </p:nvCxnSpPr>
        <p:spPr>
          <a:xfrm>
            <a:off x="1602557" y="3016577"/>
            <a:ext cx="622169" cy="1866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8839CBF-E546-CE39-A5D8-4FFE1DAB4DE1}"/>
              </a:ext>
            </a:extLst>
          </p:cNvPr>
          <p:cNvSpPr/>
          <p:nvPr/>
        </p:nvSpPr>
        <p:spPr>
          <a:xfrm>
            <a:off x="2102177" y="4996206"/>
            <a:ext cx="1065229" cy="735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variable</a:t>
            </a:r>
            <a:endParaRPr lang="en-IN" dirty="0"/>
          </a:p>
        </p:txBody>
      </p:sp>
      <p:cxnSp>
        <p:nvCxnSpPr>
          <p:cNvPr id="8" name="Straight Arrow Connector 7">
            <a:extLst>
              <a:ext uri="{FF2B5EF4-FFF2-40B4-BE49-F238E27FC236}">
                <a16:creationId xmlns:a16="http://schemas.microsoft.com/office/drawing/2014/main" id="{D3EF278E-89B5-E3B5-23B5-C708E4EF2CCC}"/>
              </a:ext>
            </a:extLst>
          </p:cNvPr>
          <p:cNvCxnSpPr/>
          <p:nvPr/>
        </p:nvCxnSpPr>
        <p:spPr>
          <a:xfrm>
            <a:off x="2479249" y="3016577"/>
            <a:ext cx="1319753" cy="2121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A5395C4-420E-F4D6-EC02-5FDA80A113A9}"/>
              </a:ext>
            </a:extLst>
          </p:cNvPr>
          <p:cNvSpPr/>
          <p:nvPr/>
        </p:nvSpPr>
        <p:spPr>
          <a:xfrm>
            <a:off x="3544478" y="5137608"/>
            <a:ext cx="1473420" cy="10180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Pointing to function</a:t>
            </a:r>
            <a:endParaRPr lang="en-IN" dirty="0"/>
          </a:p>
        </p:txBody>
      </p:sp>
      <p:cxnSp>
        <p:nvCxnSpPr>
          <p:cNvPr id="11" name="Straight Connector 10">
            <a:extLst>
              <a:ext uri="{FF2B5EF4-FFF2-40B4-BE49-F238E27FC236}">
                <a16:creationId xmlns:a16="http://schemas.microsoft.com/office/drawing/2014/main" id="{821EB762-7FB9-AAD9-6F16-4936C5829C64}"/>
              </a:ext>
            </a:extLst>
          </p:cNvPr>
          <p:cNvCxnSpPr/>
          <p:nvPr/>
        </p:nvCxnSpPr>
        <p:spPr>
          <a:xfrm>
            <a:off x="1260353" y="3016577"/>
            <a:ext cx="1511127" cy="0"/>
          </a:xfrm>
          <a:prstGeom prst="line">
            <a:avLst/>
          </a:prstGeom>
          <a:ln w="76200"/>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F15E0EE4-BFB9-B805-4CC6-B6945F6204C4}"/>
              </a:ext>
            </a:extLst>
          </p:cNvPr>
          <p:cNvCxnSpPr/>
          <p:nvPr/>
        </p:nvCxnSpPr>
        <p:spPr>
          <a:xfrm flipH="1">
            <a:off x="1260353" y="3016577"/>
            <a:ext cx="1058641" cy="29694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71C63AF1-2922-AE32-6E0F-2EBC7B523694}"/>
              </a:ext>
            </a:extLst>
          </p:cNvPr>
          <p:cNvSpPr/>
          <p:nvPr/>
        </p:nvSpPr>
        <p:spPr>
          <a:xfrm>
            <a:off x="232831" y="5986020"/>
            <a:ext cx="2538649" cy="7729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Array </a:t>
            </a:r>
            <a:r>
              <a:rPr lang="en-US" dirty="0" err="1"/>
              <a:t>destructuring</a:t>
            </a:r>
            <a:endParaRPr lang="en-IN" dirty="0"/>
          </a:p>
        </p:txBody>
      </p:sp>
      <p:cxnSp>
        <p:nvCxnSpPr>
          <p:cNvPr id="16" name="Straight Arrow Connector 15">
            <a:extLst>
              <a:ext uri="{FF2B5EF4-FFF2-40B4-BE49-F238E27FC236}">
                <a16:creationId xmlns:a16="http://schemas.microsoft.com/office/drawing/2014/main" id="{045CDF05-0EC1-E28C-7BBE-6B32D787CD20}"/>
              </a:ext>
            </a:extLst>
          </p:cNvPr>
          <p:cNvCxnSpPr/>
          <p:nvPr/>
        </p:nvCxnSpPr>
        <p:spPr>
          <a:xfrm flipV="1">
            <a:off x="4100659" y="2642939"/>
            <a:ext cx="377073" cy="273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0E315F2-592B-C3D6-A3A8-C86187D069E4}"/>
              </a:ext>
            </a:extLst>
          </p:cNvPr>
          <p:cNvSpPr/>
          <p:nvPr/>
        </p:nvSpPr>
        <p:spPr>
          <a:xfrm>
            <a:off x="4477732" y="1916201"/>
            <a:ext cx="1065229" cy="798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Initial value of count</a:t>
            </a:r>
            <a:endParaRPr lang="en-IN" sz="1400" dirty="0"/>
          </a:p>
        </p:txBody>
      </p:sp>
      <p:sp>
        <p:nvSpPr>
          <p:cNvPr id="5" name="Content Placeholder 2">
            <a:extLst>
              <a:ext uri="{FF2B5EF4-FFF2-40B4-BE49-F238E27FC236}">
                <a16:creationId xmlns:a16="http://schemas.microsoft.com/office/drawing/2014/main" id="{AB26B9C9-5C51-5819-96C2-22BBE5604025}"/>
              </a:ext>
            </a:extLst>
          </p:cNvPr>
          <p:cNvSpPr txBox="1">
            <a:spLocks/>
          </p:cNvSpPr>
          <p:nvPr/>
        </p:nvSpPr>
        <p:spPr>
          <a:xfrm>
            <a:off x="5790897" y="716159"/>
            <a:ext cx="6401104" cy="5439544"/>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IN" dirty="0">
                <a:solidFill>
                  <a:srgbClr val="000000"/>
                </a:solidFill>
                <a:latin typeface="Consolas" panose="020B0609020204030204" pitchFamily="49" charset="0"/>
              </a:rPr>
            </a:br>
            <a:r>
              <a:rPr lang="en-IN" dirty="0">
                <a:solidFill>
                  <a:srgbClr val="AF00DB"/>
                </a:solidFill>
                <a:latin typeface="Consolas" panose="020B0609020204030204" pitchFamily="49" charset="0"/>
              </a:rPr>
              <a:t>import</a:t>
            </a:r>
            <a:r>
              <a:rPr lang="en-IN" dirty="0">
                <a:solidFill>
                  <a:srgbClr val="000000"/>
                </a:solidFill>
                <a:latin typeface="Consolas" panose="020B0609020204030204" pitchFamily="49" charset="0"/>
              </a:rPr>
              <a:t> </a:t>
            </a:r>
            <a:r>
              <a:rPr lang="en-IN" dirty="0">
                <a:solidFill>
                  <a:srgbClr val="001080"/>
                </a:solidFill>
                <a:latin typeface="Consolas" panose="020B0609020204030204" pitchFamily="49" charset="0"/>
              </a:rPr>
              <a:t>React</a:t>
            </a:r>
            <a:r>
              <a:rPr lang="en-IN" dirty="0">
                <a:solidFill>
                  <a:srgbClr val="000000"/>
                </a:solidFill>
                <a:latin typeface="Consolas" panose="020B0609020204030204" pitchFamily="49" charset="0"/>
              </a:rPr>
              <a:t>, { </a:t>
            </a:r>
            <a:r>
              <a:rPr lang="en-IN" dirty="0" err="1">
                <a:solidFill>
                  <a:srgbClr val="001080"/>
                </a:solidFill>
                <a:latin typeface="Consolas" panose="020B0609020204030204" pitchFamily="49" charset="0"/>
              </a:rPr>
              <a:t>useState</a:t>
            </a:r>
            <a:r>
              <a:rPr lang="en-IN" dirty="0">
                <a:solidFill>
                  <a:srgbClr val="000000"/>
                </a:solidFill>
                <a:latin typeface="Consolas" panose="020B0609020204030204" pitchFamily="49" charset="0"/>
              </a:rPr>
              <a:t> } </a:t>
            </a:r>
            <a:r>
              <a:rPr lang="en-IN" dirty="0">
                <a:solidFill>
                  <a:srgbClr val="AF00DB"/>
                </a:solidFill>
                <a:latin typeface="Consolas" panose="020B0609020204030204" pitchFamily="49" charset="0"/>
              </a:rPr>
              <a:t>from</a:t>
            </a:r>
            <a:r>
              <a:rPr lang="en-IN" dirty="0">
                <a:solidFill>
                  <a:srgbClr val="000000"/>
                </a:solidFill>
                <a:latin typeface="Consolas" panose="020B0609020204030204" pitchFamily="49" charset="0"/>
              </a:rPr>
              <a:t> </a:t>
            </a:r>
            <a:r>
              <a:rPr lang="en-IN" dirty="0">
                <a:solidFill>
                  <a:srgbClr val="A31515"/>
                </a:solidFill>
                <a:latin typeface="Consolas" panose="020B0609020204030204" pitchFamily="49" charset="0"/>
              </a:rPr>
              <a:t>'react'</a:t>
            </a:r>
            <a:r>
              <a:rPr lang="en-IN" dirty="0">
                <a:solidFill>
                  <a:srgbClr val="000000"/>
                </a:solidFill>
                <a:latin typeface="Consolas" panose="020B0609020204030204" pitchFamily="49" charset="0"/>
              </a:rPr>
              <a:t>;</a:t>
            </a:r>
          </a:p>
          <a:p>
            <a:pPr marL="0" indent="0">
              <a:buFont typeface="Arial" panose="020B0604020202020204" pitchFamily="34" charset="0"/>
              <a:buNone/>
            </a:pPr>
            <a:br>
              <a:rPr lang="en-IN" dirty="0">
                <a:solidFill>
                  <a:srgbClr val="000000"/>
                </a:solidFill>
                <a:latin typeface="Consolas" panose="020B0609020204030204" pitchFamily="49" charset="0"/>
              </a:rPr>
            </a:br>
            <a:r>
              <a:rPr lang="en-IN" dirty="0">
                <a:solidFill>
                  <a:srgbClr val="0000FF"/>
                </a:solidFill>
                <a:latin typeface="Consolas" panose="020B0609020204030204" pitchFamily="49" charset="0"/>
              </a:rPr>
              <a:t>function</a:t>
            </a:r>
            <a:r>
              <a:rPr lang="en-IN" dirty="0">
                <a:solidFill>
                  <a:srgbClr val="000000"/>
                </a:solidFill>
                <a:latin typeface="Consolas" panose="020B0609020204030204" pitchFamily="49" charset="0"/>
              </a:rPr>
              <a:t> </a:t>
            </a:r>
            <a:r>
              <a:rPr lang="en-IN" dirty="0">
                <a:solidFill>
                  <a:srgbClr val="795E26"/>
                </a:solidFill>
                <a:latin typeface="Consolas" panose="020B0609020204030204" pitchFamily="49" charset="0"/>
              </a:rPr>
              <a:t>Example</a:t>
            </a:r>
            <a:r>
              <a:rPr lang="en-IN" dirty="0">
                <a:solidFill>
                  <a:srgbClr val="000000"/>
                </a:solidFill>
                <a:latin typeface="Consolas" panose="020B0609020204030204" pitchFamily="49" charset="0"/>
              </a:rPr>
              <a:t>() {</a:t>
            </a:r>
          </a:p>
          <a:p>
            <a:pPr marL="0" indent="0">
              <a:buFont typeface="Arial" panose="020B0604020202020204" pitchFamily="34" charset="0"/>
              <a:buNone/>
            </a:pPr>
            <a:r>
              <a:rPr lang="en-IN" dirty="0">
                <a:solidFill>
                  <a:srgbClr val="000000"/>
                </a:solidFill>
                <a:latin typeface="Consolas" panose="020B0609020204030204" pitchFamily="49" charset="0"/>
              </a:rPr>
              <a:t>let count=0;</a:t>
            </a:r>
          </a:p>
          <a:p>
            <a:pPr marL="0" indent="0">
              <a:buFont typeface="Arial" panose="020B0604020202020204" pitchFamily="34" charset="0"/>
              <a:buNone/>
            </a:pPr>
            <a:r>
              <a:rPr lang="en-IN" dirty="0">
                <a:solidFill>
                  <a:srgbClr val="000000"/>
                </a:solidFill>
                <a:latin typeface="Consolas" panose="020B0609020204030204" pitchFamily="49" charset="0"/>
              </a:rPr>
              <a:t>	function </a:t>
            </a:r>
            <a:r>
              <a:rPr lang="en-IN" dirty="0" err="1">
                <a:solidFill>
                  <a:srgbClr val="000000"/>
                </a:solidFill>
                <a:latin typeface="Consolas" panose="020B0609020204030204" pitchFamily="49" charset="0"/>
              </a:rPr>
              <a:t>getCount</a:t>
            </a:r>
            <a:r>
              <a:rPr lang="en-IN" dirty="0">
                <a:solidFill>
                  <a:srgbClr val="000000"/>
                </a:solidFill>
                <a:latin typeface="Consolas" panose="020B0609020204030204" pitchFamily="49" charset="0"/>
              </a:rPr>
              <a:t>(){  count=count+1; }</a:t>
            </a:r>
          </a:p>
          <a:p>
            <a:pPr marL="0" indent="0">
              <a:buFont typeface="Arial" panose="020B0604020202020204" pitchFamily="34" charset="0"/>
              <a:buNone/>
            </a:pPr>
            <a:r>
              <a:rPr lang="en-IN" dirty="0">
                <a:solidFill>
                  <a:srgbClr val="000000"/>
                </a:solidFill>
                <a:latin typeface="Consolas" panose="020B0609020204030204" pitchFamily="49" charset="0"/>
              </a:rPr>
              <a:t>  </a:t>
            </a:r>
            <a:r>
              <a:rPr lang="en-IN" dirty="0">
                <a:solidFill>
                  <a:srgbClr val="AF00DB"/>
                </a:solidFill>
                <a:latin typeface="Consolas" panose="020B0609020204030204" pitchFamily="49" charset="0"/>
              </a:rPr>
              <a:t>return</a:t>
            </a:r>
            <a:r>
              <a:rPr lang="en-IN" dirty="0">
                <a:solidFill>
                  <a:srgbClr val="000000"/>
                </a:solidFill>
                <a:latin typeface="Consolas" panose="020B0609020204030204" pitchFamily="49" charset="0"/>
              </a:rPr>
              <a:t> (</a:t>
            </a:r>
          </a:p>
          <a:p>
            <a:pPr marL="0" indent="0">
              <a:buFont typeface="Arial" panose="020B0604020202020204" pitchFamily="34" charset="0"/>
              <a:buNone/>
            </a:pP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&lt;div&gt; </a:t>
            </a:r>
            <a:endParaRPr lang="en-IN" dirty="0">
              <a:solidFill>
                <a:srgbClr val="000000"/>
              </a:solidFill>
              <a:latin typeface="Consolas" panose="020B0609020204030204" pitchFamily="49" charset="0"/>
            </a:endParaRPr>
          </a:p>
          <a:p>
            <a:pPr marL="0" indent="0">
              <a:buFont typeface="Arial" panose="020B0604020202020204" pitchFamily="34" charset="0"/>
              <a:buNone/>
            </a:pP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&lt;p&gt;</a:t>
            </a:r>
            <a:r>
              <a:rPr lang="en-IN" dirty="0">
                <a:solidFill>
                  <a:srgbClr val="000000"/>
                </a:solidFill>
                <a:latin typeface="Consolas" panose="020B0609020204030204" pitchFamily="49" charset="0"/>
              </a:rPr>
              <a:t>You clicked </a:t>
            </a:r>
            <a:r>
              <a:rPr lang="en-IN" dirty="0">
                <a:solidFill>
                  <a:srgbClr val="0000FF"/>
                </a:solidFill>
                <a:latin typeface="Consolas" panose="020B0609020204030204" pitchFamily="49" charset="0"/>
              </a:rPr>
              <a:t>{</a:t>
            </a:r>
            <a:r>
              <a:rPr lang="en-IN" dirty="0">
                <a:solidFill>
                  <a:srgbClr val="001080"/>
                </a:solidFill>
                <a:latin typeface="Consolas" panose="020B0609020204030204" pitchFamily="49" charset="0"/>
              </a:rPr>
              <a:t>count</a:t>
            </a:r>
            <a:r>
              <a:rPr lang="en-IN" dirty="0">
                <a:solidFill>
                  <a:srgbClr val="0000FF"/>
                </a:solidFill>
                <a:latin typeface="Consolas" panose="020B0609020204030204" pitchFamily="49" charset="0"/>
              </a:rPr>
              <a:t>}</a:t>
            </a:r>
            <a:r>
              <a:rPr lang="en-IN" dirty="0">
                <a:solidFill>
                  <a:srgbClr val="000000"/>
                </a:solidFill>
                <a:latin typeface="Consolas" panose="020B0609020204030204" pitchFamily="49" charset="0"/>
              </a:rPr>
              <a:t> times</a:t>
            </a:r>
            <a:r>
              <a:rPr lang="en-IN" dirty="0">
                <a:solidFill>
                  <a:srgbClr val="800000"/>
                </a:solidFill>
                <a:latin typeface="Consolas" panose="020B0609020204030204" pitchFamily="49" charset="0"/>
              </a:rPr>
              <a:t>&lt;/p&gt;</a:t>
            </a:r>
            <a:endParaRPr lang="en-IN" dirty="0">
              <a:solidFill>
                <a:srgbClr val="000000"/>
              </a:solidFill>
              <a:latin typeface="Consolas" panose="020B0609020204030204" pitchFamily="49" charset="0"/>
            </a:endParaRPr>
          </a:p>
          <a:p>
            <a:pPr marL="0" indent="0">
              <a:buFont typeface="Arial" panose="020B0604020202020204" pitchFamily="34" charset="0"/>
              <a:buNone/>
            </a:pP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&lt;button</a:t>
            </a:r>
            <a:r>
              <a:rPr lang="en-IN" dirty="0">
                <a:solidFill>
                  <a:srgbClr val="000000"/>
                </a:solidFill>
                <a:latin typeface="Consolas" panose="020B0609020204030204" pitchFamily="49" charset="0"/>
              </a:rPr>
              <a:t> </a:t>
            </a:r>
            <a:r>
              <a:rPr lang="en-IN" dirty="0" err="1">
                <a:solidFill>
                  <a:srgbClr val="FF0000"/>
                </a:solidFill>
                <a:latin typeface="Consolas" panose="020B0609020204030204" pitchFamily="49" charset="0"/>
              </a:rPr>
              <a:t>onClick</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err="1">
                <a:solidFill>
                  <a:srgbClr val="000000"/>
                </a:solidFill>
                <a:latin typeface="Consolas" panose="020B0609020204030204" pitchFamily="49" charset="0"/>
              </a:rPr>
              <a:t>getCount</a:t>
            </a:r>
            <a:r>
              <a:rPr lang="en-IN" dirty="0">
                <a:solidFill>
                  <a:srgbClr val="0000FF"/>
                </a:solidFill>
                <a:latin typeface="Consolas" panose="020B0609020204030204" pitchFamily="49" charset="0"/>
              </a:rPr>
              <a:t>}</a:t>
            </a:r>
            <a:r>
              <a:rPr lang="en-IN" dirty="0">
                <a:solidFill>
                  <a:srgbClr val="800000"/>
                </a:solidFill>
                <a:latin typeface="Consolas" panose="020B0609020204030204" pitchFamily="49" charset="0"/>
              </a:rPr>
              <a:t>&gt;</a:t>
            </a:r>
            <a:endParaRPr lang="en-IN" dirty="0">
              <a:solidFill>
                <a:srgbClr val="000000"/>
              </a:solidFill>
              <a:latin typeface="Consolas" panose="020B0609020204030204" pitchFamily="49" charset="0"/>
            </a:endParaRPr>
          </a:p>
          <a:p>
            <a:pPr marL="0" indent="0">
              <a:buFont typeface="Arial" panose="020B0604020202020204" pitchFamily="34" charset="0"/>
              <a:buNone/>
            </a:pPr>
            <a:r>
              <a:rPr lang="en-IN" dirty="0">
                <a:solidFill>
                  <a:srgbClr val="000000"/>
                </a:solidFill>
                <a:latin typeface="Consolas" panose="020B0609020204030204" pitchFamily="49" charset="0"/>
              </a:rPr>
              <a:t>        Click me</a:t>
            </a:r>
          </a:p>
          <a:p>
            <a:pPr marL="0" indent="0">
              <a:buFont typeface="Arial" panose="020B0604020202020204" pitchFamily="34" charset="0"/>
              <a:buNone/>
            </a:pP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&lt;/button&gt;</a:t>
            </a:r>
          </a:p>
          <a:p>
            <a:pPr marL="0" indent="0">
              <a:buFont typeface="Arial" panose="020B0604020202020204" pitchFamily="34" charset="0"/>
              <a:buNone/>
            </a:pPr>
            <a:r>
              <a:rPr lang="en-US" dirty="0">
                <a:solidFill>
                  <a:srgbClr val="800000"/>
                </a:solidFill>
                <a:latin typeface="Consolas" panose="020B0609020204030204" pitchFamily="49" charset="0"/>
              </a:rPr>
              <a:t>{count}</a:t>
            </a:r>
            <a:endParaRPr lang="en-IN" dirty="0">
              <a:solidFill>
                <a:srgbClr val="000000"/>
              </a:solidFill>
              <a:latin typeface="Consolas" panose="020B0609020204030204" pitchFamily="49" charset="0"/>
            </a:endParaRPr>
          </a:p>
          <a:p>
            <a:pPr marL="0" indent="0">
              <a:buFont typeface="Arial" panose="020B0604020202020204" pitchFamily="34" charset="0"/>
              <a:buNone/>
            </a:pPr>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&lt;/div&gt;</a:t>
            </a:r>
            <a:endParaRPr lang="en-IN" dirty="0">
              <a:solidFill>
                <a:srgbClr val="000000"/>
              </a:solidFill>
              <a:latin typeface="Consolas" panose="020B0609020204030204" pitchFamily="49" charset="0"/>
            </a:endParaRPr>
          </a:p>
          <a:p>
            <a:pPr marL="0" indent="0">
              <a:buFont typeface="Arial" panose="020B0604020202020204" pitchFamily="34" charset="0"/>
              <a:buNone/>
            </a:pPr>
            <a:r>
              <a:rPr lang="en-IN" dirty="0">
                <a:solidFill>
                  <a:srgbClr val="000000"/>
                </a:solidFill>
                <a:latin typeface="Consolas" panose="020B0609020204030204" pitchFamily="49" charset="0"/>
              </a:rPr>
              <a:t>  );</a:t>
            </a:r>
          </a:p>
          <a:p>
            <a:pPr marL="0" indent="0">
              <a:buFont typeface="Arial" panose="020B0604020202020204" pitchFamily="34" charset="0"/>
              <a:buNone/>
            </a:pPr>
            <a:r>
              <a:rPr lang="en-IN" dirty="0">
                <a:solidFill>
                  <a:srgbClr val="000000"/>
                </a:solidFill>
                <a:latin typeface="Consolas" panose="020B0609020204030204" pitchFamily="49" charset="0"/>
              </a:rPr>
              <a:t>}</a:t>
            </a:r>
          </a:p>
          <a:p>
            <a:endParaRPr lang="en-IN" dirty="0"/>
          </a:p>
        </p:txBody>
      </p:sp>
    </p:spTree>
    <p:extLst>
      <p:ext uri="{BB962C8B-B14F-4D97-AF65-F5344CB8AC3E}">
        <p14:creationId xmlns:p14="http://schemas.microsoft.com/office/powerpoint/2010/main" val="3589820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0CBB3-4829-4A1F-B591-325792D414F8}"/>
              </a:ext>
            </a:extLst>
          </p:cNvPr>
          <p:cNvSpPr>
            <a:spLocks noGrp="1"/>
          </p:cNvSpPr>
          <p:nvPr>
            <p:ph type="title"/>
          </p:nvPr>
        </p:nvSpPr>
        <p:spPr/>
        <p:txBody>
          <a:bodyPr>
            <a:normAutofit fontScale="90000"/>
          </a:bodyPr>
          <a:lstStyle/>
          <a:p>
            <a:r>
              <a:rPr lang="en-US" dirty="0"/>
              <a:t>What’s a Hook?</a:t>
            </a:r>
            <a:br>
              <a:rPr lang="en-US" dirty="0"/>
            </a:br>
            <a:r>
              <a:rPr lang="en-US" sz="3100" dirty="0"/>
              <a:t>Our new example starts by importing the </a:t>
            </a:r>
            <a:r>
              <a:rPr lang="en-US" sz="3100" dirty="0" err="1"/>
              <a:t>useState</a:t>
            </a:r>
            <a:r>
              <a:rPr lang="en-US" sz="3100" dirty="0"/>
              <a:t> Hook from React</a:t>
            </a:r>
            <a:endParaRPr lang="en-IN" dirty="0"/>
          </a:p>
        </p:txBody>
      </p:sp>
      <p:sp>
        <p:nvSpPr>
          <p:cNvPr id="3" name="Content Placeholder 2">
            <a:extLst>
              <a:ext uri="{FF2B5EF4-FFF2-40B4-BE49-F238E27FC236}">
                <a16:creationId xmlns:a16="http://schemas.microsoft.com/office/drawing/2014/main" id="{1C3F486E-8DBF-4682-BE62-C37F48DD4251}"/>
              </a:ext>
            </a:extLst>
          </p:cNvPr>
          <p:cNvSpPr>
            <a:spLocks noGrp="1"/>
          </p:cNvSpPr>
          <p:nvPr>
            <p:ph idx="1"/>
          </p:nvPr>
        </p:nvSpPr>
        <p:spPr/>
        <p:txBody>
          <a:bodyPr>
            <a:normAutofit fontScale="92500" lnSpcReduction="20000"/>
          </a:bodyPr>
          <a:lstStyle/>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Example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r>
              <a:rPr lang="en-US" b="1" dirty="0"/>
              <a:t>What is a Hook? </a:t>
            </a:r>
            <a:r>
              <a:rPr lang="en-US" dirty="0"/>
              <a:t>A Hook is a special function that lets you “hook into” React features. For example, </a:t>
            </a:r>
            <a:r>
              <a:rPr lang="en-US" dirty="0" err="1"/>
              <a:t>useState</a:t>
            </a:r>
            <a:r>
              <a:rPr lang="en-US" dirty="0"/>
              <a:t> is a Hook that lets you add React state to function components. </a:t>
            </a:r>
          </a:p>
          <a:p>
            <a:r>
              <a:rPr lang="en-US" b="1" dirty="0"/>
              <a:t>When would I use a Hook? </a:t>
            </a:r>
            <a:r>
              <a:rPr lang="en-US" dirty="0"/>
              <a:t>If you write a function component and realize you need to add some state to it, previously you had to convert it to a class. Now you can use a Hook inside the existing function component. We’re going to do that right now!</a:t>
            </a:r>
            <a:endParaRPr lang="en-IN" dirty="0"/>
          </a:p>
        </p:txBody>
      </p:sp>
    </p:spTree>
    <p:extLst>
      <p:ext uri="{BB962C8B-B14F-4D97-AF65-F5344CB8AC3E}">
        <p14:creationId xmlns:p14="http://schemas.microsoft.com/office/powerpoint/2010/main" val="1486934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BCB9C0-44C3-4599-A578-AB296B105B47}"/>
              </a:ext>
            </a:extLst>
          </p:cNvPr>
          <p:cNvSpPr txBox="1"/>
          <p:nvPr/>
        </p:nvSpPr>
        <p:spPr>
          <a:xfrm>
            <a:off x="646043" y="983973"/>
            <a:ext cx="11317357" cy="1754326"/>
          </a:xfrm>
          <a:prstGeom prst="rect">
            <a:avLst/>
          </a:prstGeom>
          <a:noFill/>
        </p:spPr>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Example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Declare a new state variable, which we'll call "count"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setCount</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endParaRPr lang="en-IN" dirty="0"/>
          </a:p>
        </p:txBody>
      </p:sp>
      <p:sp>
        <p:nvSpPr>
          <p:cNvPr id="8" name="TextBox 7">
            <a:extLst>
              <a:ext uri="{FF2B5EF4-FFF2-40B4-BE49-F238E27FC236}">
                <a16:creationId xmlns:a16="http://schemas.microsoft.com/office/drawing/2014/main" id="{401F9048-B6A6-40BD-BAA8-49EBBDF779EB}"/>
              </a:ext>
            </a:extLst>
          </p:cNvPr>
          <p:cNvSpPr txBox="1"/>
          <p:nvPr/>
        </p:nvSpPr>
        <p:spPr>
          <a:xfrm>
            <a:off x="375335" y="2996882"/>
            <a:ext cx="10793361" cy="2677656"/>
          </a:xfrm>
          <a:prstGeom prst="rect">
            <a:avLst/>
          </a:prstGeom>
          <a:noFill/>
        </p:spPr>
        <p:txBody>
          <a:bodyPr wrap="square">
            <a:spAutoFit/>
          </a:bodyPr>
          <a:lstStyle/>
          <a:p>
            <a:r>
              <a:rPr lang="en-US" sz="2800" dirty="0"/>
              <a:t>What does calling </a:t>
            </a:r>
            <a:r>
              <a:rPr lang="en-US" sz="2800" dirty="0" err="1"/>
              <a:t>useState</a:t>
            </a:r>
            <a:r>
              <a:rPr lang="en-US" sz="2800" dirty="0"/>
              <a:t> do? It declares a “state variable”. Our variable is called count but we could call it anything else, like banana. This is a way to “preserve” some values between the function calls — </a:t>
            </a:r>
            <a:r>
              <a:rPr lang="en-US" sz="2800" dirty="0" err="1"/>
              <a:t>useState</a:t>
            </a:r>
            <a:r>
              <a:rPr lang="en-US" sz="2800" dirty="0"/>
              <a:t> is a new way to use the exact same capabilities that </a:t>
            </a:r>
            <a:r>
              <a:rPr lang="en-US" sz="2800" dirty="0" err="1"/>
              <a:t>this.state</a:t>
            </a:r>
            <a:r>
              <a:rPr lang="en-US" sz="2800" dirty="0"/>
              <a:t> provides in a class. Normally, variables “disappear” when the function exits but state variables are preserved by React.</a:t>
            </a:r>
            <a:endParaRPr lang="en-IN" sz="2800" dirty="0"/>
          </a:p>
        </p:txBody>
      </p:sp>
    </p:spTree>
    <p:extLst>
      <p:ext uri="{BB962C8B-B14F-4D97-AF65-F5344CB8AC3E}">
        <p14:creationId xmlns:p14="http://schemas.microsoft.com/office/powerpoint/2010/main" val="1274203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23D99-3A5B-4847-9939-2EAFC5FAEDB2}"/>
              </a:ext>
            </a:extLst>
          </p:cNvPr>
          <p:cNvSpPr>
            <a:spLocks noGrp="1"/>
          </p:cNvSpPr>
          <p:nvPr>
            <p:ph idx="1"/>
          </p:nvPr>
        </p:nvSpPr>
        <p:spPr>
          <a:xfrm>
            <a:off x="412955" y="698090"/>
            <a:ext cx="10940845" cy="5478873"/>
          </a:xfrm>
        </p:spPr>
        <p:txBody>
          <a:bodyPr/>
          <a:lstStyle/>
          <a:p>
            <a:r>
              <a:rPr lang="en-US" dirty="0"/>
              <a:t>What do we pass to </a:t>
            </a:r>
            <a:r>
              <a:rPr lang="en-US" dirty="0" err="1"/>
              <a:t>useState</a:t>
            </a:r>
            <a:r>
              <a:rPr lang="en-US" dirty="0"/>
              <a:t> as an argument? </a:t>
            </a:r>
          </a:p>
          <a:p>
            <a:r>
              <a:rPr lang="en-US" dirty="0"/>
              <a:t>The only argument to the </a:t>
            </a:r>
            <a:r>
              <a:rPr lang="en-US" dirty="0" err="1"/>
              <a:t>useState</a:t>
            </a:r>
            <a:r>
              <a:rPr lang="en-US" dirty="0"/>
              <a:t>() Hook is the initial state. </a:t>
            </a:r>
          </a:p>
          <a:p>
            <a:r>
              <a:rPr lang="en-US" dirty="0"/>
              <a:t>Unlike with classes, the state doesn’t have to be an object. We can keep a number or a string if that’s all we need. In our example, we just want a number for how many times the user clicked, so pass 0 as initial state for our variable. (If we wanted to store two </a:t>
            </a:r>
            <a:r>
              <a:rPr lang="en-US" dirty="0">
                <a:highlight>
                  <a:srgbClr val="FFFF00"/>
                </a:highlight>
              </a:rPr>
              <a:t>different values </a:t>
            </a:r>
            <a:r>
              <a:rPr lang="en-US" dirty="0"/>
              <a:t>in state, we would call </a:t>
            </a:r>
            <a:r>
              <a:rPr lang="en-US" dirty="0" err="1"/>
              <a:t>useState</a:t>
            </a:r>
            <a:r>
              <a:rPr lang="en-US" dirty="0"/>
              <a:t>() </a:t>
            </a:r>
            <a:r>
              <a:rPr lang="en-US" b="1" dirty="0">
                <a:highlight>
                  <a:srgbClr val="FFFF00"/>
                </a:highlight>
              </a:rPr>
              <a:t>twice</a:t>
            </a:r>
            <a:r>
              <a:rPr lang="en-US" dirty="0"/>
              <a:t>.)</a:t>
            </a:r>
          </a:p>
          <a:p>
            <a:endParaRPr lang="en-US" dirty="0"/>
          </a:p>
          <a:p>
            <a:r>
              <a:rPr lang="en-US" dirty="0"/>
              <a:t>What does </a:t>
            </a:r>
            <a:r>
              <a:rPr lang="en-US" dirty="0" err="1"/>
              <a:t>useState</a:t>
            </a:r>
            <a:r>
              <a:rPr lang="en-US" dirty="0"/>
              <a:t> return?</a:t>
            </a:r>
          </a:p>
          <a:p>
            <a:r>
              <a:rPr lang="en-US" dirty="0"/>
              <a:t> It returns a pair of values: the current state and a function that updates it. This is why we write const [count, </a:t>
            </a:r>
            <a:r>
              <a:rPr lang="en-US" dirty="0" err="1"/>
              <a:t>setCount</a:t>
            </a:r>
            <a:r>
              <a:rPr lang="en-US" dirty="0"/>
              <a:t>] = </a:t>
            </a:r>
            <a:r>
              <a:rPr lang="en-US" dirty="0" err="1"/>
              <a:t>useState</a:t>
            </a:r>
            <a:r>
              <a:rPr lang="en-US" dirty="0"/>
              <a:t>(). </a:t>
            </a:r>
            <a:endParaRPr lang="en-IN" dirty="0"/>
          </a:p>
        </p:txBody>
      </p:sp>
    </p:spTree>
    <p:extLst>
      <p:ext uri="{BB962C8B-B14F-4D97-AF65-F5344CB8AC3E}">
        <p14:creationId xmlns:p14="http://schemas.microsoft.com/office/powerpoint/2010/main" val="3283073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155FB-3BC7-440F-8769-D5E3ABF76740}"/>
              </a:ext>
            </a:extLst>
          </p:cNvPr>
          <p:cNvSpPr>
            <a:spLocks noGrp="1"/>
          </p:cNvSpPr>
          <p:nvPr>
            <p:ph idx="1"/>
          </p:nvPr>
        </p:nvSpPr>
        <p:spPr>
          <a:xfrm>
            <a:off x="1170039" y="104630"/>
            <a:ext cx="10553699" cy="829436"/>
          </a:xfrm>
        </p:spPr>
        <p:txBody>
          <a:bodyPr>
            <a:normAutofit lnSpcReduction="10000"/>
          </a:bodyPr>
          <a:lstStyle/>
          <a:p>
            <a:r>
              <a:rPr lang="en-US" dirty="0"/>
              <a:t>Now that we know what the </a:t>
            </a:r>
            <a:r>
              <a:rPr lang="en-US" dirty="0" err="1"/>
              <a:t>useState</a:t>
            </a:r>
            <a:r>
              <a:rPr lang="en-US" dirty="0"/>
              <a:t> Hook does, our example should make more sense:</a:t>
            </a:r>
            <a:endParaRPr lang="en-IN" dirty="0"/>
          </a:p>
        </p:txBody>
      </p:sp>
      <p:sp>
        <p:nvSpPr>
          <p:cNvPr id="6" name="TextBox 5">
            <a:extLst>
              <a:ext uri="{FF2B5EF4-FFF2-40B4-BE49-F238E27FC236}">
                <a16:creationId xmlns:a16="http://schemas.microsoft.com/office/drawing/2014/main" id="{BAFCA15D-938A-458C-932D-7F7AFE4DF3D5}"/>
              </a:ext>
            </a:extLst>
          </p:cNvPr>
          <p:cNvSpPr txBox="1"/>
          <p:nvPr/>
        </p:nvSpPr>
        <p:spPr>
          <a:xfrm>
            <a:off x="68825" y="1248862"/>
            <a:ext cx="10553699"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React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Example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Declare a new state variable, which we'll call "count"  </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count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setCount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0</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6A732CE5-CE18-454D-8071-E243484902C3}"/>
              </a:ext>
            </a:extLst>
          </p:cNvPr>
          <p:cNvSpPr txBox="1"/>
          <p:nvPr/>
        </p:nvSpPr>
        <p:spPr>
          <a:xfrm>
            <a:off x="-39329" y="3254648"/>
            <a:ext cx="10743771" cy="646331"/>
          </a:xfrm>
          <a:prstGeom prst="rect">
            <a:avLst/>
          </a:prstGeom>
          <a:noFill/>
        </p:spPr>
        <p:txBody>
          <a:bodyPr wrap="square">
            <a:spAutoFit/>
          </a:bodyPr>
          <a:lstStyle/>
          <a:p>
            <a:r>
              <a:rPr lang="en-US" dirty="0"/>
              <a:t>We declare a state variable called count, and set it to 0. React will remember its current value between re-renders, and provide the most recent one to our function. If we want to update the current count, we can call </a:t>
            </a:r>
            <a:r>
              <a:rPr lang="en-US" dirty="0" err="1"/>
              <a:t>setCount</a:t>
            </a:r>
            <a:r>
              <a:rPr lang="en-US" dirty="0"/>
              <a:t>.</a:t>
            </a:r>
            <a:endParaRPr lang="en-IN" dirty="0"/>
          </a:p>
        </p:txBody>
      </p:sp>
    </p:spTree>
    <p:extLst>
      <p:ext uri="{BB962C8B-B14F-4D97-AF65-F5344CB8AC3E}">
        <p14:creationId xmlns:p14="http://schemas.microsoft.com/office/powerpoint/2010/main" val="2844706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791B6B-3A68-4ABA-BF44-6AF035977078}"/>
              </a:ext>
            </a:extLst>
          </p:cNvPr>
          <p:cNvSpPr>
            <a:spLocks noGrp="1"/>
          </p:cNvSpPr>
          <p:nvPr>
            <p:ph idx="1"/>
          </p:nvPr>
        </p:nvSpPr>
        <p:spPr>
          <a:xfrm>
            <a:off x="914400" y="0"/>
            <a:ext cx="11088329" cy="4336026"/>
          </a:xfrm>
        </p:spPr>
        <p:txBody>
          <a:bodyPr>
            <a:normAutofit fontScale="92500" lnSpcReduction="20000"/>
          </a:bodyPr>
          <a:lstStyle/>
          <a:p>
            <a:pPr marL="0" indent="0">
              <a:buNone/>
            </a:pPr>
            <a:r>
              <a:rPr lang="en-US" dirty="0"/>
              <a:t>Let’s now </a:t>
            </a:r>
            <a:r>
              <a:rPr lang="en-US" b="1" dirty="0"/>
              <a:t>recap what we learned line by line</a:t>
            </a:r>
            <a:r>
              <a:rPr lang="en-US" dirty="0"/>
              <a:t> and check our understanding.</a:t>
            </a:r>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 { </a:t>
            </a:r>
            <a:r>
              <a:rPr lang="en-IN" sz="1600" b="0" dirty="0" err="1">
                <a:solidFill>
                  <a:srgbClr val="00108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 </a:t>
            </a:r>
            <a:r>
              <a:rPr lang="en-IN" sz="1600" b="0" dirty="0">
                <a:solidFill>
                  <a:srgbClr val="AF00DB"/>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pPr marL="0" indent="0">
              <a:buNone/>
            </a:pPr>
            <a:r>
              <a:rPr lang="en-IN" sz="1600" b="0" dirty="0">
                <a:solidFill>
                  <a:srgbClr val="098658"/>
                </a:solidFill>
                <a:effectLst/>
                <a:latin typeface="Consolas" panose="020B0609020204030204" pitchFamily="49" charset="0"/>
              </a:rPr>
              <a:t>2</a:t>
            </a:r>
            <a:r>
              <a:rPr lang="en-IN" sz="1600" b="0" dirty="0">
                <a:solidFill>
                  <a:srgbClr val="000000"/>
                </a:solidFill>
                <a:effectLst/>
                <a:latin typeface="Consolas" panose="020B0609020204030204" pitchFamily="49" charset="0"/>
              </a:rPr>
              <a:t>:</a:t>
            </a:r>
          </a:p>
          <a:p>
            <a:pPr marL="0" indent="0">
              <a:buNone/>
            </a:pPr>
            <a:r>
              <a:rPr lang="en-IN" sz="1600" b="0" dirty="0">
                <a:solidFill>
                  <a:srgbClr val="098658"/>
                </a:solidFill>
                <a:effectLst/>
                <a:latin typeface="Consolas" panose="020B0609020204030204" pitchFamily="49" charset="0"/>
              </a:rPr>
              <a:t>3</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Example</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4</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count</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setCount</a:t>
            </a:r>
            <a:r>
              <a:rPr lang="en-IN" sz="1600" b="0" dirty="0">
                <a:solidFill>
                  <a:srgbClr val="000000"/>
                </a:solidFill>
                <a:effectLst/>
                <a:latin typeface="Consolas" panose="020B0609020204030204" pitchFamily="49" charset="0"/>
              </a:rPr>
              <a:t>] = </a:t>
            </a:r>
            <a:r>
              <a:rPr lang="en-IN" sz="1600" b="0" dirty="0" err="1">
                <a:solidFill>
                  <a:srgbClr val="795E26"/>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5</a:t>
            </a:r>
            <a:r>
              <a:rPr lang="en-IN" sz="1600" b="0" dirty="0">
                <a:solidFill>
                  <a:srgbClr val="000000"/>
                </a:solidFill>
                <a:effectLst/>
                <a:latin typeface="Consolas" panose="020B0609020204030204" pitchFamily="49" charset="0"/>
              </a:rPr>
              <a:t>:</a:t>
            </a:r>
          </a:p>
          <a:p>
            <a:pPr marL="0" indent="0">
              <a:buNone/>
            </a:pPr>
            <a:r>
              <a:rPr lang="en-IN" sz="1600" b="0" dirty="0">
                <a:solidFill>
                  <a:srgbClr val="098658"/>
                </a:solidFill>
                <a:effectLst/>
                <a:latin typeface="Consolas" panose="020B0609020204030204" pitchFamily="49" charset="0"/>
              </a:rPr>
              <a:t>6</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7</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8</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p</a:t>
            </a:r>
            <a:r>
              <a:rPr lang="en-IN" sz="1600" b="0" dirty="0">
                <a:solidFill>
                  <a:srgbClr val="000000"/>
                </a:solidFill>
                <a:effectLst/>
                <a:latin typeface="Consolas" panose="020B0609020204030204" pitchFamily="49" charset="0"/>
              </a:rPr>
              <a:t>&gt;</a:t>
            </a:r>
            <a:r>
              <a:rPr lang="en-IN" sz="1600" b="0" dirty="0">
                <a:solidFill>
                  <a:srgbClr val="267F99"/>
                </a:solidFill>
                <a:effectLst/>
                <a:latin typeface="Consolas" panose="020B0609020204030204" pitchFamily="49" charset="0"/>
              </a:rPr>
              <a:t>You</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clicked</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count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times</a:t>
            </a:r>
            <a:r>
              <a:rPr lang="en-IN" sz="1600" b="0" dirty="0">
                <a:solidFill>
                  <a:srgbClr val="000000"/>
                </a:solidFill>
                <a:effectLst/>
                <a:latin typeface="Consolas" panose="020B0609020204030204" pitchFamily="49" charset="0"/>
              </a:rPr>
              <a:t>&lt;/</a:t>
            </a:r>
            <a:r>
              <a:rPr lang="en-IN" sz="1600" b="0" dirty="0">
                <a:solidFill>
                  <a:srgbClr val="001080"/>
                </a:solidFill>
                <a:effectLst/>
                <a:latin typeface="Consolas" panose="020B0609020204030204" pitchFamily="49" charset="0"/>
              </a:rPr>
              <a:t>p</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9</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button</a:t>
            </a:r>
            <a:r>
              <a:rPr lang="en-IN" sz="1600" b="0" dirty="0">
                <a:solidFill>
                  <a:srgbClr val="000000"/>
                </a:solidFill>
                <a:effectLst/>
                <a:latin typeface="Consolas" panose="020B0609020204030204" pitchFamily="49" charset="0"/>
              </a:rPr>
              <a:t> </a:t>
            </a:r>
            <a:r>
              <a:rPr lang="en-IN" sz="1600" b="0" dirty="0" err="1">
                <a:solidFill>
                  <a:srgbClr val="267F99"/>
                </a:solidFill>
                <a:effectLst/>
                <a:latin typeface="Consolas" panose="020B0609020204030204" pitchFamily="49" charset="0"/>
              </a:rPr>
              <a:t>onClick</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setCount</a:t>
            </a:r>
            <a:r>
              <a:rPr lang="en-IN" sz="1600" b="0" dirty="0">
                <a:solidFill>
                  <a:srgbClr val="000000"/>
                </a:solidFill>
                <a:effectLst/>
                <a:latin typeface="Consolas" panose="020B0609020204030204" pitchFamily="49" charset="0"/>
              </a:rPr>
              <a:t>(</a:t>
            </a:r>
            <a:r>
              <a:rPr lang="en-IN" sz="1600" b="0" dirty="0">
                <a:solidFill>
                  <a:srgbClr val="0070C1"/>
                </a:solidFill>
                <a:effectLst/>
                <a:latin typeface="Consolas" panose="020B0609020204030204" pitchFamily="49" charset="0"/>
              </a:rPr>
              <a:t>count</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10</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Click</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me</a:t>
            </a:r>
            <a:endParaRPr lang="en-IN" sz="1600" b="0" dirty="0">
              <a:solidFill>
                <a:srgbClr val="000000"/>
              </a:solidFill>
              <a:effectLst/>
              <a:latin typeface="Consolas" panose="020B0609020204030204" pitchFamily="49" charset="0"/>
            </a:endParaRPr>
          </a:p>
          <a:p>
            <a:pPr marL="0" indent="0">
              <a:buNone/>
            </a:pPr>
            <a:r>
              <a:rPr lang="en-IN" sz="1600" b="0" dirty="0">
                <a:solidFill>
                  <a:srgbClr val="098658"/>
                </a:solidFill>
                <a:effectLst/>
                <a:latin typeface="Consolas" panose="020B0609020204030204" pitchFamily="49" charset="0"/>
              </a:rPr>
              <a:t>11</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button</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12</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13</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14</a:t>
            </a:r>
            <a:r>
              <a:rPr lang="en-IN" sz="1600" b="0" dirty="0">
                <a:solidFill>
                  <a:srgbClr val="000000"/>
                </a:solidFill>
                <a:effectLst/>
                <a:latin typeface="Consolas" panose="020B0609020204030204" pitchFamily="49" charset="0"/>
              </a:rPr>
              <a:t>:  }</a:t>
            </a:r>
          </a:p>
          <a:p>
            <a:endParaRPr lang="en-IN" dirty="0"/>
          </a:p>
        </p:txBody>
      </p:sp>
      <p:sp>
        <p:nvSpPr>
          <p:cNvPr id="5" name="TextBox 4">
            <a:extLst>
              <a:ext uri="{FF2B5EF4-FFF2-40B4-BE49-F238E27FC236}">
                <a16:creationId xmlns:a16="http://schemas.microsoft.com/office/drawing/2014/main" id="{92D11375-FD6E-4BAD-8F50-D781DFDC0C9C}"/>
              </a:ext>
            </a:extLst>
          </p:cNvPr>
          <p:cNvSpPr txBox="1"/>
          <p:nvPr/>
        </p:nvSpPr>
        <p:spPr>
          <a:xfrm>
            <a:off x="151170" y="4453048"/>
            <a:ext cx="11316929" cy="2031325"/>
          </a:xfrm>
          <a:prstGeom prst="rect">
            <a:avLst/>
          </a:prstGeom>
          <a:noFill/>
        </p:spPr>
        <p:txBody>
          <a:bodyPr wrap="square">
            <a:spAutoFit/>
          </a:bodyPr>
          <a:lstStyle/>
          <a:p>
            <a:r>
              <a:rPr lang="en-US" dirty="0"/>
              <a:t>    Line 1: We import the </a:t>
            </a:r>
            <a:r>
              <a:rPr lang="en-US" dirty="0" err="1"/>
              <a:t>useState</a:t>
            </a:r>
            <a:r>
              <a:rPr lang="en-US" dirty="0"/>
              <a:t> Hook from React. It lets us keep local state in a function component.</a:t>
            </a:r>
          </a:p>
          <a:p>
            <a:r>
              <a:rPr lang="en-US" dirty="0"/>
              <a:t>    Line 4: Inside the Example component, we declare a new state variable by calling the </a:t>
            </a:r>
            <a:r>
              <a:rPr lang="en-US" dirty="0" err="1"/>
              <a:t>useState</a:t>
            </a:r>
            <a:r>
              <a:rPr lang="en-US" dirty="0"/>
              <a:t> Hook. It returns a pair of values, to which we give names. We’re calling our variable count because it holds the number of button clicks. We initialize it to zero by passing 0 as the only </a:t>
            </a:r>
            <a:r>
              <a:rPr lang="en-US" dirty="0" err="1"/>
              <a:t>useState</a:t>
            </a:r>
            <a:r>
              <a:rPr lang="en-US" dirty="0"/>
              <a:t> argument. The second returned item is itself a function. It lets us update the count so we’ll name it </a:t>
            </a:r>
            <a:r>
              <a:rPr lang="en-US" dirty="0" err="1"/>
              <a:t>setCount</a:t>
            </a:r>
            <a:r>
              <a:rPr lang="en-US" dirty="0"/>
              <a:t>.</a:t>
            </a:r>
          </a:p>
          <a:p>
            <a:r>
              <a:rPr lang="en-US" dirty="0"/>
              <a:t>    Line 9: When the user clicks, we call </a:t>
            </a:r>
            <a:r>
              <a:rPr lang="en-US" dirty="0" err="1"/>
              <a:t>setCount</a:t>
            </a:r>
            <a:r>
              <a:rPr lang="en-US" dirty="0"/>
              <a:t> with a new value. React will then re-render the Example component, passing the new count value to it.</a:t>
            </a:r>
          </a:p>
        </p:txBody>
      </p:sp>
      <p:sp>
        <p:nvSpPr>
          <p:cNvPr id="2" name="TextBox 1"/>
          <p:cNvSpPr txBox="1"/>
          <p:nvPr/>
        </p:nvSpPr>
        <p:spPr>
          <a:xfrm>
            <a:off x="6022109" y="1002145"/>
            <a:ext cx="35560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3600" dirty="0"/>
              <a:t>[0,(a)=&gt;{}]</a:t>
            </a:r>
          </a:p>
        </p:txBody>
      </p:sp>
      <p:sp>
        <p:nvSpPr>
          <p:cNvPr id="4" name="Freeform 3"/>
          <p:cNvSpPr/>
          <p:nvPr/>
        </p:nvSpPr>
        <p:spPr>
          <a:xfrm>
            <a:off x="3574473" y="1339273"/>
            <a:ext cx="3823854" cy="700403"/>
          </a:xfrm>
          <a:custGeom>
            <a:avLst/>
            <a:gdLst>
              <a:gd name="connsiteX0" fmla="*/ 0 w 3823854"/>
              <a:gd name="connsiteY0" fmla="*/ 0 h 700403"/>
              <a:gd name="connsiteX1" fmla="*/ 27709 w 3823854"/>
              <a:gd name="connsiteY1" fmla="*/ 64654 h 700403"/>
              <a:gd name="connsiteX2" fmla="*/ 36945 w 3823854"/>
              <a:gd name="connsiteY2" fmla="*/ 110836 h 700403"/>
              <a:gd name="connsiteX3" fmla="*/ 55418 w 3823854"/>
              <a:gd name="connsiteY3" fmla="*/ 193963 h 700403"/>
              <a:gd name="connsiteX4" fmla="*/ 73891 w 3823854"/>
              <a:gd name="connsiteY4" fmla="*/ 286327 h 700403"/>
              <a:gd name="connsiteX5" fmla="*/ 83127 w 3823854"/>
              <a:gd name="connsiteY5" fmla="*/ 323272 h 700403"/>
              <a:gd name="connsiteX6" fmla="*/ 138545 w 3823854"/>
              <a:gd name="connsiteY6" fmla="*/ 332509 h 700403"/>
              <a:gd name="connsiteX7" fmla="*/ 323272 w 3823854"/>
              <a:gd name="connsiteY7" fmla="*/ 360218 h 700403"/>
              <a:gd name="connsiteX8" fmla="*/ 397163 w 3823854"/>
              <a:gd name="connsiteY8" fmla="*/ 369454 h 700403"/>
              <a:gd name="connsiteX9" fmla="*/ 480291 w 3823854"/>
              <a:gd name="connsiteY9" fmla="*/ 378691 h 700403"/>
              <a:gd name="connsiteX10" fmla="*/ 600363 w 3823854"/>
              <a:gd name="connsiteY10" fmla="*/ 397163 h 700403"/>
              <a:gd name="connsiteX11" fmla="*/ 748145 w 3823854"/>
              <a:gd name="connsiteY11" fmla="*/ 424872 h 700403"/>
              <a:gd name="connsiteX12" fmla="*/ 831272 w 3823854"/>
              <a:gd name="connsiteY12" fmla="*/ 434109 h 700403"/>
              <a:gd name="connsiteX13" fmla="*/ 997527 w 3823854"/>
              <a:gd name="connsiteY13" fmla="*/ 461818 h 700403"/>
              <a:gd name="connsiteX14" fmla="*/ 1117600 w 3823854"/>
              <a:gd name="connsiteY14" fmla="*/ 471054 h 700403"/>
              <a:gd name="connsiteX15" fmla="*/ 1163782 w 3823854"/>
              <a:gd name="connsiteY15" fmla="*/ 489527 h 700403"/>
              <a:gd name="connsiteX16" fmla="*/ 1330036 w 3823854"/>
              <a:gd name="connsiteY16" fmla="*/ 508000 h 700403"/>
              <a:gd name="connsiteX17" fmla="*/ 1403927 w 3823854"/>
              <a:gd name="connsiteY17" fmla="*/ 517236 h 700403"/>
              <a:gd name="connsiteX18" fmla="*/ 1477818 w 3823854"/>
              <a:gd name="connsiteY18" fmla="*/ 535709 h 700403"/>
              <a:gd name="connsiteX19" fmla="*/ 1699491 w 3823854"/>
              <a:gd name="connsiteY19" fmla="*/ 554182 h 700403"/>
              <a:gd name="connsiteX20" fmla="*/ 1884218 w 3823854"/>
              <a:gd name="connsiteY20" fmla="*/ 581891 h 700403"/>
              <a:gd name="connsiteX21" fmla="*/ 2198254 w 3823854"/>
              <a:gd name="connsiteY21" fmla="*/ 600363 h 700403"/>
              <a:gd name="connsiteX22" fmla="*/ 2253672 w 3823854"/>
              <a:gd name="connsiteY22" fmla="*/ 609600 h 700403"/>
              <a:gd name="connsiteX23" fmla="*/ 2382982 w 3823854"/>
              <a:gd name="connsiteY23" fmla="*/ 628072 h 700403"/>
              <a:gd name="connsiteX24" fmla="*/ 2419927 w 3823854"/>
              <a:gd name="connsiteY24" fmla="*/ 637309 h 700403"/>
              <a:gd name="connsiteX25" fmla="*/ 2909454 w 3823854"/>
              <a:gd name="connsiteY25" fmla="*/ 665018 h 700403"/>
              <a:gd name="connsiteX26" fmla="*/ 3676072 w 3823854"/>
              <a:gd name="connsiteY26" fmla="*/ 674254 h 700403"/>
              <a:gd name="connsiteX27" fmla="*/ 3685309 w 3823854"/>
              <a:gd name="connsiteY27" fmla="*/ 646545 h 700403"/>
              <a:gd name="connsiteX28" fmla="*/ 3713018 w 3823854"/>
              <a:gd name="connsiteY28" fmla="*/ 609600 h 700403"/>
              <a:gd name="connsiteX29" fmla="*/ 3722254 w 3823854"/>
              <a:gd name="connsiteY29" fmla="*/ 563418 h 700403"/>
              <a:gd name="connsiteX30" fmla="*/ 3731491 w 3823854"/>
              <a:gd name="connsiteY30" fmla="*/ 526472 h 700403"/>
              <a:gd name="connsiteX31" fmla="*/ 3740727 w 3823854"/>
              <a:gd name="connsiteY31" fmla="*/ 461818 h 700403"/>
              <a:gd name="connsiteX32" fmla="*/ 3749963 w 3823854"/>
              <a:gd name="connsiteY32" fmla="*/ 434109 h 700403"/>
              <a:gd name="connsiteX33" fmla="*/ 3768436 w 3823854"/>
              <a:gd name="connsiteY33" fmla="*/ 350982 h 700403"/>
              <a:gd name="connsiteX34" fmla="*/ 3796145 w 3823854"/>
              <a:gd name="connsiteY34" fmla="*/ 286327 h 700403"/>
              <a:gd name="connsiteX35" fmla="*/ 3805382 w 3823854"/>
              <a:gd name="connsiteY35" fmla="*/ 258618 h 700403"/>
              <a:gd name="connsiteX36" fmla="*/ 3823854 w 3823854"/>
              <a:gd name="connsiteY36" fmla="*/ 230909 h 700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823854" h="700403">
                <a:moveTo>
                  <a:pt x="0" y="0"/>
                </a:moveTo>
                <a:cubicBezTo>
                  <a:pt x="9236" y="21551"/>
                  <a:pt x="20294" y="42410"/>
                  <a:pt x="27709" y="64654"/>
                </a:cubicBezTo>
                <a:cubicBezTo>
                  <a:pt x="32673" y="79547"/>
                  <a:pt x="33656" y="95486"/>
                  <a:pt x="36945" y="110836"/>
                </a:cubicBezTo>
                <a:cubicBezTo>
                  <a:pt x="42892" y="138591"/>
                  <a:pt x="49570" y="166187"/>
                  <a:pt x="55418" y="193963"/>
                </a:cubicBezTo>
                <a:cubicBezTo>
                  <a:pt x="61886" y="224687"/>
                  <a:pt x="66276" y="255867"/>
                  <a:pt x="73891" y="286327"/>
                </a:cubicBezTo>
                <a:cubicBezTo>
                  <a:pt x="76970" y="298642"/>
                  <a:pt x="72798" y="315894"/>
                  <a:pt x="83127" y="323272"/>
                </a:cubicBezTo>
                <a:cubicBezTo>
                  <a:pt x="98366" y="334157"/>
                  <a:pt x="120072" y="329430"/>
                  <a:pt x="138545" y="332509"/>
                </a:cubicBezTo>
                <a:cubicBezTo>
                  <a:pt x="221890" y="374181"/>
                  <a:pt x="153673" y="346085"/>
                  <a:pt x="323272" y="360218"/>
                </a:cubicBezTo>
                <a:cubicBezTo>
                  <a:pt x="348008" y="362279"/>
                  <a:pt x="372511" y="366554"/>
                  <a:pt x="397163" y="369454"/>
                </a:cubicBezTo>
                <a:lnTo>
                  <a:pt x="480291" y="378691"/>
                </a:lnTo>
                <a:cubicBezTo>
                  <a:pt x="513501" y="382842"/>
                  <a:pt x="566468" y="391000"/>
                  <a:pt x="600363" y="397163"/>
                </a:cubicBezTo>
                <a:cubicBezTo>
                  <a:pt x="649674" y="406128"/>
                  <a:pt x="698332" y="419337"/>
                  <a:pt x="748145" y="424872"/>
                </a:cubicBezTo>
                <a:cubicBezTo>
                  <a:pt x="775854" y="427951"/>
                  <a:pt x="803693" y="430023"/>
                  <a:pt x="831272" y="434109"/>
                </a:cubicBezTo>
                <a:cubicBezTo>
                  <a:pt x="886848" y="442343"/>
                  <a:pt x="941510" y="457509"/>
                  <a:pt x="997527" y="461818"/>
                </a:cubicBezTo>
                <a:lnTo>
                  <a:pt x="1117600" y="471054"/>
                </a:lnTo>
                <a:cubicBezTo>
                  <a:pt x="1132994" y="477212"/>
                  <a:pt x="1147447" y="486686"/>
                  <a:pt x="1163782" y="489527"/>
                </a:cubicBezTo>
                <a:cubicBezTo>
                  <a:pt x="1218716" y="499081"/>
                  <a:pt x="1274707" y="501084"/>
                  <a:pt x="1330036" y="508000"/>
                </a:cubicBezTo>
                <a:lnTo>
                  <a:pt x="1403927" y="517236"/>
                </a:lnTo>
                <a:cubicBezTo>
                  <a:pt x="1428557" y="523394"/>
                  <a:pt x="1452816" y="531297"/>
                  <a:pt x="1477818" y="535709"/>
                </a:cubicBezTo>
                <a:cubicBezTo>
                  <a:pt x="1530077" y="544931"/>
                  <a:pt x="1660744" y="551599"/>
                  <a:pt x="1699491" y="554182"/>
                </a:cubicBezTo>
                <a:cubicBezTo>
                  <a:pt x="1761067" y="563418"/>
                  <a:pt x="1822112" y="577455"/>
                  <a:pt x="1884218" y="581891"/>
                </a:cubicBezTo>
                <a:cubicBezTo>
                  <a:pt x="2075023" y="595519"/>
                  <a:pt x="1970368" y="588969"/>
                  <a:pt x="2198254" y="600363"/>
                </a:cubicBezTo>
                <a:lnTo>
                  <a:pt x="2253672" y="609600"/>
                </a:lnTo>
                <a:cubicBezTo>
                  <a:pt x="2296731" y="616059"/>
                  <a:pt x="2340034" y="620914"/>
                  <a:pt x="2382982" y="628072"/>
                </a:cubicBezTo>
                <a:cubicBezTo>
                  <a:pt x="2395503" y="630159"/>
                  <a:pt x="2407285" y="636160"/>
                  <a:pt x="2419927" y="637309"/>
                </a:cubicBezTo>
                <a:cubicBezTo>
                  <a:pt x="2609321" y="654527"/>
                  <a:pt x="2724165" y="657298"/>
                  <a:pt x="2909454" y="665018"/>
                </a:cubicBezTo>
                <a:cubicBezTo>
                  <a:pt x="3213767" y="715737"/>
                  <a:pt x="3112208" y="705580"/>
                  <a:pt x="3676072" y="674254"/>
                </a:cubicBezTo>
                <a:cubicBezTo>
                  <a:pt x="3685793" y="673714"/>
                  <a:pt x="3680478" y="654998"/>
                  <a:pt x="3685309" y="646545"/>
                </a:cubicBezTo>
                <a:cubicBezTo>
                  <a:pt x="3692947" y="633180"/>
                  <a:pt x="3703782" y="621915"/>
                  <a:pt x="3713018" y="609600"/>
                </a:cubicBezTo>
                <a:cubicBezTo>
                  <a:pt x="3716097" y="594206"/>
                  <a:pt x="3718848" y="578743"/>
                  <a:pt x="3722254" y="563418"/>
                </a:cubicBezTo>
                <a:cubicBezTo>
                  <a:pt x="3725008" y="551026"/>
                  <a:pt x="3729220" y="538962"/>
                  <a:pt x="3731491" y="526472"/>
                </a:cubicBezTo>
                <a:cubicBezTo>
                  <a:pt x="3735385" y="505053"/>
                  <a:pt x="3736458" y="483165"/>
                  <a:pt x="3740727" y="461818"/>
                </a:cubicBezTo>
                <a:cubicBezTo>
                  <a:pt x="3742636" y="452271"/>
                  <a:pt x="3747288" y="443470"/>
                  <a:pt x="3749963" y="434109"/>
                </a:cubicBezTo>
                <a:cubicBezTo>
                  <a:pt x="3768928" y="367732"/>
                  <a:pt x="3749389" y="427173"/>
                  <a:pt x="3768436" y="350982"/>
                </a:cubicBezTo>
                <a:cubicBezTo>
                  <a:pt x="3777101" y="316320"/>
                  <a:pt x="3780282" y="323339"/>
                  <a:pt x="3796145" y="286327"/>
                </a:cubicBezTo>
                <a:cubicBezTo>
                  <a:pt x="3799980" y="277378"/>
                  <a:pt x="3801028" y="267326"/>
                  <a:pt x="3805382" y="258618"/>
                </a:cubicBezTo>
                <a:cubicBezTo>
                  <a:pt x="3810346" y="248689"/>
                  <a:pt x="3823854" y="230909"/>
                  <a:pt x="3823854" y="23090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p:cNvSpPr/>
          <p:nvPr/>
        </p:nvSpPr>
        <p:spPr>
          <a:xfrm>
            <a:off x="7167418" y="1516297"/>
            <a:ext cx="461818" cy="38792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78453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10CB7B-F8D6-44E6-A146-EAE0F2C9FD6B}"/>
              </a:ext>
            </a:extLst>
          </p:cNvPr>
          <p:cNvSpPr>
            <a:spLocks noGrp="1"/>
          </p:cNvSpPr>
          <p:nvPr>
            <p:ph idx="1"/>
          </p:nvPr>
        </p:nvSpPr>
        <p:spPr>
          <a:xfrm>
            <a:off x="914400" y="0"/>
            <a:ext cx="10980174" cy="5596860"/>
          </a:xfrm>
        </p:spPr>
        <p:txBody>
          <a:bodyPr>
            <a:normAutofit fontScale="92500"/>
          </a:bodyPr>
          <a:lstStyle/>
          <a:p>
            <a:r>
              <a:rPr lang="en-US" b="1" dirty="0"/>
              <a:t>What Do Square Brackets Mean? </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a:t>
            </a:r>
            <a:r>
              <a:rPr lang="en-US" sz="2000" b="0" dirty="0" err="1">
                <a:solidFill>
                  <a:srgbClr val="0070C1"/>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endParaRPr lang="en-US" sz="2000" b="0" dirty="0">
              <a:solidFill>
                <a:srgbClr val="000000"/>
              </a:solidFill>
              <a:effectLst/>
              <a:latin typeface="Consolas" panose="020B0609020204030204" pitchFamily="49" charset="0"/>
            </a:endParaRPr>
          </a:p>
          <a:p>
            <a:r>
              <a:rPr lang="en-US" dirty="0"/>
              <a:t>The names on the left aren’t a part of the React API. You can name your own state variables:</a:t>
            </a:r>
          </a:p>
          <a:p>
            <a:r>
              <a:rPr lang="en-IN" sz="2000" b="0" dirty="0" err="1">
                <a:solidFill>
                  <a:srgbClr val="0000FF"/>
                </a:solidFill>
                <a:effectLst/>
                <a:latin typeface="Consolas" panose="020B0609020204030204" pitchFamily="49" charset="0"/>
              </a:rPr>
              <a:t>const</a:t>
            </a:r>
            <a:r>
              <a:rPr lang="en-IN" sz="2000" b="0" dirty="0">
                <a:solidFill>
                  <a:srgbClr val="000000"/>
                </a:solidFill>
                <a:effectLst/>
                <a:latin typeface="Consolas" panose="020B0609020204030204" pitchFamily="49" charset="0"/>
              </a:rPr>
              <a:t> [</a:t>
            </a:r>
            <a:r>
              <a:rPr lang="en-IN" sz="2000" b="0" dirty="0">
                <a:solidFill>
                  <a:srgbClr val="0070C1"/>
                </a:solidFill>
                <a:effectLst/>
                <a:latin typeface="Consolas" panose="020B0609020204030204" pitchFamily="49" charset="0"/>
              </a:rPr>
              <a:t>fruit</a:t>
            </a:r>
            <a:r>
              <a:rPr lang="en-IN" sz="2000" b="0" dirty="0">
                <a:solidFill>
                  <a:srgbClr val="000000"/>
                </a:solidFill>
                <a:effectLst/>
                <a:latin typeface="Consolas" panose="020B0609020204030204" pitchFamily="49" charset="0"/>
              </a:rPr>
              <a:t>, </a:t>
            </a:r>
            <a:r>
              <a:rPr lang="en-IN" sz="2000" b="0" dirty="0" err="1">
                <a:solidFill>
                  <a:srgbClr val="0070C1"/>
                </a:solidFill>
                <a:effectLst/>
                <a:latin typeface="Consolas" panose="020B0609020204030204" pitchFamily="49" charset="0"/>
              </a:rPr>
              <a:t>setFruit</a:t>
            </a:r>
            <a:r>
              <a:rPr lang="en-IN" sz="2000" b="0" dirty="0">
                <a:solidFill>
                  <a:srgbClr val="000000"/>
                </a:solidFill>
                <a:effectLst/>
                <a:latin typeface="Consolas" panose="020B0609020204030204" pitchFamily="49" charset="0"/>
              </a:rPr>
              <a:t>] = </a:t>
            </a:r>
            <a:r>
              <a:rPr lang="en-IN" sz="2000" b="0" dirty="0" err="1">
                <a:solidFill>
                  <a:srgbClr val="795E26"/>
                </a:solidFill>
                <a:effectLst/>
                <a:latin typeface="Consolas" panose="020B0609020204030204" pitchFamily="49" charset="0"/>
              </a:rPr>
              <a:t>useState</a:t>
            </a:r>
            <a:r>
              <a:rPr lang="en-IN" sz="2000" b="0" dirty="0">
                <a:solidFill>
                  <a:srgbClr val="000000"/>
                </a:solidFill>
                <a:effectLst/>
                <a:latin typeface="Consolas" panose="020B0609020204030204" pitchFamily="49" charset="0"/>
              </a:rPr>
              <a:t>(</a:t>
            </a:r>
            <a:r>
              <a:rPr lang="en-IN" sz="2000" b="0" dirty="0">
                <a:solidFill>
                  <a:srgbClr val="A31515"/>
                </a:solidFill>
                <a:effectLst/>
                <a:latin typeface="Consolas" panose="020B0609020204030204" pitchFamily="49" charset="0"/>
              </a:rPr>
              <a:t>'banana’</a:t>
            </a:r>
            <a:r>
              <a:rPr lang="en-IN" sz="2000" b="0" dirty="0">
                <a:solidFill>
                  <a:srgbClr val="000000"/>
                </a:solidFill>
                <a:effectLst/>
                <a:latin typeface="Consolas" panose="020B0609020204030204" pitchFamily="49" charset="0"/>
              </a:rPr>
              <a:t>);</a:t>
            </a:r>
          </a:p>
          <a:p>
            <a:endParaRPr lang="en-IN" sz="2000" b="0" dirty="0">
              <a:solidFill>
                <a:srgbClr val="000000"/>
              </a:solidFill>
              <a:effectLst/>
              <a:latin typeface="Consolas" panose="020B0609020204030204" pitchFamily="49" charset="0"/>
            </a:endParaRPr>
          </a:p>
          <a:p>
            <a:r>
              <a:rPr lang="en-US" dirty="0"/>
              <a:t>This JavaScript syntax is called “array </a:t>
            </a:r>
            <a:r>
              <a:rPr lang="en-US" dirty="0" err="1"/>
              <a:t>destructuring</a:t>
            </a:r>
            <a:r>
              <a:rPr lang="en-US" dirty="0"/>
              <a:t>”. It means that we’re making two new variables fruit and </a:t>
            </a:r>
            <a:r>
              <a:rPr lang="en-US" dirty="0" err="1"/>
              <a:t>setFruit</a:t>
            </a:r>
            <a:r>
              <a:rPr lang="en-US" dirty="0"/>
              <a:t>, where fruit is set to the first value returned by </a:t>
            </a:r>
            <a:r>
              <a:rPr lang="en-US" dirty="0" err="1"/>
              <a:t>useState</a:t>
            </a:r>
            <a:r>
              <a:rPr lang="en-US" dirty="0"/>
              <a:t>, and </a:t>
            </a:r>
            <a:r>
              <a:rPr lang="en-US" dirty="0" err="1"/>
              <a:t>setFruit</a:t>
            </a:r>
            <a:r>
              <a:rPr lang="en-US" dirty="0"/>
              <a:t> is the second. It is equivalent to this code:</a:t>
            </a:r>
          </a:p>
          <a:p>
            <a:pPr marL="0" indent="0">
              <a:buNone/>
            </a:pPr>
            <a:br>
              <a:rPr lang="en-IN" sz="2200" b="0" dirty="0">
                <a:solidFill>
                  <a:srgbClr val="000000"/>
                </a:solidFill>
                <a:effectLst/>
                <a:latin typeface="Consolas" panose="020B0609020204030204" pitchFamily="49" charset="0"/>
              </a:rPr>
            </a:br>
            <a:r>
              <a:rPr lang="en-IN" sz="2200" b="0" dirty="0">
                <a:solidFill>
                  <a:srgbClr val="0000FF"/>
                </a:solidFill>
                <a:effectLst/>
                <a:latin typeface="Consolas" panose="020B0609020204030204" pitchFamily="49" charset="0"/>
              </a:rPr>
              <a:t>var</a:t>
            </a:r>
            <a:r>
              <a:rPr lang="en-IN" sz="2200" b="0" dirty="0">
                <a:solidFill>
                  <a:srgbClr val="000000"/>
                </a:solidFill>
                <a:effectLst/>
                <a:latin typeface="Consolas" panose="020B0609020204030204" pitchFamily="49" charset="0"/>
              </a:rPr>
              <a:t> </a:t>
            </a:r>
            <a:r>
              <a:rPr lang="en-IN" sz="2200" b="0" dirty="0" err="1">
                <a:solidFill>
                  <a:srgbClr val="001080"/>
                </a:solidFill>
                <a:effectLst/>
                <a:latin typeface="Consolas" panose="020B0609020204030204" pitchFamily="49" charset="0"/>
              </a:rPr>
              <a:t>fruitStateVariable</a:t>
            </a:r>
            <a:r>
              <a:rPr lang="en-IN" sz="2200" b="0" dirty="0">
                <a:solidFill>
                  <a:srgbClr val="000000"/>
                </a:solidFill>
                <a:effectLst/>
                <a:latin typeface="Consolas" panose="020B0609020204030204" pitchFamily="49" charset="0"/>
              </a:rPr>
              <a:t> = </a:t>
            </a:r>
            <a:r>
              <a:rPr lang="en-IN" sz="2200" b="0" dirty="0" err="1">
                <a:solidFill>
                  <a:srgbClr val="795E26"/>
                </a:solidFill>
                <a:effectLst/>
                <a:latin typeface="Consolas" panose="020B0609020204030204" pitchFamily="49" charset="0"/>
              </a:rPr>
              <a:t>useState</a:t>
            </a:r>
            <a:r>
              <a:rPr lang="en-IN" sz="2200" b="0" dirty="0">
                <a:solidFill>
                  <a:srgbClr val="000000"/>
                </a:solidFill>
                <a:effectLst/>
                <a:latin typeface="Consolas" panose="020B0609020204030204" pitchFamily="49" charset="0"/>
              </a:rPr>
              <a:t>(</a:t>
            </a:r>
            <a:r>
              <a:rPr lang="en-IN" sz="2200" b="0" dirty="0">
                <a:solidFill>
                  <a:srgbClr val="A31515"/>
                </a:solidFill>
                <a:effectLst/>
                <a:latin typeface="Consolas" panose="020B0609020204030204" pitchFamily="49" charset="0"/>
              </a:rPr>
              <a:t>'banana'</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Returns a pair</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FF"/>
                </a:solidFill>
                <a:effectLst/>
                <a:latin typeface="Consolas" panose="020B0609020204030204" pitchFamily="49" charset="0"/>
              </a:rPr>
              <a:t>var</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fruit</a:t>
            </a:r>
            <a:r>
              <a:rPr lang="en-IN" sz="2200" b="0" dirty="0">
                <a:solidFill>
                  <a:srgbClr val="000000"/>
                </a:solidFill>
                <a:effectLst/>
                <a:latin typeface="Consolas" panose="020B0609020204030204" pitchFamily="49" charset="0"/>
              </a:rPr>
              <a:t> = </a:t>
            </a:r>
            <a:r>
              <a:rPr lang="en-IN" sz="2200" b="0" dirty="0" err="1">
                <a:solidFill>
                  <a:srgbClr val="001080"/>
                </a:solidFill>
                <a:effectLst/>
                <a:latin typeface="Consolas" panose="020B0609020204030204" pitchFamily="49" charset="0"/>
              </a:rPr>
              <a:t>fruitStateVariable</a:t>
            </a:r>
            <a:r>
              <a:rPr lang="en-IN" sz="2200" b="0" dirty="0">
                <a:solidFill>
                  <a:srgbClr val="000000"/>
                </a:solidFill>
                <a:effectLst/>
                <a:latin typeface="Consolas" panose="020B0609020204030204" pitchFamily="49" charset="0"/>
              </a:rPr>
              <a:t>[</a:t>
            </a:r>
            <a:r>
              <a:rPr lang="en-IN" sz="2200" b="0" dirty="0">
                <a:solidFill>
                  <a:srgbClr val="098658"/>
                </a:solidFill>
                <a:effectLst/>
                <a:latin typeface="Consolas" panose="020B0609020204030204" pitchFamily="49" charset="0"/>
              </a:rPr>
              <a:t>0</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First item in a pair</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FF"/>
                </a:solidFill>
                <a:effectLst/>
                <a:latin typeface="Consolas" panose="020B0609020204030204" pitchFamily="49" charset="0"/>
              </a:rPr>
              <a:t>var</a:t>
            </a:r>
            <a:r>
              <a:rPr lang="en-IN" sz="2200" b="0" dirty="0">
                <a:solidFill>
                  <a:srgbClr val="000000"/>
                </a:solidFill>
                <a:effectLst/>
                <a:latin typeface="Consolas" panose="020B0609020204030204" pitchFamily="49" charset="0"/>
              </a:rPr>
              <a:t> </a:t>
            </a:r>
            <a:r>
              <a:rPr lang="en-IN" sz="2200" b="0" dirty="0" err="1">
                <a:solidFill>
                  <a:srgbClr val="001080"/>
                </a:solidFill>
                <a:effectLst/>
                <a:latin typeface="Consolas" panose="020B0609020204030204" pitchFamily="49" charset="0"/>
              </a:rPr>
              <a:t>setFruit</a:t>
            </a:r>
            <a:r>
              <a:rPr lang="en-IN" sz="2200" b="0" dirty="0">
                <a:solidFill>
                  <a:srgbClr val="000000"/>
                </a:solidFill>
                <a:effectLst/>
                <a:latin typeface="Consolas" panose="020B0609020204030204" pitchFamily="49" charset="0"/>
              </a:rPr>
              <a:t> = </a:t>
            </a:r>
            <a:r>
              <a:rPr lang="en-IN" sz="2200" b="0" dirty="0" err="1">
                <a:solidFill>
                  <a:srgbClr val="001080"/>
                </a:solidFill>
                <a:effectLst/>
                <a:latin typeface="Consolas" panose="020B0609020204030204" pitchFamily="49" charset="0"/>
              </a:rPr>
              <a:t>fruitStateVariable</a:t>
            </a:r>
            <a:r>
              <a:rPr lang="en-IN" sz="2200" b="0" dirty="0">
                <a:solidFill>
                  <a:srgbClr val="000000"/>
                </a:solidFill>
                <a:effectLst/>
                <a:latin typeface="Consolas" panose="020B0609020204030204" pitchFamily="49" charset="0"/>
              </a:rPr>
              <a:t>[</a:t>
            </a:r>
            <a:r>
              <a:rPr lang="en-IN" sz="2200" b="0" dirty="0">
                <a:solidFill>
                  <a:srgbClr val="098658"/>
                </a:solidFill>
                <a:effectLst/>
                <a:latin typeface="Consolas" panose="020B0609020204030204" pitchFamily="49" charset="0"/>
              </a:rPr>
              <a:t>1</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Second item in a pair</a:t>
            </a:r>
            <a:endParaRPr lang="en-IN" sz="2200" b="0" dirty="0">
              <a:solidFill>
                <a:srgbClr val="000000"/>
              </a:solidFill>
              <a:effectLst/>
              <a:latin typeface="Consolas" panose="020B0609020204030204" pitchFamily="49" charset="0"/>
            </a:endParaRPr>
          </a:p>
          <a:p>
            <a:endParaRPr lang="en-IN" dirty="0"/>
          </a:p>
        </p:txBody>
      </p:sp>
      <p:sp>
        <p:nvSpPr>
          <p:cNvPr id="6" name="TextBox 5">
            <a:extLst>
              <a:ext uri="{FF2B5EF4-FFF2-40B4-BE49-F238E27FC236}">
                <a16:creationId xmlns:a16="http://schemas.microsoft.com/office/drawing/2014/main" id="{A46E9616-7293-400B-AB42-7CF41BE85E31}"/>
              </a:ext>
            </a:extLst>
          </p:cNvPr>
          <p:cNvSpPr txBox="1"/>
          <p:nvPr/>
        </p:nvSpPr>
        <p:spPr>
          <a:xfrm>
            <a:off x="629264" y="5596860"/>
            <a:ext cx="11265309" cy="923330"/>
          </a:xfrm>
          <a:prstGeom prst="rect">
            <a:avLst/>
          </a:prstGeom>
          <a:noFill/>
        </p:spPr>
        <p:txBody>
          <a:bodyPr wrap="square">
            <a:spAutoFit/>
          </a:bodyPr>
          <a:lstStyle/>
          <a:p>
            <a:r>
              <a:rPr lang="en-US" dirty="0"/>
              <a:t>When we declare a state variable with </a:t>
            </a:r>
            <a:r>
              <a:rPr lang="en-US" dirty="0" err="1"/>
              <a:t>useState</a:t>
            </a:r>
            <a:r>
              <a:rPr lang="en-US" dirty="0"/>
              <a:t>, it returns a pair — an array with two items. The first item is the current value, and the second is a function that lets us update it. Using [0] and [1] to access them is a bit confusing because they have a specific meaning. This is why we use array </a:t>
            </a:r>
            <a:r>
              <a:rPr lang="en-US" dirty="0" err="1"/>
              <a:t>destructuring</a:t>
            </a:r>
            <a:r>
              <a:rPr lang="en-US" dirty="0"/>
              <a:t> instead.</a:t>
            </a:r>
            <a:endParaRPr lang="en-IN" dirty="0"/>
          </a:p>
        </p:txBody>
      </p:sp>
      <p:sp>
        <p:nvSpPr>
          <p:cNvPr id="4" name="TextBox 3">
            <a:extLst>
              <a:ext uri="{FF2B5EF4-FFF2-40B4-BE49-F238E27FC236}">
                <a16:creationId xmlns:a16="http://schemas.microsoft.com/office/drawing/2014/main" id="{1467ECED-0937-4E25-E329-A73019FBAD88}"/>
              </a:ext>
            </a:extLst>
          </p:cNvPr>
          <p:cNvSpPr txBox="1"/>
          <p:nvPr/>
        </p:nvSpPr>
        <p:spPr>
          <a:xfrm>
            <a:off x="6702458" y="60811"/>
            <a:ext cx="5400532" cy="1200329"/>
          </a:xfrm>
          <a:prstGeom prst="rect">
            <a:avLst/>
          </a:prstGeom>
          <a:noFill/>
        </p:spPr>
        <p:txBody>
          <a:bodyPr wrap="square">
            <a:spAutoFit/>
          </a:bodyPr>
          <a:lstStyle/>
          <a:p>
            <a:pPr algn="l"/>
            <a:r>
              <a:rPr lang="en-US" sz="1200" b="0" i="0" dirty="0">
                <a:solidFill>
                  <a:srgbClr val="202124"/>
                </a:solidFill>
                <a:effectLst/>
                <a:latin typeface="arial" panose="020B0604020202020204" pitchFamily="34" charset="0"/>
              </a:rPr>
              <a:t>Why is const used in React?</a:t>
            </a:r>
          </a:p>
          <a:p>
            <a:pPr algn="l"/>
            <a:r>
              <a:rPr lang="en-US" sz="1200" b="0" i="0" dirty="0">
                <a:solidFill>
                  <a:srgbClr val="202124"/>
                </a:solidFill>
                <a:effectLst/>
                <a:latin typeface="arial" panose="020B0604020202020204" pitchFamily="34" charset="0"/>
              </a:rPr>
              <a:t>Immutability is embraced in the React ecosystem, so const should be your default choice when you define a variable, though it's not really about immutability, but about assigning variables only once. </a:t>
            </a:r>
            <a:r>
              <a:rPr lang="en-US" sz="1200" b="1" i="0" dirty="0">
                <a:solidFill>
                  <a:srgbClr val="202124"/>
                </a:solidFill>
                <a:effectLst/>
                <a:latin typeface="arial" panose="020B0604020202020204" pitchFamily="34" charset="0"/>
              </a:rPr>
              <a:t>It shows the intent of not changing (re-assigning) the variable even though its content can be changed</a:t>
            </a:r>
            <a:r>
              <a:rPr lang="en-US" sz="1200" b="0" i="0" dirty="0">
                <a:solidFill>
                  <a:srgbClr val="202124"/>
                </a:solidFill>
                <a:effectLst/>
                <a:latin typeface="arial" panose="020B0604020202020204" pitchFamily="34" charset="0"/>
              </a:rPr>
              <a:t>.</a:t>
            </a:r>
          </a:p>
        </p:txBody>
      </p:sp>
    </p:spTree>
    <p:extLst>
      <p:ext uri="{BB962C8B-B14F-4D97-AF65-F5344CB8AC3E}">
        <p14:creationId xmlns:p14="http://schemas.microsoft.com/office/powerpoint/2010/main" val="54818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466B18-39E7-45DC-8C36-3DA43E7D1BA4}"/>
              </a:ext>
            </a:extLst>
          </p:cNvPr>
          <p:cNvSpPr>
            <a:spLocks noGrp="1"/>
          </p:cNvSpPr>
          <p:nvPr>
            <p:ph idx="1"/>
          </p:nvPr>
        </p:nvSpPr>
        <p:spPr>
          <a:xfrm>
            <a:off x="267929" y="786581"/>
            <a:ext cx="5365955" cy="4947931"/>
          </a:xfrm>
        </p:spPr>
        <p:txBody>
          <a:bodyPr>
            <a:normAutofit fontScale="55000" lnSpcReduction="20000"/>
          </a:bodyPr>
          <a:lstStyle/>
          <a:p>
            <a:pPr marL="0" indent="0">
              <a:buNone/>
            </a:pPr>
            <a:endParaRPr lang="en-IN" b="0" dirty="0">
              <a:solidFill>
                <a:srgbClr val="000000"/>
              </a:solidFill>
              <a:effectLst/>
              <a:latin typeface="Consolas" panose="020B0609020204030204" pitchFamily="49" charset="0"/>
            </a:endParaRPr>
          </a:p>
          <a:p>
            <a:pPr marL="0" indent="0">
              <a:buNone/>
            </a:pP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pPr marL="0" indent="0">
              <a:buNone/>
            </a:pPr>
            <a:r>
              <a:rPr lang="en-IN" dirty="0">
                <a:solidFill>
                  <a:srgbClr val="0000FF"/>
                </a:solidFill>
                <a:latin typeface="Consolas" panose="020B0609020204030204" pitchFamily="49" charset="0"/>
              </a:rPr>
              <a:t>e</a:t>
            </a:r>
            <a:r>
              <a:rPr lang="en-IN" b="0" dirty="0">
                <a:solidFill>
                  <a:srgbClr val="0000FF"/>
                </a:solidFill>
                <a:effectLst/>
                <a:latin typeface="Consolas" panose="020B0609020204030204" pitchFamily="49" charset="0"/>
              </a:rPr>
              <a:t>xport 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Example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count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Similar to </a:t>
            </a:r>
            <a:r>
              <a:rPr lang="en-IN" b="0" dirty="0" err="1">
                <a:solidFill>
                  <a:srgbClr val="008000"/>
                </a:solidFill>
                <a:effectLst/>
                <a:latin typeface="Consolas" panose="020B0609020204030204" pitchFamily="49" charset="0"/>
              </a:rPr>
              <a:t>componentDidMount</a:t>
            </a:r>
            <a:r>
              <a:rPr lang="en-IN" b="0" dirty="0">
                <a:solidFill>
                  <a:srgbClr val="008000"/>
                </a:solidFill>
                <a:effectLst/>
                <a:latin typeface="Consolas" panose="020B0609020204030204" pitchFamily="49" charset="0"/>
              </a:rPr>
              <a:t> and </a:t>
            </a:r>
            <a:r>
              <a:rPr lang="en-IN" b="0" dirty="0" err="1">
                <a:solidFill>
                  <a:srgbClr val="008000"/>
                </a:solidFill>
                <a:effectLst/>
                <a:latin typeface="Consolas" panose="020B0609020204030204" pitchFamily="49" charset="0"/>
              </a:rPr>
              <a:t>componentDidUpdate</a:t>
            </a:r>
            <a:r>
              <a:rPr lang="en-IN" b="0" dirty="0">
                <a:solidFill>
                  <a:srgbClr val="008000"/>
                </a:solidFill>
                <a:effectLst/>
                <a:latin typeface="Consolas" panose="020B0609020204030204" pitchFamily="49" charset="0"/>
              </a:rPr>
              <a:t>: </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You clicked </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setCount</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count</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{count}</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endParaRPr lang="en-IN" dirty="0"/>
          </a:p>
        </p:txBody>
      </p:sp>
      <p:sp>
        <p:nvSpPr>
          <p:cNvPr id="12" name="Freeform: Shape 11">
            <a:extLst>
              <a:ext uri="{FF2B5EF4-FFF2-40B4-BE49-F238E27FC236}">
                <a16:creationId xmlns:a16="http://schemas.microsoft.com/office/drawing/2014/main" id="{78089CC7-6011-C414-D29B-5B3957C12640}"/>
              </a:ext>
            </a:extLst>
          </p:cNvPr>
          <p:cNvSpPr/>
          <p:nvPr/>
        </p:nvSpPr>
        <p:spPr>
          <a:xfrm>
            <a:off x="6872140" y="1084082"/>
            <a:ext cx="2450969" cy="1615560"/>
          </a:xfrm>
          <a:custGeom>
            <a:avLst/>
            <a:gdLst>
              <a:gd name="connsiteX0" fmla="*/ 0 w 2450969"/>
              <a:gd name="connsiteY0" fmla="*/ 471341 h 1615560"/>
              <a:gd name="connsiteX1" fmla="*/ 169683 w 2450969"/>
              <a:gd name="connsiteY1" fmla="*/ 358219 h 1615560"/>
              <a:gd name="connsiteX2" fmla="*/ 329938 w 2450969"/>
              <a:gd name="connsiteY2" fmla="*/ 273378 h 1615560"/>
              <a:gd name="connsiteX3" fmla="*/ 678730 w 2450969"/>
              <a:gd name="connsiteY3" fmla="*/ 169683 h 1615560"/>
              <a:gd name="connsiteX4" fmla="*/ 1244338 w 2450969"/>
              <a:gd name="connsiteY4" fmla="*/ 37708 h 1615560"/>
              <a:gd name="connsiteX5" fmla="*/ 1527142 w 2450969"/>
              <a:gd name="connsiteY5" fmla="*/ 0 h 1615560"/>
              <a:gd name="connsiteX6" fmla="*/ 1687398 w 2450969"/>
              <a:gd name="connsiteY6" fmla="*/ 9427 h 1615560"/>
              <a:gd name="connsiteX7" fmla="*/ 2300140 w 2450969"/>
              <a:gd name="connsiteY7" fmla="*/ 292231 h 1615560"/>
              <a:gd name="connsiteX8" fmla="*/ 2375555 w 2450969"/>
              <a:gd name="connsiteY8" fmla="*/ 367646 h 1615560"/>
              <a:gd name="connsiteX9" fmla="*/ 2432116 w 2450969"/>
              <a:gd name="connsiteY9" fmla="*/ 584462 h 1615560"/>
              <a:gd name="connsiteX10" fmla="*/ 2450969 w 2450969"/>
              <a:gd name="connsiteY10" fmla="*/ 763572 h 1615560"/>
              <a:gd name="connsiteX11" fmla="*/ 2394408 w 2450969"/>
              <a:gd name="connsiteY11" fmla="*/ 1329180 h 1615560"/>
              <a:gd name="connsiteX12" fmla="*/ 2290714 w 2450969"/>
              <a:gd name="connsiteY12" fmla="*/ 1480009 h 1615560"/>
              <a:gd name="connsiteX13" fmla="*/ 2224726 w 2450969"/>
              <a:gd name="connsiteY13" fmla="*/ 1536570 h 1615560"/>
              <a:gd name="connsiteX14" fmla="*/ 2007909 w 2450969"/>
              <a:gd name="connsiteY14" fmla="*/ 1574277 h 1615560"/>
              <a:gd name="connsiteX15" fmla="*/ 1894788 w 2450969"/>
              <a:gd name="connsiteY15" fmla="*/ 1602557 h 1615560"/>
              <a:gd name="connsiteX16" fmla="*/ 1489435 w 2450969"/>
              <a:gd name="connsiteY16" fmla="*/ 1583704 h 16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0969" h="1615560">
                <a:moveTo>
                  <a:pt x="0" y="471341"/>
                </a:moveTo>
                <a:cubicBezTo>
                  <a:pt x="56633" y="376955"/>
                  <a:pt x="7163" y="439479"/>
                  <a:pt x="169683" y="358219"/>
                </a:cubicBezTo>
                <a:cubicBezTo>
                  <a:pt x="223744" y="331188"/>
                  <a:pt x="275249" y="299114"/>
                  <a:pt x="329938" y="273378"/>
                </a:cubicBezTo>
                <a:cubicBezTo>
                  <a:pt x="525439" y="181378"/>
                  <a:pt x="460191" y="220506"/>
                  <a:pt x="678730" y="169683"/>
                </a:cubicBezTo>
                <a:cubicBezTo>
                  <a:pt x="1002572" y="94371"/>
                  <a:pt x="835401" y="110951"/>
                  <a:pt x="1244338" y="37708"/>
                </a:cubicBezTo>
                <a:cubicBezTo>
                  <a:pt x="1337951" y="20941"/>
                  <a:pt x="1432874" y="12569"/>
                  <a:pt x="1527142" y="0"/>
                </a:cubicBezTo>
                <a:cubicBezTo>
                  <a:pt x="1580561" y="3142"/>
                  <a:pt x="1635161" y="-2181"/>
                  <a:pt x="1687398" y="9427"/>
                </a:cubicBezTo>
                <a:cubicBezTo>
                  <a:pt x="1863766" y="48620"/>
                  <a:pt x="2181769" y="173860"/>
                  <a:pt x="2300140" y="292231"/>
                </a:cubicBezTo>
                <a:lnTo>
                  <a:pt x="2375555" y="367646"/>
                </a:lnTo>
                <a:cubicBezTo>
                  <a:pt x="2397075" y="439382"/>
                  <a:pt x="2420490" y="510056"/>
                  <a:pt x="2432116" y="584462"/>
                </a:cubicBezTo>
                <a:cubicBezTo>
                  <a:pt x="2441384" y="643775"/>
                  <a:pt x="2444685" y="703869"/>
                  <a:pt x="2450969" y="763572"/>
                </a:cubicBezTo>
                <a:cubicBezTo>
                  <a:pt x="2444097" y="875812"/>
                  <a:pt x="2457797" y="1166180"/>
                  <a:pt x="2394408" y="1329180"/>
                </a:cubicBezTo>
                <a:cubicBezTo>
                  <a:pt x="2377546" y="1372538"/>
                  <a:pt x="2317636" y="1451164"/>
                  <a:pt x="2290714" y="1480009"/>
                </a:cubicBezTo>
                <a:cubicBezTo>
                  <a:pt x="2270947" y="1501188"/>
                  <a:pt x="2250908" y="1524168"/>
                  <a:pt x="2224726" y="1536570"/>
                </a:cubicBezTo>
                <a:cubicBezTo>
                  <a:pt x="2163717" y="1565469"/>
                  <a:pt x="2073710" y="1568295"/>
                  <a:pt x="2007909" y="1574277"/>
                </a:cubicBezTo>
                <a:cubicBezTo>
                  <a:pt x="1970202" y="1583704"/>
                  <a:pt x="1933627" y="1601063"/>
                  <a:pt x="1894788" y="1602557"/>
                </a:cubicBezTo>
                <a:cubicBezTo>
                  <a:pt x="1573846" y="1614901"/>
                  <a:pt x="1631774" y="1631145"/>
                  <a:pt x="1489435" y="1583704"/>
                </a:cubicBezTo>
              </a:path>
            </a:pathLst>
          </a:cu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IN"/>
          </a:p>
        </p:txBody>
      </p:sp>
      <p:sp>
        <p:nvSpPr>
          <p:cNvPr id="4" name="TextBox 3">
            <a:extLst>
              <a:ext uri="{FF2B5EF4-FFF2-40B4-BE49-F238E27FC236}">
                <a16:creationId xmlns:a16="http://schemas.microsoft.com/office/drawing/2014/main" id="{BB94483D-B007-072E-F608-84B3476AEA11}"/>
              </a:ext>
            </a:extLst>
          </p:cNvPr>
          <p:cNvSpPr txBox="1"/>
          <p:nvPr/>
        </p:nvSpPr>
        <p:spPr>
          <a:xfrm>
            <a:off x="6872140" y="1526601"/>
            <a:ext cx="3971451"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dirty="0"/>
              <a:t>function </a:t>
            </a:r>
            <a:r>
              <a:rPr lang="en-US" sz="2400" dirty="0" err="1"/>
              <a:t>useState</a:t>
            </a:r>
            <a:r>
              <a:rPr lang="en-US" sz="2400" dirty="0"/>
              <a:t>(x)</a:t>
            </a:r>
          </a:p>
          <a:p>
            <a:r>
              <a:rPr lang="en-US" sz="2400" dirty="0"/>
              <a:t>{</a:t>
            </a:r>
          </a:p>
          <a:p>
            <a:r>
              <a:rPr lang="en-US" sz="2400" dirty="0"/>
              <a:t>const </a:t>
            </a:r>
            <a:r>
              <a:rPr lang="en-US" sz="2400" dirty="0" err="1"/>
              <a:t>arr</a:t>
            </a:r>
            <a:r>
              <a:rPr lang="en-US" sz="2400" dirty="0"/>
              <a:t>=[];</a:t>
            </a:r>
          </a:p>
          <a:p>
            <a:endParaRPr lang="en-US" sz="2400" dirty="0"/>
          </a:p>
          <a:p>
            <a:r>
              <a:rPr lang="en-US" sz="2400" dirty="0" err="1"/>
              <a:t>arr</a:t>
            </a:r>
            <a:r>
              <a:rPr lang="en-US" sz="2400" dirty="0"/>
              <a:t>[0]=r;</a:t>
            </a:r>
          </a:p>
          <a:p>
            <a:r>
              <a:rPr lang="en-US" sz="2400" dirty="0" err="1"/>
              <a:t>arr</a:t>
            </a:r>
            <a:r>
              <a:rPr lang="en-US" sz="2400" dirty="0"/>
              <a:t>[1]=(n)=&gt;{x=n};</a:t>
            </a:r>
          </a:p>
          <a:p>
            <a:r>
              <a:rPr lang="en-US" sz="2400" dirty="0"/>
              <a:t>r</a:t>
            </a:r>
            <a:r>
              <a:rPr lang="en-US" sz="2400"/>
              <a:t>eturn </a:t>
            </a:r>
            <a:r>
              <a:rPr lang="en-US" sz="2400" dirty="0" err="1"/>
              <a:t>arr</a:t>
            </a:r>
            <a:r>
              <a:rPr lang="en-US" sz="2400" dirty="0"/>
              <a:t>;</a:t>
            </a:r>
          </a:p>
          <a:p>
            <a:r>
              <a:rPr lang="en-US" sz="2400" dirty="0"/>
              <a:t>}</a:t>
            </a:r>
          </a:p>
          <a:p>
            <a:endParaRPr lang="en-US" sz="2400" dirty="0"/>
          </a:p>
          <a:p>
            <a:r>
              <a:rPr lang="en-US" sz="2400" dirty="0"/>
              <a:t>[</a:t>
            </a:r>
            <a:r>
              <a:rPr lang="en-US" sz="2400" dirty="0" err="1"/>
              <a:t>count,setCount</a:t>
            </a:r>
            <a:r>
              <a:rPr lang="en-US" sz="2400" dirty="0"/>
              <a:t>]=</a:t>
            </a:r>
            <a:r>
              <a:rPr lang="en-US" sz="2400" dirty="0" err="1"/>
              <a:t>useState</a:t>
            </a:r>
            <a:r>
              <a:rPr lang="en-US" sz="2400" dirty="0"/>
              <a:t>(0);</a:t>
            </a:r>
          </a:p>
          <a:p>
            <a:endParaRPr lang="en-US" sz="2400" dirty="0"/>
          </a:p>
          <a:p>
            <a:r>
              <a:rPr lang="en-US" sz="2400" dirty="0" err="1"/>
              <a:t>setCount</a:t>
            </a:r>
            <a:r>
              <a:rPr lang="en-US" sz="2400" dirty="0"/>
              <a:t>(count+1)</a:t>
            </a:r>
            <a:endParaRPr lang="en-IN" sz="2400" dirty="0"/>
          </a:p>
        </p:txBody>
      </p:sp>
    </p:spTree>
    <p:extLst>
      <p:ext uri="{BB962C8B-B14F-4D97-AF65-F5344CB8AC3E}">
        <p14:creationId xmlns:p14="http://schemas.microsoft.com/office/powerpoint/2010/main" val="385190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707007-02A5-415A-A87B-62F2E2B84D65}"/>
              </a:ext>
            </a:extLst>
          </p:cNvPr>
          <p:cNvSpPr txBox="1"/>
          <p:nvPr/>
        </p:nvSpPr>
        <p:spPr>
          <a:xfrm>
            <a:off x="3297307" y="163204"/>
            <a:ext cx="6137412" cy="369332"/>
          </a:xfrm>
          <a:prstGeom prst="rect">
            <a:avLst/>
          </a:prstGeom>
          <a:noFill/>
        </p:spPr>
        <p:txBody>
          <a:bodyPr wrap="square">
            <a:spAutoFit/>
          </a:bodyPr>
          <a:lstStyle/>
          <a:p>
            <a:pPr algn="l"/>
            <a:r>
              <a:rPr lang="en-IN" b="1" i="0" dirty="0">
                <a:solidFill>
                  <a:srgbClr val="23272F"/>
                </a:solidFill>
                <a:effectLst/>
                <a:latin typeface="Optimistic Display"/>
              </a:rPr>
              <a:t>State: A Component's Memory</a:t>
            </a:r>
          </a:p>
        </p:txBody>
      </p:sp>
      <p:sp>
        <p:nvSpPr>
          <p:cNvPr id="7" name="TextBox 6">
            <a:extLst>
              <a:ext uri="{FF2B5EF4-FFF2-40B4-BE49-F238E27FC236}">
                <a16:creationId xmlns:a16="http://schemas.microsoft.com/office/drawing/2014/main" id="{617701C9-9198-E791-2212-18C3FFC1A10C}"/>
              </a:ext>
            </a:extLst>
          </p:cNvPr>
          <p:cNvSpPr txBox="1"/>
          <p:nvPr/>
        </p:nvSpPr>
        <p:spPr>
          <a:xfrm>
            <a:off x="0" y="644172"/>
            <a:ext cx="11867322" cy="1200329"/>
          </a:xfrm>
          <a:prstGeom prst="rect">
            <a:avLst/>
          </a:prstGeom>
          <a:noFill/>
        </p:spPr>
        <p:txBody>
          <a:bodyPr wrap="square">
            <a:spAutoFit/>
          </a:bodyPr>
          <a:lstStyle/>
          <a:p>
            <a:r>
              <a:rPr lang="en-US" b="0" i="0" dirty="0">
                <a:solidFill>
                  <a:srgbClr val="23272F"/>
                </a:solidFill>
                <a:effectLst/>
                <a:latin typeface="Optimistic Display"/>
              </a:rPr>
              <a:t>Components often need to change what’s on the screen as a result of an interaction. Typing into the form should update the input field, clicking “next” on an image carousel should change which image is displayed, clicking “buy” should put a product in the shopping cart. Components need to “remember” things: the current input value, the current image, the shopping cart. In React, this kind of component-specific memory is called </a:t>
            </a:r>
            <a:r>
              <a:rPr lang="en-US" b="0" i="1" dirty="0">
                <a:solidFill>
                  <a:srgbClr val="23272F"/>
                </a:solidFill>
                <a:effectLst/>
                <a:latin typeface="Optimistic Display"/>
              </a:rPr>
              <a:t>state</a:t>
            </a:r>
            <a:r>
              <a:rPr lang="en-US" b="0" i="0" dirty="0">
                <a:solidFill>
                  <a:srgbClr val="23272F"/>
                </a:solidFill>
                <a:effectLst/>
                <a:latin typeface="Optimistic Display"/>
              </a:rPr>
              <a:t>.</a:t>
            </a:r>
            <a:endParaRPr lang="en-IN" dirty="0"/>
          </a:p>
        </p:txBody>
      </p:sp>
      <p:sp>
        <p:nvSpPr>
          <p:cNvPr id="10" name="TextBox 9">
            <a:extLst>
              <a:ext uri="{FF2B5EF4-FFF2-40B4-BE49-F238E27FC236}">
                <a16:creationId xmlns:a16="http://schemas.microsoft.com/office/drawing/2014/main" id="{CBB580D6-EB60-A39D-627C-55E18868D36C}"/>
              </a:ext>
            </a:extLst>
          </p:cNvPr>
          <p:cNvSpPr txBox="1"/>
          <p:nvPr/>
        </p:nvSpPr>
        <p:spPr>
          <a:xfrm>
            <a:off x="228600" y="2033706"/>
            <a:ext cx="11221277" cy="646331"/>
          </a:xfrm>
          <a:prstGeom prst="rect">
            <a:avLst/>
          </a:prstGeom>
          <a:noFill/>
        </p:spPr>
        <p:txBody>
          <a:bodyPr wrap="square">
            <a:spAutoFit/>
          </a:bodyPr>
          <a:lstStyle/>
          <a:p>
            <a:r>
              <a:rPr lang="en-US" dirty="0"/>
              <a:t>Here’s a component that renders a sculpture image. Clicking the “Next” button should show the next sculpture by changing the index to 1, then 2, and so on. </a:t>
            </a:r>
            <a:r>
              <a:rPr lang="en-US" dirty="0">
                <a:highlight>
                  <a:srgbClr val="FFFF00"/>
                </a:highlight>
              </a:rPr>
              <a:t>However, this won’t work </a:t>
            </a:r>
            <a:r>
              <a:rPr lang="en-US" dirty="0"/>
              <a:t>(you can try it!):</a:t>
            </a:r>
            <a:endParaRPr lang="en-IN" dirty="0"/>
          </a:p>
        </p:txBody>
      </p:sp>
    </p:spTree>
    <p:extLst>
      <p:ext uri="{BB962C8B-B14F-4D97-AF65-F5344CB8AC3E}">
        <p14:creationId xmlns:p14="http://schemas.microsoft.com/office/powerpoint/2010/main" val="2556830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6EF2F0-7D72-5717-92C5-6A811EE46680}"/>
              </a:ext>
            </a:extLst>
          </p:cNvPr>
          <p:cNvSpPr txBox="1"/>
          <p:nvPr/>
        </p:nvSpPr>
        <p:spPr>
          <a:xfrm>
            <a:off x="208723" y="1"/>
            <a:ext cx="10962860" cy="7017306"/>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sculptureList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'./data.js'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Gallery()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index =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handleClick</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index = index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sculpture = </a:t>
            </a:r>
            <a:r>
              <a:rPr lang="en-IN" b="0" dirty="0" err="1">
                <a:solidFill>
                  <a:srgbClr val="000000"/>
                </a:solidFill>
                <a:effectLst/>
                <a:latin typeface="Consolas" panose="020B0609020204030204" pitchFamily="49" charset="0"/>
              </a:rPr>
              <a:t>sculptureList</a:t>
            </a:r>
            <a:r>
              <a:rPr lang="en-IN" b="0" dirty="0">
                <a:solidFill>
                  <a:srgbClr val="000000"/>
                </a:solidFill>
                <a:effectLst/>
                <a:latin typeface="Consolas" panose="020B0609020204030204" pitchFamily="49" charset="0"/>
              </a:rPr>
              <a:t>[index];</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handleClick</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Next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&lt;h2&gt;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sculpture.name</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by </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sculpture.artist</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&lt;/h2&gt;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&lt;h3&gt;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index + </a:t>
            </a:r>
            <a:r>
              <a:rPr lang="en-IN" b="0" dirty="0">
                <a:solidFill>
                  <a:srgbClr val="098658"/>
                </a:solidFill>
                <a:effectLst/>
                <a:latin typeface="Consolas" panose="020B0609020204030204" pitchFamily="49" charset="0"/>
              </a:rPr>
              <a:t>1</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of </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sculptureList.length</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&lt;/h3&gt;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img</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sculpture.url</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alt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sculpture.alt</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sculpture.description</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40758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DA39077-0FE4-575C-F67E-8929810CB644}"/>
              </a:ext>
            </a:extLst>
          </p:cNvPr>
          <p:cNvSpPr txBox="1"/>
          <p:nvPr/>
        </p:nvSpPr>
        <p:spPr>
          <a:xfrm>
            <a:off x="109330" y="844826"/>
            <a:ext cx="12649200" cy="15973604"/>
          </a:xfrm>
          <a:prstGeom prst="rect">
            <a:avLst/>
          </a:prstGeom>
          <a:noFill/>
        </p:spPr>
        <p:txBody>
          <a:bodyPr wrap="square">
            <a:spAutoFit/>
          </a:bodyPr>
          <a:lstStyle/>
          <a:p>
            <a:r>
              <a:rPr lang="en-US" sz="1200" b="0" dirty="0">
                <a:solidFill>
                  <a:srgbClr val="0000FF"/>
                </a:solidFill>
                <a:effectLst/>
                <a:latin typeface="Consolas" panose="020B0609020204030204" pitchFamily="49" charset="0"/>
              </a:rPr>
              <a:t>export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sculptureList</a:t>
            </a:r>
            <a:r>
              <a:rPr lang="en-US" sz="1200" b="0" dirty="0">
                <a:solidFill>
                  <a:srgbClr val="000000"/>
                </a:solidFill>
                <a:effectLst/>
                <a:latin typeface="Consolas" panose="020B0609020204030204" pitchFamily="49" charset="0"/>
              </a:rPr>
              <a:t> =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Homenaje</a:t>
            </a:r>
            <a:r>
              <a:rPr lang="en-US" sz="1200" b="0" dirty="0">
                <a:solidFill>
                  <a:srgbClr val="A31515"/>
                </a:solidFill>
                <a:effectLst/>
                <a:latin typeface="Consolas" panose="020B0609020204030204" pitchFamily="49" charset="0"/>
              </a:rPr>
              <a:t> a la </a:t>
            </a:r>
            <a:r>
              <a:rPr lang="en-US" sz="1200" b="0" dirty="0" err="1">
                <a:solidFill>
                  <a:srgbClr val="A31515"/>
                </a:solidFill>
                <a:effectLst/>
                <a:latin typeface="Consolas" panose="020B0609020204030204" pitchFamily="49" charset="0"/>
              </a:rPr>
              <a:t>Neurocirugía</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'Marta Colvin Andrade'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'Although Colvin is predominantly known for abstract themes that allude to pre-Hispanic symbols, this gigantic sculpture, an homage to neurosurgery, is one of her most recognizable public art pieces.'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'https://i.imgur.com/Mx7dA2Y.jpg'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bronze statue of two crossed hands delicately holding a human brain in their fingertips.'</a:t>
            </a:r>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Floralis</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Genérica</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'Eduardo Catalano'</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'This enormous (75 ft. or 23m) silver flower is located in Buenos Aires. It is designed to move, closing its petals in the evening or when strong winds blow and opening them in the morning.'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'https://i.imgur.com/ZF6s192m.jpg'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gigantic metallic flower sculpture with reflective mirror-like petals and strong stamens.'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'Eternal Presence'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'John Woodrow Wilson'</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'Wilson was known for his preoccupation with equality, social justice, as well as the essential and spiritual qualities of humankind. This massive (7ft. or 2,13m) bronze represents what he described as "a symbolic Black presence infused with a sense of universal humanity."'</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'https://i.imgur.com/aTtVpES.jpg'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'The sculpture depicting a human head seems ever-present and solemn. It radiates calm and serenity.'</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'Moai'</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'Unknown Artist'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'Located on the Easter Island, there are 1,000 moai, or extant monumental statues, created by the early Rapa Nui people, which some believe represented deified ancestors.'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'https://i.imgur.com/RCwLEoQm.jpg'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'Three monumental stone busts with the heads that are disproportionately large with somber faces.'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'Blue Nana'</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'Niki de Saint Phalle'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'The Nanas are triumphant creatures, symbols of femininity and maternity. Initially, Saint Phalle used fabric and found objects for the Nanas, and later on introduced polyester to achieve a more vibrant effect.'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'https://i.imgur.com/Sd1AgUOm.jpg'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large mosaic sculpture of a whimsical dancing female figure in a colorful costume emanating joy.'</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'Ultimate Form'</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'Barbara Hepworth'</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'This abstract bronze sculpture is a part of The Family of Man series located at Yorkshire Sculpture Park. Hepworth chose not to create literal representations of the world but developed abstract forms inspired by people and landscapes.'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'https://i.imgur.com/2heNQDcm.jpg'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tall sculpture made of three elements stacked on each other reminding of a human figure.'</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'Cavaliere'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'Lamidi </a:t>
            </a:r>
            <a:r>
              <a:rPr lang="en-US" sz="1200" b="0" dirty="0" err="1">
                <a:solidFill>
                  <a:srgbClr val="A31515"/>
                </a:solidFill>
                <a:effectLst/>
                <a:latin typeface="Consolas" panose="020B0609020204030204" pitchFamily="49" charset="0"/>
              </a:rPr>
              <a:t>Olonade</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Fakeye</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"Descended from four generations of woodcarvers, </a:t>
            </a:r>
            <a:r>
              <a:rPr lang="en-US" sz="1200" b="0" dirty="0" err="1">
                <a:solidFill>
                  <a:srgbClr val="A31515"/>
                </a:solidFill>
                <a:effectLst/>
                <a:latin typeface="Consolas" panose="020B0609020204030204" pitchFamily="49" charset="0"/>
              </a:rPr>
              <a:t>Fakeye's</a:t>
            </a:r>
            <a:r>
              <a:rPr lang="en-US" sz="1200" b="0" dirty="0">
                <a:solidFill>
                  <a:srgbClr val="A31515"/>
                </a:solidFill>
                <a:effectLst/>
                <a:latin typeface="Consolas" panose="020B0609020204030204" pitchFamily="49" charset="0"/>
              </a:rPr>
              <a:t> work blended traditional and contemporary Yoruba themes."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'https://i.imgur.com/wIdGuZwm.png'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'An intricate wood sculpture of a warrior with a focused face on a horse adorned with patterns.'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'Big Bellies'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'Alina </a:t>
            </a:r>
            <a:r>
              <a:rPr lang="en-US" sz="1200" b="0" dirty="0" err="1">
                <a:solidFill>
                  <a:srgbClr val="A31515"/>
                </a:solidFill>
                <a:effectLst/>
                <a:latin typeface="Consolas" panose="020B0609020204030204" pitchFamily="49" charset="0"/>
              </a:rPr>
              <a:t>Szapocznikow</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Szapocznikow</a:t>
            </a:r>
            <a:r>
              <a:rPr lang="en-US" sz="1200" b="0" dirty="0">
                <a:solidFill>
                  <a:srgbClr val="A31515"/>
                </a:solidFill>
                <a:effectLst/>
                <a:latin typeface="Consolas" panose="020B0609020204030204" pitchFamily="49" charset="0"/>
              </a:rPr>
              <a:t> is known for her sculptures of the fragmented body as a metaphor for the fragility and impermanence of youth and beauty. This sculpture depicts two very realistic large bellies stacked on top of each other, each around five feet (1,5m) tall."</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'https://i.imgur.com/AlHTAdDm.jpg'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'The sculpture reminds a cascade of folds, quite different from bellies in classical sculptures.'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'Terracotta Army'</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'Unknown Artist'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'The Terracotta Army is a collection of terracotta sculptures depicting the armies of Qin Shi Huang, the first Emperor of China. The army consisted of more than 8,000 soldiers, 130 chariots with 520 horses, and 150 cavalry horses.'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'https://i.imgur.com/HMFmH6m.jpg'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'12 terracotta sculptures of solemn warriors, each with a unique facial expression and armor.'</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'Lunar Landscape'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'Louise Nevelson'</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'Nevelson was known for scavenging objects from New York City debris, which she would later assemble into monumental constructions. In this one, she used disparate parts like a bedpost, juggling pin, and seat fragment, nailing and gluing them into boxes that reflect the influence of Cubism’s geometric abstraction of space and form.'</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'https://i.imgur.com/rN7hY6om.jpg'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black matte sculpture where the individual elements are initially indistinguishable.'</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'Aureole'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Ranjani</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Shettar</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Shettar</a:t>
            </a:r>
            <a:r>
              <a:rPr lang="en-US" sz="1200" b="0" dirty="0">
                <a:solidFill>
                  <a:srgbClr val="A31515"/>
                </a:solidFill>
                <a:effectLst/>
                <a:latin typeface="Consolas" panose="020B0609020204030204" pitchFamily="49" charset="0"/>
              </a:rPr>
              <a:t> merges the traditional and the modern, the natural and the industrial. Her art focuses on the relationship between man and nature. Her work was described as compelling both abstractly and figuratively, gravity defying, and a "fine synthesis of unlikely materials."'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'https://i.imgur.com/okTpbHhm.jpg'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pale wire-like sculpture mounted on concrete wall and descending on the floor. It appears light.'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'Hippos'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'Taipei Zoo'</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'The Taipei Zoo commissioned a Hippo Square featuring submerged hippos at play.'</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'https://i.imgur.com/6o5Vuyu.jpg'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group of bronze hippo sculptures emerging from the sett sidewalk as if they were swimming.'</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endParaRPr lang="en-US"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60484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989C2A-947B-11CE-A9DC-0C0031B41876}"/>
              </a:ext>
            </a:extLst>
          </p:cNvPr>
          <p:cNvSpPr>
            <a:spLocks noChangeArrowheads="1"/>
          </p:cNvSpPr>
          <p:nvPr/>
        </p:nvSpPr>
        <p:spPr bwMode="auto">
          <a:xfrm>
            <a:off x="218661" y="884232"/>
            <a:ext cx="11439939"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The </a:t>
            </a:r>
            <a:r>
              <a:rPr kumimoji="0" lang="en-US" altLang="en-US" b="0" i="0" u="none" strike="noStrike" cap="none" normalizeH="0" baseline="0" dirty="0" err="1">
                <a:ln>
                  <a:noFill/>
                </a:ln>
                <a:solidFill>
                  <a:srgbClr val="23272F"/>
                </a:solidFill>
                <a:effectLst/>
                <a:latin typeface="Source Code Pro" panose="020B0509030403020204" pitchFamily="49" charset="0"/>
              </a:rPr>
              <a:t>handleClick</a:t>
            </a:r>
            <a:r>
              <a:rPr kumimoji="0" lang="en-US" altLang="en-US" b="0" i="0" u="none" strike="noStrike" cap="none" normalizeH="0" baseline="0" dirty="0">
                <a:ln>
                  <a:noFill/>
                </a:ln>
                <a:solidFill>
                  <a:srgbClr val="23272F"/>
                </a:solidFill>
                <a:effectLst/>
                <a:latin typeface="Optimistic Text"/>
              </a:rPr>
              <a:t> event handler is updating a local variable, </a:t>
            </a:r>
            <a:r>
              <a:rPr kumimoji="0" lang="en-US" altLang="en-US" b="0" i="0" u="none" strike="noStrike" cap="none" normalizeH="0" baseline="0" dirty="0">
                <a:ln>
                  <a:noFill/>
                </a:ln>
                <a:solidFill>
                  <a:srgbClr val="23272F"/>
                </a:solidFill>
                <a:effectLst/>
                <a:latin typeface="Source Code Pro" panose="020B0509030403020204" pitchFamily="49" charset="0"/>
              </a:rPr>
              <a:t>index</a:t>
            </a:r>
            <a:r>
              <a:rPr kumimoji="0" lang="en-US" altLang="en-US" b="0" i="0" u="none" strike="noStrike" cap="none" normalizeH="0" baseline="0" dirty="0">
                <a:ln>
                  <a:noFill/>
                </a:ln>
                <a:solidFill>
                  <a:srgbClr val="23272F"/>
                </a:solidFill>
                <a:effectLst/>
                <a:latin typeface="Optimistic Text"/>
              </a:rPr>
              <a:t>. But two things prevent that change from being visible: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23272F"/>
                </a:solidFill>
                <a:effectLst/>
                <a:latin typeface="Optimistic Text"/>
              </a:rPr>
              <a:t>Local variables don’t persist between renders.</a:t>
            </a:r>
            <a:r>
              <a:rPr kumimoji="0" lang="en-US" altLang="en-US" b="0" i="0" u="none" strike="noStrike" cap="none" normalizeH="0" baseline="0" dirty="0">
                <a:ln>
                  <a:noFill/>
                </a:ln>
                <a:solidFill>
                  <a:srgbClr val="23272F"/>
                </a:solidFill>
                <a:effectLst/>
                <a:latin typeface="Optimistic Text"/>
              </a:rPr>
              <a:t> When React renders this component a second time, it renders it from scratch—it doesn’t consider any changes to the local variables.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23272F"/>
                </a:solidFill>
                <a:effectLst/>
                <a:latin typeface="Optimistic Text"/>
              </a:rPr>
              <a:t>Changes to local variables won’t trigger renders.</a:t>
            </a:r>
            <a:r>
              <a:rPr kumimoji="0" lang="en-US" altLang="en-US" b="0" i="0" u="none" strike="noStrike" cap="none" normalizeH="0" baseline="0" dirty="0">
                <a:ln>
                  <a:noFill/>
                </a:ln>
                <a:solidFill>
                  <a:srgbClr val="23272F"/>
                </a:solidFill>
                <a:effectLst/>
                <a:latin typeface="Optimistic Text"/>
              </a:rPr>
              <a:t> React doesn’t realize it needs to render the component again with the new data.</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dirty="0">
              <a:solidFill>
                <a:srgbClr val="23272F"/>
              </a:solidFill>
              <a:latin typeface="Optimistic Tex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To update a component with new data, two things need to happen:</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23272F"/>
                </a:solidFill>
                <a:effectLst/>
                <a:latin typeface="Optimistic Text"/>
              </a:rPr>
              <a:t>Retain</a:t>
            </a:r>
            <a:r>
              <a:rPr kumimoji="0" lang="en-US" altLang="en-US" b="0" i="0" u="none" strike="noStrike" cap="none" normalizeH="0" baseline="0" dirty="0">
                <a:ln>
                  <a:noFill/>
                </a:ln>
                <a:solidFill>
                  <a:srgbClr val="23272F"/>
                </a:solidFill>
                <a:effectLst/>
                <a:latin typeface="Optimistic Text"/>
              </a:rPr>
              <a:t> the data between renders.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23272F"/>
                </a:solidFill>
                <a:effectLst/>
                <a:latin typeface="Optimistic Text"/>
              </a:rPr>
              <a:t>Trigger</a:t>
            </a:r>
            <a:r>
              <a:rPr kumimoji="0" lang="en-US" altLang="en-US" b="0" i="0" u="none" strike="noStrike" cap="none" normalizeH="0" baseline="0" dirty="0">
                <a:ln>
                  <a:noFill/>
                </a:ln>
                <a:solidFill>
                  <a:srgbClr val="23272F"/>
                </a:solidFill>
                <a:effectLst/>
                <a:latin typeface="Optimistic Text"/>
              </a:rPr>
              <a:t> React to render the component with new data (re-rendering).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The </a:t>
            </a:r>
            <a:r>
              <a:rPr kumimoji="0" lang="en-US" altLang="en-US" b="0" i="0" u="none" strike="noStrike" cap="none" normalizeH="0" baseline="0" dirty="0" err="1">
                <a:ln>
                  <a:noFill/>
                </a:ln>
                <a:solidFill>
                  <a:srgbClr val="23272F"/>
                </a:solidFill>
                <a:effectLst/>
                <a:latin typeface="Source Code Pro" panose="020B0509030403020204" pitchFamily="49" charset="0"/>
                <a:hlinkClick r:id="rId2"/>
              </a:rPr>
              <a:t>useState</a:t>
            </a:r>
            <a:r>
              <a:rPr kumimoji="0" lang="en-US" altLang="en-US" b="0" i="0" u="none" strike="noStrike" cap="none" normalizeH="0" baseline="0" dirty="0">
                <a:ln>
                  <a:noFill/>
                </a:ln>
                <a:solidFill>
                  <a:srgbClr val="23272F"/>
                </a:solidFill>
                <a:effectLst/>
                <a:latin typeface="Optimistic Text"/>
              </a:rPr>
              <a:t> Hook provides those two things: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rgbClr val="23272F"/>
                </a:solidFill>
                <a:effectLst/>
                <a:latin typeface="Optimistic Text"/>
              </a:rPr>
              <a:t>A </a:t>
            </a:r>
            <a:r>
              <a:rPr kumimoji="0" lang="en-US" altLang="en-US" b="1" i="0" u="none" strike="noStrike" cap="none" normalizeH="0" baseline="0" dirty="0">
                <a:ln>
                  <a:noFill/>
                </a:ln>
                <a:solidFill>
                  <a:srgbClr val="23272F"/>
                </a:solidFill>
                <a:effectLst/>
                <a:latin typeface="Optimistic Text"/>
              </a:rPr>
              <a:t>state variable</a:t>
            </a:r>
            <a:r>
              <a:rPr kumimoji="0" lang="en-US" altLang="en-US" b="0" i="0" u="none" strike="noStrike" cap="none" normalizeH="0" baseline="0" dirty="0">
                <a:ln>
                  <a:noFill/>
                </a:ln>
                <a:solidFill>
                  <a:srgbClr val="23272F"/>
                </a:solidFill>
                <a:effectLst/>
                <a:latin typeface="Optimistic Text"/>
              </a:rPr>
              <a:t> to retain the data between renders.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rgbClr val="23272F"/>
                </a:solidFill>
                <a:effectLst/>
                <a:latin typeface="Optimistic Text"/>
              </a:rPr>
              <a:t>A </a:t>
            </a:r>
            <a:r>
              <a:rPr kumimoji="0" lang="en-US" altLang="en-US" b="1" i="0" u="none" strike="noStrike" cap="none" normalizeH="0" baseline="0" dirty="0">
                <a:ln>
                  <a:noFill/>
                </a:ln>
                <a:solidFill>
                  <a:srgbClr val="23272F"/>
                </a:solidFill>
                <a:effectLst/>
                <a:latin typeface="Optimistic Text"/>
              </a:rPr>
              <a:t>state setter function</a:t>
            </a:r>
            <a:r>
              <a:rPr kumimoji="0" lang="en-US" altLang="en-US" b="0" i="0" u="none" strike="noStrike" cap="none" normalizeH="0" baseline="0" dirty="0">
                <a:ln>
                  <a:noFill/>
                </a:ln>
                <a:solidFill>
                  <a:srgbClr val="23272F"/>
                </a:solidFill>
                <a:effectLst/>
                <a:latin typeface="Optimistic Text"/>
              </a:rPr>
              <a:t> to update the variable and trigger React to render the component again.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7168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208D84-6F53-DE8E-0565-D2E987EE7265}"/>
              </a:ext>
            </a:extLst>
          </p:cNvPr>
          <p:cNvSpPr txBox="1"/>
          <p:nvPr/>
        </p:nvSpPr>
        <p:spPr>
          <a:xfrm>
            <a:off x="1080879" y="75919"/>
            <a:ext cx="11313215" cy="6986528"/>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highlight>
                  <a:srgbClr val="FFFF00"/>
                </a:highlight>
                <a:latin typeface="Consolas" panose="020B0609020204030204" pitchFamily="49" charset="0"/>
              </a:rPr>
              <a:t>useState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sculptureList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'./data.js'</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Gallery()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[index, </a:t>
            </a:r>
            <a:r>
              <a:rPr lang="en-IN" sz="1600" b="0" dirty="0" err="1">
                <a:solidFill>
                  <a:srgbClr val="000000"/>
                </a:solidFill>
                <a:effectLst/>
                <a:latin typeface="Consolas" panose="020B0609020204030204" pitchFamily="49" charset="0"/>
              </a:rPr>
              <a:t>setIndex</a:t>
            </a:r>
            <a:r>
              <a:rPr lang="en-IN" sz="1600" b="0" dirty="0">
                <a:solidFill>
                  <a:srgbClr val="000000"/>
                </a:solidFill>
                <a:effectLst/>
                <a:latin typeface="Consolas" panose="020B0609020204030204" pitchFamily="49" charset="0"/>
              </a:rPr>
              <a:t>] = </a:t>
            </a:r>
            <a:r>
              <a:rPr lang="en-IN" sz="1600" b="0" dirty="0" err="1">
                <a:solidFill>
                  <a:srgbClr val="000000"/>
                </a:solidFill>
                <a:effectLst/>
                <a:highlight>
                  <a:srgbClr val="FFFF00"/>
                </a:highlight>
                <a:latin typeface="Consolas" panose="020B0609020204030204" pitchFamily="49" charset="0"/>
              </a:rPr>
              <a:t>useState</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handleClick</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setIndex</a:t>
            </a:r>
            <a:r>
              <a:rPr lang="en-IN" sz="1600" b="0" dirty="0">
                <a:solidFill>
                  <a:srgbClr val="000000"/>
                </a:solidFill>
                <a:effectLst/>
                <a:latin typeface="Consolas" panose="020B0609020204030204" pitchFamily="49" charset="0"/>
              </a:rPr>
              <a:t>(index + </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let</a:t>
            </a:r>
            <a:r>
              <a:rPr lang="en-IN" sz="1600" b="0" dirty="0">
                <a:solidFill>
                  <a:srgbClr val="000000"/>
                </a:solidFill>
                <a:effectLst/>
                <a:latin typeface="Consolas" panose="020B0609020204030204" pitchFamily="49" charset="0"/>
              </a:rPr>
              <a:t> sculpture = </a:t>
            </a:r>
            <a:r>
              <a:rPr lang="en-IN" sz="1600" b="0" dirty="0" err="1">
                <a:solidFill>
                  <a:srgbClr val="000000"/>
                </a:solidFill>
                <a:effectLst/>
                <a:latin typeface="Consolas" panose="020B0609020204030204" pitchFamily="49" charset="0"/>
              </a:rPr>
              <a:t>sculptureList</a:t>
            </a:r>
            <a:r>
              <a:rPr lang="en-IN" sz="1600" b="0" dirty="0">
                <a:solidFill>
                  <a:srgbClr val="000000"/>
                </a:solidFill>
                <a:effectLst/>
                <a:latin typeface="Consolas" panose="020B0609020204030204" pitchFamily="49" charset="0"/>
              </a:rPr>
              <a:t>[index];</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&lt;button</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onClick</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handleClick</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Next      </a:t>
            </a:r>
            <a:r>
              <a:rPr lang="en-IN" sz="1600" b="0" dirty="0">
                <a:solidFill>
                  <a:srgbClr val="800000"/>
                </a:solidFill>
                <a:effectLst/>
                <a:latin typeface="Consolas" panose="020B0609020204030204" pitchFamily="49" charset="0"/>
              </a:rPr>
              <a:t>&lt;/button&gt;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i</a:t>
            </a:r>
            <a:r>
              <a:rPr lang="en-IN" sz="1600" b="0" dirty="0">
                <a:solidFill>
                  <a:srgbClr val="800000"/>
                </a:solidFill>
                <a:effectLst/>
                <a:latin typeface="Consolas" panose="020B0609020204030204" pitchFamily="49" charset="0"/>
              </a:rPr>
              <a:t>&gt;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sculpture.name</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i</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by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sculpture.artist</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&lt;h3&gt;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index + </a:t>
            </a:r>
            <a:r>
              <a:rPr lang="en-IN" sz="1600" b="0" dirty="0">
                <a:solidFill>
                  <a:srgbClr val="098658"/>
                </a:solidFill>
                <a:effectLst/>
                <a:latin typeface="Consolas" panose="020B0609020204030204" pitchFamily="49" charset="0"/>
              </a:rPr>
              <a:t>1</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of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sculptureList.length</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&lt;/h3&gt;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img</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sculpture.url</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alt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sculpture.alt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sculpture.description</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2" name="TextBox 1"/>
          <p:cNvSpPr txBox="1"/>
          <p:nvPr/>
        </p:nvSpPr>
        <p:spPr>
          <a:xfrm>
            <a:off x="8420099" y="514350"/>
            <a:ext cx="2981325" cy="3416320"/>
          </a:xfrm>
          <a:prstGeom prst="rect">
            <a:avLst/>
          </a:prstGeom>
          <a:noFill/>
        </p:spPr>
        <p:txBody>
          <a:bodyPr wrap="square" rtlCol="0">
            <a:spAutoFit/>
          </a:bodyPr>
          <a:lstStyle/>
          <a:p>
            <a:r>
              <a:rPr lang="en-US" dirty="0"/>
              <a:t>function </a:t>
            </a:r>
            <a:r>
              <a:rPr lang="en-US" dirty="0" err="1"/>
              <a:t>useSate</a:t>
            </a:r>
            <a:r>
              <a:rPr lang="en-US" dirty="0"/>
              <a:t>()</a:t>
            </a:r>
          </a:p>
          <a:p>
            <a:r>
              <a:rPr lang="en-US" dirty="0"/>
              <a:t>{</a:t>
            </a:r>
          </a:p>
          <a:p>
            <a:r>
              <a:rPr lang="en-US" dirty="0" err="1"/>
              <a:t>const</a:t>
            </a:r>
            <a:r>
              <a:rPr lang="en-US" dirty="0"/>
              <a:t> state,</a:t>
            </a:r>
          </a:p>
          <a:p>
            <a:r>
              <a:rPr lang="en-US" dirty="0" err="1"/>
              <a:t>setState</a:t>
            </a:r>
            <a:r>
              <a:rPr lang="en-US" dirty="0"/>
              <a:t>=function(){</a:t>
            </a:r>
          </a:p>
          <a:p>
            <a:endParaRPr lang="en-US" dirty="0"/>
          </a:p>
          <a:p>
            <a:r>
              <a:rPr lang="en-US" dirty="0"/>
              <a:t>} </a:t>
            </a:r>
          </a:p>
          <a:p>
            <a:endParaRPr lang="en-US" dirty="0"/>
          </a:p>
          <a:p>
            <a:endParaRPr lang="en-US" dirty="0"/>
          </a:p>
          <a:p>
            <a:endParaRPr lang="en-US" dirty="0"/>
          </a:p>
          <a:p>
            <a:r>
              <a:rPr lang="en-US" dirty="0"/>
              <a:t>return [</a:t>
            </a:r>
            <a:r>
              <a:rPr lang="en-US" dirty="0" err="1"/>
              <a:t>state,setstate</a:t>
            </a:r>
            <a:r>
              <a:rPr lang="en-US" dirty="0"/>
              <a:t>]</a:t>
            </a:r>
          </a:p>
          <a:p>
            <a:endParaRPr lang="en-US" dirty="0"/>
          </a:p>
          <a:p>
            <a:r>
              <a:rPr lang="en-US" dirty="0"/>
              <a:t>}</a:t>
            </a:r>
          </a:p>
        </p:txBody>
      </p:sp>
    </p:spTree>
    <p:extLst>
      <p:ext uri="{BB962C8B-B14F-4D97-AF65-F5344CB8AC3E}">
        <p14:creationId xmlns:p14="http://schemas.microsoft.com/office/powerpoint/2010/main" val="3768136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4727" y="492909"/>
            <a:ext cx="5403273" cy="4832092"/>
          </a:xfrm>
          <a:prstGeom prst="rect">
            <a:avLst/>
          </a:prstGeom>
        </p:spPr>
        <p:txBody>
          <a:bodyPr wrap="square">
            <a:spAutoFit/>
          </a:bodyPr>
          <a:lstStyle/>
          <a:p>
            <a:br>
              <a:rPr lang="en-IN" sz="1400" dirty="0">
                <a:solidFill>
                  <a:srgbClr val="000000"/>
                </a:solidFill>
                <a:latin typeface="Consolas" panose="020B0609020204030204" pitchFamily="49" charset="0"/>
              </a:rPr>
            </a:br>
            <a:r>
              <a:rPr lang="en-IN" sz="1400" dirty="0">
                <a:solidFill>
                  <a:srgbClr val="AF00DB"/>
                </a:solidFill>
                <a:latin typeface="Consolas" panose="020B0609020204030204" pitchFamily="49" charset="0"/>
              </a:rPr>
              <a:t>import</a:t>
            </a:r>
            <a:r>
              <a:rPr lang="en-IN" sz="1400" dirty="0">
                <a:solidFill>
                  <a:srgbClr val="000000"/>
                </a:solidFill>
                <a:latin typeface="Consolas" panose="020B0609020204030204" pitchFamily="49" charset="0"/>
              </a:rPr>
              <a:t> { </a:t>
            </a:r>
            <a:r>
              <a:rPr lang="en-IN" sz="1400" dirty="0" err="1">
                <a:solidFill>
                  <a:srgbClr val="001080"/>
                </a:solidFill>
                <a:latin typeface="Consolas" panose="020B0609020204030204" pitchFamily="49" charset="0"/>
              </a:rPr>
              <a:t>useState</a:t>
            </a:r>
            <a:r>
              <a:rPr lang="en-IN" sz="1400" dirty="0">
                <a:solidFill>
                  <a:srgbClr val="000000"/>
                </a:solidFill>
                <a:latin typeface="Consolas" panose="020B0609020204030204" pitchFamily="49" charset="0"/>
              </a:rPr>
              <a:t> } </a:t>
            </a:r>
            <a:r>
              <a:rPr lang="en-IN" sz="1400" dirty="0">
                <a:solidFill>
                  <a:srgbClr val="AF00DB"/>
                </a:solidFill>
                <a:latin typeface="Consolas" panose="020B0609020204030204" pitchFamily="49" charset="0"/>
              </a:rPr>
              <a:t>from</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'react'</a:t>
            </a:r>
            <a:r>
              <a:rPr lang="en-IN" sz="1400" dirty="0">
                <a:solidFill>
                  <a:srgbClr val="000000"/>
                </a:solidFill>
                <a:latin typeface="Consolas" panose="020B0609020204030204" pitchFamily="49" charset="0"/>
              </a:rPr>
              <a:t>;</a:t>
            </a:r>
          </a:p>
          <a:p>
            <a:br>
              <a:rPr lang="en-IN" sz="1400" dirty="0">
                <a:solidFill>
                  <a:srgbClr val="000000"/>
                </a:solidFill>
                <a:latin typeface="Consolas" panose="020B0609020204030204" pitchFamily="49" charset="0"/>
              </a:rPr>
            </a:br>
            <a:r>
              <a:rPr lang="en-IN" sz="1400" dirty="0">
                <a:solidFill>
                  <a:srgbClr val="AF00DB"/>
                </a:solidFill>
                <a:latin typeface="Consolas" panose="020B0609020204030204" pitchFamily="49" charset="0"/>
              </a:rPr>
              <a:t>export</a:t>
            </a:r>
            <a:r>
              <a:rPr lang="en-IN" sz="1400" dirty="0">
                <a:solidFill>
                  <a:srgbClr val="000000"/>
                </a:solidFill>
                <a:latin typeface="Consolas" panose="020B0609020204030204" pitchFamily="49" charset="0"/>
              </a:rPr>
              <a:t> </a:t>
            </a:r>
            <a:r>
              <a:rPr lang="en-IN" sz="1400" dirty="0">
                <a:solidFill>
                  <a:srgbClr val="AF00DB"/>
                </a:solidFill>
                <a:latin typeface="Consolas" panose="020B0609020204030204" pitchFamily="49" charset="0"/>
              </a:rPr>
              <a:t>default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function</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MyInput</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const</a:t>
            </a:r>
            <a:r>
              <a:rPr lang="en-IN" sz="1400" dirty="0">
                <a:solidFill>
                  <a:srgbClr val="000000"/>
                </a:solidFill>
                <a:latin typeface="Consolas" panose="020B0609020204030204" pitchFamily="49" charset="0"/>
              </a:rPr>
              <a:t> [</a:t>
            </a:r>
            <a:r>
              <a:rPr lang="en-IN" sz="1400" dirty="0">
                <a:solidFill>
                  <a:srgbClr val="0070C1"/>
                </a:solidFill>
                <a:latin typeface="Consolas" panose="020B0609020204030204" pitchFamily="49" charset="0"/>
              </a:rPr>
              <a:t>text</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setText</a:t>
            </a:r>
            <a:r>
              <a:rPr lang="en-IN" sz="1400" dirty="0">
                <a:solidFill>
                  <a:srgbClr val="000000"/>
                </a:solidFill>
                <a:latin typeface="Consolas" panose="020B0609020204030204" pitchFamily="49" charset="0"/>
              </a:rPr>
              <a:t>] = </a:t>
            </a:r>
            <a:r>
              <a:rPr lang="en-IN" sz="1400" dirty="0" err="1">
                <a:solidFill>
                  <a:srgbClr val="795E26"/>
                </a:solidFill>
                <a:latin typeface="Consolas" panose="020B0609020204030204" pitchFamily="49" charset="0"/>
              </a:rPr>
              <a:t>useState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a:t>
            </a:r>
            <a:r>
              <a:rPr lang="en-IN" sz="1400" dirty="0">
                <a:solidFill>
                  <a:srgbClr val="000000"/>
                </a:solidFill>
                <a:latin typeface="Consolas" panose="020B0609020204030204" pitchFamily="49" charset="0"/>
              </a:rPr>
              <a:t>);</a:t>
            </a:r>
          </a:p>
          <a:p>
            <a:br>
              <a:rPr lang="en-IN" sz="1400" dirty="0">
                <a:solidFill>
                  <a:srgbClr val="000000"/>
                </a:solidFill>
                <a:latin typeface="Consolas" panose="020B0609020204030204" pitchFamily="49" charset="0"/>
              </a:rPr>
            </a:b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function</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handleChange</a:t>
            </a:r>
            <a:r>
              <a:rPr lang="en-IN" sz="1400" dirty="0">
                <a:solidFill>
                  <a:srgbClr val="000000"/>
                </a:solidFill>
                <a:latin typeface="Consolas" panose="020B0609020204030204" pitchFamily="49" charset="0"/>
              </a:rPr>
              <a:t>(</a:t>
            </a:r>
            <a:r>
              <a:rPr lang="en-IN" sz="1400" dirty="0">
                <a:solidFill>
                  <a:srgbClr val="001080"/>
                </a:solidFill>
                <a:latin typeface="Consolas" panose="020B0609020204030204" pitchFamily="49" charset="0"/>
              </a:rPr>
              <a:t>e</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setText</a:t>
            </a:r>
            <a:r>
              <a:rPr lang="en-IN" sz="1400" dirty="0">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e</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target</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value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br>
              <a:rPr lang="en-IN" sz="1400" dirty="0">
                <a:solidFill>
                  <a:srgbClr val="000000"/>
                </a:solidFill>
                <a:latin typeface="Consolas" panose="020B0609020204030204" pitchFamily="49" charset="0"/>
              </a:rPr>
            </a:br>
            <a:r>
              <a:rPr lang="en-IN" sz="1400" dirty="0">
                <a:solidFill>
                  <a:srgbClr val="000000"/>
                </a:solidFill>
                <a:latin typeface="Consolas" panose="020B0609020204030204" pitchFamily="49" charset="0"/>
              </a:rPr>
              <a:t>  </a:t>
            </a:r>
            <a:r>
              <a:rPr lang="en-IN" sz="1400" dirty="0">
                <a:solidFill>
                  <a:srgbClr val="AF00DB"/>
                </a:solidFill>
                <a:latin typeface="Consolas" panose="020B0609020204030204" pitchFamily="49" charset="0"/>
              </a:rPr>
              <a:t>return</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value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a:solidFill>
                  <a:srgbClr val="0070C1"/>
                </a:solidFill>
                <a:latin typeface="Consolas" panose="020B0609020204030204" pitchFamily="49" charset="0"/>
              </a:rPr>
              <a:t>text</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onChange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err="1">
                <a:solidFill>
                  <a:srgbClr val="795E26"/>
                </a:solidFill>
                <a:latin typeface="Consolas" panose="020B0609020204030204" pitchFamily="49" charset="0"/>
              </a:rPr>
              <a:t>handleChange</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&lt;p&gt;</a:t>
            </a:r>
            <a:r>
              <a:rPr lang="en-IN" sz="1400" dirty="0">
                <a:solidFill>
                  <a:srgbClr val="000000"/>
                </a:solidFill>
                <a:latin typeface="Consolas" panose="020B0609020204030204" pitchFamily="49" charset="0"/>
              </a:rPr>
              <a:t>You typed: </a:t>
            </a:r>
            <a:r>
              <a:rPr lang="en-IN" sz="1400" dirty="0">
                <a:solidFill>
                  <a:srgbClr val="0000FF"/>
                </a:solidFill>
                <a:latin typeface="Consolas" panose="020B0609020204030204" pitchFamily="49" charset="0"/>
              </a:rPr>
              <a:t>{</a:t>
            </a:r>
            <a:r>
              <a:rPr lang="en-IN" sz="1400" dirty="0">
                <a:solidFill>
                  <a:srgbClr val="0070C1"/>
                </a:solidFill>
                <a:latin typeface="Consolas" panose="020B0609020204030204" pitchFamily="49" charset="0"/>
              </a:rPr>
              <a:t>text</a:t>
            </a:r>
            <a:r>
              <a:rPr lang="en-IN" sz="1400" dirty="0">
                <a:solidFill>
                  <a:srgbClr val="0000FF"/>
                </a:solidFill>
                <a:latin typeface="Consolas" panose="020B0609020204030204" pitchFamily="49" charset="0"/>
              </a:rPr>
              <a:t>}</a:t>
            </a:r>
            <a:r>
              <a:rPr lang="en-IN" sz="1400" dirty="0">
                <a:solidFill>
                  <a:srgbClr val="800000"/>
                </a:solidFill>
                <a:latin typeface="Consolas" panose="020B0609020204030204" pitchFamily="49" charset="0"/>
              </a:rPr>
              <a:t>&lt;/p&gt;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&lt;button</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onClick</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=&gt;</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setText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Reset</a:t>
            </a: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&lt;/button&gt;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a:t>
            </a:r>
          </a:p>
          <a:p>
            <a:br>
              <a:rPr lang="en-IN" sz="1400" dirty="0">
                <a:solidFill>
                  <a:srgbClr val="000000"/>
                </a:solidFill>
                <a:latin typeface="Consolas" panose="020B0609020204030204" pitchFamily="49" charset="0"/>
              </a:rPr>
            </a:br>
            <a:endParaRPr lang="en-IN" sz="1400" b="0" dirty="0">
              <a:solidFill>
                <a:srgbClr val="000000"/>
              </a:solidFill>
              <a:effectLst/>
              <a:latin typeface="Consolas" panose="020B0609020204030204" pitchFamily="49" charset="0"/>
            </a:endParaRPr>
          </a:p>
        </p:txBody>
      </p:sp>
      <p:sp>
        <p:nvSpPr>
          <p:cNvPr id="5" name="Rectangle 4"/>
          <p:cNvSpPr/>
          <p:nvPr/>
        </p:nvSpPr>
        <p:spPr>
          <a:xfrm>
            <a:off x="6096000" y="0"/>
            <a:ext cx="6096000" cy="4524315"/>
          </a:xfrm>
          <a:prstGeom prst="rect">
            <a:avLst/>
          </a:prstGeom>
        </p:spPr>
        <p:txBody>
          <a:bodyPr>
            <a:spAutoFit/>
          </a:bodyPr>
          <a:lstStyle/>
          <a:p>
            <a:br>
              <a:rPr lang="en-IN" sz="1200" dirty="0">
                <a:solidFill>
                  <a:srgbClr val="000000"/>
                </a:solidFill>
                <a:latin typeface="Consolas" panose="020B0609020204030204" pitchFamily="49" charset="0"/>
              </a:rPr>
            </a:br>
            <a:r>
              <a:rPr lang="en-IN" sz="1200" dirty="0">
                <a:solidFill>
                  <a:srgbClr val="AF00DB"/>
                </a:solidFill>
                <a:latin typeface="Consolas" panose="020B0609020204030204" pitchFamily="49" charset="0"/>
              </a:rPr>
              <a:t>export</a:t>
            </a:r>
            <a:r>
              <a:rPr lang="en-IN" sz="1200" dirty="0">
                <a:solidFill>
                  <a:srgbClr val="000000"/>
                </a:solidFill>
                <a:latin typeface="Consolas" panose="020B0609020204030204" pitchFamily="49" charset="0"/>
              </a:rPr>
              <a:t> </a:t>
            </a:r>
            <a:r>
              <a:rPr lang="en-IN" sz="1200" dirty="0">
                <a:solidFill>
                  <a:srgbClr val="AF00DB"/>
                </a:solidFill>
                <a:latin typeface="Consolas" panose="020B0609020204030204" pitchFamily="49" charset="0"/>
              </a:rPr>
              <a:t>default</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function</a:t>
            </a:r>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MyCheckbox</a:t>
            </a:r>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FF"/>
                </a:solidFill>
                <a:latin typeface="Consolas" panose="020B0609020204030204" pitchFamily="49" charset="0"/>
              </a:rPr>
              <a:t>const</a:t>
            </a:r>
            <a:r>
              <a:rPr lang="en-IN" sz="1200" dirty="0">
                <a:solidFill>
                  <a:srgbClr val="000000"/>
                </a:solidFill>
                <a:latin typeface="Consolas" panose="020B0609020204030204" pitchFamily="49" charset="0"/>
              </a:rPr>
              <a:t> [</a:t>
            </a:r>
            <a:r>
              <a:rPr lang="en-IN" sz="1200" dirty="0">
                <a:solidFill>
                  <a:srgbClr val="0070C1"/>
                </a:solidFill>
                <a:latin typeface="Consolas" panose="020B0609020204030204" pitchFamily="49" charset="0"/>
              </a:rPr>
              <a:t>liked</a:t>
            </a:r>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setLiked</a:t>
            </a:r>
            <a:r>
              <a:rPr lang="en-IN" sz="1200" dirty="0">
                <a:solidFill>
                  <a:srgbClr val="000000"/>
                </a:solidFill>
                <a:latin typeface="Consolas" panose="020B0609020204030204" pitchFamily="49" charset="0"/>
              </a:rPr>
              <a:t>] = </a:t>
            </a:r>
            <a:r>
              <a:rPr lang="en-IN" sz="1200" dirty="0" err="1">
                <a:solidFill>
                  <a:srgbClr val="795E26"/>
                </a:solidFill>
                <a:latin typeface="Consolas" panose="020B0609020204030204" pitchFamily="49" charset="0"/>
              </a:rPr>
              <a:t>useState</a:t>
            </a:r>
            <a:r>
              <a:rPr lang="en-IN" sz="1200" dirty="0">
                <a:solidFill>
                  <a:srgbClr val="000000"/>
                </a:solidFill>
                <a:latin typeface="Consolas" panose="020B0609020204030204" pitchFamily="49" charset="0"/>
              </a:rPr>
              <a:t>(</a:t>
            </a:r>
            <a:r>
              <a:rPr lang="en-IN" sz="1200" dirty="0">
                <a:solidFill>
                  <a:srgbClr val="0000FF"/>
                </a:solidFill>
                <a:latin typeface="Consolas" panose="020B0609020204030204" pitchFamily="49" charset="0"/>
              </a:rPr>
              <a:t>true</a:t>
            </a:r>
            <a:r>
              <a:rPr lang="en-IN" sz="1200" dirty="0">
                <a:solidFill>
                  <a:srgbClr val="000000"/>
                </a:solidFill>
                <a:latin typeface="Consolas" panose="020B0609020204030204" pitchFamily="49" charset="0"/>
              </a:rPr>
              <a:t>);</a:t>
            </a:r>
          </a:p>
          <a:p>
            <a:br>
              <a:rPr lang="en-IN" sz="1200" dirty="0">
                <a:solidFill>
                  <a:srgbClr val="000000"/>
                </a:solidFill>
                <a:latin typeface="Consolas" panose="020B0609020204030204" pitchFamily="49" charset="0"/>
              </a:rPr>
            </a:b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function</a:t>
            </a:r>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handleChange</a:t>
            </a:r>
            <a:r>
              <a:rPr lang="en-IN" sz="1200" dirty="0">
                <a:solidFill>
                  <a:srgbClr val="000000"/>
                </a:solidFill>
                <a:latin typeface="Consolas" panose="020B0609020204030204" pitchFamily="49" charset="0"/>
              </a:rPr>
              <a:t>(</a:t>
            </a:r>
            <a:r>
              <a:rPr lang="en-IN" sz="1200" dirty="0">
                <a:solidFill>
                  <a:srgbClr val="001080"/>
                </a:solidFill>
                <a:latin typeface="Consolas" panose="020B0609020204030204" pitchFamily="49" charset="0"/>
              </a:rPr>
              <a:t>e</a:t>
            </a:r>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setLiked</a:t>
            </a:r>
            <a:r>
              <a:rPr lang="en-IN" sz="1200" dirty="0">
                <a:solidFill>
                  <a:srgbClr val="000000"/>
                </a:solidFill>
                <a:latin typeface="Consolas" panose="020B0609020204030204" pitchFamily="49" charset="0"/>
              </a:rPr>
              <a:t>(</a:t>
            </a:r>
            <a:r>
              <a:rPr lang="en-IN" sz="1200" dirty="0" err="1">
                <a:solidFill>
                  <a:srgbClr val="001080"/>
                </a:solidFill>
                <a:latin typeface="Consolas" panose="020B0609020204030204" pitchFamily="49" charset="0"/>
              </a:rPr>
              <a:t>e</a:t>
            </a:r>
            <a:r>
              <a:rPr lang="en-IN" sz="1200" dirty="0" err="1">
                <a:solidFill>
                  <a:srgbClr val="000000"/>
                </a:solidFill>
                <a:latin typeface="Consolas" panose="020B0609020204030204" pitchFamily="49" charset="0"/>
              </a:rPr>
              <a:t>.</a:t>
            </a:r>
            <a:r>
              <a:rPr lang="en-IN" sz="1200" dirty="0" err="1">
                <a:solidFill>
                  <a:srgbClr val="001080"/>
                </a:solidFill>
                <a:latin typeface="Consolas" panose="020B0609020204030204" pitchFamily="49" charset="0"/>
              </a:rPr>
              <a:t>target</a:t>
            </a:r>
            <a:r>
              <a:rPr lang="en-IN" sz="1200" dirty="0" err="1">
                <a:solidFill>
                  <a:srgbClr val="000000"/>
                </a:solidFill>
                <a:latin typeface="Consolas" panose="020B0609020204030204" pitchFamily="49" charset="0"/>
              </a:rPr>
              <a:t>.</a:t>
            </a:r>
            <a:r>
              <a:rPr lang="en-IN" sz="1200" dirty="0" err="1">
                <a:solidFill>
                  <a:srgbClr val="001080"/>
                </a:solidFill>
                <a:latin typeface="Consolas" panose="020B0609020204030204" pitchFamily="49" charset="0"/>
              </a:rPr>
              <a:t>checked</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br>
              <a:rPr lang="en-IN" sz="1200" dirty="0">
                <a:solidFill>
                  <a:srgbClr val="000000"/>
                </a:solidFill>
                <a:latin typeface="Consolas" panose="020B0609020204030204" pitchFamily="49" charset="0"/>
              </a:rPr>
            </a:br>
            <a:r>
              <a:rPr lang="en-IN" sz="1200" dirty="0">
                <a:solidFill>
                  <a:srgbClr val="000000"/>
                </a:solidFill>
                <a:latin typeface="Consolas" panose="020B0609020204030204" pitchFamily="49" charset="0"/>
              </a:rPr>
              <a:t>  </a:t>
            </a:r>
            <a:r>
              <a:rPr lang="en-IN" sz="1200" dirty="0">
                <a:solidFill>
                  <a:srgbClr val="AF00DB"/>
                </a:solidFill>
                <a:latin typeface="Consolas" panose="020B0609020204030204" pitchFamily="49" charset="0"/>
              </a:rPr>
              <a:t>return</a:t>
            </a:r>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&lt;label&gt;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&lt;input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E50000"/>
                </a:solidFill>
                <a:latin typeface="Consolas" panose="020B0609020204030204" pitchFamily="49" charset="0"/>
              </a:rPr>
              <a:t>type</a:t>
            </a:r>
            <a:r>
              <a:rPr lang="en-IN" sz="1200" dirty="0">
                <a:solidFill>
                  <a:srgbClr val="000000"/>
                </a:solidFill>
                <a:latin typeface="Consolas" panose="020B0609020204030204" pitchFamily="49" charset="0"/>
              </a:rPr>
              <a:t>=</a:t>
            </a:r>
            <a:r>
              <a:rPr lang="en-IN" sz="1200" dirty="0">
                <a:solidFill>
                  <a:srgbClr val="A31515"/>
                </a:solidFill>
                <a:latin typeface="Consolas" panose="020B0609020204030204" pitchFamily="49" charset="0"/>
              </a:rPr>
              <a:t>"checkbox"</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E50000"/>
                </a:solidFill>
                <a:latin typeface="Consolas" panose="020B0609020204030204" pitchFamily="49" charset="0"/>
              </a:rPr>
              <a:t>checked</a:t>
            </a:r>
            <a:r>
              <a:rPr lang="en-IN" sz="1200" dirty="0">
                <a:solidFill>
                  <a:srgbClr val="000000"/>
                </a:solidFill>
                <a:latin typeface="Consolas" panose="020B0609020204030204" pitchFamily="49" charset="0"/>
              </a:rPr>
              <a:t>=</a:t>
            </a:r>
            <a:r>
              <a:rPr lang="en-IN" sz="1200" dirty="0">
                <a:solidFill>
                  <a:srgbClr val="0000FF"/>
                </a:solidFill>
                <a:latin typeface="Consolas" panose="020B0609020204030204" pitchFamily="49" charset="0"/>
              </a:rPr>
              <a:t>{</a:t>
            </a:r>
            <a:r>
              <a:rPr lang="en-IN" sz="1200" dirty="0">
                <a:solidFill>
                  <a:srgbClr val="0070C1"/>
                </a:solidFill>
                <a:latin typeface="Consolas" panose="020B0609020204030204" pitchFamily="49" charset="0"/>
              </a:rPr>
              <a:t>liked</a:t>
            </a:r>
            <a:r>
              <a:rPr lang="en-IN" sz="1200" dirty="0">
                <a:solidFill>
                  <a:srgbClr val="0000FF"/>
                </a:solidFill>
                <a:latin typeface="Consolas" panose="020B0609020204030204" pitchFamily="49" charset="0"/>
              </a:rPr>
              <a: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err="1">
                <a:solidFill>
                  <a:srgbClr val="E50000"/>
                </a:solidFill>
                <a:latin typeface="Consolas" panose="020B0609020204030204" pitchFamily="49" charset="0"/>
              </a:rPr>
              <a:t>onChange</a:t>
            </a:r>
            <a:r>
              <a:rPr lang="en-IN" sz="1200" dirty="0">
                <a:solidFill>
                  <a:srgbClr val="000000"/>
                </a:solidFill>
                <a:latin typeface="Consolas" panose="020B0609020204030204" pitchFamily="49" charset="0"/>
              </a:rPr>
              <a:t>=</a:t>
            </a:r>
            <a:r>
              <a:rPr lang="en-IN" sz="1200" dirty="0">
                <a:solidFill>
                  <a:srgbClr val="0000FF"/>
                </a:solidFill>
                <a:latin typeface="Consolas" panose="020B0609020204030204" pitchFamily="49" charset="0"/>
              </a:rPr>
              <a:t>{</a:t>
            </a:r>
            <a:r>
              <a:rPr lang="en-IN" sz="1200" dirty="0" err="1">
                <a:solidFill>
                  <a:srgbClr val="795E26"/>
                </a:solidFill>
                <a:latin typeface="Consolas" panose="020B0609020204030204" pitchFamily="49" charset="0"/>
              </a:rPr>
              <a:t>handleChange</a:t>
            </a:r>
            <a:r>
              <a:rPr lang="en-IN" sz="1200" dirty="0">
                <a:solidFill>
                  <a:srgbClr val="0000FF"/>
                </a:solidFill>
                <a:latin typeface="Consolas" panose="020B0609020204030204" pitchFamily="49" charset="0"/>
              </a:rPr>
              <a: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I liked this</a:t>
            </a: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&lt;/label&gt;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&lt;p&gt;</a:t>
            </a:r>
            <a:r>
              <a:rPr lang="en-IN" sz="1200" dirty="0">
                <a:solidFill>
                  <a:srgbClr val="000000"/>
                </a:solidFill>
                <a:latin typeface="Consolas" panose="020B0609020204030204" pitchFamily="49" charset="0"/>
              </a:rPr>
              <a:t>You </a:t>
            </a:r>
            <a:r>
              <a:rPr lang="en-IN" sz="1200" dirty="0">
                <a:solidFill>
                  <a:srgbClr val="0000FF"/>
                </a:solidFill>
                <a:latin typeface="Consolas" panose="020B0609020204030204" pitchFamily="49" charset="0"/>
              </a:rPr>
              <a:t>{</a:t>
            </a:r>
            <a:r>
              <a:rPr lang="en-IN" sz="1200" dirty="0">
                <a:solidFill>
                  <a:srgbClr val="0070C1"/>
                </a:solidFill>
                <a:latin typeface="Consolas" panose="020B0609020204030204" pitchFamily="49" charset="0"/>
              </a:rPr>
              <a:t>liked</a:t>
            </a:r>
            <a:r>
              <a:rPr lang="en-IN" sz="1200" dirty="0">
                <a:solidFill>
                  <a:srgbClr val="000000"/>
                </a:solidFill>
                <a:latin typeface="Consolas" panose="020B0609020204030204" pitchFamily="49" charset="0"/>
              </a:rPr>
              <a:t> ? </a:t>
            </a:r>
            <a:r>
              <a:rPr lang="en-IN" sz="1200" dirty="0">
                <a:solidFill>
                  <a:srgbClr val="A31515"/>
                </a:solidFill>
                <a:latin typeface="Consolas" panose="020B0609020204030204" pitchFamily="49" charset="0"/>
              </a:rPr>
              <a:t>'liked'</a:t>
            </a:r>
            <a:r>
              <a:rPr lang="en-IN" sz="1200" dirty="0">
                <a:solidFill>
                  <a:srgbClr val="000000"/>
                </a:solidFill>
                <a:latin typeface="Consolas" panose="020B0609020204030204" pitchFamily="49" charset="0"/>
              </a:rPr>
              <a:t> : </a:t>
            </a:r>
            <a:r>
              <a:rPr lang="en-IN" sz="1200" dirty="0">
                <a:solidFill>
                  <a:srgbClr val="A31515"/>
                </a:solidFill>
                <a:latin typeface="Consolas" panose="020B0609020204030204" pitchFamily="49" charset="0"/>
              </a:rPr>
              <a:t>'did not like'</a:t>
            </a:r>
            <a:r>
              <a:rPr lang="en-IN" sz="1200" dirty="0">
                <a:solidFill>
                  <a:srgbClr val="0000FF"/>
                </a:solidFill>
                <a:latin typeface="Consolas" panose="020B0609020204030204" pitchFamily="49" charset="0"/>
              </a:rPr>
              <a:t>}</a:t>
            </a:r>
            <a:r>
              <a:rPr lang="en-IN" sz="1200" dirty="0">
                <a:solidFill>
                  <a:srgbClr val="000000"/>
                </a:solidFill>
                <a:latin typeface="Consolas" panose="020B0609020204030204" pitchFamily="49" charset="0"/>
              </a:rPr>
              <a:t> this.</a:t>
            </a:r>
            <a:r>
              <a:rPr lang="en-IN" sz="1200" dirty="0">
                <a:solidFill>
                  <a:srgbClr val="800000"/>
                </a:solidFill>
                <a:latin typeface="Consolas" panose="020B0609020204030204" pitchFamily="49" charset="0"/>
              </a:rPr>
              <a:t>&lt;/p&gt;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a:t>
            </a:r>
          </a:p>
          <a:p>
            <a:br>
              <a:rPr lang="en-IN" sz="1200" dirty="0">
                <a:solidFill>
                  <a:srgbClr val="000000"/>
                </a:solidFill>
                <a:latin typeface="Consolas" panose="020B0609020204030204" pitchFamily="49" charset="0"/>
              </a:rPr>
            </a:br>
            <a:endParaRPr lang="en-IN"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78849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87054" y="394692"/>
            <a:ext cx="6096000" cy="6463308"/>
          </a:xfrm>
          <a:prstGeom prst="rect">
            <a:avLst/>
          </a:prstGeom>
        </p:spPr>
        <p:txBody>
          <a:bodyPr>
            <a:spAutoFit/>
          </a:bodyPr>
          <a:lstStyle/>
          <a:p>
            <a:endParaRPr lang="en-IN" dirty="0">
              <a:solidFill>
                <a:srgbClr val="000000"/>
              </a:solidFill>
              <a:latin typeface="Consolas" panose="020B0609020204030204" pitchFamily="49" charset="0"/>
            </a:endParaRPr>
          </a:p>
          <a:p>
            <a:r>
              <a:rPr lang="en-IN" dirty="0">
                <a:solidFill>
                  <a:srgbClr val="AF00DB"/>
                </a:solidFill>
                <a:latin typeface="Consolas" panose="020B0609020204030204" pitchFamily="49" charset="0"/>
              </a:rPr>
              <a:t>import</a:t>
            </a:r>
            <a:r>
              <a:rPr lang="en-IN" dirty="0">
                <a:solidFill>
                  <a:srgbClr val="000000"/>
                </a:solidFill>
                <a:latin typeface="Consolas" panose="020B0609020204030204" pitchFamily="49" charset="0"/>
              </a:rPr>
              <a:t> { </a:t>
            </a:r>
            <a:r>
              <a:rPr lang="en-IN" dirty="0" err="1">
                <a:solidFill>
                  <a:srgbClr val="001080"/>
                </a:solidFill>
                <a:latin typeface="Consolas" panose="020B0609020204030204" pitchFamily="49" charset="0"/>
              </a:rPr>
              <a:t>useState</a:t>
            </a:r>
            <a:r>
              <a:rPr lang="en-IN" dirty="0">
                <a:solidFill>
                  <a:srgbClr val="000000"/>
                </a:solidFill>
                <a:latin typeface="Consolas" panose="020B0609020204030204" pitchFamily="49" charset="0"/>
              </a:rPr>
              <a:t> } </a:t>
            </a:r>
            <a:r>
              <a:rPr lang="en-IN" dirty="0">
                <a:solidFill>
                  <a:srgbClr val="AF00DB"/>
                </a:solidFill>
                <a:latin typeface="Consolas" panose="020B0609020204030204" pitchFamily="49" charset="0"/>
              </a:rPr>
              <a:t>from</a:t>
            </a:r>
            <a:r>
              <a:rPr lang="en-IN" dirty="0">
                <a:solidFill>
                  <a:srgbClr val="000000"/>
                </a:solidFill>
                <a:latin typeface="Consolas" panose="020B0609020204030204" pitchFamily="49" charset="0"/>
              </a:rPr>
              <a:t> </a:t>
            </a:r>
            <a:r>
              <a:rPr lang="en-IN" dirty="0">
                <a:solidFill>
                  <a:srgbClr val="A31515"/>
                </a:solidFill>
                <a:latin typeface="Consolas" panose="020B0609020204030204" pitchFamily="49" charset="0"/>
              </a:rPr>
              <a:t>'react'</a:t>
            </a:r>
            <a:r>
              <a:rPr lang="en-IN" dirty="0">
                <a:solidFill>
                  <a:srgbClr val="000000"/>
                </a:solidFill>
                <a:latin typeface="Consolas" panose="020B0609020204030204" pitchFamily="49" charset="0"/>
              </a:rPr>
              <a:t>;</a:t>
            </a:r>
          </a:p>
          <a:p>
            <a:r>
              <a:rPr lang="en-IN" dirty="0">
                <a:solidFill>
                  <a:srgbClr val="AF00DB"/>
                </a:solidFill>
                <a:latin typeface="Consolas" panose="020B0609020204030204" pitchFamily="49" charset="0"/>
              </a:rPr>
              <a:t>import</a:t>
            </a:r>
            <a:r>
              <a:rPr lang="en-IN" dirty="0">
                <a:solidFill>
                  <a:srgbClr val="000000"/>
                </a:solidFill>
                <a:latin typeface="Consolas" panose="020B0609020204030204" pitchFamily="49" charset="0"/>
              </a:rPr>
              <a:t> { </a:t>
            </a:r>
            <a:r>
              <a:rPr lang="en-IN" dirty="0" err="1">
                <a:solidFill>
                  <a:srgbClr val="001080"/>
                </a:solidFill>
                <a:latin typeface="Consolas" panose="020B0609020204030204" pitchFamily="49" charset="0"/>
              </a:rPr>
              <a:t>useState</a:t>
            </a:r>
            <a:r>
              <a:rPr lang="en-IN" dirty="0">
                <a:solidFill>
                  <a:srgbClr val="000000"/>
                </a:solidFill>
                <a:latin typeface="Consolas" panose="020B0609020204030204" pitchFamily="49" charset="0"/>
              </a:rPr>
              <a:t> } </a:t>
            </a:r>
            <a:r>
              <a:rPr lang="en-IN" dirty="0">
                <a:solidFill>
                  <a:srgbClr val="AF00DB"/>
                </a:solidFill>
                <a:latin typeface="Consolas" panose="020B0609020204030204" pitchFamily="49" charset="0"/>
              </a:rPr>
              <a:t>from</a:t>
            </a:r>
            <a:r>
              <a:rPr lang="en-IN" dirty="0">
                <a:solidFill>
                  <a:srgbClr val="000000"/>
                </a:solidFill>
                <a:latin typeface="Consolas" panose="020B0609020204030204" pitchFamily="49" charset="0"/>
              </a:rPr>
              <a:t> </a:t>
            </a:r>
            <a:r>
              <a:rPr lang="en-IN" dirty="0">
                <a:solidFill>
                  <a:srgbClr val="A31515"/>
                </a:solidFill>
                <a:latin typeface="Consolas" panose="020B0609020204030204" pitchFamily="49" charset="0"/>
              </a:rPr>
              <a:t>'react'</a:t>
            </a:r>
            <a:r>
              <a:rPr lang="en-IN" dirty="0">
                <a:solidFill>
                  <a:srgbClr val="000000"/>
                </a:solidFill>
                <a:latin typeface="Consolas" panose="020B0609020204030204" pitchFamily="49" charset="0"/>
              </a:rPr>
              <a:t>;</a:t>
            </a:r>
          </a:p>
          <a:p>
            <a:br>
              <a:rPr lang="en-IN" dirty="0">
                <a:solidFill>
                  <a:srgbClr val="000000"/>
                </a:solidFill>
                <a:latin typeface="Consolas" panose="020B0609020204030204" pitchFamily="49" charset="0"/>
              </a:rPr>
            </a:br>
            <a:r>
              <a:rPr lang="en-IN" dirty="0">
                <a:solidFill>
                  <a:srgbClr val="AF00DB"/>
                </a:solidFill>
                <a:latin typeface="Consolas" panose="020B0609020204030204" pitchFamily="49" charset="0"/>
              </a:rPr>
              <a:t>export</a:t>
            </a:r>
            <a:r>
              <a:rPr lang="en-IN" dirty="0">
                <a:solidFill>
                  <a:srgbClr val="000000"/>
                </a:solidFill>
                <a:latin typeface="Consolas" panose="020B0609020204030204" pitchFamily="49" charset="0"/>
              </a:rPr>
              <a:t> </a:t>
            </a:r>
            <a:r>
              <a:rPr lang="en-IN" dirty="0">
                <a:solidFill>
                  <a:srgbClr val="AF00DB"/>
                </a:solidFill>
                <a:latin typeface="Consolas" panose="020B0609020204030204" pitchFamily="49" charset="0"/>
              </a:rPr>
              <a:t>default</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function</a:t>
            </a:r>
            <a:r>
              <a:rPr lang="en-IN" dirty="0">
                <a:solidFill>
                  <a:srgbClr val="000000"/>
                </a:solidFill>
                <a:latin typeface="Consolas" panose="020B0609020204030204" pitchFamily="49" charset="0"/>
              </a:rPr>
              <a:t> </a:t>
            </a:r>
            <a:r>
              <a:rPr lang="en-IN" dirty="0">
                <a:solidFill>
                  <a:srgbClr val="795E26"/>
                </a:solidFill>
                <a:latin typeface="Consolas" panose="020B0609020204030204" pitchFamily="49" charset="0"/>
              </a:rPr>
              <a:t>Form</a:t>
            </a:r>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err="1">
                <a:solidFill>
                  <a:srgbClr val="0000FF"/>
                </a:solidFill>
                <a:latin typeface="Consolas" panose="020B0609020204030204" pitchFamily="49" charset="0"/>
              </a:rPr>
              <a:t>const</a:t>
            </a:r>
            <a:r>
              <a:rPr lang="en-IN" dirty="0">
                <a:solidFill>
                  <a:srgbClr val="000000"/>
                </a:solidFill>
                <a:latin typeface="Consolas" panose="020B0609020204030204" pitchFamily="49" charset="0"/>
              </a:rPr>
              <a:t> [</a:t>
            </a:r>
            <a:r>
              <a:rPr lang="en-IN" dirty="0">
                <a:solidFill>
                  <a:srgbClr val="0070C1"/>
                </a:solidFill>
                <a:latin typeface="Consolas" panose="020B0609020204030204" pitchFamily="49" charset="0"/>
              </a:rPr>
              <a:t>name</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setName</a:t>
            </a:r>
            <a:r>
              <a:rPr lang="en-IN" dirty="0">
                <a:solidFill>
                  <a:srgbClr val="000000"/>
                </a:solidFill>
                <a:latin typeface="Consolas" panose="020B0609020204030204" pitchFamily="49" charset="0"/>
              </a:rPr>
              <a:t>] = </a:t>
            </a:r>
            <a:r>
              <a:rPr lang="en-IN" dirty="0" err="1">
                <a:solidFill>
                  <a:srgbClr val="795E26"/>
                </a:solidFill>
                <a:latin typeface="Consolas" panose="020B0609020204030204" pitchFamily="49" charset="0"/>
              </a:rPr>
              <a:t>useState</a:t>
            </a:r>
            <a:r>
              <a:rPr lang="en-IN" dirty="0">
                <a:solidFill>
                  <a:srgbClr val="000000"/>
                </a:solidFill>
                <a:latin typeface="Consolas" panose="020B0609020204030204" pitchFamily="49" charset="0"/>
              </a:rPr>
              <a:t>(</a:t>
            </a:r>
            <a:r>
              <a:rPr lang="en-IN" dirty="0">
                <a:solidFill>
                  <a:srgbClr val="A31515"/>
                </a:solidFill>
                <a:latin typeface="Consolas" panose="020B0609020204030204" pitchFamily="49" charset="0"/>
              </a:rPr>
              <a:t>'Taylor'</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0000FF"/>
                </a:solidFill>
                <a:latin typeface="Consolas" panose="020B0609020204030204" pitchFamily="49" charset="0"/>
              </a:rPr>
              <a:t>const</a:t>
            </a:r>
            <a:r>
              <a:rPr lang="en-IN" dirty="0">
                <a:solidFill>
                  <a:srgbClr val="000000"/>
                </a:solidFill>
                <a:latin typeface="Consolas" panose="020B0609020204030204" pitchFamily="49" charset="0"/>
              </a:rPr>
              <a:t> [</a:t>
            </a:r>
            <a:r>
              <a:rPr lang="en-IN" dirty="0">
                <a:solidFill>
                  <a:srgbClr val="0070C1"/>
                </a:solidFill>
                <a:latin typeface="Consolas" panose="020B0609020204030204" pitchFamily="49" charset="0"/>
              </a:rPr>
              <a:t>age</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setAge</a:t>
            </a:r>
            <a:r>
              <a:rPr lang="en-IN" dirty="0">
                <a:solidFill>
                  <a:srgbClr val="000000"/>
                </a:solidFill>
                <a:latin typeface="Consolas" panose="020B0609020204030204" pitchFamily="49" charset="0"/>
              </a:rPr>
              <a:t>] = </a:t>
            </a:r>
            <a:r>
              <a:rPr lang="en-IN" dirty="0" err="1">
                <a:solidFill>
                  <a:srgbClr val="795E26"/>
                </a:solidFill>
                <a:latin typeface="Consolas" panose="020B0609020204030204" pitchFamily="49" charset="0"/>
              </a:rPr>
              <a:t>useState</a:t>
            </a:r>
            <a:r>
              <a:rPr lang="en-IN" dirty="0">
                <a:solidFill>
                  <a:srgbClr val="000000"/>
                </a:solidFill>
                <a:latin typeface="Consolas" panose="020B0609020204030204" pitchFamily="49" charset="0"/>
              </a:rPr>
              <a:t>(</a:t>
            </a:r>
            <a:r>
              <a:rPr lang="en-IN" dirty="0">
                <a:solidFill>
                  <a:srgbClr val="098658"/>
                </a:solidFill>
                <a:latin typeface="Consolas" panose="020B0609020204030204" pitchFamily="49" charset="0"/>
              </a:rPr>
              <a:t>42</a:t>
            </a:r>
            <a:r>
              <a:rPr lang="en-IN" dirty="0">
                <a:solidFill>
                  <a:srgbClr val="000000"/>
                </a:solidFill>
                <a:latin typeface="Consolas" panose="020B0609020204030204" pitchFamily="49" charset="0"/>
              </a:rPr>
              <a:t>);</a:t>
            </a:r>
          </a:p>
          <a:p>
            <a:br>
              <a:rPr lang="en-IN" dirty="0">
                <a:solidFill>
                  <a:srgbClr val="000000"/>
                </a:solidFill>
                <a:latin typeface="Consolas" panose="020B0609020204030204" pitchFamily="49" charset="0"/>
              </a:rPr>
            </a:br>
            <a:r>
              <a:rPr lang="en-IN" dirty="0">
                <a:solidFill>
                  <a:srgbClr val="000000"/>
                </a:solidFill>
                <a:latin typeface="Consolas" panose="020B0609020204030204" pitchFamily="49" charset="0"/>
              </a:rPr>
              <a:t>  </a:t>
            </a:r>
            <a:r>
              <a:rPr lang="en-IN" dirty="0">
                <a:solidFill>
                  <a:srgbClr val="AF00DB"/>
                </a:solidFill>
                <a:latin typeface="Consolas" panose="020B0609020204030204" pitchFamily="49" charset="0"/>
              </a:rPr>
              <a:t>return</a:t>
            </a:r>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&lt;input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E50000"/>
                </a:solidFill>
                <a:latin typeface="Consolas" panose="020B0609020204030204" pitchFamily="49" charset="0"/>
              </a:rPr>
              <a:t>value</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0070C1"/>
                </a:solidFill>
                <a:latin typeface="Consolas" panose="020B0609020204030204" pitchFamily="49" charset="0"/>
              </a:rPr>
              <a:t>name</a:t>
            </a:r>
            <a:r>
              <a:rPr lang="en-IN" dirty="0">
                <a:solidFill>
                  <a:srgbClr val="0000FF"/>
                </a:solidFill>
                <a:latin typeface="Consolas" panose="020B0609020204030204" pitchFamily="49" charset="0"/>
              </a:rPr>
              <a: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err="1">
                <a:solidFill>
                  <a:srgbClr val="E50000"/>
                </a:solidFill>
                <a:latin typeface="Consolas" panose="020B0609020204030204" pitchFamily="49" charset="0"/>
              </a:rPr>
              <a:t>onChange</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001080"/>
                </a:solidFill>
                <a:latin typeface="Consolas" panose="020B0609020204030204" pitchFamily="49" charset="0"/>
              </a:rPr>
              <a:t>e</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=&gt;</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setName</a:t>
            </a:r>
            <a:r>
              <a:rPr lang="en-IN" dirty="0">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e</a:t>
            </a:r>
            <a:r>
              <a:rPr lang="en-IN" dirty="0" err="1">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target</a:t>
            </a:r>
            <a:r>
              <a:rPr lang="en-IN" dirty="0" err="1">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value</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&lt;button</a:t>
            </a:r>
            <a:r>
              <a:rPr lang="en-IN" dirty="0">
                <a:solidFill>
                  <a:srgbClr val="000000"/>
                </a:solidFill>
                <a:latin typeface="Consolas" panose="020B0609020204030204" pitchFamily="49" charset="0"/>
              </a:rPr>
              <a:t> </a:t>
            </a:r>
            <a:r>
              <a:rPr lang="en-IN" dirty="0" err="1">
                <a:solidFill>
                  <a:srgbClr val="E50000"/>
                </a:solidFill>
                <a:latin typeface="Consolas" panose="020B0609020204030204" pitchFamily="49" charset="0"/>
              </a:rPr>
              <a:t>onClick</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=&gt;</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setAge</a:t>
            </a:r>
            <a:r>
              <a:rPr lang="en-IN" dirty="0">
                <a:solidFill>
                  <a:srgbClr val="000000"/>
                </a:solidFill>
                <a:latin typeface="Consolas" panose="020B0609020204030204" pitchFamily="49" charset="0"/>
              </a:rPr>
              <a:t>(</a:t>
            </a:r>
            <a:r>
              <a:rPr lang="en-IN" dirty="0">
                <a:solidFill>
                  <a:srgbClr val="0070C1"/>
                </a:solidFill>
                <a:latin typeface="Consolas" panose="020B0609020204030204" pitchFamily="49" charset="0"/>
              </a:rPr>
              <a:t>age</a:t>
            </a:r>
            <a:r>
              <a:rPr lang="en-IN" dirty="0">
                <a:solidFill>
                  <a:srgbClr val="000000"/>
                </a:solidFill>
                <a:latin typeface="Consolas" panose="020B0609020204030204" pitchFamily="49" charset="0"/>
              </a:rPr>
              <a:t> + </a:t>
            </a:r>
            <a:r>
              <a:rPr lang="en-IN" dirty="0">
                <a:solidFill>
                  <a:srgbClr val="098658"/>
                </a:solidFill>
                <a:latin typeface="Consolas" panose="020B0609020204030204" pitchFamily="49" charset="0"/>
              </a:rPr>
              <a:t>1</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800000"/>
                </a:solidFill>
                <a:latin typeface="Consolas" panose="020B0609020204030204" pitchFamily="49" charset="0"/>
              </a:rPr>
              <a: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Increment age</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&lt;/button&gt;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&lt;p&gt;</a:t>
            </a:r>
            <a:r>
              <a:rPr lang="en-IN" dirty="0">
                <a:solidFill>
                  <a:srgbClr val="000000"/>
                </a:solidFill>
                <a:latin typeface="Consolas" panose="020B0609020204030204" pitchFamily="49" charset="0"/>
              </a:rPr>
              <a:t>Hello, </a:t>
            </a:r>
            <a:r>
              <a:rPr lang="en-IN" dirty="0">
                <a:solidFill>
                  <a:srgbClr val="0000FF"/>
                </a:solidFill>
                <a:latin typeface="Consolas" panose="020B0609020204030204" pitchFamily="49" charset="0"/>
              </a:rPr>
              <a:t>{</a:t>
            </a:r>
            <a:r>
              <a:rPr lang="en-IN" dirty="0">
                <a:solidFill>
                  <a:srgbClr val="0070C1"/>
                </a:solidFill>
                <a:latin typeface="Consolas" panose="020B0609020204030204" pitchFamily="49" charset="0"/>
              </a:rPr>
              <a:t>name</a:t>
            </a:r>
            <a:r>
              <a:rPr lang="en-IN" dirty="0">
                <a:solidFill>
                  <a:srgbClr val="0000FF"/>
                </a:solidFill>
                <a:latin typeface="Consolas" panose="020B0609020204030204" pitchFamily="49" charset="0"/>
              </a:rPr>
              <a:t>}</a:t>
            </a:r>
            <a:r>
              <a:rPr lang="en-IN" dirty="0">
                <a:solidFill>
                  <a:srgbClr val="000000"/>
                </a:solidFill>
                <a:latin typeface="Consolas" panose="020B0609020204030204" pitchFamily="49" charset="0"/>
              </a:rPr>
              <a:t>. You are </a:t>
            </a:r>
            <a:r>
              <a:rPr lang="en-IN" dirty="0">
                <a:solidFill>
                  <a:srgbClr val="0000FF"/>
                </a:solidFill>
                <a:latin typeface="Consolas" panose="020B0609020204030204" pitchFamily="49" charset="0"/>
              </a:rPr>
              <a:t>{</a:t>
            </a:r>
            <a:r>
              <a:rPr lang="en-IN" dirty="0">
                <a:solidFill>
                  <a:srgbClr val="0070C1"/>
                </a:solidFill>
                <a:latin typeface="Consolas" panose="020B0609020204030204" pitchFamily="49" charset="0"/>
              </a:rPr>
              <a:t>age</a:t>
            </a:r>
            <a:r>
              <a:rPr lang="en-IN" dirty="0">
                <a:solidFill>
                  <a:srgbClr val="0000FF"/>
                </a:solidFill>
                <a:latin typeface="Consolas" panose="020B0609020204030204" pitchFamily="49" charset="0"/>
              </a:rPr>
              <a:t>}</a:t>
            </a:r>
            <a:r>
              <a:rPr lang="en-IN" dirty="0">
                <a:solidFill>
                  <a:srgbClr val="000000"/>
                </a:solidFill>
                <a:latin typeface="Consolas" panose="020B0609020204030204" pitchFamily="49" charset="0"/>
              </a:rPr>
              <a:t>.</a:t>
            </a:r>
            <a:r>
              <a:rPr lang="en-IN" dirty="0">
                <a:solidFill>
                  <a:srgbClr val="800000"/>
                </a:solidFill>
                <a:latin typeface="Consolas" panose="020B0609020204030204" pitchFamily="49" charset="0"/>
              </a:rPr>
              <a:t>&lt;/p&gt;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a:t>
            </a:r>
          </a:p>
          <a:p>
            <a:br>
              <a:rPr lang="en-IN" dirty="0">
                <a:solidFill>
                  <a:srgbClr val="000000"/>
                </a:solidFill>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03530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3424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461963F-96E4-D225-2B46-2196FEE2A26D}"/>
              </a:ext>
            </a:extLst>
          </p:cNvPr>
          <p:cNvSpPr>
            <a:spLocks noGrp="1"/>
          </p:cNvSpPr>
          <p:nvPr>
            <p:ph type="title"/>
          </p:nvPr>
        </p:nvSpPr>
        <p:spPr>
          <a:xfrm>
            <a:off x="1734532" y="18255"/>
            <a:ext cx="10071552" cy="679329"/>
          </a:xfrm>
        </p:spPr>
        <p:txBody>
          <a:bodyPr>
            <a:noAutofit/>
          </a:bodyPr>
          <a:lstStyle/>
          <a:p>
            <a:r>
              <a:rPr lang="en-US" sz="2400" dirty="0"/>
              <a:t>The </a:t>
            </a:r>
            <a:r>
              <a:rPr lang="en-US" sz="2400" dirty="0" err="1"/>
              <a:t>use</a:t>
            </a:r>
            <a:r>
              <a:rPr lang="en-US" sz="2400" i="1" dirty="0" err="1"/>
              <a:t>Effect</a:t>
            </a:r>
            <a:r>
              <a:rPr lang="en-US" sz="2400" i="1" dirty="0"/>
              <a:t> Hook</a:t>
            </a:r>
            <a:r>
              <a:rPr lang="en-US" sz="2400" dirty="0"/>
              <a:t> lets you perform side effects in function components:</a:t>
            </a:r>
            <a:endParaRPr lang="en-IN" sz="2400" dirty="0"/>
          </a:p>
        </p:txBody>
      </p:sp>
      <p:sp>
        <p:nvSpPr>
          <p:cNvPr id="3" name="TextBox 2">
            <a:extLst>
              <a:ext uri="{FF2B5EF4-FFF2-40B4-BE49-F238E27FC236}">
                <a16:creationId xmlns:a16="http://schemas.microsoft.com/office/drawing/2014/main" id="{E932C7E2-AC37-15FA-91F2-526692200644}"/>
              </a:ext>
            </a:extLst>
          </p:cNvPr>
          <p:cNvSpPr txBox="1"/>
          <p:nvPr/>
        </p:nvSpPr>
        <p:spPr>
          <a:xfrm>
            <a:off x="196298" y="904535"/>
            <a:ext cx="11609786" cy="2031325"/>
          </a:xfrm>
          <a:prstGeom prst="rect">
            <a:avLst/>
          </a:prstGeom>
          <a:noFill/>
        </p:spPr>
        <p:txBody>
          <a:bodyPr wrap="square">
            <a:spAutoFit/>
          </a:bodyPr>
          <a:lstStyle/>
          <a:p>
            <a:r>
              <a:rPr lang="en-US" dirty="0"/>
              <a:t>The </a:t>
            </a:r>
            <a:r>
              <a:rPr lang="en-US" dirty="0" err="1"/>
              <a:t>useEffect</a:t>
            </a:r>
            <a:r>
              <a:rPr lang="en-US" dirty="0"/>
              <a:t> Hook allows you to perform </a:t>
            </a:r>
            <a:r>
              <a:rPr lang="en-US" dirty="0">
                <a:highlight>
                  <a:srgbClr val="FFFF00"/>
                </a:highlight>
              </a:rPr>
              <a:t>side effects </a:t>
            </a:r>
            <a:r>
              <a:rPr lang="en-US" dirty="0"/>
              <a:t>in your components.</a:t>
            </a:r>
          </a:p>
          <a:p>
            <a:endParaRPr lang="en-US" dirty="0"/>
          </a:p>
          <a:p>
            <a:r>
              <a:rPr lang="en-US" dirty="0"/>
              <a:t>Some examples of side effects are: </a:t>
            </a:r>
            <a:r>
              <a:rPr lang="en-US" dirty="0">
                <a:highlight>
                  <a:srgbClr val="FFFF00"/>
                </a:highlight>
              </a:rPr>
              <a:t>fetching data, directly updating the DOM, and timers</a:t>
            </a:r>
            <a:r>
              <a:rPr lang="en-US" dirty="0"/>
              <a:t>.</a:t>
            </a:r>
          </a:p>
          <a:p>
            <a:endParaRPr lang="en-US" dirty="0"/>
          </a:p>
          <a:p>
            <a:r>
              <a:rPr lang="en-US" dirty="0" err="1"/>
              <a:t>useEffect</a:t>
            </a:r>
            <a:r>
              <a:rPr lang="en-US" dirty="0"/>
              <a:t> accepts two arguments. The second argument is optional.</a:t>
            </a:r>
          </a:p>
          <a:p>
            <a:endParaRPr lang="en-US" dirty="0"/>
          </a:p>
          <a:p>
            <a:r>
              <a:rPr lang="en-US" dirty="0" err="1">
                <a:highlight>
                  <a:srgbClr val="00FF00"/>
                </a:highlight>
              </a:rPr>
              <a:t>useEffect</a:t>
            </a:r>
            <a:r>
              <a:rPr lang="en-US" dirty="0"/>
              <a:t>(&lt;</a:t>
            </a:r>
            <a:r>
              <a:rPr lang="en-US" dirty="0">
                <a:highlight>
                  <a:srgbClr val="FFFF00"/>
                </a:highlight>
              </a:rPr>
              <a:t>function</a:t>
            </a:r>
            <a:r>
              <a:rPr lang="en-US" dirty="0"/>
              <a:t>&gt;, &lt;</a:t>
            </a:r>
            <a:r>
              <a:rPr lang="en-US" dirty="0">
                <a:highlight>
                  <a:srgbClr val="FFFF00"/>
                </a:highlight>
              </a:rPr>
              <a:t>dependency</a:t>
            </a:r>
            <a:r>
              <a:rPr lang="en-US" dirty="0"/>
              <a:t>&gt;)</a:t>
            </a:r>
            <a:endParaRPr lang="en-IN" dirty="0"/>
          </a:p>
        </p:txBody>
      </p:sp>
      <p:sp>
        <p:nvSpPr>
          <p:cNvPr id="6" name="TextBox 5">
            <a:extLst>
              <a:ext uri="{FF2B5EF4-FFF2-40B4-BE49-F238E27FC236}">
                <a16:creationId xmlns:a16="http://schemas.microsoft.com/office/drawing/2014/main" id="{D61B1821-5986-7781-FC5C-3AC0463718A0}"/>
              </a:ext>
            </a:extLst>
          </p:cNvPr>
          <p:cNvSpPr txBox="1"/>
          <p:nvPr/>
        </p:nvSpPr>
        <p:spPr>
          <a:xfrm>
            <a:off x="6001191" y="2485005"/>
            <a:ext cx="6137412" cy="4247317"/>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Timer()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setTimeout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((count)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count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I've rendered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7" name="Rectangle 1">
            <a:extLst>
              <a:ext uri="{FF2B5EF4-FFF2-40B4-BE49-F238E27FC236}">
                <a16:creationId xmlns:a16="http://schemas.microsoft.com/office/drawing/2014/main" id="{38E46694-D0F7-7B35-8FB4-E65C62EF313B}"/>
              </a:ext>
            </a:extLst>
          </p:cNvPr>
          <p:cNvSpPr>
            <a:spLocks noChangeArrowheads="1"/>
          </p:cNvSpPr>
          <p:nvPr/>
        </p:nvSpPr>
        <p:spPr bwMode="auto">
          <a:xfrm>
            <a:off x="53397" y="3685334"/>
            <a:ext cx="5512516" cy="2800767"/>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But wait!! It keeps counting even though it should only count once!</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C143C"/>
                </a:solidFill>
                <a:effectLst/>
                <a:latin typeface="Consolas" panose="020B0609020204030204" pitchFamily="49" charset="0"/>
              </a:rPr>
              <a:t>useEffect</a:t>
            </a:r>
            <a:r>
              <a:rPr kumimoji="0" lang="en-US" altLang="en-US" sz="1600" b="0" i="0" u="none" strike="noStrike" cap="none" normalizeH="0" baseline="0" dirty="0">
                <a:ln>
                  <a:noFill/>
                </a:ln>
                <a:solidFill>
                  <a:srgbClr val="000000"/>
                </a:solidFill>
                <a:effectLst/>
                <a:latin typeface="Verdana" panose="020B0604030504040204" pitchFamily="34" charset="0"/>
              </a:rPr>
              <a:t> runs on every render.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 That means that when the count changes, a render happens, which then triggers another effect.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This is not what we want.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There are several ways to control when side effects run.</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We should always include the </a:t>
            </a:r>
            <a:r>
              <a:rPr kumimoji="0" lang="en-US" altLang="en-US" sz="1600" b="0" i="0" u="none" strike="noStrike" cap="none" normalizeH="0" baseline="0" dirty="0">
                <a:ln>
                  <a:noFill/>
                </a:ln>
                <a:solidFill>
                  <a:srgbClr val="000000"/>
                </a:solidFill>
                <a:effectLst/>
                <a:highlight>
                  <a:srgbClr val="FFFF00"/>
                </a:highlight>
                <a:latin typeface="Verdana" panose="020B0604030504040204" pitchFamily="34" charset="0"/>
              </a:rPr>
              <a:t>second</a:t>
            </a:r>
            <a:r>
              <a:rPr kumimoji="0" lang="en-US" altLang="en-US" sz="1600" b="0" i="0" u="none" strike="noStrike" cap="none" normalizeH="0" baseline="0" dirty="0">
                <a:ln>
                  <a:noFill/>
                </a:ln>
                <a:solidFill>
                  <a:srgbClr val="000000"/>
                </a:solidFill>
                <a:effectLst/>
                <a:latin typeface="Verdana" panose="020B0604030504040204" pitchFamily="34" charset="0"/>
              </a:rPr>
              <a:t> parameter which accepts an array. We can optionally pass dependencies to </a:t>
            </a:r>
            <a:r>
              <a:rPr kumimoji="0" lang="en-US" altLang="en-US" sz="1600" b="0" i="0" u="none" strike="noStrike" cap="none" normalizeH="0" baseline="0" dirty="0" err="1">
                <a:ln>
                  <a:noFill/>
                </a:ln>
                <a:solidFill>
                  <a:srgbClr val="DC143C"/>
                </a:solidFill>
                <a:effectLst/>
                <a:latin typeface="Consolas" panose="020B0609020204030204" pitchFamily="49" charset="0"/>
              </a:rPr>
              <a:t>useEffect</a:t>
            </a:r>
            <a:r>
              <a:rPr kumimoji="0" lang="en-US" altLang="en-US" sz="1600" b="0" i="0" u="none" strike="noStrike" cap="none" normalizeH="0" baseline="0" dirty="0">
                <a:ln>
                  <a:noFill/>
                </a:ln>
                <a:solidFill>
                  <a:srgbClr val="000000"/>
                </a:solidFill>
                <a:effectLst/>
                <a:latin typeface="Verdana" panose="020B0604030504040204" pitchFamily="34" charset="0"/>
              </a:rPr>
              <a:t> in this array.</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5824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2C1939-74BA-5254-B333-73885963E6C2}"/>
              </a:ext>
            </a:extLst>
          </p:cNvPr>
          <p:cNvSpPr txBox="1"/>
          <p:nvPr/>
        </p:nvSpPr>
        <p:spPr>
          <a:xfrm>
            <a:off x="5454098" y="200802"/>
            <a:ext cx="6137412" cy="3693319"/>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Timer()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setTimeout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((count)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count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I've rendered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756010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D54F84-7299-8D4C-B2B7-9FB45F60A2E0}"/>
              </a:ext>
            </a:extLst>
          </p:cNvPr>
          <p:cNvSpPr txBox="1"/>
          <p:nvPr/>
        </p:nvSpPr>
        <p:spPr>
          <a:xfrm>
            <a:off x="216176" y="710938"/>
            <a:ext cx="8898007" cy="4801314"/>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Counter()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[calculation, </a:t>
            </a:r>
            <a:r>
              <a:rPr lang="en-IN" b="0" dirty="0" err="1">
                <a:solidFill>
                  <a:srgbClr val="000000"/>
                </a:solidFill>
                <a:effectLst/>
                <a:latin typeface="Consolas" panose="020B0609020204030204" pitchFamily="49" charset="0"/>
              </a:rPr>
              <a:t>setCalculation</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setCalculation</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count *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[count]); </a:t>
            </a:r>
            <a:r>
              <a:rPr lang="en-IN" b="0" dirty="0">
                <a:solidFill>
                  <a:srgbClr val="008000"/>
                </a:solidFill>
                <a:effectLst/>
                <a:latin typeface="Consolas" panose="020B0609020204030204" pitchFamily="49" charset="0"/>
              </a:rPr>
              <a:t>// &lt;- add the count variable here</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Count: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a:t>
            </a:r>
            <a:r>
              <a:rPr lang="en-IN" b="0" dirty="0">
                <a:solidFill>
                  <a:srgbClr val="000000"/>
                </a:solidFill>
                <a:effectLst/>
                <a:highlight>
                  <a:srgbClr val="FFFF00"/>
                </a:highlight>
                <a:latin typeface="Consolas" panose="020B0609020204030204" pitchFamily="49" charset="0"/>
              </a:rPr>
              <a:t>c) </a:t>
            </a:r>
            <a:r>
              <a:rPr lang="en-IN" b="0" dirty="0">
                <a:solidFill>
                  <a:srgbClr val="0000FF"/>
                </a:solidFill>
                <a:effectLst/>
                <a:highlight>
                  <a:srgbClr val="FFFF00"/>
                </a:highlight>
                <a:latin typeface="Consolas" panose="020B0609020204030204" pitchFamily="49" charset="0"/>
              </a:rPr>
              <a:t>=&gt;</a:t>
            </a:r>
            <a:r>
              <a:rPr lang="en-IN" b="0" dirty="0">
                <a:solidFill>
                  <a:srgbClr val="000000"/>
                </a:solidFill>
                <a:effectLst/>
                <a:highlight>
                  <a:srgbClr val="FFFF00"/>
                </a:highlight>
                <a:latin typeface="Consolas" panose="020B0609020204030204" pitchFamily="49" charset="0"/>
              </a:rPr>
              <a:t> c + </a:t>
            </a:r>
            <a:r>
              <a:rPr lang="en-IN" b="0" dirty="0">
                <a:solidFill>
                  <a:srgbClr val="098658"/>
                </a:solidFill>
                <a:effectLst/>
                <a:highlight>
                  <a:srgbClr val="FFFF00"/>
                </a:highlight>
                <a:latin typeface="Consolas" panose="020B0609020204030204" pitchFamily="49" charset="0"/>
              </a:rPr>
              <a:t>1</a:t>
            </a:r>
            <a:r>
              <a:rPr lang="en-IN" b="0" dirty="0">
                <a:solidFill>
                  <a:srgbClr val="000000"/>
                </a:solidFill>
                <a:effectLst/>
                <a:highlight>
                  <a:srgbClr val="FFFF00"/>
                </a:highligh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Calculation: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calculation</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FDA03948-52BD-4B50-CE47-48B2ED00E14D}"/>
              </a:ext>
            </a:extLst>
          </p:cNvPr>
          <p:cNvSpPr txBox="1"/>
          <p:nvPr/>
        </p:nvSpPr>
        <p:spPr>
          <a:xfrm>
            <a:off x="8266872" y="1436061"/>
            <a:ext cx="3173067" cy="1515861"/>
          </a:xfrm>
          <a:prstGeom prst="rect">
            <a:avLst/>
          </a:prstGeom>
          <a:noFill/>
        </p:spPr>
        <p:txBody>
          <a:bodyPr wrap="square">
            <a:spAutoFit/>
          </a:bodyPr>
          <a:lstStyle/>
          <a:p>
            <a:r>
              <a:rPr lang="en-US" dirty="0"/>
              <a:t>Here is an example of a </a:t>
            </a:r>
            <a:r>
              <a:rPr lang="en-US" dirty="0" err="1"/>
              <a:t>useEffect</a:t>
            </a:r>
            <a:r>
              <a:rPr lang="en-US" dirty="0"/>
              <a:t> Hook that is dependent on a variable. If the count variable updates, the effect will run again:</a:t>
            </a:r>
            <a:endParaRPr lang="en-IN" dirty="0"/>
          </a:p>
        </p:txBody>
      </p:sp>
    </p:spTree>
    <p:extLst>
      <p:ext uri="{BB962C8B-B14F-4D97-AF65-F5344CB8AC3E}">
        <p14:creationId xmlns:p14="http://schemas.microsoft.com/office/powerpoint/2010/main" val="2319926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1E5D78-736B-F645-CB9F-7CEDF9583FA9}"/>
              </a:ext>
            </a:extLst>
          </p:cNvPr>
          <p:cNvSpPr txBox="1"/>
          <p:nvPr/>
        </p:nvSpPr>
        <p:spPr>
          <a:xfrm>
            <a:off x="216177" y="938891"/>
            <a:ext cx="6137412" cy="4801314"/>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Timer()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timer = </a:t>
            </a:r>
            <a:r>
              <a:rPr lang="en-IN" b="0" dirty="0" err="1">
                <a:solidFill>
                  <a:srgbClr val="000000"/>
                </a:solidFill>
                <a:effectLst/>
                <a:highlight>
                  <a:srgbClr val="00FF00"/>
                </a:highlight>
                <a:latin typeface="Consolas" panose="020B0609020204030204" pitchFamily="49" charset="0"/>
              </a:rPr>
              <a:t>setTimeout</a:t>
            </a:r>
            <a:r>
              <a:rPr lang="en-IN" b="0" dirty="0">
                <a:solidFill>
                  <a:srgbClr val="000000"/>
                </a:solidFill>
                <a:effectLst/>
                <a:highlight>
                  <a:srgbClr val="00FF00"/>
                </a:highlight>
                <a:latin typeface="Consolas" panose="020B0609020204030204" pitchFamily="49" charset="0"/>
              </a:rPr>
              <a:t>(() </a:t>
            </a:r>
            <a:r>
              <a:rPr lang="en-IN" b="0" dirty="0">
                <a:solidFill>
                  <a:srgbClr val="0000FF"/>
                </a:solidFill>
                <a:effectLst/>
                <a:highlight>
                  <a:srgbClr val="00FF00"/>
                </a:highlight>
                <a:latin typeface="Consolas" panose="020B0609020204030204" pitchFamily="49" charset="0"/>
              </a:rPr>
              <a:t>=&gt;</a:t>
            </a:r>
            <a:r>
              <a:rPr lang="en-IN" b="0" dirty="0">
                <a:solidFill>
                  <a:srgbClr val="000000"/>
                </a:solidFill>
                <a:effectLst/>
                <a:highlight>
                  <a:srgbClr val="00FF00"/>
                </a:highlight>
                <a:latin typeface="Consolas" panose="020B0609020204030204" pitchFamily="49" charset="0"/>
              </a:rPr>
              <a:t> {</a:t>
            </a:r>
          </a:p>
          <a:p>
            <a:r>
              <a:rPr lang="en-IN" b="0" dirty="0">
                <a:solidFill>
                  <a:srgbClr val="000000"/>
                </a:solidFill>
                <a:effectLst/>
                <a:highlight>
                  <a:srgbClr val="00FF00"/>
                </a:highlight>
                <a:latin typeface="Consolas" panose="020B0609020204030204" pitchFamily="49" charset="0"/>
              </a:rPr>
              <a:t>    </a:t>
            </a:r>
            <a:r>
              <a:rPr lang="en-IN" b="0" dirty="0" err="1">
                <a:solidFill>
                  <a:srgbClr val="000000"/>
                </a:solidFill>
                <a:effectLst/>
                <a:highlight>
                  <a:srgbClr val="00FF00"/>
                </a:highlight>
                <a:latin typeface="Consolas" panose="020B0609020204030204" pitchFamily="49" charset="0"/>
              </a:rPr>
              <a:t>setCount</a:t>
            </a:r>
            <a:r>
              <a:rPr lang="en-IN" b="0" dirty="0">
                <a:solidFill>
                  <a:srgbClr val="000000"/>
                </a:solidFill>
                <a:effectLst/>
                <a:highlight>
                  <a:srgbClr val="00FF00"/>
                </a:highlight>
                <a:latin typeface="Consolas" panose="020B0609020204030204" pitchFamily="49" charset="0"/>
              </a:rPr>
              <a:t>((count) </a:t>
            </a:r>
            <a:r>
              <a:rPr lang="en-IN" b="0" dirty="0">
                <a:solidFill>
                  <a:srgbClr val="0000FF"/>
                </a:solidFill>
                <a:effectLst/>
                <a:highlight>
                  <a:srgbClr val="00FF00"/>
                </a:highlight>
                <a:latin typeface="Consolas" panose="020B0609020204030204" pitchFamily="49" charset="0"/>
              </a:rPr>
              <a:t>=&gt;</a:t>
            </a:r>
            <a:r>
              <a:rPr lang="en-IN" b="0" dirty="0">
                <a:solidFill>
                  <a:srgbClr val="000000"/>
                </a:solidFill>
                <a:effectLst/>
                <a:highlight>
                  <a:srgbClr val="00FF00"/>
                </a:highlight>
                <a:latin typeface="Consolas" panose="020B0609020204030204" pitchFamily="49" charset="0"/>
              </a:rPr>
              <a:t> count + </a:t>
            </a:r>
            <a:r>
              <a:rPr lang="en-IN" b="0" dirty="0">
                <a:solidFill>
                  <a:srgbClr val="098658"/>
                </a:solidFill>
                <a:effectLst/>
                <a:highlight>
                  <a:srgbClr val="00FF00"/>
                </a:highlight>
                <a:latin typeface="Consolas" panose="020B0609020204030204" pitchFamily="49" charset="0"/>
              </a:rPr>
              <a:t>1</a:t>
            </a:r>
            <a:r>
              <a:rPr lang="en-IN" b="0" dirty="0">
                <a:solidFill>
                  <a:srgbClr val="000000"/>
                </a:solidFill>
                <a:effectLst/>
                <a:highlight>
                  <a:srgbClr val="00FF00"/>
                </a:highlight>
                <a:latin typeface="Consolas" panose="020B0609020204030204" pitchFamily="49" charset="0"/>
              </a:rPr>
              <a:t>);</a:t>
            </a:r>
          </a:p>
          <a:p>
            <a:r>
              <a:rPr lang="en-IN" b="0" dirty="0">
                <a:solidFill>
                  <a:srgbClr val="000000"/>
                </a:solidFill>
                <a:effectLst/>
                <a:highlight>
                  <a:srgbClr val="00FF00"/>
                </a:highlight>
                <a:latin typeface="Consolas" panose="020B0609020204030204" pitchFamily="49" charset="0"/>
              </a:rPr>
              <a:t>  }, </a:t>
            </a:r>
            <a:r>
              <a:rPr lang="en-IN" b="0" dirty="0">
                <a:solidFill>
                  <a:srgbClr val="098658"/>
                </a:solidFill>
                <a:effectLst/>
                <a:highlight>
                  <a:srgbClr val="00FF00"/>
                </a:highlight>
                <a:latin typeface="Consolas" panose="020B0609020204030204" pitchFamily="49" charset="0"/>
              </a:rPr>
              <a:t>1000</a:t>
            </a:r>
            <a:r>
              <a:rPr lang="en-IN" b="0" dirty="0">
                <a:solidFill>
                  <a:srgbClr val="000000"/>
                </a:solidFill>
                <a:effectLst/>
                <a:highlight>
                  <a:srgbClr val="00FF00"/>
                </a:highlight>
                <a:latin typeface="Consolas" panose="020B0609020204030204" pitchFamily="49" charset="0"/>
              </a:rPr>
              <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highlight>
                  <a:srgbClr val="FFFF00"/>
                </a:highlight>
                <a:latin typeface="Consolas" panose="020B0609020204030204" pitchFamily="49" charset="0"/>
              </a:rPr>
              <a:t>return</a:t>
            </a:r>
            <a:r>
              <a:rPr lang="en-IN" b="0" dirty="0">
                <a:solidFill>
                  <a:srgbClr val="000000"/>
                </a:solidFill>
                <a:effectLst/>
                <a:highlight>
                  <a:srgbClr val="FFFF00"/>
                </a:highlight>
                <a:latin typeface="Consolas" panose="020B0609020204030204" pitchFamily="49" charset="0"/>
              </a:rPr>
              <a:t> () </a:t>
            </a:r>
            <a:r>
              <a:rPr lang="en-IN" b="0" dirty="0">
                <a:solidFill>
                  <a:srgbClr val="0000FF"/>
                </a:solidFill>
                <a:effectLst/>
                <a:highlight>
                  <a:srgbClr val="FFFF00"/>
                </a:highlight>
                <a:latin typeface="Consolas" panose="020B0609020204030204" pitchFamily="49" charset="0"/>
              </a:rPr>
              <a:t>=&gt;</a:t>
            </a:r>
            <a:r>
              <a:rPr lang="en-IN" b="0" dirty="0">
                <a:solidFill>
                  <a:srgbClr val="000000"/>
                </a:solidFill>
                <a:effectLst/>
                <a:highlight>
                  <a:srgbClr val="FFFF00"/>
                </a:highlight>
                <a:latin typeface="Consolas" panose="020B0609020204030204" pitchFamily="49" charset="0"/>
              </a:rPr>
              <a:t> </a:t>
            </a:r>
            <a:r>
              <a:rPr lang="en-IN" b="0" dirty="0" err="1">
                <a:solidFill>
                  <a:srgbClr val="000000"/>
                </a:solidFill>
                <a:effectLst/>
                <a:highlight>
                  <a:srgbClr val="FFFF00"/>
                </a:highlight>
                <a:latin typeface="Consolas" panose="020B0609020204030204" pitchFamily="49" charset="0"/>
              </a:rPr>
              <a:t>clearTimeout</a:t>
            </a:r>
            <a:r>
              <a:rPr lang="en-IN" b="0" dirty="0">
                <a:solidFill>
                  <a:srgbClr val="000000"/>
                </a:solidFill>
                <a:effectLst/>
                <a:highlight>
                  <a:srgbClr val="FFFF00"/>
                </a:highlight>
                <a:latin typeface="Consolas" panose="020B0609020204030204" pitchFamily="49" charset="0"/>
              </a:rPr>
              <a:t>(timer)</a:t>
            </a:r>
          </a:p>
          <a:p>
            <a:r>
              <a:rPr lang="en-IN" b="0" dirty="0">
                <a:solidFill>
                  <a:srgbClr val="000000"/>
                </a:solidFill>
                <a:effectLst/>
                <a:latin typeface="Consolas" panose="020B0609020204030204" pitchFamily="49" charset="0"/>
              </a:rPr>
              <a:t>  },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I've rendered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Rectangle 1">
            <a:extLst>
              <a:ext uri="{FF2B5EF4-FFF2-40B4-BE49-F238E27FC236}">
                <a16:creationId xmlns:a16="http://schemas.microsoft.com/office/drawing/2014/main" id="{AEA9B7A6-FC5E-2907-F912-46729298572B}"/>
              </a:ext>
            </a:extLst>
          </p:cNvPr>
          <p:cNvSpPr>
            <a:spLocks noChangeArrowheads="1"/>
          </p:cNvSpPr>
          <p:nvPr/>
        </p:nvSpPr>
        <p:spPr bwMode="auto">
          <a:xfrm>
            <a:off x="5804452" y="-172560"/>
            <a:ext cx="3846443" cy="3021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Effect Cleanup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Some effects require cleanup to reduce memory leaks.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Timeouts, subscriptions, event listeners, and other effects that are no longer needed should be disposed.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0000"/>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We do this by including a return function at the end of the </a:t>
            </a:r>
            <a:r>
              <a:rPr kumimoji="0" lang="en-US" altLang="en-US" sz="1400" b="0" i="0" u="none" strike="noStrike" cap="none" normalizeH="0" baseline="0" dirty="0" err="1">
                <a:ln>
                  <a:noFill/>
                </a:ln>
                <a:solidFill>
                  <a:srgbClr val="DC143C"/>
                </a:solidFill>
                <a:effectLst/>
                <a:latin typeface="Consolas" panose="020B0609020204030204" pitchFamily="49" charset="0"/>
              </a:rPr>
              <a:t>useEffect</a:t>
            </a:r>
            <a:r>
              <a:rPr kumimoji="0" lang="en-US" altLang="en-US" sz="1400" b="0" i="0" u="none" strike="noStrike" cap="none" normalizeH="0" baseline="0" dirty="0">
                <a:ln>
                  <a:noFill/>
                </a:ln>
                <a:solidFill>
                  <a:srgbClr val="000000"/>
                </a:solidFill>
                <a:effectLst/>
                <a:latin typeface="Verdana" panose="020B0604030504040204" pitchFamily="34" charset="0"/>
              </a:rPr>
              <a:t> Hook.</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8EF393BE-C00E-717F-D28E-B7F72C420322}"/>
              </a:ext>
            </a:extLst>
          </p:cNvPr>
          <p:cNvSpPr txBox="1"/>
          <p:nvPr/>
        </p:nvSpPr>
        <p:spPr>
          <a:xfrm>
            <a:off x="6728791" y="3617842"/>
            <a:ext cx="5019261" cy="2308324"/>
          </a:xfrm>
          <a:prstGeom prst="rect">
            <a:avLst/>
          </a:prstGeom>
          <a:noFill/>
        </p:spPr>
        <p:txBody>
          <a:bodyPr wrap="square" rtlCol="0">
            <a:spAutoFit/>
          </a:bodyPr>
          <a:lstStyle/>
          <a:p>
            <a:r>
              <a:rPr lang="en-US" dirty="0"/>
              <a:t>function  </a:t>
            </a:r>
            <a:r>
              <a:rPr lang="en-US" dirty="0" err="1"/>
              <a:t>useEffect</a:t>
            </a:r>
            <a:r>
              <a:rPr lang="en-US" dirty="0"/>
              <a:t>( </a:t>
            </a:r>
            <a:r>
              <a:rPr lang="en-US" dirty="0" err="1"/>
              <a:t>tfun,dep</a:t>
            </a:r>
            <a:r>
              <a:rPr lang="en-US" dirty="0"/>
              <a:t>     )</a:t>
            </a:r>
          </a:p>
          <a:p>
            <a:endParaRPr lang="en-US" dirty="0"/>
          </a:p>
          <a:p>
            <a:endParaRPr lang="en-US" dirty="0"/>
          </a:p>
          <a:p>
            <a:endParaRPr lang="en-US" dirty="0"/>
          </a:p>
          <a:p>
            <a:endParaRPr lang="en-US" dirty="0"/>
          </a:p>
          <a:p>
            <a:endParaRPr lang="en-US" dirty="0"/>
          </a:p>
          <a:p>
            <a:endParaRPr lang="en-US" dirty="0"/>
          </a:p>
          <a:p>
            <a:endParaRPr lang="en-IN" dirty="0"/>
          </a:p>
        </p:txBody>
      </p:sp>
      <p:sp>
        <p:nvSpPr>
          <p:cNvPr id="11" name="TextBox 10">
            <a:extLst>
              <a:ext uri="{FF2B5EF4-FFF2-40B4-BE49-F238E27FC236}">
                <a16:creationId xmlns:a16="http://schemas.microsoft.com/office/drawing/2014/main" id="{59AFD735-0736-DD08-3A64-BE80EF598CBD}"/>
              </a:ext>
            </a:extLst>
          </p:cNvPr>
          <p:cNvSpPr txBox="1"/>
          <p:nvPr/>
        </p:nvSpPr>
        <p:spPr>
          <a:xfrm>
            <a:off x="7026965" y="4011399"/>
            <a:ext cx="3364395" cy="2246769"/>
          </a:xfrm>
          <a:prstGeom prst="rect">
            <a:avLst/>
          </a:prstGeom>
          <a:noFill/>
        </p:spPr>
        <p:txBody>
          <a:bodyPr wrap="square">
            <a:spAutoFit/>
          </a:bodyPr>
          <a:lstStyle/>
          <a:p>
            <a:r>
              <a:rPr lang="en-IN" sz="1400" b="0" dirty="0">
                <a:solidFill>
                  <a:srgbClr val="000000"/>
                </a:solidFill>
                <a:effectLst/>
                <a:latin typeface="Consolas" panose="020B0609020204030204" pitchFamily="49" charset="0"/>
              </a:rPr>
              <a:t>(</a:t>
            </a:r>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a:t>
            </a:r>
          </a:p>
          <a:p>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let</a:t>
            </a:r>
            <a:r>
              <a:rPr lang="en-IN" sz="1400" b="0" dirty="0">
                <a:solidFill>
                  <a:srgbClr val="000000"/>
                </a:solidFill>
                <a:effectLst/>
                <a:highlight>
                  <a:srgbClr val="FFFF00"/>
                </a:highlight>
                <a:latin typeface="Consolas" panose="020B0609020204030204" pitchFamily="49" charset="0"/>
              </a:rPr>
              <a:t> timer = </a:t>
            </a:r>
            <a:r>
              <a:rPr lang="en-IN" sz="1400" b="0" dirty="0" err="1">
                <a:solidFill>
                  <a:srgbClr val="000000"/>
                </a:solidFill>
                <a:effectLst/>
                <a:highlight>
                  <a:srgbClr val="FFFF00"/>
                </a:highlight>
                <a:latin typeface="Consolas" panose="020B0609020204030204" pitchFamily="49" charset="0"/>
              </a:rPr>
              <a:t>setTimeout</a:t>
            </a:r>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a:t>
            </a:r>
          </a:p>
          <a:p>
            <a:r>
              <a:rPr lang="en-IN" sz="1400" b="0" dirty="0">
                <a:solidFill>
                  <a:srgbClr val="000000"/>
                </a:solidFill>
                <a:effectLst/>
                <a:highlight>
                  <a:srgbClr val="FFFF00"/>
                </a:highligh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setCount</a:t>
            </a:r>
            <a:r>
              <a:rPr lang="en-IN" sz="1400" b="0" dirty="0">
                <a:solidFill>
                  <a:srgbClr val="000000"/>
                </a:solidFill>
                <a:effectLst/>
                <a:highlight>
                  <a:srgbClr val="FFFF00"/>
                </a:highlight>
                <a:latin typeface="Consolas" panose="020B0609020204030204" pitchFamily="49" charset="0"/>
              </a:rPr>
              <a:t>((count)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count + </a:t>
            </a:r>
            <a:r>
              <a:rPr lang="en-IN" sz="1400" b="0" dirty="0">
                <a:solidFill>
                  <a:srgbClr val="098658"/>
                </a:solidFill>
                <a:effectLst/>
                <a:highlight>
                  <a:srgbClr val="FFFF00"/>
                </a:highlight>
                <a:latin typeface="Consolas" panose="020B0609020204030204" pitchFamily="49" charset="0"/>
              </a:rPr>
              <a:t>1</a:t>
            </a:r>
            <a:r>
              <a:rPr lang="en-IN" sz="1400" b="0" dirty="0">
                <a:solidFill>
                  <a:srgbClr val="000000"/>
                </a:solidFill>
                <a:effectLst/>
                <a:highlight>
                  <a:srgbClr val="FFFF00"/>
                </a:highlight>
                <a:latin typeface="Consolas" panose="020B0609020204030204" pitchFamily="49" charset="0"/>
              </a:rPr>
              <a:t>);</a:t>
            </a:r>
          </a:p>
          <a:p>
            <a:r>
              <a:rPr lang="en-IN" sz="1400" b="0" dirty="0">
                <a:solidFill>
                  <a:srgbClr val="000000"/>
                </a:solidFill>
                <a:effectLst/>
                <a:highlight>
                  <a:srgbClr val="FFFF00"/>
                </a:highlight>
                <a:latin typeface="Consolas" panose="020B0609020204030204" pitchFamily="49" charset="0"/>
              </a:rPr>
              <a:t>  }, </a:t>
            </a:r>
            <a:r>
              <a:rPr lang="en-IN" sz="1400" b="0" dirty="0">
                <a:solidFill>
                  <a:srgbClr val="098658"/>
                </a:solidFill>
                <a:effectLst/>
                <a:highlight>
                  <a:srgbClr val="FFFF00"/>
                </a:highlight>
                <a:latin typeface="Consolas" panose="020B0609020204030204" pitchFamily="49" charset="0"/>
              </a:rPr>
              <a:t>1000</a:t>
            </a:r>
            <a:r>
              <a:rPr lang="en-IN" sz="1400" b="0" dirty="0">
                <a:solidFill>
                  <a:srgbClr val="000000"/>
                </a:solidFill>
                <a:effectLst/>
                <a:highlight>
                  <a:srgbClr val="FFFF00"/>
                </a:highlight>
                <a:latin typeface="Consolas" panose="020B0609020204030204" pitchFamily="49" charset="0"/>
              </a:rPr>
              <a:t>);</a:t>
            </a:r>
          </a:p>
          <a:p>
            <a:br>
              <a:rPr lang="en-IN" sz="1400" b="0" dirty="0">
                <a:solidFill>
                  <a:srgbClr val="000000"/>
                </a:solidFill>
                <a:effectLst/>
                <a:highlight>
                  <a:srgbClr val="FFFF00"/>
                </a:highlight>
                <a:latin typeface="Consolas" panose="020B0609020204030204" pitchFamily="49" charset="0"/>
              </a:rPr>
            </a:br>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return</a:t>
            </a:r>
            <a:r>
              <a:rPr lang="en-IN" sz="1400" b="0" dirty="0">
                <a:solidFill>
                  <a:srgbClr val="000000"/>
                </a:solidFill>
                <a:effectLst/>
                <a:highlight>
                  <a:srgbClr val="FFFF00"/>
                </a:highlight>
                <a:latin typeface="Consolas" panose="020B0609020204030204" pitchFamily="49" charset="0"/>
              </a:rPr>
              <a:t> ()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clearTimeout</a:t>
            </a:r>
            <a:r>
              <a:rPr lang="en-IN" sz="1400" b="0" dirty="0">
                <a:solidFill>
                  <a:srgbClr val="000000"/>
                </a:solidFill>
                <a:effectLst/>
                <a:highlight>
                  <a:srgbClr val="FFFF00"/>
                </a:highlight>
                <a:latin typeface="Consolas" panose="020B0609020204030204" pitchFamily="49" charset="0"/>
              </a:rPr>
              <a:t>(timer)</a:t>
            </a:r>
          </a:p>
          <a:p>
            <a:r>
              <a:rPr lang="en-IN" sz="1400" b="0" dirty="0">
                <a:solidFill>
                  <a:srgbClr val="000000"/>
                </a:solidFill>
                <a:effectLst/>
                <a:highlight>
                  <a:srgbClr val="FFFF00"/>
                </a:highlight>
                <a:latin typeface="Consolas" panose="020B0609020204030204" pitchFamily="49" charset="0"/>
              </a:rPr>
              <a:t>  }</a:t>
            </a:r>
            <a:endParaRPr lang="en-IN" sz="1400" dirty="0">
              <a:highlight>
                <a:srgbClr val="FFFF00"/>
              </a:highlight>
            </a:endParaRPr>
          </a:p>
        </p:txBody>
      </p:sp>
      <p:cxnSp>
        <p:nvCxnSpPr>
          <p:cNvPr id="13" name="Straight Arrow Connector 12">
            <a:extLst>
              <a:ext uri="{FF2B5EF4-FFF2-40B4-BE49-F238E27FC236}">
                <a16:creationId xmlns:a16="http://schemas.microsoft.com/office/drawing/2014/main" id="{B61888D6-ED25-64C9-085D-802B76BC3519}"/>
              </a:ext>
            </a:extLst>
          </p:cNvPr>
          <p:cNvCxnSpPr/>
          <p:nvPr/>
        </p:nvCxnSpPr>
        <p:spPr>
          <a:xfrm flipH="1">
            <a:off x="7523922" y="3836504"/>
            <a:ext cx="1185240" cy="268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36FFCBB-2BC9-E218-5E0C-CDD1F9D59AB5}"/>
              </a:ext>
            </a:extLst>
          </p:cNvPr>
          <p:cNvSpPr txBox="1"/>
          <p:nvPr/>
        </p:nvSpPr>
        <p:spPr>
          <a:xfrm>
            <a:off x="9809922" y="6102626"/>
            <a:ext cx="665921" cy="369332"/>
          </a:xfrm>
          <a:prstGeom prst="rect">
            <a:avLst/>
          </a:prstGeom>
          <a:noFill/>
        </p:spPr>
        <p:txBody>
          <a:bodyPr wrap="square" rtlCol="0">
            <a:spAutoFit/>
          </a:bodyPr>
          <a:lstStyle/>
          <a:p>
            <a:r>
              <a:rPr lang="en-US" dirty="0"/>
              <a:t>[</a:t>
            </a:r>
            <a:r>
              <a:rPr lang="en-US" dirty="0">
                <a:highlight>
                  <a:srgbClr val="00FF00"/>
                </a:highlight>
              </a:rPr>
              <a:t>]</a:t>
            </a:r>
            <a:endParaRPr lang="en-IN" dirty="0">
              <a:highlight>
                <a:srgbClr val="00FF00"/>
              </a:highlight>
            </a:endParaRPr>
          </a:p>
        </p:txBody>
      </p:sp>
    </p:spTree>
    <p:extLst>
      <p:ext uri="{BB962C8B-B14F-4D97-AF65-F5344CB8AC3E}">
        <p14:creationId xmlns:p14="http://schemas.microsoft.com/office/powerpoint/2010/main" val="1874822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8AA134-5489-4235-8397-862A099A9E4C}"/>
              </a:ext>
            </a:extLst>
          </p:cNvPr>
          <p:cNvSpPr txBox="1"/>
          <p:nvPr/>
        </p:nvSpPr>
        <p:spPr>
          <a:xfrm>
            <a:off x="0" y="1054762"/>
            <a:ext cx="11965858" cy="3693319"/>
          </a:xfrm>
          <a:prstGeom prst="rect">
            <a:avLst/>
          </a:prstGeom>
          <a:noFill/>
        </p:spPr>
        <p:txBody>
          <a:bodyPr wrap="square">
            <a:spAutoFit/>
          </a:bodyPr>
          <a:lstStyle/>
          <a:p>
            <a:r>
              <a:rPr lang="en-US" b="1" dirty="0"/>
              <a:t>What does </a:t>
            </a:r>
            <a:r>
              <a:rPr lang="en-US" b="1" dirty="0" err="1"/>
              <a:t>useEffect</a:t>
            </a:r>
            <a:r>
              <a:rPr lang="en-US" b="1" dirty="0"/>
              <a:t> do</a:t>
            </a:r>
            <a:r>
              <a:rPr lang="en-US" dirty="0"/>
              <a:t>? By using this Hook, you tell React that your component needs to do something after render. React will remember the function you passed (we’ll refer to it as our “effect”), and call it later after performing the DOM updates. we could </a:t>
            </a:r>
            <a:r>
              <a:rPr lang="en-US" dirty="0">
                <a:highlight>
                  <a:srgbClr val="FFFF00"/>
                </a:highlight>
              </a:rPr>
              <a:t>also perform data fetching or call some other imperative API.</a:t>
            </a:r>
          </a:p>
          <a:p>
            <a:endParaRPr lang="en-US" b="1" dirty="0"/>
          </a:p>
          <a:p>
            <a:r>
              <a:rPr lang="en-US" b="1" dirty="0"/>
              <a:t>Why is </a:t>
            </a:r>
            <a:r>
              <a:rPr lang="en-US" b="1" dirty="0" err="1"/>
              <a:t>useEffect</a:t>
            </a:r>
            <a:r>
              <a:rPr lang="en-US" b="1" dirty="0"/>
              <a:t> called inside a component? </a:t>
            </a:r>
          </a:p>
          <a:p>
            <a:r>
              <a:rPr lang="en-US" dirty="0"/>
              <a:t>Placing </a:t>
            </a:r>
            <a:r>
              <a:rPr lang="en-US" dirty="0" err="1"/>
              <a:t>useEffect</a:t>
            </a:r>
            <a:r>
              <a:rPr lang="en-US" dirty="0"/>
              <a:t> inside the component lets us access the count state variable (or any props) right from the effect. We don’t need a special API to read it — it’s already in the function scope. Hooks embrace JavaScript </a:t>
            </a:r>
            <a:r>
              <a:rPr lang="en-US" dirty="0">
                <a:highlight>
                  <a:srgbClr val="FFFF00"/>
                </a:highlight>
              </a:rPr>
              <a:t>closures </a:t>
            </a:r>
            <a:r>
              <a:rPr lang="en-US" dirty="0"/>
              <a:t>and avoid introducing React-specific APIs where JavaScript already provides a solution.</a:t>
            </a:r>
          </a:p>
          <a:p>
            <a:endParaRPr lang="en-US" b="1" dirty="0"/>
          </a:p>
          <a:p>
            <a:r>
              <a:rPr lang="en-US" b="1" dirty="0"/>
              <a:t>Does </a:t>
            </a:r>
            <a:r>
              <a:rPr lang="en-US" b="1" dirty="0" err="1"/>
              <a:t>useEffect</a:t>
            </a:r>
            <a:r>
              <a:rPr lang="en-US" b="1" dirty="0"/>
              <a:t> run after every render</a:t>
            </a:r>
            <a:r>
              <a:rPr lang="en-US" dirty="0"/>
              <a:t>? </a:t>
            </a:r>
          </a:p>
          <a:p>
            <a:endParaRPr lang="en-US" dirty="0"/>
          </a:p>
          <a:p>
            <a:r>
              <a:rPr lang="en-US" dirty="0"/>
              <a:t>Yes! By default, it runs both after the first render and after every update.  React guarantees the DOM has been updated by the time it runs the effects.</a:t>
            </a:r>
            <a:endParaRPr lang="en-IN" dirty="0"/>
          </a:p>
        </p:txBody>
      </p:sp>
      <p:sp>
        <p:nvSpPr>
          <p:cNvPr id="3" name="TextBox 2">
            <a:extLst>
              <a:ext uri="{FF2B5EF4-FFF2-40B4-BE49-F238E27FC236}">
                <a16:creationId xmlns:a16="http://schemas.microsoft.com/office/drawing/2014/main" id="{0C25BD13-3B15-5292-1447-C79F130DCC7A}"/>
              </a:ext>
            </a:extLst>
          </p:cNvPr>
          <p:cNvSpPr txBox="1"/>
          <p:nvPr/>
        </p:nvSpPr>
        <p:spPr>
          <a:xfrm>
            <a:off x="662516" y="4748081"/>
            <a:ext cx="10691283" cy="1200329"/>
          </a:xfrm>
          <a:prstGeom prst="rect">
            <a:avLst/>
          </a:prstGeom>
          <a:noFill/>
        </p:spPr>
        <p:txBody>
          <a:bodyPr wrap="square">
            <a:spAutoFit/>
          </a:bodyPr>
          <a:lstStyle/>
          <a:p>
            <a:pPr algn="ctr"/>
            <a:r>
              <a:rPr lang="en-US" b="1" dirty="0"/>
              <a:t>When to use </a:t>
            </a:r>
          </a:p>
          <a:p>
            <a:r>
              <a:rPr lang="en-US" dirty="0"/>
              <a:t>• 	If the data should load automatically when the component mounts or when certain state/props change.</a:t>
            </a:r>
          </a:p>
          <a:p>
            <a:r>
              <a:rPr lang="en-US" dirty="0"/>
              <a:t>• 	Good for initial page loads, background refreshes, or reacting to dependency changes.</a:t>
            </a:r>
          </a:p>
          <a:p>
            <a:r>
              <a:rPr lang="en-US" dirty="0"/>
              <a:t>• 	Example: Fetching user profile when the component first renders.</a:t>
            </a:r>
          </a:p>
        </p:txBody>
      </p:sp>
    </p:spTree>
    <p:extLst>
      <p:ext uri="{BB962C8B-B14F-4D97-AF65-F5344CB8AC3E}">
        <p14:creationId xmlns:p14="http://schemas.microsoft.com/office/powerpoint/2010/main" val="559562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DEA66CC-CB85-DE38-0052-631BCF4A3FEA}"/>
              </a:ext>
            </a:extLst>
          </p:cNvPr>
          <p:cNvSpPr>
            <a:spLocks noChangeArrowheads="1"/>
          </p:cNvSpPr>
          <p:nvPr/>
        </p:nvSpPr>
        <p:spPr bwMode="auto">
          <a:xfrm>
            <a:off x="904460" y="912438"/>
            <a:ext cx="9968948" cy="458587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3272F"/>
                </a:solidFill>
                <a:effectLst/>
                <a:latin typeface="Optimistic Text"/>
              </a:rPr>
              <a:t>You need to pass two arguments to </a:t>
            </a:r>
            <a:r>
              <a:rPr kumimoji="0" lang="en-US" altLang="en-US" sz="1400" b="0" i="0" u="none" strike="noStrike" cap="none" normalizeH="0" baseline="0">
                <a:ln>
                  <a:noFill/>
                </a:ln>
                <a:solidFill>
                  <a:srgbClr val="23272F"/>
                </a:solidFill>
                <a:effectLst/>
                <a:latin typeface="Source Code Pro" panose="020B0509030403020204" pitchFamily="49" charset="0"/>
              </a:rPr>
              <a:t>useEffect</a:t>
            </a:r>
            <a:r>
              <a:rPr kumimoji="0" lang="en-US" altLang="en-US" sz="2000" b="0" i="0" u="none" strike="noStrike" cap="none" normalizeH="0" baseline="0">
                <a:ln>
                  <a:noFill/>
                </a:ln>
                <a:solidFill>
                  <a:srgbClr val="23272F"/>
                </a:solidFill>
                <a:effectLst/>
                <a:latin typeface="Optimistic Text"/>
              </a:rPr>
              <a: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a:ln>
                  <a:noFill/>
                </a:ln>
                <a:solidFill>
                  <a:srgbClr val="23272F"/>
                </a:solidFill>
                <a:effectLst/>
                <a:latin typeface="Optimistic Text"/>
              </a:rPr>
              <a:t>A </a:t>
            </a:r>
            <a:r>
              <a:rPr kumimoji="0" lang="en-US" altLang="en-US" sz="2000" b="0" i="1" u="none" strike="noStrike" cap="none" normalizeH="0" baseline="0">
                <a:ln>
                  <a:noFill/>
                </a:ln>
                <a:solidFill>
                  <a:srgbClr val="23272F"/>
                </a:solidFill>
                <a:effectLst/>
                <a:latin typeface="Optimistic Text"/>
              </a:rPr>
              <a:t>setup function</a:t>
            </a:r>
            <a:r>
              <a:rPr kumimoji="0" lang="en-US" altLang="en-US" sz="2000" b="0" i="0" u="none" strike="noStrike" cap="none" normalizeH="0" baseline="0">
                <a:ln>
                  <a:noFill/>
                </a:ln>
                <a:solidFill>
                  <a:srgbClr val="23272F"/>
                </a:solidFill>
                <a:effectLst/>
                <a:latin typeface="Optimistic Text"/>
              </a:rPr>
              <a:t> with setup code that connects to that system.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rgbClr val="23272F"/>
                </a:solidFill>
                <a:effectLst/>
                <a:latin typeface="Optimistic Text"/>
              </a:rPr>
              <a:t>It should return a </a:t>
            </a:r>
            <a:r>
              <a:rPr kumimoji="0" lang="en-US" altLang="en-US" sz="2000" b="0" i="1" u="none" strike="noStrike" cap="none" normalizeH="0" baseline="0">
                <a:ln>
                  <a:noFill/>
                </a:ln>
                <a:solidFill>
                  <a:srgbClr val="23272F"/>
                </a:solidFill>
                <a:effectLst/>
                <a:latin typeface="Optimistic Text"/>
              </a:rPr>
              <a:t>cleanup function</a:t>
            </a:r>
            <a:r>
              <a:rPr kumimoji="0" lang="en-US" altLang="en-US" sz="2000" b="0" i="0" u="none" strike="noStrike" cap="none" normalizeH="0" baseline="0">
                <a:ln>
                  <a:noFill/>
                </a:ln>
                <a:solidFill>
                  <a:srgbClr val="23272F"/>
                </a:solidFill>
                <a:effectLst/>
                <a:latin typeface="Optimistic Text"/>
              </a:rPr>
              <a:t> with cleanup code that disconnects from that system.</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a:ln>
                  <a:noFill/>
                </a:ln>
                <a:solidFill>
                  <a:srgbClr val="23272F"/>
                </a:solidFill>
                <a:effectLst/>
                <a:latin typeface="Optimistic Text"/>
              </a:rPr>
              <a:t>A list of dependencies including every value from your component used inside of those functions.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3272F"/>
                </a:solidFill>
                <a:effectLst/>
                <a:latin typeface="Optimistic Text"/>
              </a:rPr>
              <a:t>React calls your setup and cleanup functions whenever it’s necessary, which may happen multiple times:</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a:ln>
                  <a:noFill/>
                </a:ln>
                <a:solidFill>
                  <a:srgbClr val="23272F"/>
                </a:solidFill>
                <a:effectLst/>
                <a:latin typeface="Optimistic Text"/>
              </a:rPr>
              <a:t>Your setup code runs when your component is added to the page </a:t>
            </a:r>
            <a:r>
              <a:rPr kumimoji="0" lang="en-US" altLang="en-US" sz="2000" b="0" i="1" u="none" strike="noStrike" cap="none" normalizeH="0" baseline="0">
                <a:ln>
                  <a:noFill/>
                </a:ln>
                <a:solidFill>
                  <a:srgbClr val="23272F"/>
                </a:solidFill>
                <a:effectLst/>
                <a:latin typeface="Optimistic Text"/>
              </a:rPr>
              <a:t>(mounts)</a:t>
            </a:r>
            <a:r>
              <a:rPr kumimoji="0" lang="en-US" altLang="en-US" sz="2000" b="0" i="0" u="none" strike="noStrike" cap="none" normalizeH="0" baseline="0">
                <a:ln>
                  <a:noFill/>
                </a:ln>
                <a:solidFill>
                  <a:srgbClr val="23272F"/>
                </a:solidFill>
                <a:effectLst/>
                <a:latin typeface="Optimistic Text"/>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a:ln>
                  <a:noFill/>
                </a:ln>
                <a:solidFill>
                  <a:srgbClr val="23272F"/>
                </a:solidFill>
                <a:effectLst/>
                <a:latin typeface="Optimistic Text"/>
              </a:rPr>
              <a:t>After every re-render of your component where the dependencies have changed: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rgbClr val="23272F"/>
                </a:solidFill>
                <a:effectLst/>
                <a:latin typeface="Optimistic Text"/>
              </a:rPr>
              <a:t>First, your cleanup code runs with the old props and state.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rgbClr val="23272F"/>
                </a:solidFill>
                <a:effectLst/>
                <a:latin typeface="Optimistic Text"/>
              </a:rPr>
              <a:t>Then, your setup code runs with the new props and state.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a:ln>
                  <a:noFill/>
                </a:ln>
                <a:solidFill>
                  <a:srgbClr val="23272F"/>
                </a:solidFill>
                <a:effectLst/>
                <a:latin typeface="Optimistic Text"/>
              </a:rPr>
              <a:t>Your cleanup code runs one final time after your component is removed from the page </a:t>
            </a:r>
            <a:r>
              <a:rPr kumimoji="0" lang="en-US" altLang="en-US" sz="2000" b="0" i="1" u="none" strike="noStrike" cap="none" normalizeH="0" baseline="0">
                <a:ln>
                  <a:noFill/>
                </a:ln>
                <a:solidFill>
                  <a:srgbClr val="23272F"/>
                </a:solidFill>
                <a:effectLst/>
                <a:latin typeface="Optimistic Text"/>
              </a:rPr>
              <a:t>(unmounts).</a:t>
            </a:r>
            <a:endParaRPr kumimoji="0" lang="en-US" altLang="en-US" sz="2000" b="0" i="0" u="none" strike="noStrike" cap="none" normalizeH="0" baseline="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6230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A0A594E-192D-716E-13D2-232E5CB9D750}"/>
              </a:ext>
            </a:extLst>
          </p:cNvPr>
          <p:cNvSpPr>
            <a:spLocks noChangeArrowheads="1"/>
          </p:cNvSpPr>
          <p:nvPr/>
        </p:nvSpPr>
        <p:spPr bwMode="auto">
          <a:xfrm>
            <a:off x="1202633" y="83549"/>
            <a:ext cx="10008705"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3272F"/>
                </a:solidFill>
                <a:effectLst/>
                <a:latin typeface="Optimistic Text"/>
              </a:rPr>
              <a:t>Note the </a:t>
            </a:r>
            <a:r>
              <a:rPr kumimoji="0" lang="en-US" altLang="en-US" sz="1400" b="0" i="0" u="none" strike="noStrike" cap="none" normalizeH="0" baseline="0" dirty="0">
                <a:ln>
                  <a:noFill/>
                </a:ln>
                <a:solidFill>
                  <a:schemeClr val="tx1"/>
                </a:solidFill>
                <a:effectLst/>
                <a:latin typeface="Source Code Pro" panose="020B0509030403020204" pitchFamily="49" charset="0"/>
              </a:rPr>
              <a:t>ignore</a:t>
            </a:r>
            <a:r>
              <a:rPr kumimoji="0" lang="en-US" altLang="en-US" sz="2000" b="0" i="0" u="none" strike="noStrike" cap="none" normalizeH="0" baseline="0" dirty="0">
                <a:ln>
                  <a:noFill/>
                </a:ln>
                <a:solidFill>
                  <a:srgbClr val="23272F"/>
                </a:solidFill>
                <a:effectLst/>
                <a:latin typeface="Optimistic Text"/>
              </a:rPr>
              <a:t> variable which is initialized to </a:t>
            </a:r>
            <a:r>
              <a:rPr kumimoji="0" lang="en-US" altLang="en-US" sz="1400" b="0" i="0" u="none" strike="noStrike" cap="none" normalizeH="0" baseline="0" dirty="0">
                <a:ln>
                  <a:noFill/>
                </a:ln>
                <a:solidFill>
                  <a:schemeClr val="tx1"/>
                </a:solidFill>
                <a:effectLst/>
                <a:latin typeface="Source Code Pro" panose="020B0509030403020204" pitchFamily="49" charset="0"/>
              </a:rPr>
              <a:t>false</a:t>
            </a:r>
            <a:r>
              <a:rPr kumimoji="0" lang="en-US" altLang="en-US" sz="2000" b="0" i="0" u="none" strike="noStrike" cap="none" normalizeH="0" baseline="0" dirty="0">
                <a:ln>
                  <a:noFill/>
                </a:ln>
                <a:solidFill>
                  <a:srgbClr val="23272F"/>
                </a:solidFill>
                <a:effectLst/>
                <a:latin typeface="Optimistic Text"/>
              </a:rPr>
              <a:t>, and is set to </a:t>
            </a:r>
            <a:r>
              <a:rPr kumimoji="0" lang="en-US" altLang="en-US" sz="1400" b="0" i="0" u="none" strike="noStrike" cap="none" normalizeH="0" baseline="0" dirty="0">
                <a:ln>
                  <a:noFill/>
                </a:ln>
                <a:solidFill>
                  <a:schemeClr val="tx1"/>
                </a:solidFill>
                <a:effectLst/>
                <a:latin typeface="Source Code Pro" panose="020B0509030403020204" pitchFamily="49" charset="0"/>
              </a:rPr>
              <a:t>true</a:t>
            </a:r>
            <a:r>
              <a:rPr kumimoji="0" lang="en-US" altLang="en-US" sz="2000" b="0" i="0" u="none" strike="noStrike" cap="none" normalizeH="0" baseline="0" dirty="0">
                <a:ln>
                  <a:noFill/>
                </a:ln>
                <a:solidFill>
                  <a:srgbClr val="23272F"/>
                </a:solidFill>
                <a:effectLst/>
                <a:latin typeface="Optimistic Text"/>
              </a:rPr>
              <a:t> during cleanup. This ensures </a:t>
            </a:r>
            <a:r>
              <a:rPr kumimoji="0" lang="en-US" altLang="en-US" sz="2000" b="0" i="0" u="none" strike="noStrike" cap="none" normalizeH="0" baseline="0" dirty="0">
                <a:ln>
                  <a:noFill/>
                </a:ln>
                <a:solidFill>
                  <a:schemeClr val="tx1"/>
                </a:solidFill>
                <a:effectLst/>
                <a:latin typeface="Optimistic Text"/>
              </a:rPr>
              <a:t>your code doesn’t suffer from “race conditions”:</a:t>
            </a:r>
            <a:r>
              <a:rPr kumimoji="0" lang="en-US" altLang="en-US" sz="2000" b="0" i="0" u="none" strike="noStrike" cap="none" normalizeH="0" baseline="0" dirty="0">
                <a:ln>
                  <a:noFill/>
                </a:ln>
                <a:solidFill>
                  <a:srgbClr val="23272F"/>
                </a:solidFill>
                <a:effectLst/>
                <a:latin typeface="Optimistic Text"/>
              </a:rPr>
              <a:t> network responses may arrive in a different order than you sent them.</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4E703EC-E36F-B711-4F4F-8AB02755A98D}"/>
              </a:ext>
            </a:extLst>
          </p:cNvPr>
          <p:cNvSpPr txBox="1"/>
          <p:nvPr/>
        </p:nvSpPr>
        <p:spPr>
          <a:xfrm>
            <a:off x="325507" y="1199688"/>
            <a:ext cx="6552371"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fetchBio</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'./api.js'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Page()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[person, </a:t>
            </a:r>
            <a:r>
              <a:rPr lang="en-IN" b="0" dirty="0" err="1">
                <a:solidFill>
                  <a:srgbClr val="000000"/>
                </a:solidFill>
                <a:effectLst/>
                <a:latin typeface="Consolas" panose="020B0609020204030204" pitchFamily="49" charset="0"/>
              </a:rPr>
              <a:t>setPerson</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'Alice'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[bio, </a:t>
            </a:r>
            <a:r>
              <a:rPr lang="en-IN" b="0" dirty="0" err="1">
                <a:solidFill>
                  <a:srgbClr val="000000"/>
                </a:solidFill>
                <a:effectLst/>
                <a:latin typeface="Consolas" panose="020B0609020204030204" pitchFamily="49" charset="0"/>
              </a:rPr>
              <a:t>setBio</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null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highlight>
                  <a:srgbClr val="FFFF00"/>
                </a:highligh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ignore = </a:t>
            </a:r>
            <a:r>
              <a:rPr lang="en-IN" b="0" dirty="0">
                <a:solidFill>
                  <a:srgbClr val="0000FF"/>
                </a:solidFill>
                <a:effectLst/>
                <a:latin typeface="Consolas" panose="020B0609020204030204" pitchFamily="49" charset="0"/>
              </a:rPr>
              <a:t>false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setBio</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null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fetchBio</a:t>
            </a:r>
            <a:r>
              <a:rPr lang="en-IN" b="0" dirty="0">
                <a:solidFill>
                  <a:srgbClr val="000000"/>
                </a:solidFill>
                <a:effectLst/>
                <a:latin typeface="Consolas" panose="020B0609020204030204" pitchFamily="49" charset="0"/>
              </a:rPr>
              <a:t>(person).then(result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if</a:t>
            </a:r>
            <a:r>
              <a:rPr lang="en-IN" b="0" dirty="0">
                <a:solidFill>
                  <a:srgbClr val="000000"/>
                </a:solidFill>
                <a:effectLst/>
                <a:latin typeface="Consolas" panose="020B0609020204030204" pitchFamily="49" charset="0"/>
              </a:rPr>
              <a:t> (!ignore)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setBio</a:t>
            </a:r>
            <a:r>
              <a:rPr lang="en-IN" b="0" dirty="0">
                <a:solidFill>
                  <a:srgbClr val="000000"/>
                </a:solidFill>
                <a:effectLst/>
                <a:latin typeface="Consolas" panose="020B0609020204030204" pitchFamily="49" charset="0"/>
              </a:rPr>
              <a:t>(result);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ignore = </a:t>
            </a:r>
            <a:r>
              <a:rPr lang="en-IN" b="0" dirty="0">
                <a:solidFill>
                  <a:srgbClr val="0000FF"/>
                </a:solidFill>
                <a:effectLst/>
                <a:latin typeface="Consolas" panose="020B0609020204030204" pitchFamily="49" charset="0"/>
              </a:rPr>
              <a:t>true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 [person]);</a:t>
            </a: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ECC8907-ADEB-0594-2A13-220FF9DE50B5}"/>
              </a:ext>
            </a:extLst>
          </p:cNvPr>
          <p:cNvSpPr txBox="1"/>
          <p:nvPr/>
        </p:nvSpPr>
        <p:spPr>
          <a:xfrm>
            <a:off x="6206985" y="1344449"/>
            <a:ext cx="6137412" cy="3970318"/>
          </a:xfrm>
          <a:prstGeom prst="rect">
            <a:avLst/>
          </a:prstGeom>
          <a:noFill/>
        </p:spPr>
        <p:txBody>
          <a:bodyPr wrap="square">
            <a:spAutoFit/>
          </a:bodyPr>
          <a:lstStyle/>
          <a:p>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&lt;select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person</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onChange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e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setPerson</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e.target.value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"Alice"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Alice</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"Bob"</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Bob</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"Taylor"</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Taylor</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&lt;/select&gt;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&lt;hr</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bio ?? </a:t>
            </a:r>
            <a:r>
              <a:rPr lang="en-IN" b="0" dirty="0">
                <a:solidFill>
                  <a:srgbClr val="A31515"/>
                </a:solidFill>
                <a:effectLst/>
                <a:latin typeface="Consolas" panose="020B0609020204030204" pitchFamily="49" charset="0"/>
              </a:rPr>
              <a:t>'Loading...'</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839368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DF94AF-B112-2479-BB53-AAB6B690651E}"/>
              </a:ext>
            </a:extLst>
          </p:cNvPr>
          <p:cNvSpPr txBox="1"/>
          <p:nvPr/>
        </p:nvSpPr>
        <p:spPr>
          <a:xfrm>
            <a:off x="812525" y="1620152"/>
            <a:ext cx="9057032" cy="2862322"/>
          </a:xfrm>
          <a:prstGeom prst="rect">
            <a:avLst/>
          </a:prstGeom>
          <a:solidFill>
            <a:schemeClr val="tx1"/>
          </a:solidFill>
        </p:spPr>
        <p:txBody>
          <a:bodyPr wrap="square">
            <a:spAutoFit/>
          </a:bodyPr>
          <a:lstStyle/>
          <a:p>
            <a:r>
              <a:rPr lang="en-IN" b="0" dirty="0">
                <a:solidFill>
                  <a:srgbClr val="A390FF"/>
                </a:solidFill>
                <a:effectLst/>
                <a:latin typeface="Fira Code" panose="020F0502020204030204" pitchFamily="49" charset="0"/>
              </a:rPr>
              <a:t>export</a:t>
            </a:r>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async</a:t>
            </a:r>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function</a:t>
            </a:r>
            <a:r>
              <a:rPr lang="en-IN" b="0" dirty="0">
                <a:solidFill>
                  <a:srgbClr val="BBBBBB"/>
                </a:solidFill>
                <a:effectLst/>
                <a:latin typeface="Fira Code" panose="020F0502020204030204" pitchFamily="49" charset="0"/>
              </a:rPr>
              <a:t> </a:t>
            </a:r>
            <a:r>
              <a:rPr lang="en-IN" b="0" dirty="0" err="1">
                <a:solidFill>
                  <a:srgbClr val="CDF861"/>
                </a:solidFill>
                <a:effectLst/>
                <a:latin typeface="Fira Code" panose="020F0502020204030204" pitchFamily="49" charset="0"/>
              </a:rPr>
              <a:t>fetchBio</a:t>
            </a:r>
            <a:r>
              <a:rPr lang="en-IN" b="0" dirty="0">
                <a:solidFill>
                  <a:srgbClr val="86897A"/>
                </a:solidFill>
                <a:effectLst/>
                <a:latin typeface="Fira Code" panose="020F0502020204030204" pitchFamily="49" charset="0"/>
              </a:rPr>
              <a:t>(</a:t>
            </a:r>
            <a:r>
              <a:rPr lang="en-IN" b="0" dirty="0">
                <a:solidFill>
                  <a:srgbClr val="EBEBEB"/>
                </a:solidFill>
                <a:effectLst/>
                <a:latin typeface="Fira Code" panose="020F0502020204030204" pitchFamily="49" charset="0"/>
              </a:rPr>
              <a:t>person</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BBBBBB"/>
                </a:solidFill>
                <a:effectLst/>
                <a:latin typeface="Fira Code" panose="020F0502020204030204" pitchFamily="49" charset="0"/>
              </a:rPr>
              <a:t>  </a:t>
            </a:r>
            <a:r>
              <a:rPr lang="en-IN" b="0" dirty="0" err="1">
                <a:solidFill>
                  <a:srgbClr val="A390FF"/>
                </a:solidFill>
                <a:effectLst/>
                <a:latin typeface="Fira Code" panose="020F0502020204030204" pitchFamily="49" charset="0"/>
              </a:rPr>
              <a:t>const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delay</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person</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FD084"/>
                </a:solidFill>
                <a:effectLst/>
                <a:latin typeface="Fira Code" panose="020F0502020204030204" pitchFamily="49" charset="0"/>
              </a:rPr>
              <a:t>Bob</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7AD9FB"/>
                </a:solidFill>
                <a:effectLst/>
                <a:latin typeface="Fira Code" panose="020F0502020204030204" pitchFamily="49" charset="0"/>
              </a:rPr>
              <a:t>2000</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7AD9FB"/>
                </a:solidFill>
                <a:effectLst/>
                <a:latin typeface="Fira Code" panose="020F0502020204030204" pitchFamily="49" charset="0"/>
              </a:rPr>
              <a:t>200</a:t>
            </a:r>
            <a:r>
              <a:rPr lang="en-IN" b="0" dirty="0">
                <a:solidFill>
                  <a:srgbClr val="BBBBBB"/>
                </a:solidFill>
                <a:effectLst/>
                <a:latin typeface="Fira Code" panose="020F0502020204030204" pitchFamily="49" charset="0"/>
              </a:rPr>
              <a:t>;</a:t>
            </a:r>
          </a:p>
          <a:p>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return</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new</a:t>
            </a:r>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Promise</a:t>
            </a:r>
            <a:r>
              <a:rPr lang="en-IN" b="0" dirty="0">
                <a:solidFill>
                  <a:srgbClr val="86897A"/>
                </a:solidFill>
                <a:effectLst/>
                <a:latin typeface="Fira Code" panose="020F0502020204030204" pitchFamily="49" charset="0"/>
              </a:rPr>
              <a:t>(</a:t>
            </a:r>
            <a:r>
              <a:rPr lang="en-IN" b="0" dirty="0">
                <a:solidFill>
                  <a:srgbClr val="CDF861"/>
                </a:solidFill>
                <a:effectLst/>
                <a:latin typeface="Fira Code" panose="020F0502020204030204" pitchFamily="49" charset="0"/>
              </a:rPr>
              <a:t>resolve</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=&gt;</a:t>
            </a:r>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BBBBBB"/>
                </a:solidFill>
                <a:effectLst/>
                <a:latin typeface="Fira Code" panose="020F0502020204030204" pitchFamily="49" charset="0"/>
              </a:rPr>
              <a:t>    </a:t>
            </a:r>
            <a:r>
              <a:rPr lang="en-IN" b="0" dirty="0" err="1">
                <a:solidFill>
                  <a:srgbClr val="A390FF"/>
                </a:solidFill>
                <a:effectLst/>
                <a:latin typeface="Fira Code" panose="020F0502020204030204" pitchFamily="49" charset="0"/>
              </a:rPr>
              <a:t>setTimeout</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=&gt;</a:t>
            </a:r>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BBBBBB"/>
                </a:solidFill>
                <a:effectLst/>
                <a:latin typeface="Fira Code" panose="020F0502020204030204" pitchFamily="49" charset="0"/>
              </a:rPr>
              <a:t>      </a:t>
            </a:r>
            <a:r>
              <a:rPr lang="en-IN" b="0" dirty="0">
                <a:solidFill>
                  <a:srgbClr val="CDF861"/>
                </a:solidFill>
                <a:effectLst/>
                <a:latin typeface="Fira Code" panose="020F0502020204030204" pitchFamily="49" charset="0"/>
              </a:rPr>
              <a:t>resolve</a:t>
            </a:r>
            <a:r>
              <a:rPr lang="en-IN" b="0" dirty="0">
                <a:solidFill>
                  <a:srgbClr val="86897A"/>
                </a:solidFill>
                <a:effectLst/>
                <a:latin typeface="Fira Code" panose="020F0502020204030204" pitchFamily="49" charset="0"/>
              </a:rPr>
              <a:t>(</a:t>
            </a:r>
            <a:r>
              <a:rPr lang="en-IN" b="0" dirty="0">
                <a:solidFill>
                  <a:srgbClr val="B3E8B4"/>
                </a:solidFill>
                <a:effectLst/>
                <a:latin typeface="Fira Code" panose="020F0502020204030204" pitchFamily="49" charset="0"/>
              </a:rPr>
              <a:t>'</a:t>
            </a:r>
            <a:r>
              <a:rPr lang="en-IN" b="0" dirty="0">
                <a:solidFill>
                  <a:srgbClr val="BFD084"/>
                </a:solidFill>
                <a:effectLst/>
                <a:latin typeface="Fira Code" panose="020F0502020204030204" pitchFamily="49" charset="0"/>
              </a:rPr>
              <a:t>This is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person</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FD084"/>
                </a:solidFill>
                <a:effectLst/>
                <a:latin typeface="Fira Code" panose="020F0502020204030204" pitchFamily="49" charset="0"/>
              </a:rPr>
              <a:t>’s bio.</a:t>
            </a:r>
            <a:r>
              <a:rPr lang="en-IN" b="0" dirty="0">
                <a:solidFill>
                  <a:srgbClr val="B3E8B4"/>
                </a:solidFill>
                <a:effectLst/>
                <a:latin typeface="Fira Code" panose="020F0502020204030204" pitchFamily="49" charset="0"/>
              </a:rPr>
              <a:t>'</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a:t>
            </a:r>
          </a:p>
          <a:p>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delay</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a:t>
            </a:r>
          </a:p>
          <a:p>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br>
              <a:rPr lang="en-IN" b="0" dirty="0">
                <a:solidFill>
                  <a:srgbClr val="BBBBBB"/>
                </a:solidFill>
                <a:effectLst/>
                <a:latin typeface="Fira Code" panose="020F0502020204030204" pitchFamily="49" charset="0"/>
              </a:rPr>
            </a:br>
            <a:endParaRPr lang="en-IN" b="0" dirty="0">
              <a:solidFill>
                <a:srgbClr val="BBBBBB"/>
              </a:solidFill>
              <a:effectLst/>
              <a:latin typeface="Fira Code" panose="020F0502020204030204" pitchFamily="49" charset="0"/>
            </a:endParaRPr>
          </a:p>
        </p:txBody>
      </p:sp>
    </p:spTree>
    <p:extLst>
      <p:ext uri="{BB962C8B-B14F-4D97-AF65-F5344CB8AC3E}">
        <p14:creationId xmlns:p14="http://schemas.microsoft.com/office/powerpoint/2010/main" val="3009202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6191</TotalTime>
  <Words>4621</Words>
  <Application>Microsoft Office PowerPoint</Application>
  <PresentationFormat>Widescreen</PresentationFormat>
  <Paragraphs>476</Paragraphs>
  <Slides>25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Arial</vt:lpstr>
      <vt:lpstr>Arial</vt:lpstr>
      <vt:lpstr>Calibri</vt:lpstr>
      <vt:lpstr>Cambria</vt:lpstr>
      <vt:lpstr>Consolas</vt:lpstr>
      <vt:lpstr>Fira Code</vt:lpstr>
      <vt:lpstr>Garamond</vt:lpstr>
      <vt:lpstr>Optimistic Display</vt:lpstr>
      <vt:lpstr>Optimistic Text</vt:lpstr>
      <vt:lpstr>Segoe UI</vt:lpstr>
      <vt:lpstr>Source Code Pro</vt:lpstr>
      <vt:lpstr>Verdana</vt:lpstr>
      <vt:lpstr>Office Theme</vt:lpstr>
      <vt:lpstr>PowerPoint Presentation</vt:lpstr>
      <vt:lpstr>PowerPoint Presentation</vt:lpstr>
      <vt:lpstr>What’s a Hook? Our new example starts by importing the useState Hook from React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useEffect Hook lets you perform side effects in function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230</cp:revision>
  <dcterms:created xsi:type="dcterms:W3CDTF">2020-12-02T06:26:25Z</dcterms:created>
  <dcterms:modified xsi:type="dcterms:W3CDTF">2026-10-08T11:06:48Z</dcterms:modified>
</cp:coreProperties>
</file>