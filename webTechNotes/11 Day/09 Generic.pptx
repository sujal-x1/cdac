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CAA31-85D4-4434-4C03-1F2ED28988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9F829E-5EF1-1A63-217F-67A1D93D2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5A781-96FD-217E-636E-434B870E7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D7B02-617F-42E6-9C33-0CD910CCA72C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B5065-B7EB-ECE8-BAFC-C86D6B519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2036F-2973-23BF-0536-AE41668BB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8679-D1F6-4062-B809-F19A8D355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155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AE9C6-976C-6043-2530-60BF3E66F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C1549-81DC-B5C3-0F8A-FD8AAA299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59BDB-C806-BCE2-C810-C2243F63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D7B02-617F-42E6-9C33-0CD910CCA72C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73FC7-C522-6FFD-207F-7E1703785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47ECC-C544-4AAE-FB27-B17F46D29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8679-D1F6-4062-B809-F19A8D355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09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6F6BE-99E8-5B09-3B35-755A314CE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EF640-CA3A-997F-D84A-AA8C30BA0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43942-98ED-7319-7439-DA573F57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D7B02-617F-42E6-9C33-0CD910CCA72C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A6805-8968-7ECC-E52E-5FFA15B6C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9EBE9-B243-DA4C-4805-D872758A6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8679-D1F6-4062-B809-F19A8D355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72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8CB4-3E6A-981D-D104-28574106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2943D-6E9F-0F79-BCAF-7DD7079465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FBC702-43C0-C805-E55F-17A555A32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DBF26-21FD-3FE7-D270-C1F50CE0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D7B02-617F-42E6-9C33-0CD910CCA72C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CDFB4C-5C52-6048-1D42-9FF2EA2CB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A58D0-3CB2-47DA-862D-526BC5BFB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8679-D1F6-4062-B809-F19A8D355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065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D355B-D502-4B36-9422-B23A87691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FBB34-AF67-DC29-D71E-775A7E052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34AB5-9AC2-E837-82AD-1EE48E7455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C07068-61F7-2145-16E2-B6319C36BB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F3F99E-49A6-DF3D-19C7-55CCC2EC14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9DAA3B-4FFA-9011-450E-8D9EA1730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D7B02-617F-42E6-9C33-0CD910CCA72C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4FF5D-0ADD-C90F-F00A-63EBCE46A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33057A-F852-705E-1D37-23C2FCE3B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8679-D1F6-4062-B809-F19A8D355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024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A2C4E-E938-8404-E06A-4B7C08D10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C280C8-255A-5340-4C04-A2375DB5E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D7B02-617F-42E6-9C33-0CD910CCA72C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9E8AC2-DE75-719E-CDBE-67B432E67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9228D5-68FF-E81B-9B89-9F3AA75C1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8679-D1F6-4062-B809-F19A8D355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798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8A66A2-6E1B-BB86-6B01-3F0890707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D7B02-617F-42E6-9C33-0CD910CCA72C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8B94B-DD69-32F5-06A2-F8E1DE11D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9CD40-8B90-36A7-E1C5-4804EC8BD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8679-D1F6-4062-B809-F19A8D355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41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BF9CE-B404-794C-ABE4-DB34C69AA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7167E-1B59-968B-AA6E-1D77AC87B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456E6B-E699-D8D6-CCE8-B3E0DFF44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77DEB-0590-73A5-5735-B8EE05302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D7B02-617F-42E6-9C33-0CD910CCA72C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3FF81-E0DA-A29B-7C66-BC0132B73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62A45-D132-E4CC-8B62-89CDEC532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8679-D1F6-4062-B809-F19A8D355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65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AD575-BE62-BCBD-CE34-AFECA894F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CBA80F-6A20-CBC4-5F70-95B3733AD7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26CCB-049C-1136-7BAF-DEBE2FC19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FA6D3-A594-43D8-B57D-12B9C0054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D7B02-617F-42E6-9C33-0CD910CCA72C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35698-DE19-70A5-54DC-ECA716CA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13F29-6D47-9F9E-10D6-6B6E105EB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8679-D1F6-4062-B809-F19A8D355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088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E786E-EB5B-BACC-C749-8B467B9C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1857F-1C0C-57C4-407E-91C3C50BF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A6B2E-51FD-12C8-F0C8-F6851A981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D7B02-617F-42E6-9C33-0CD910CCA72C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F4A21-45BD-02E0-1706-8C3BFB801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20227-F70B-24AB-FF51-8FD204653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8679-D1F6-4062-B809-F19A8D355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037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4982E-B53D-BBB2-40FD-CFFFE5523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B117AA-2AAE-D6F4-AD4C-6E40D351D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B1857-1EA6-6760-BE57-4FA2F2A0E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D7B02-617F-42E6-9C33-0CD910CCA72C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176B5-7056-507E-6CF6-C30938E6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25AD1-D9E9-6A80-D88F-E1A61FD75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F8679-D1F6-4062-B809-F19A8D355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512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97A22D-99F6-E82B-DBE4-4A5B15953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AC299-A216-E70F-742D-66FECEC85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810EE-A152-7B02-2A41-FBD20981AA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D7B02-617F-42E6-9C33-0CD910CCA72C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5A123-E49A-2ED9-9DA0-ADF69C0E75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BDD8D-2C82-43F9-55FD-636D2F4212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F8679-D1F6-4062-B809-F19A8D355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839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ypescripttutorial.net/typescript-tutorial/typescript-string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F607EB-797E-E38A-3892-9DC7728EA430}"/>
              </a:ext>
            </a:extLst>
          </p:cNvPr>
          <p:cNvSpPr txBox="1"/>
          <p:nvPr/>
        </p:nvSpPr>
        <p:spPr>
          <a:xfrm>
            <a:off x="2929467" y="-3499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en-IN" sz="2000" b="1" i="0" dirty="0">
                <a:solidFill>
                  <a:srgbClr val="212529"/>
                </a:solidFill>
                <a:effectLst/>
                <a:latin typeface="-apple-system"/>
              </a:rPr>
              <a:t>Introduction</a:t>
            </a:r>
            <a:r>
              <a:rPr lang="en-IN" b="1" i="0" dirty="0">
                <a:solidFill>
                  <a:srgbClr val="212529"/>
                </a:solidFill>
                <a:effectLst/>
                <a:latin typeface="-apple-system"/>
              </a:rPr>
              <a:t> to TypeScript Generics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29AE76-3848-7B94-365F-A0ECDF8A7DFB}"/>
              </a:ext>
            </a:extLst>
          </p:cNvPr>
          <p:cNvSpPr txBox="1"/>
          <p:nvPr/>
        </p:nvSpPr>
        <p:spPr>
          <a:xfrm>
            <a:off x="313266" y="403966"/>
            <a:ext cx="10922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TypeScript generics allow you to write reusable and generalized forms of functions, </a:t>
            </a:r>
            <a:r>
              <a:rPr lang="en-IN" b="0" i="0" dirty="0">
                <a:solidFill>
                  <a:srgbClr val="00369A"/>
                </a:solidFill>
                <a:effectLst/>
                <a:latin typeface="-apple-system"/>
              </a:rPr>
              <a:t>classes</a:t>
            </a: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, and </a:t>
            </a:r>
            <a:r>
              <a:rPr lang="en-IN" b="0" i="0" dirty="0">
                <a:solidFill>
                  <a:srgbClr val="00369A"/>
                </a:solidFill>
                <a:effectLst/>
                <a:latin typeface="-apple-system"/>
              </a:rPr>
              <a:t>interfaces</a:t>
            </a: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.T</a:t>
            </a:r>
            <a:endParaRPr lang="en-IN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1A3056-EE44-32B2-E892-4BD701237BC5}"/>
              </a:ext>
            </a:extLst>
          </p:cNvPr>
          <p:cNvSpPr txBox="1"/>
          <p:nvPr/>
        </p:nvSpPr>
        <p:spPr>
          <a:xfrm>
            <a:off x="220133" y="949183"/>
            <a:ext cx="5232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Suppose you need to develop a function that returns a random number in an </a:t>
            </a:r>
            <a:r>
              <a:rPr lang="en-IN" sz="1600" b="0" i="0" dirty="0">
                <a:solidFill>
                  <a:srgbClr val="00369A"/>
                </a:solidFill>
                <a:effectLst/>
                <a:latin typeface="-apple-system"/>
              </a:rPr>
              <a:t>array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 of </a:t>
            </a:r>
            <a:r>
              <a:rPr lang="en-IN" sz="1600" b="0" i="0" dirty="0">
                <a:solidFill>
                  <a:srgbClr val="00369A"/>
                </a:solidFill>
                <a:effectLst/>
                <a:latin typeface="-apple-system"/>
              </a:rPr>
              <a:t>numbers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.</a:t>
            </a:r>
          </a:p>
          <a:p>
            <a:pPr indent="0" algn="l">
              <a:buNone/>
            </a:pPr>
            <a:endParaRPr lang="en-IN" sz="16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indent="0" algn="l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The following </a:t>
            </a:r>
            <a:r>
              <a:rPr lang="en-IN" sz="14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getRandomNumberElement</a:t>
            </a:r>
            <a:r>
              <a:rPr lang="en-IN" sz="14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()</a:t>
            </a:r>
            <a:r>
              <a:rPr lang="en-IN" sz="1400" b="0" i="0" dirty="0">
                <a:solidFill>
                  <a:srgbClr val="212529"/>
                </a:solidFill>
                <a:effectLst/>
                <a:latin typeface="-apple-system"/>
              </a:rPr>
              <a:t> 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function takes an array of numbers as its parameter and returns a random element from the array: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44152E-0325-99ED-4DCB-BC1BE435B709}"/>
              </a:ext>
            </a:extLst>
          </p:cNvPr>
          <p:cNvSpPr txBox="1"/>
          <p:nvPr/>
        </p:nvSpPr>
        <p:spPr>
          <a:xfrm>
            <a:off x="148167" y="2598003"/>
            <a:ext cx="568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dirty="0">
                <a:solidFill>
                  <a:srgbClr val="212529"/>
                </a:solidFill>
                <a:effectLst/>
                <a:latin typeface="-apple-system"/>
              </a:rPr>
              <a:t>To find the random index of an array, we use the </a:t>
            </a:r>
            <a:r>
              <a:rPr lang="en-IN" sz="16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Math.random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()</a:t>
            </a:r>
            <a:r>
              <a:rPr lang="en-IN" sz="1200" b="0" i="0" dirty="0">
                <a:solidFill>
                  <a:srgbClr val="212529"/>
                </a:solidFill>
                <a:effectLst/>
                <a:latin typeface="-apple-system"/>
              </a:rPr>
              <a:t> </a:t>
            </a:r>
            <a:r>
              <a:rPr lang="en-IN" sz="1400" b="0" i="0" dirty="0">
                <a:solidFill>
                  <a:srgbClr val="212529"/>
                </a:solidFill>
                <a:effectLst/>
                <a:latin typeface="-apple-system"/>
              </a:rPr>
              <a:t>that returns a random number between 0 and 1, multiplies by the length of the array, and applies the </a:t>
            </a:r>
            <a:r>
              <a:rPr lang="en-IN" sz="16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Math.floor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()</a:t>
            </a:r>
            <a:r>
              <a:rPr lang="en-IN" sz="1200" b="0" i="0" dirty="0">
                <a:solidFill>
                  <a:srgbClr val="212529"/>
                </a:solidFill>
                <a:effectLst/>
                <a:latin typeface="-apple-system"/>
              </a:rPr>
              <a:t> </a:t>
            </a:r>
            <a:r>
              <a:rPr lang="en-IN" sz="1400" b="0" i="0" dirty="0">
                <a:solidFill>
                  <a:srgbClr val="212529"/>
                </a:solidFill>
                <a:effectLst/>
                <a:latin typeface="-apple-system"/>
              </a:rPr>
              <a:t>on the result.</a:t>
            </a:r>
            <a:endParaRPr lang="en-IN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DCCAF1-E837-FC20-37EA-093EF6D71C72}"/>
              </a:ext>
            </a:extLst>
          </p:cNvPr>
          <p:cNvSpPr txBox="1"/>
          <p:nvPr/>
        </p:nvSpPr>
        <p:spPr>
          <a:xfrm>
            <a:off x="211666" y="3697217"/>
            <a:ext cx="54948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numbers = [</a:t>
            </a:r>
            <a:r>
              <a:rPr lang="en-IN" b="0" i="0" dirty="0">
                <a:solidFill>
                  <a:srgbClr val="986801"/>
                </a:solidFill>
                <a:effectLst/>
                <a:latin typeface="ui-monospace"/>
              </a:rPr>
              <a:t>1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b="0" i="0" dirty="0">
                <a:solidFill>
                  <a:srgbClr val="986801"/>
                </a:solidFill>
                <a:effectLst/>
                <a:latin typeface="ui-monospace"/>
              </a:rPr>
              <a:t>5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b="0" i="0" dirty="0">
                <a:solidFill>
                  <a:srgbClr val="986801"/>
                </a:solidFill>
                <a:effectLst/>
                <a:latin typeface="ui-monospace"/>
              </a:rPr>
              <a:t>7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b="0" i="0" dirty="0">
                <a:solidFill>
                  <a:srgbClr val="986801"/>
                </a:solidFill>
                <a:effectLst/>
                <a:latin typeface="ui-monospace"/>
              </a:rPr>
              <a:t>4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b="0" i="0" dirty="0">
                <a:solidFill>
                  <a:srgbClr val="986801"/>
                </a:solidFill>
                <a:effectLst/>
                <a:latin typeface="ui-monospace"/>
              </a:rPr>
              <a:t>2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b="0" i="0" dirty="0">
                <a:solidFill>
                  <a:srgbClr val="986801"/>
                </a:solidFill>
                <a:effectLst/>
                <a:latin typeface="ui-monospace"/>
              </a:rPr>
              <a:t>9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];</a:t>
            </a:r>
          </a:p>
          <a:p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b="0" i="0" dirty="0">
                <a:solidFill>
                  <a:srgbClr val="C18401"/>
                </a:solidFill>
                <a:effectLst/>
                <a:latin typeface="ui-monospace"/>
              </a:rPr>
              <a:t>console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.log(</a:t>
            </a:r>
            <a:r>
              <a:rPr lang="en-IN" b="0" i="0" dirty="0" err="1">
                <a:solidFill>
                  <a:srgbClr val="383A42"/>
                </a:solidFill>
                <a:effectLst/>
                <a:latin typeface="ui-monospace"/>
              </a:rPr>
              <a:t>getRandomNumberElement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(numbers));</a:t>
            </a:r>
            <a:endParaRPr lang="en-IN" sz="3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DC1E13-9F4B-ABA8-8C40-7568BB467F41}"/>
              </a:ext>
            </a:extLst>
          </p:cNvPr>
          <p:cNvSpPr txBox="1"/>
          <p:nvPr/>
        </p:nvSpPr>
        <p:spPr>
          <a:xfrm>
            <a:off x="148167" y="4471316"/>
            <a:ext cx="6223000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function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b="0" i="0" dirty="0" err="1">
                <a:solidFill>
                  <a:srgbClr val="4078F2"/>
                </a:solidFill>
                <a:effectLst/>
                <a:latin typeface="ui-monospace"/>
              </a:rPr>
              <a:t>getRandomNumberElement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(items: </a:t>
            </a:r>
            <a:r>
              <a:rPr lang="en-IN" b="0" i="0" dirty="0">
                <a:solidFill>
                  <a:srgbClr val="C18401"/>
                </a:solidFill>
                <a:effectLst/>
                <a:latin typeface="ui-monospace"/>
              </a:rPr>
              <a:t>number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[]): </a:t>
            </a:r>
            <a:r>
              <a:rPr lang="en-IN" b="0" i="0" dirty="0">
                <a:solidFill>
                  <a:srgbClr val="4078F2"/>
                </a:solidFill>
                <a:effectLst/>
                <a:latin typeface="ui-monospace"/>
              </a:rPr>
              <a:t>number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</a:p>
          <a:p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{ </a:t>
            </a:r>
          </a:p>
          <a:p>
            <a:endParaRPr lang="en-IN" dirty="0">
              <a:solidFill>
                <a:srgbClr val="383A42"/>
              </a:solidFill>
              <a:latin typeface="ui-monospace"/>
            </a:endParaRPr>
          </a:p>
          <a:p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b="0" i="0" dirty="0" err="1">
                <a:solidFill>
                  <a:srgbClr val="383A42"/>
                </a:solidFill>
                <a:effectLst/>
                <a:latin typeface="ui-monospace"/>
              </a:rPr>
              <a:t>randomIndex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= </a:t>
            </a:r>
            <a:r>
              <a:rPr lang="en-IN" b="0" i="0" dirty="0" err="1">
                <a:solidFill>
                  <a:srgbClr val="C18401"/>
                </a:solidFill>
                <a:effectLst/>
                <a:latin typeface="ui-monospace"/>
              </a:rPr>
              <a:t>Math</a:t>
            </a:r>
            <a:r>
              <a:rPr lang="en-IN" b="0" i="0" dirty="0" err="1">
                <a:solidFill>
                  <a:srgbClr val="383A42"/>
                </a:solidFill>
                <a:effectLst/>
                <a:latin typeface="ui-monospace"/>
              </a:rPr>
              <a:t>.floor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(</a:t>
            </a:r>
            <a:r>
              <a:rPr lang="en-IN" b="0" i="0" dirty="0" err="1">
                <a:solidFill>
                  <a:srgbClr val="C18401"/>
                </a:solidFill>
                <a:effectLst/>
                <a:latin typeface="ui-monospace"/>
              </a:rPr>
              <a:t>Math</a:t>
            </a:r>
            <a:r>
              <a:rPr lang="en-IN" b="0" i="0" dirty="0" err="1">
                <a:solidFill>
                  <a:srgbClr val="383A42"/>
                </a:solidFill>
                <a:effectLst/>
                <a:latin typeface="ui-monospace"/>
              </a:rPr>
              <a:t>.random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() * </a:t>
            </a:r>
            <a:r>
              <a:rPr lang="en-IN" b="0" i="0" dirty="0" err="1">
                <a:solidFill>
                  <a:srgbClr val="383A42"/>
                </a:solidFill>
                <a:effectLst/>
                <a:latin typeface="ui-monospace"/>
              </a:rPr>
              <a:t>items.length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); </a:t>
            </a:r>
          </a:p>
          <a:p>
            <a:endParaRPr lang="en-IN" dirty="0">
              <a:solidFill>
                <a:srgbClr val="383A42"/>
              </a:solidFill>
              <a:latin typeface="ui-monospace"/>
            </a:endParaRPr>
          </a:p>
          <a:p>
            <a:endParaRPr lang="en-IN" b="0" i="0" dirty="0">
              <a:solidFill>
                <a:srgbClr val="383A42"/>
              </a:solidFill>
              <a:effectLst/>
              <a:latin typeface="ui-monospace"/>
            </a:endParaRPr>
          </a:p>
          <a:p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return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items[</a:t>
            </a:r>
            <a:r>
              <a:rPr lang="en-IN" b="0" i="0" dirty="0" err="1">
                <a:solidFill>
                  <a:srgbClr val="383A42"/>
                </a:solidFill>
                <a:effectLst/>
                <a:latin typeface="ui-monospace"/>
              </a:rPr>
              <a:t>randomIndex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]; </a:t>
            </a:r>
          </a:p>
          <a:p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}</a:t>
            </a:r>
            <a:endParaRPr lang="en-IN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F733AC-6BA6-8AAB-AFED-9410F912A6EB}"/>
              </a:ext>
            </a:extLst>
          </p:cNvPr>
          <p:cNvSpPr txBox="1"/>
          <p:nvPr/>
        </p:nvSpPr>
        <p:spPr>
          <a:xfrm>
            <a:off x="5977467" y="949183"/>
            <a:ext cx="6096000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Assuming that you need to get a random element from an array of </a:t>
            </a:r>
            <a:r>
              <a:rPr lang="en-IN" sz="1600" b="0" i="0" dirty="0">
                <a:solidFill>
                  <a:srgbClr val="00369A"/>
                </a:solidFill>
                <a:effectLst/>
                <a:latin typeface="-apple-system"/>
                <a:hlinkClick r:id="rId2"/>
              </a:rPr>
              <a:t>strings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. This time, you may come up with a new function:</a:t>
            </a:r>
            <a:endParaRPr lang="en-IN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CB919F-B3C4-C762-9CF7-C263810E0D99}"/>
              </a:ext>
            </a:extLst>
          </p:cNvPr>
          <p:cNvSpPr txBox="1"/>
          <p:nvPr/>
        </p:nvSpPr>
        <p:spPr>
          <a:xfrm>
            <a:off x="6096000" y="1740353"/>
            <a:ext cx="4673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b="0" i="0" dirty="0" err="1">
                <a:solidFill>
                  <a:srgbClr val="383A42"/>
                </a:solidFill>
                <a:effectLst/>
                <a:latin typeface="ui-monospace"/>
              </a:rPr>
              <a:t>colors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= [</a:t>
            </a:r>
            <a:r>
              <a:rPr lang="en-IN" b="0" i="0" dirty="0">
                <a:solidFill>
                  <a:srgbClr val="50A14F"/>
                </a:solidFill>
                <a:effectLst/>
                <a:latin typeface="ui-monospace"/>
              </a:rPr>
              <a:t>'red'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b="0" i="0" dirty="0">
                <a:solidFill>
                  <a:srgbClr val="50A14F"/>
                </a:solidFill>
                <a:effectLst/>
                <a:latin typeface="ui-monospace"/>
              </a:rPr>
              <a:t>'green'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b="0" i="0" dirty="0">
                <a:solidFill>
                  <a:srgbClr val="50A14F"/>
                </a:solidFill>
                <a:effectLst/>
                <a:latin typeface="ui-monospace"/>
              </a:rPr>
              <a:t>'blue’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];</a:t>
            </a:r>
          </a:p>
          <a:p>
            <a:endParaRPr lang="en-IN" dirty="0">
              <a:solidFill>
                <a:srgbClr val="383A42"/>
              </a:solidFill>
              <a:latin typeface="ui-monospace"/>
            </a:endParaRPr>
          </a:p>
          <a:p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b="0" i="0" dirty="0">
                <a:solidFill>
                  <a:srgbClr val="C18401"/>
                </a:solidFill>
                <a:effectLst/>
                <a:latin typeface="ui-monospace"/>
              </a:rPr>
              <a:t>console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.log(</a:t>
            </a:r>
            <a:r>
              <a:rPr lang="en-IN" b="0" i="0" dirty="0" err="1">
                <a:solidFill>
                  <a:srgbClr val="383A42"/>
                </a:solidFill>
                <a:effectLst/>
                <a:latin typeface="ui-monospace"/>
              </a:rPr>
              <a:t>getRandomStringElement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(</a:t>
            </a:r>
            <a:r>
              <a:rPr lang="en-IN" b="0" i="0" dirty="0" err="1">
                <a:solidFill>
                  <a:srgbClr val="383A42"/>
                </a:solidFill>
                <a:effectLst/>
                <a:latin typeface="ui-monospace"/>
              </a:rPr>
              <a:t>colors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));</a:t>
            </a:r>
            <a:endParaRPr lang="en-IN" sz="3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A928A8-7F8D-CE84-D22C-FE94756A56FE}"/>
              </a:ext>
            </a:extLst>
          </p:cNvPr>
          <p:cNvSpPr txBox="1"/>
          <p:nvPr/>
        </p:nvSpPr>
        <p:spPr>
          <a:xfrm>
            <a:off x="6409267" y="2567955"/>
            <a:ext cx="5782732" cy="264687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function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b="0" i="0" dirty="0" err="1">
                <a:solidFill>
                  <a:srgbClr val="4078F2"/>
                </a:solidFill>
                <a:effectLst/>
                <a:latin typeface="ui-monospace"/>
              </a:rPr>
              <a:t>getRandomStringElement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(items: </a:t>
            </a:r>
            <a:r>
              <a:rPr lang="en-IN" b="0" i="0" dirty="0">
                <a:solidFill>
                  <a:srgbClr val="C18401"/>
                </a:solidFill>
                <a:effectLst/>
                <a:latin typeface="ui-monospace"/>
              </a:rPr>
              <a:t>string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[]): </a:t>
            </a:r>
            <a:r>
              <a:rPr lang="en-IN" b="0" i="0" dirty="0">
                <a:solidFill>
                  <a:srgbClr val="4078F2"/>
                </a:solidFill>
                <a:effectLst/>
                <a:latin typeface="ui-monospace"/>
              </a:rPr>
              <a:t>string</a:t>
            </a:r>
          </a:p>
          <a:p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{ </a:t>
            </a:r>
          </a:p>
          <a:p>
            <a:endParaRPr lang="en-IN" b="0" i="0" dirty="0">
              <a:solidFill>
                <a:srgbClr val="383A42"/>
              </a:solidFill>
              <a:effectLst/>
              <a:latin typeface="ui-monospace"/>
            </a:endParaRPr>
          </a:p>
          <a:p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b="0" i="0" dirty="0" err="1">
                <a:solidFill>
                  <a:srgbClr val="383A42"/>
                </a:solidFill>
                <a:effectLst/>
                <a:latin typeface="ui-monospace"/>
              </a:rPr>
              <a:t>randomIndex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= </a:t>
            </a:r>
            <a:r>
              <a:rPr lang="en-IN" b="0" i="0" dirty="0" err="1">
                <a:solidFill>
                  <a:srgbClr val="C18401"/>
                </a:solidFill>
                <a:effectLst/>
                <a:latin typeface="ui-monospace"/>
              </a:rPr>
              <a:t>Math</a:t>
            </a:r>
            <a:r>
              <a:rPr lang="en-IN" b="0" i="0" dirty="0" err="1">
                <a:solidFill>
                  <a:srgbClr val="383A42"/>
                </a:solidFill>
                <a:effectLst/>
                <a:latin typeface="ui-monospace"/>
              </a:rPr>
              <a:t>.floor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(</a:t>
            </a:r>
            <a:r>
              <a:rPr lang="en-IN" b="0" i="0" dirty="0" err="1">
                <a:solidFill>
                  <a:srgbClr val="C18401"/>
                </a:solidFill>
                <a:effectLst/>
                <a:latin typeface="ui-monospace"/>
              </a:rPr>
              <a:t>Math</a:t>
            </a:r>
            <a:r>
              <a:rPr lang="en-IN" b="0" i="0" dirty="0" err="1">
                <a:solidFill>
                  <a:srgbClr val="383A42"/>
                </a:solidFill>
                <a:effectLst/>
                <a:latin typeface="ui-monospace"/>
              </a:rPr>
              <a:t>.random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() * </a:t>
            </a:r>
            <a:r>
              <a:rPr lang="en-IN" b="0" i="0" dirty="0" err="1">
                <a:solidFill>
                  <a:srgbClr val="383A42"/>
                </a:solidFill>
                <a:effectLst/>
                <a:latin typeface="ui-monospace"/>
              </a:rPr>
              <a:t>items.length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); </a:t>
            </a:r>
          </a:p>
          <a:p>
            <a:endParaRPr lang="en-IN" dirty="0">
              <a:solidFill>
                <a:srgbClr val="383A42"/>
              </a:solidFill>
              <a:latin typeface="ui-monospace"/>
            </a:endParaRPr>
          </a:p>
          <a:p>
            <a:endParaRPr lang="en-IN" b="0" i="0" dirty="0">
              <a:solidFill>
                <a:srgbClr val="383A42"/>
              </a:solidFill>
              <a:effectLst/>
              <a:latin typeface="ui-monospace"/>
            </a:endParaRPr>
          </a:p>
          <a:p>
            <a:endParaRPr lang="en-IN" dirty="0">
              <a:solidFill>
                <a:srgbClr val="383A42"/>
              </a:solidFill>
              <a:latin typeface="ui-monospace"/>
            </a:endParaRPr>
          </a:p>
          <a:p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return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items[</a:t>
            </a:r>
            <a:r>
              <a:rPr lang="en-IN" b="0" i="0" dirty="0" err="1">
                <a:solidFill>
                  <a:srgbClr val="383A42"/>
                </a:solidFill>
                <a:effectLst/>
                <a:latin typeface="ui-monospace"/>
              </a:rPr>
              <a:t>randomIndex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]; 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}</a:t>
            </a:r>
            <a:endParaRPr lang="en-IN" sz="3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5C48D3-7404-1D40-726E-F8356EFDC485}"/>
              </a:ext>
            </a:extLst>
          </p:cNvPr>
          <p:cNvSpPr txBox="1"/>
          <p:nvPr/>
        </p:nvSpPr>
        <p:spPr>
          <a:xfrm>
            <a:off x="6409267" y="5371667"/>
            <a:ext cx="566420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Later you may need to get a random element in an array of objects. Creating a new function every time you want to get a random element from a new array type is not scalable.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258310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BEA963-EDE5-C0AF-DA9C-06FE18C8A808}"/>
              </a:ext>
            </a:extLst>
          </p:cNvPr>
          <p:cNvSpPr txBox="1"/>
          <p:nvPr/>
        </p:nvSpPr>
        <p:spPr>
          <a:xfrm>
            <a:off x="177800" y="118534"/>
            <a:ext cx="11760200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>
              <a:buNone/>
            </a:pPr>
            <a:r>
              <a:rPr lang="en-IN" sz="2400" b="1" i="0" dirty="0">
                <a:solidFill>
                  <a:srgbClr val="212529"/>
                </a:solidFill>
                <a:effectLst/>
                <a:latin typeface="-apple-system"/>
              </a:rPr>
              <a:t>Using any type </a:t>
            </a:r>
          </a:p>
          <a:p>
            <a:pPr indent="0" algn="l">
              <a:buNone/>
            </a:pPr>
            <a:r>
              <a:rPr lang="en-IN" sz="2400" b="0" i="0" dirty="0">
                <a:solidFill>
                  <a:srgbClr val="212529"/>
                </a:solidFill>
                <a:effectLst/>
                <a:latin typeface="-apple-system"/>
              </a:rPr>
              <a:t>One option to address this issue is to set the type of the array argument as </a:t>
            </a:r>
            <a:r>
              <a:rPr lang="en-IN" sz="20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any[]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. </a:t>
            </a:r>
            <a:r>
              <a:rPr lang="en-IN" sz="2400" b="0" i="0" dirty="0">
                <a:solidFill>
                  <a:srgbClr val="212529"/>
                </a:solidFill>
                <a:effectLst/>
                <a:latin typeface="-apple-system"/>
              </a:rPr>
              <a:t>By doing this, you need to write one function that works with an array of </a:t>
            </a:r>
            <a:r>
              <a:rPr lang="en-IN" sz="20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any</a:t>
            </a:r>
            <a:r>
              <a:rPr lang="en-IN" sz="2400" b="0" i="0" dirty="0">
                <a:solidFill>
                  <a:srgbClr val="212529"/>
                </a:solidFill>
                <a:effectLst/>
                <a:latin typeface="-apple-system"/>
              </a:rPr>
              <a:t> type.</a:t>
            </a:r>
          </a:p>
          <a:p>
            <a:pPr indent="0" algn="l">
              <a:buNone/>
            </a:pPr>
            <a:endParaRPr lang="en-IN" sz="24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function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 err="1">
                <a:solidFill>
                  <a:srgbClr val="4078F2"/>
                </a:solidFill>
                <a:effectLst/>
                <a:latin typeface="ui-monospace"/>
              </a:rPr>
              <a:t>getRandomAnyElement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(items: </a:t>
            </a:r>
            <a:r>
              <a:rPr lang="en-IN" sz="2000" b="0" i="0" dirty="0">
                <a:solidFill>
                  <a:srgbClr val="C18401"/>
                </a:solidFill>
                <a:effectLst/>
                <a:latin typeface="ui-monospace"/>
              </a:rPr>
              <a:t>any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[]): </a:t>
            </a:r>
            <a:r>
              <a:rPr lang="en-IN" sz="2000" b="0" i="0" dirty="0">
                <a:solidFill>
                  <a:srgbClr val="4078F2"/>
                </a:solidFill>
                <a:effectLst/>
                <a:latin typeface="ui-monospace"/>
              </a:rPr>
              <a:t>any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{</a:t>
            </a: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   </a:t>
            </a: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randomIndex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= </a:t>
            </a:r>
            <a:r>
              <a:rPr lang="en-IN" sz="2000" b="0" i="0" dirty="0" err="1">
                <a:solidFill>
                  <a:srgbClr val="C18401"/>
                </a:solidFill>
                <a:effectLst/>
                <a:latin typeface="ui-monospace"/>
              </a:rPr>
              <a:t>Math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.floor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(</a:t>
            </a:r>
            <a:r>
              <a:rPr lang="en-IN" sz="2000" b="0" i="0" dirty="0" err="1">
                <a:solidFill>
                  <a:srgbClr val="C18401"/>
                </a:solidFill>
                <a:effectLst/>
                <a:latin typeface="ui-monospace"/>
              </a:rPr>
              <a:t>Math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.random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() * 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items.length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);</a:t>
            </a: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   </a:t>
            </a: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return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items[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randomIndex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];</a:t>
            </a:r>
          </a:p>
          <a:p>
            <a:pPr marL="0" marR="0" indent="0" algn="l">
              <a:buNone/>
            </a:pP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}</a:t>
            </a:r>
          </a:p>
          <a:p>
            <a:pPr marL="0" marR="0" indent="0" algn="l">
              <a:buNone/>
            </a:pPr>
            <a:endParaRPr lang="en-IN" sz="24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sz="2400" b="0" i="0" dirty="0">
                <a:solidFill>
                  <a:srgbClr val="212529"/>
                </a:solidFill>
                <a:effectLst/>
                <a:latin typeface="-apple-system"/>
              </a:rPr>
              <a:t>The </a:t>
            </a:r>
            <a:r>
              <a:rPr lang="en-IN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getRandomAnyElement</a:t>
            </a:r>
            <a:r>
              <a:rPr lang="en-IN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()</a:t>
            </a: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 </a:t>
            </a:r>
            <a:r>
              <a:rPr lang="en-IN" sz="2400" b="0" i="0" dirty="0">
                <a:solidFill>
                  <a:srgbClr val="212529"/>
                </a:solidFill>
                <a:effectLst/>
                <a:latin typeface="-apple-system"/>
              </a:rPr>
              <a:t>works with an array of the </a:t>
            </a:r>
            <a:r>
              <a:rPr lang="en-IN" sz="20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any</a:t>
            </a:r>
            <a:r>
              <a:rPr lang="en-IN" sz="2400" b="0" i="0" dirty="0">
                <a:solidFill>
                  <a:srgbClr val="212529"/>
                </a:solidFill>
                <a:effectLst/>
                <a:latin typeface="-apple-system"/>
              </a:rPr>
              <a:t> type including number, string, object, and so on:</a:t>
            </a:r>
          </a:p>
          <a:p>
            <a:pPr indent="0" algn="l">
              <a:buNone/>
            </a:pPr>
            <a:endParaRPr lang="en-IN" sz="24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numbers = [</a:t>
            </a:r>
            <a:r>
              <a:rPr lang="en-IN" sz="2000" b="0" i="0" dirty="0">
                <a:solidFill>
                  <a:srgbClr val="986801"/>
                </a:solidFill>
                <a:effectLst/>
                <a:latin typeface="ui-monospace"/>
              </a:rPr>
              <a:t>1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2000" b="0" i="0" dirty="0">
                <a:solidFill>
                  <a:srgbClr val="986801"/>
                </a:solidFill>
                <a:effectLst/>
                <a:latin typeface="ui-monospace"/>
              </a:rPr>
              <a:t>5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2000" b="0" i="0" dirty="0">
                <a:solidFill>
                  <a:srgbClr val="986801"/>
                </a:solidFill>
                <a:effectLst/>
                <a:latin typeface="ui-monospace"/>
              </a:rPr>
              <a:t>7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2000" b="0" i="0" dirty="0">
                <a:solidFill>
                  <a:srgbClr val="986801"/>
                </a:solidFill>
                <a:effectLst/>
                <a:latin typeface="ui-monospace"/>
              </a:rPr>
              <a:t>4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2000" b="0" i="0" dirty="0">
                <a:solidFill>
                  <a:srgbClr val="986801"/>
                </a:solidFill>
                <a:effectLst/>
                <a:latin typeface="ui-monospace"/>
              </a:rPr>
              <a:t>2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2000" b="0" i="0" dirty="0">
                <a:solidFill>
                  <a:srgbClr val="986801"/>
                </a:solidFill>
                <a:effectLst/>
                <a:latin typeface="ui-monospace"/>
              </a:rPr>
              <a:t>9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];</a:t>
            </a: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colors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= [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'red'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'green'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'blue'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];</a:t>
            </a:r>
          </a:p>
          <a:p>
            <a:pPr marL="0" marR="0" indent="0" algn="l" rtl="0">
              <a:buNone/>
            </a:pPr>
            <a:endParaRPr lang="en-IN" sz="2000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C18401"/>
                </a:solidFill>
                <a:effectLst/>
                <a:latin typeface="ui-monospace"/>
              </a:rPr>
              <a:t>console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.log(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getRandomAnyElement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(numbers));</a:t>
            </a:r>
          </a:p>
          <a:p>
            <a:pPr marL="0" marR="0" indent="0" algn="l">
              <a:buNone/>
            </a:pPr>
            <a:r>
              <a:rPr lang="en-IN" sz="2000" b="0" i="0" dirty="0">
                <a:solidFill>
                  <a:srgbClr val="C18401"/>
                </a:solidFill>
                <a:effectLst/>
                <a:latin typeface="ui-monospace"/>
              </a:rPr>
              <a:t>console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.log(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getRandomAnyElement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(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colors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));</a:t>
            </a:r>
          </a:p>
          <a:p>
            <a:pPr marL="0" marR="0" indent="0" algn="l">
              <a:buNone/>
            </a:pPr>
            <a:endParaRPr lang="en-IN" sz="20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This option works fine but has a drawback: it doesn’t allow you to enforce the type of the returned element. In other words, it isn’t type-safe.</a:t>
            </a:r>
          </a:p>
        </p:txBody>
      </p:sp>
    </p:spTree>
    <p:extLst>
      <p:ext uri="{BB962C8B-B14F-4D97-AF65-F5344CB8AC3E}">
        <p14:creationId xmlns:p14="http://schemas.microsoft.com/office/powerpoint/2010/main" val="3618680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4EAD00-35A1-4AD5-DF12-3063CA5D359B}"/>
              </a:ext>
            </a:extLst>
          </p:cNvPr>
          <p:cNvSpPr txBox="1"/>
          <p:nvPr/>
        </p:nvSpPr>
        <p:spPr>
          <a:xfrm>
            <a:off x="2933700" y="28003"/>
            <a:ext cx="6096000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en-IN" sz="2000" b="0" i="0" dirty="0">
                <a:solidFill>
                  <a:schemeClr val="tx1"/>
                </a:solidFill>
                <a:effectLst/>
                <a:latin typeface="+mn-lt"/>
              </a:rPr>
              <a:t>TypeScript generics </a:t>
            </a:r>
            <a:endParaRPr lang="en-IN" sz="2000" b="0" i="0" dirty="0">
              <a:solidFill>
                <a:srgbClr val="212529"/>
              </a:solidFill>
              <a:effectLst/>
              <a:latin typeface="-apple-syste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2B4A31-F902-E556-4E48-BC023B800CA4}"/>
              </a:ext>
            </a:extLst>
          </p:cNvPr>
          <p:cNvSpPr txBox="1"/>
          <p:nvPr/>
        </p:nvSpPr>
        <p:spPr>
          <a:xfrm>
            <a:off x="524933" y="511776"/>
            <a:ext cx="91778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The following shows a generic function that returns the random element from an array of type </a:t>
            </a:r>
            <a:r>
              <a:rPr lang="en-IN" sz="24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T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C825D-A1FB-4B85-55EF-A52D3C0DA969}"/>
              </a:ext>
            </a:extLst>
          </p:cNvPr>
          <p:cNvSpPr txBox="1"/>
          <p:nvPr/>
        </p:nvSpPr>
        <p:spPr>
          <a:xfrm>
            <a:off x="160866" y="1209811"/>
            <a:ext cx="5376333" cy="25545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function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 err="1">
                <a:solidFill>
                  <a:srgbClr val="4078F2"/>
                </a:solidFill>
                <a:effectLst/>
                <a:latin typeface="ui-monospace"/>
              </a:rPr>
              <a:t>getRandomElement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&lt;</a:t>
            </a:r>
            <a:r>
              <a:rPr lang="en-IN" sz="2000" b="0" i="0" dirty="0">
                <a:solidFill>
                  <a:srgbClr val="4078F2"/>
                </a:solidFill>
                <a:effectLst/>
                <a:latin typeface="ui-monospace"/>
              </a:rPr>
              <a:t>T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&gt;(items: T[]): </a:t>
            </a:r>
            <a:r>
              <a:rPr lang="en-IN" sz="2000" b="0" i="0" dirty="0">
                <a:solidFill>
                  <a:srgbClr val="4078F2"/>
                </a:solidFill>
                <a:effectLst/>
                <a:latin typeface="ui-monospace"/>
              </a:rPr>
              <a:t>T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{</a:t>
            </a:r>
          </a:p>
          <a:p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</a:p>
          <a:p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randomIndex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= </a:t>
            </a:r>
            <a:r>
              <a:rPr lang="en-IN" sz="2000" b="0" i="0" dirty="0" err="1">
                <a:solidFill>
                  <a:srgbClr val="C18401"/>
                </a:solidFill>
                <a:effectLst/>
                <a:latin typeface="ui-monospace"/>
              </a:rPr>
              <a:t>Math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.floor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(</a:t>
            </a:r>
            <a:r>
              <a:rPr lang="en-IN" sz="2000" b="0" i="0" dirty="0" err="1">
                <a:solidFill>
                  <a:srgbClr val="C18401"/>
                </a:solidFill>
                <a:effectLst/>
                <a:latin typeface="ui-monospace"/>
              </a:rPr>
              <a:t>Math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.random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() * 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items.length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); </a:t>
            </a:r>
          </a:p>
          <a:p>
            <a:endParaRPr lang="en-IN" sz="2000" dirty="0">
              <a:solidFill>
                <a:srgbClr val="383A42"/>
              </a:solidFill>
              <a:latin typeface="ui-monospace"/>
            </a:endParaRPr>
          </a:p>
          <a:p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return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items[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randomIndex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];</a:t>
            </a:r>
          </a:p>
          <a:p>
            <a:endParaRPr lang="en-IN" sz="2000" dirty="0">
              <a:solidFill>
                <a:srgbClr val="383A42"/>
              </a:solidFill>
              <a:latin typeface="ui-monospace"/>
            </a:endParaRPr>
          </a:p>
          <a:p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}</a:t>
            </a:r>
            <a:endParaRPr lang="en-IN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8B1F58-5341-4D1C-46AA-8838223439A3}"/>
              </a:ext>
            </a:extLst>
          </p:cNvPr>
          <p:cNvSpPr txBox="1"/>
          <p:nvPr/>
        </p:nvSpPr>
        <p:spPr>
          <a:xfrm>
            <a:off x="160865" y="3659716"/>
            <a:ext cx="1194646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This function uses type variable </a:t>
            </a:r>
            <a:r>
              <a:rPr lang="en-IN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T</a:t>
            </a: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. </a:t>
            </a:r>
          </a:p>
          <a:p>
            <a:pPr indent="0" algn="l">
              <a:buNone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The </a:t>
            </a:r>
            <a:r>
              <a:rPr lang="en-IN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T</a:t>
            </a: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 allows you to capture the type provided when calling the function. Additionally, the function uses the </a:t>
            </a:r>
            <a:r>
              <a:rPr lang="en-IN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T</a:t>
            </a: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 type variable as its return type.</a:t>
            </a:r>
          </a:p>
          <a:p>
            <a:pPr indent="0" algn="l">
              <a:buNone/>
            </a:pPr>
            <a:endParaRPr lang="en-IN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indent="0" algn="l">
              <a:buNone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This </a:t>
            </a:r>
            <a:r>
              <a:rPr lang="en-IN" sz="16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getRandomElement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()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 </a:t>
            </a: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function is generic because it can work with any data type including string, number, object,…</a:t>
            </a:r>
          </a:p>
          <a:p>
            <a:pPr indent="0" algn="l">
              <a:buNone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By convention, we use the letter </a:t>
            </a:r>
            <a:r>
              <a:rPr lang="en-IN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T</a:t>
            </a: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 as the type variable. However, you can freely use other letters such as </a:t>
            </a:r>
            <a:r>
              <a:rPr lang="en-IN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A</a:t>
            </a: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, </a:t>
            </a:r>
            <a:r>
              <a:rPr lang="en-IN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B</a:t>
            </a: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 </a:t>
            </a:r>
            <a:r>
              <a:rPr lang="en-IN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C</a:t>
            </a: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, 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3D098E-CD16-0564-84B2-31EEF7A9A366}"/>
              </a:ext>
            </a:extLst>
          </p:cNvPr>
          <p:cNvSpPr txBox="1"/>
          <p:nvPr/>
        </p:nvSpPr>
        <p:spPr>
          <a:xfrm>
            <a:off x="5604933" y="1209811"/>
            <a:ext cx="6096000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numbers = [</a:t>
            </a:r>
            <a:r>
              <a:rPr lang="en-IN" b="0" i="0" dirty="0">
                <a:solidFill>
                  <a:srgbClr val="986801"/>
                </a:solidFill>
                <a:effectLst/>
                <a:latin typeface="ui-monospace"/>
              </a:rPr>
              <a:t>1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b="0" i="0" dirty="0">
                <a:solidFill>
                  <a:srgbClr val="986801"/>
                </a:solidFill>
                <a:effectLst/>
                <a:latin typeface="ui-monospace"/>
              </a:rPr>
              <a:t>5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b="0" i="0" dirty="0">
                <a:solidFill>
                  <a:srgbClr val="986801"/>
                </a:solidFill>
                <a:effectLst/>
                <a:latin typeface="ui-monospace"/>
              </a:rPr>
              <a:t>7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b="0" i="0" dirty="0">
                <a:solidFill>
                  <a:srgbClr val="986801"/>
                </a:solidFill>
                <a:effectLst/>
                <a:latin typeface="ui-monospace"/>
              </a:rPr>
              <a:t>4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b="0" i="0" dirty="0">
                <a:solidFill>
                  <a:srgbClr val="986801"/>
                </a:solidFill>
                <a:effectLst/>
                <a:latin typeface="ui-monospace"/>
              </a:rPr>
              <a:t>2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b="0" i="0" dirty="0">
                <a:solidFill>
                  <a:srgbClr val="986801"/>
                </a:solidFill>
                <a:effectLst/>
                <a:latin typeface="ui-monospace"/>
              </a:rPr>
              <a:t>9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]; </a:t>
            </a:r>
          </a:p>
          <a:p>
            <a:endParaRPr lang="en-IN" b="0" i="0" dirty="0">
              <a:solidFill>
                <a:srgbClr val="A626A4"/>
              </a:solidFill>
              <a:effectLst/>
              <a:latin typeface="ui-monospace"/>
            </a:endParaRPr>
          </a:p>
          <a:p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b="0" i="0" dirty="0" err="1">
                <a:solidFill>
                  <a:srgbClr val="383A42"/>
                </a:solidFill>
                <a:effectLst/>
                <a:latin typeface="ui-monospace"/>
              </a:rPr>
              <a:t>randomEle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= </a:t>
            </a:r>
            <a:r>
              <a:rPr lang="en-IN" b="0" i="0" dirty="0" err="1">
                <a:solidFill>
                  <a:srgbClr val="383A42"/>
                </a:solidFill>
                <a:effectLst/>
                <a:latin typeface="ui-monospace"/>
              </a:rPr>
              <a:t>getRandomElement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&lt;</a:t>
            </a:r>
            <a:r>
              <a:rPr lang="en-IN" b="0" i="0" dirty="0">
                <a:solidFill>
                  <a:srgbClr val="C18401"/>
                </a:solidFill>
                <a:effectLst/>
                <a:latin typeface="ui-monospace"/>
              </a:rPr>
              <a:t>number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&gt;(numbers); </a:t>
            </a:r>
          </a:p>
          <a:p>
            <a:endParaRPr lang="en-IN" dirty="0">
              <a:solidFill>
                <a:srgbClr val="383A42"/>
              </a:solidFill>
              <a:latin typeface="ui-monospace"/>
            </a:endParaRPr>
          </a:p>
          <a:p>
            <a:r>
              <a:rPr lang="en-IN" b="0" i="0" dirty="0">
                <a:solidFill>
                  <a:srgbClr val="C18401"/>
                </a:solidFill>
                <a:effectLst/>
                <a:latin typeface="ui-monospace"/>
              </a:rPr>
              <a:t>console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.log(</a:t>
            </a:r>
            <a:r>
              <a:rPr lang="en-IN" b="0" i="0" dirty="0" err="1">
                <a:solidFill>
                  <a:srgbClr val="383A42"/>
                </a:solidFill>
                <a:effectLst/>
                <a:latin typeface="ui-monospace"/>
              </a:rPr>
              <a:t>randomEle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);</a:t>
            </a:r>
            <a:endParaRPr lang="en-IN" sz="3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C109D9-4630-7C16-D179-A6A55CF6BDE3}"/>
              </a:ext>
            </a:extLst>
          </p:cNvPr>
          <p:cNvSpPr txBox="1"/>
          <p:nvPr/>
        </p:nvSpPr>
        <p:spPr>
          <a:xfrm>
            <a:off x="0" y="5414042"/>
            <a:ext cx="11607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In practice, you’ll use </a:t>
            </a:r>
            <a:r>
              <a:rPr lang="en-IN" sz="1600" b="0" i="0" dirty="0">
                <a:solidFill>
                  <a:srgbClr val="00369A"/>
                </a:solidFill>
                <a:effectLst/>
                <a:latin typeface="-apple-system"/>
              </a:rPr>
              <a:t>type inference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 for the argument. It means that you let the TypeScript compiler set the value of 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T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 automatically based on the type of argument that you pass into, like this:</a:t>
            </a:r>
          </a:p>
          <a:p>
            <a:pPr lvl="8"/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numbers = [</a:t>
            </a:r>
            <a:r>
              <a:rPr lang="en-IN" sz="1600" b="0" i="0" dirty="0">
                <a:solidFill>
                  <a:srgbClr val="986801"/>
                </a:solidFill>
                <a:effectLst/>
                <a:latin typeface="ui-monospace"/>
              </a:rPr>
              <a:t>1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1600" b="0" i="0" dirty="0">
                <a:solidFill>
                  <a:srgbClr val="986801"/>
                </a:solidFill>
                <a:effectLst/>
                <a:latin typeface="ui-monospace"/>
              </a:rPr>
              <a:t>5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1600" b="0" i="0" dirty="0">
                <a:solidFill>
                  <a:srgbClr val="986801"/>
                </a:solidFill>
                <a:effectLst/>
                <a:latin typeface="ui-monospace"/>
              </a:rPr>
              <a:t>7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1600" b="0" i="0" dirty="0">
                <a:solidFill>
                  <a:srgbClr val="986801"/>
                </a:solidFill>
                <a:effectLst/>
                <a:latin typeface="ui-monospace"/>
              </a:rPr>
              <a:t>4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1600" b="0" i="0" dirty="0">
                <a:solidFill>
                  <a:srgbClr val="986801"/>
                </a:solidFill>
                <a:effectLst/>
                <a:latin typeface="ui-monospace"/>
              </a:rPr>
              <a:t>2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1600" b="0" i="0" dirty="0">
                <a:solidFill>
                  <a:srgbClr val="986801"/>
                </a:solidFill>
                <a:effectLst/>
                <a:latin typeface="ui-monospace"/>
              </a:rPr>
              <a:t>9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];</a:t>
            </a:r>
          </a:p>
          <a:p>
            <a:pPr lvl="8"/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 err="1">
                <a:solidFill>
                  <a:srgbClr val="383A42"/>
                </a:solidFill>
                <a:effectLst/>
                <a:latin typeface="ui-monospace"/>
              </a:rPr>
              <a:t>randomEle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= </a:t>
            </a:r>
            <a:r>
              <a:rPr lang="en-IN" sz="1600" b="0" i="0" dirty="0" err="1">
                <a:solidFill>
                  <a:srgbClr val="383A42"/>
                </a:solidFill>
                <a:effectLst/>
                <a:latin typeface="ui-monospace"/>
              </a:rPr>
              <a:t>getRandomElement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(numbers); </a:t>
            </a:r>
          </a:p>
          <a:p>
            <a:pPr lvl="8"/>
            <a:r>
              <a:rPr lang="en-IN" sz="1600" b="0" i="0" dirty="0">
                <a:solidFill>
                  <a:srgbClr val="C18401"/>
                </a:solidFill>
                <a:effectLst/>
                <a:latin typeface="ui-monospace"/>
              </a:rPr>
              <a:t>console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.log(</a:t>
            </a:r>
            <a:r>
              <a:rPr lang="en-IN" sz="1600" b="0" i="0" dirty="0" err="1">
                <a:solidFill>
                  <a:srgbClr val="383A42"/>
                </a:solidFill>
                <a:effectLst/>
                <a:latin typeface="ui-monospace"/>
              </a:rPr>
              <a:t>randomEle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);</a:t>
            </a:r>
            <a:endParaRPr lang="en-IN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53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79EDEA-FB66-74AA-0804-F8890BCE0930}"/>
              </a:ext>
            </a:extLst>
          </p:cNvPr>
          <p:cNvSpPr txBox="1"/>
          <p:nvPr/>
        </p:nvSpPr>
        <p:spPr>
          <a:xfrm>
            <a:off x="3445934" y="0"/>
            <a:ext cx="5571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en-IN" b="0" i="0" dirty="0">
                <a:solidFill>
                  <a:srgbClr val="374151"/>
                </a:solidFill>
                <a:effectLst/>
                <a:latin typeface="-apple-system"/>
              </a:rPr>
              <a:t>TypeScript Generic Interfaces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A53B66-51D3-0AA7-C402-C09D9F4BD33C}"/>
              </a:ext>
            </a:extLst>
          </p:cNvPr>
          <p:cNvSpPr txBox="1"/>
          <p:nvPr/>
        </p:nvSpPr>
        <p:spPr>
          <a:xfrm>
            <a:off x="118534" y="369332"/>
            <a:ext cx="4588933" cy="48320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1) Generic interfaces that describe object properties </a:t>
            </a:r>
          </a:p>
          <a:p>
            <a:pPr indent="0" algn="l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The following shows how to declare a generic interface that consists of two members key and value with the corresponding types 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K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 and 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V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:</a:t>
            </a:r>
          </a:p>
          <a:p>
            <a:pPr indent="0" algn="l">
              <a:buNone/>
            </a:pPr>
            <a:endParaRPr lang="en-IN" sz="16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A626A4"/>
                </a:solidFill>
                <a:effectLst/>
                <a:latin typeface="ui-monospace"/>
              </a:rPr>
              <a:t>interface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Pair&lt;K, V&gt; {</a:t>
            </a: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   key: K;</a:t>
            </a: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   value: V;</a:t>
            </a:r>
          </a:p>
          <a:p>
            <a:pPr marL="0" marR="0" indent="0" algn="l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}</a:t>
            </a:r>
            <a:endParaRPr lang="en-IN" sz="16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Now, you can use the 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Pair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 interface to define any key/value pair with any type. For example:</a:t>
            </a: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month: Pair&lt;</a:t>
            </a:r>
            <a:r>
              <a:rPr lang="en-IN" sz="1400" b="0" i="0" dirty="0">
                <a:solidFill>
                  <a:srgbClr val="C18401"/>
                </a:solidFill>
                <a:effectLst/>
                <a:latin typeface="ui-monospace"/>
              </a:rPr>
              <a:t>string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1400" b="0" i="0" dirty="0">
                <a:solidFill>
                  <a:srgbClr val="C18401"/>
                </a:solidFill>
                <a:effectLst/>
                <a:latin typeface="ui-monospace"/>
              </a:rPr>
              <a:t>number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&gt; = {</a:t>
            </a: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   key: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'Jan'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,</a:t>
            </a: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   value: </a:t>
            </a:r>
            <a:r>
              <a:rPr lang="en-IN" sz="1400" b="0" i="0" dirty="0">
                <a:solidFill>
                  <a:srgbClr val="986801"/>
                </a:solidFill>
                <a:effectLst/>
                <a:latin typeface="ui-monospace"/>
              </a:rPr>
              <a:t>1</a:t>
            </a:r>
            <a:endParaRPr lang="en-IN" sz="1400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};</a:t>
            </a:r>
          </a:p>
          <a:p>
            <a:pPr marL="0" marR="0" indent="0" algn="l" rtl="0">
              <a:buNone/>
            </a:pPr>
            <a:endParaRPr lang="en-IN" sz="1400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>
              <a:buNone/>
            </a:pPr>
            <a:r>
              <a:rPr lang="en-IN" sz="1400" b="0" i="0" dirty="0">
                <a:solidFill>
                  <a:srgbClr val="C18401"/>
                </a:solidFill>
                <a:effectLst/>
                <a:latin typeface="ui-monospace"/>
              </a:rPr>
              <a:t>console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.log(month);</a:t>
            </a:r>
            <a:endParaRPr lang="en-IN" sz="16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In this example, we declare a month key-value pair whose key is a string and the value is a number.</a:t>
            </a:r>
            <a:endParaRPr lang="en-IN" sz="16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82482E-5DFA-4019-FD4E-A4C1261E88B6}"/>
              </a:ext>
            </a:extLst>
          </p:cNvPr>
          <p:cNvSpPr txBox="1"/>
          <p:nvPr/>
        </p:nvSpPr>
        <p:spPr>
          <a:xfrm>
            <a:off x="4783667" y="431836"/>
            <a:ext cx="7222065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2) Generic interfaces that describe methods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The following declares a generic interface with two methods add() and remove():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626A4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interface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Collection&lt;T&gt;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   add(o: T):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18401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void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   remove(o: T):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18401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void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}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383A42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And this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A1039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List&lt;T&gt;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 generic class implements the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A1039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Collection&lt;T&gt;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 generic interface: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626A4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class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List&lt;T&gt;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626A4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implements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Collection&lt;T&gt;{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  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626A4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private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items: T[] = [];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83A42"/>
              </a:solidFill>
              <a:effectLst/>
              <a:uLnTx/>
              <a:uFillTx/>
              <a:latin typeface="ui-monospace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   add(o: T):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18401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void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      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626A4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this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.items.push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(o);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   remove(o: T):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18401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void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      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626A4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let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index =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626A4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this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.items.indexOf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(o);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      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626A4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if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(index &gt;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986801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-1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          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626A4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this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.items.splice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(index,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986801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1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}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383A42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6E0460-DE4A-5EC9-4C47-24286B50151E}"/>
              </a:ext>
            </a:extLst>
          </p:cNvPr>
          <p:cNvSpPr txBox="1"/>
          <p:nvPr/>
        </p:nvSpPr>
        <p:spPr>
          <a:xfrm>
            <a:off x="3615266" y="5165229"/>
            <a:ext cx="902546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From the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A1039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List&lt;T&gt;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 class, you can create a list of values of various types e.g., numbers, or strings.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For example, the following shows how to use the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A1039"/>
                </a:solidFill>
                <a:effectLst/>
                <a:uLnTx/>
                <a:uFillTx/>
                <a:latin typeface="Roboto Mono" panose="00000009000000000000" pitchFamily="49" charset="0"/>
                <a:ea typeface="+mn-ea"/>
                <a:cs typeface="+mn-cs"/>
              </a:rPr>
              <a:t> List&lt;T&gt;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 generic class to create a list of numbers: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626A4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let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list =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626A4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new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List&lt;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C18401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number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&gt;();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626A4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for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(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626A4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let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i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=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986801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0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; 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i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&lt;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986801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10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; 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i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++)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    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list.add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(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i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383A42"/>
                </a:solidFill>
                <a:effectLst/>
                <a:uLnTx/>
                <a:uFillTx/>
                <a:latin typeface="ui-monospace"/>
                <a:ea typeface="+mn-ea"/>
                <a:cs typeface="+mn-cs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2686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0F06F1-5639-4E0C-EDB2-8746665E7CCA}"/>
              </a:ext>
            </a:extLst>
          </p:cNvPr>
          <p:cNvSpPr txBox="1"/>
          <p:nvPr/>
        </p:nvSpPr>
        <p:spPr>
          <a:xfrm>
            <a:off x="1007533" y="867721"/>
            <a:ext cx="1069340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sz="2400" b="0" i="0" dirty="0">
                <a:solidFill>
                  <a:srgbClr val="212529"/>
                </a:solidFill>
                <a:effectLst/>
                <a:latin typeface="-apple-system"/>
              </a:rPr>
              <a:t>3) Generic interfaces that describe index types</a:t>
            </a:r>
          </a:p>
          <a:p>
            <a:pPr marL="0" marR="0" indent="0" algn="l">
              <a:buNone/>
            </a:pPr>
            <a:endParaRPr lang="en-IN" sz="24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indent="0" algn="l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The following declares an interface that describes an index type:</a:t>
            </a:r>
          </a:p>
          <a:p>
            <a:pPr indent="0" algn="l">
              <a:buNone/>
            </a:pPr>
            <a:endParaRPr lang="en-IN" sz="2000" dirty="0">
              <a:solidFill>
                <a:srgbClr val="212529"/>
              </a:solidFill>
              <a:latin typeface="-apple-system"/>
            </a:endParaRPr>
          </a:p>
          <a:p>
            <a:pPr indent="0" algn="l">
              <a:buNone/>
            </a:pPr>
            <a:endParaRPr lang="en-IN" sz="24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interface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ui-monospace"/>
              </a:rPr>
              <a:t>Options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&lt;T&gt; {</a:t>
            </a: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   [name: </a:t>
            </a:r>
            <a:r>
              <a:rPr lang="en-IN" sz="2000" b="0" i="0" dirty="0">
                <a:solidFill>
                  <a:srgbClr val="C18401"/>
                </a:solidFill>
                <a:effectLst/>
                <a:latin typeface="ui-monospace"/>
              </a:rPr>
              <a:t>string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]: T</a:t>
            </a: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}</a:t>
            </a:r>
          </a:p>
          <a:p>
            <a:pPr marL="0" marR="0" indent="0" algn="l" rtl="0">
              <a:buNone/>
            </a:pPr>
            <a:endParaRPr lang="en-IN" sz="2000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inputOptions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0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ui-monospace"/>
              </a:rPr>
              <a:t>Options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&lt;</a:t>
            </a:r>
            <a:r>
              <a:rPr lang="en-IN" sz="2000" b="0" i="0" dirty="0" err="1">
                <a:solidFill>
                  <a:srgbClr val="C18401"/>
                </a:solidFill>
                <a:effectLst/>
                <a:latin typeface="ui-monospace"/>
              </a:rPr>
              <a:t>boolean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&gt; = {</a:t>
            </a: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   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'disabled'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000" b="0" i="0" dirty="0">
                <a:solidFill>
                  <a:srgbClr val="0184BB"/>
                </a:solidFill>
                <a:effectLst/>
                <a:latin typeface="ui-monospace"/>
              </a:rPr>
              <a:t>false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,</a:t>
            </a: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   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'visible'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000" b="0" i="0" dirty="0">
                <a:solidFill>
                  <a:srgbClr val="0184BB"/>
                </a:solidFill>
                <a:effectLst/>
                <a:latin typeface="ui-monospace"/>
              </a:rPr>
              <a:t>true</a:t>
            </a:r>
            <a:endParaRPr lang="en-IN" sz="2000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>
              <a:buNone/>
            </a:pP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};</a:t>
            </a:r>
            <a:endParaRPr lang="en-IN" sz="24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843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1089</Words>
  <Application>Microsoft Office PowerPoint</Application>
  <PresentationFormat>Widescreen</PresentationFormat>
  <Paragraphs>124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-apple-system</vt:lpstr>
      <vt:lpstr>Arial</vt:lpstr>
      <vt:lpstr>Calibri</vt:lpstr>
      <vt:lpstr>Calibri Light</vt:lpstr>
      <vt:lpstr>Courier New</vt:lpstr>
      <vt:lpstr>Roboto Mono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30</cp:revision>
  <dcterms:created xsi:type="dcterms:W3CDTF">2026-09-08T09:01:09Z</dcterms:created>
  <dcterms:modified xsi:type="dcterms:W3CDTF">2026-09-24T04:21:28Z</dcterms:modified>
</cp:coreProperties>
</file>