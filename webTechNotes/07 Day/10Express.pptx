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0" r:id="rId2"/>
    <p:sldId id="267" r:id="rId3"/>
    <p:sldId id="261" r:id="rId4"/>
    <p:sldId id="262" r:id="rId5"/>
    <p:sldId id="274" r:id="rId6"/>
    <p:sldId id="272" r:id="rId7"/>
    <p:sldId id="263" r:id="rId8"/>
    <p:sldId id="264" r:id="rId9"/>
    <p:sldId id="265" r:id="rId10"/>
    <p:sldId id="266" r:id="rId11"/>
    <p:sldId id="268" r:id="rId12"/>
    <p:sldId id="269" r:id="rId13"/>
    <p:sldId id="270" r:id="rId14"/>
    <p:sldId id="277" r:id="rId15"/>
    <p:sldId id="273" r:id="rId16"/>
    <p:sldId id="275" r:id="rId17"/>
    <p:sldId id="278"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D7FF16-CD39-4A86-8C36-E4EF82913A69}" type="datetimeFigureOut">
              <a:rPr lang="en-IN" smtClean="0"/>
              <a:t>07-10-2026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6DD52E-53EE-4B68-8A1E-05F2A4C3A94B}" type="slidenum">
              <a:rPr lang="en-IN" smtClean="0"/>
              <a:t>‹#›</a:t>
            </a:fld>
            <a:endParaRPr lang="en-IN"/>
          </a:p>
        </p:txBody>
      </p:sp>
    </p:spTree>
    <p:extLst>
      <p:ext uri="{BB962C8B-B14F-4D97-AF65-F5344CB8AC3E}">
        <p14:creationId xmlns:p14="http://schemas.microsoft.com/office/powerpoint/2010/main" val="1624260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6DD52E-53EE-4B68-8A1E-05F2A4C3A94B}" type="slidenum">
              <a:rPr lang="en-IN" smtClean="0"/>
              <a:t>16</a:t>
            </a:fld>
            <a:endParaRPr lang="en-IN"/>
          </a:p>
        </p:txBody>
      </p:sp>
    </p:spTree>
    <p:extLst>
      <p:ext uri="{BB962C8B-B14F-4D97-AF65-F5344CB8AC3E}">
        <p14:creationId xmlns:p14="http://schemas.microsoft.com/office/powerpoint/2010/main" val="2679246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6C2D3F-7E40-4C8A-AAF1-FF8439D14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BAD72839-F2DB-487E-86A4-AF0719837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BB2AD9DF-D751-499A-B1F2-4658DB7F9AC8}"/>
              </a:ext>
            </a:extLst>
          </p:cNvPr>
          <p:cNvSpPr>
            <a:spLocks noGrp="1"/>
          </p:cNvSpPr>
          <p:nvPr>
            <p:ph type="dt" sz="half" idx="10"/>
          </p:nvPr>
        </p:nvSpPr>
        <p:spPr/>
        <p:txBody>
          <a:bodyPr/>
          <a:lstStyle/>
          <a:p>
            <a:fld id="{C004658C-45DA-453C-8046-7731F20C314D}" type="datetimeFigureOut">
              <a:rPr lang="en-IN" smtClean="0"/>
              <a:t>07-10-2026</a:t>
            </a:fld>
            <a:endParaRPr lang="en-IN"/>
          </a:p>
        </p:txBody>
      </p:sp>
      <p:sp>
        <p:nvSpPr>
          <p:cNvPr id="5" name="Footer Placeholder 4">
            <a:extLst>
              <a:ext uri="{FF2B5EF4-FFF2-40B4-BE49-F238E27FC236}">
                <a16:creationId xmlns:a16="http://schemas.microsoft.com/office/drawing/2014/main" xmlns="" id="{60810642-F60A-41B2-A559-6BCDA5E346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5929564-8805-41F0-8FA2-B91878EFA10A}"/>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95588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43649B-5440-4FBB-8D52-86560DB7B8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EAEFAAE-9D4B-488A-84DE-F9B7B40E0F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D5B9E0D-CB4E-45BC-9342-2685552EA624}"/>
              </a:ext>
            </a:extLst>
          </p:cNvPr>
          <p:cNvSpPr>
            <a:spLocks noGrp="1"/>
          </p:cNvSpPr>
          <p:nvPr>
            <p:ph type="dt" sz="half" idx="10"/>
          </p:nvPr>
        </p:nvSpPr>
        <p:spPr/>
        <p:txBody>
          <a:bodyPr/>
          <a:lstStyle/>
          <a:p>
            <a:fld id="{C004658C-45DA-453C-8046-7731F20C314D}" type="datetimeFigureOut">
              <a:rPr lang="en-IN" smtClean="0"/>
              <a:t>07-10-2026</a:t>
            </a:fld>
            <a:endParaRPr lang="en-IN"/>
          </a:p>
        </p:txBody>
      </p:sp>
      <p:sp>
        <p:nvSpPr>
          <p:cNvPr id="5" name="Footer Placeholder 4">
            <a:extLst>
              <a:ext uri="{FF2B5EF4-FFF2-40B4-BE49-F238E27FC236}">
                <a16:creationId xmlns:a16="http://schemas.microsoft.com/office/drawing/2014/main" xmlns="" id="{11C1038D-F12D-477B-9032-BEE3CED009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76C8A08-E66A-4DC9-9A66-8A7AF89A46E3}"/>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8549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DAD09C-476B-4B3C-BFA4-8DA21A32FA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C0C82DB-9B98-49CC-A555-BFCF47EEBA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D0BFC01-B0A6-4A7B-B9F2-D6A9CDBE30CC}"/>
              </a:ext>
            </a:extLst>
          </p:cNvPr>
          <p:cNvSpPr>
            <a:spLocks noGrp="1"/>
          </p:cNvSpPr>
          <p:nvPr>
            <p:ph type="dt" sz="half" idx="10"/>
          </p:nvPr>
        </p:nvSpPr>
        <p:spPr/>
        <p:txBody>
          <a:bodyPr/>
          <a:lstStyle/>
          <a:p>
            <a:fld id="{C004658C-45DA-453C-8046-7731F20C314D}" type="datetimeFigureOut">
              <a:rPr lang="en-IN" smtClean="0"/>
              <a:t>07-10-2026</a:t>
            </a:fld>
            <a:endParaRPr lang="en-IN"/>
          </a:p>
        </p:txBody>
      </p:sp>
      <p:sp>
        <p:nvSpPr>
          <p:cNvPr id="5" name="Footer Placeholder 4">
            <a:extLst>
              <a:ext uri="{FF2B5EF4-FFF2-40B4-BE49-F238E27FC236}">
                <a16:creationId xmlns:a16="http://schemas.microsoft.com/office/drawing/2014/main" xmlns="" id="{6F09F5AC-0481-46E6-9DF4-FDF8C28F4B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0F7C3B7-0110-4B1B-A36A-0C507C182655}"/>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19362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B4B1F9-EB81-48BC-9509-A46CE28835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2154F5F-7B97-4AE1-8C8C-6DDE59931C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A44105FE-F84E-476C-AA3E-3ACEA51922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E20B2D7D-8F2A-4542-809C-ABD2679AD799}"/>
              </a:ext>
            </a:extLst>
          </p:cNvPr>
          <p:cNvSpPr>
            <a:spLocks noGrp="1"/>
          </p:cNvSpPr>
          <p:nvPr>
            <p:ph type="dt" sz="half" idx="10"/>
          </p:nvPr>
        </p:nvSpPr>
        <p:spPr/>
        <p:txBody>
          <a:bodyPr/>
          <a:lstStyle/>
          <a:p>
            <a:fld id="{C004658C-45DA-453C-8046-7731F20C314D}" type="datetimeFigureOut">
              <a:rPr lang="en-IN" smtClean="0"/>
              <a:t>07-10-2026</a:t>
            </a:fld>
            <a:endParaRPr lang="en-IN"/>
          </a:p>
        </p:txBody>
      </p:sp>
      <p:sp>
        <p:nvSpPr>
          <p:cNvPr id="6" name="Footer Placeholder 5">
            <a:extLst>
              <a:ext uri="{FF2B5EF4-FFF2-40B4-BE49-F238E27FC236}">
                <a16:creationId xmlns:a16="http://schemas.microsoft.com/office/drawing/2014/main" xmlns="" id="{88496495-04D3-412A-B6A9-B0F377C6CA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1A832D1-4D1F-4A6D-AD92-C331278A9FC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167328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0A267D-4932-46DB-ADD0-78843BAFB7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D570D7F-5AA1-4453-910D-9A76D79CB3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61533F1-277C-4E07-8AED-05200D4D26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E14560CD-AE08-4482-8420-4C30736D03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C309AE45-A8AB-4C40-A840-D78F56E608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459FC0E6-84D8-4A50-BEBD-CF5D19AF413E}"/>
              </a:ext>
            </a:extLst>
          </p:cNvPr>
          <p:cNvSpPr>
            <a:spLocks noGrp="1"/>
          </p:cNvSpPr>
          <p:nvPr>
            <p:ph type="dt" sz="half" idx="10"/>
          </p:nvPr>
        </p:nvSpPr>
        <p:spPr/>
        <p:txBody>
          <a:bodyPr/>
          <a:lstStyle/>
          <a:p>
            <a:fld id="{C004658C-45DA-453C-8046-7731F20C314D}" type="datetimeFigureOut">
              <a:rPr lang="en-IN" smtClean="0"/>
              <a:t>07-10-2026</a:t>
            </a:fld>
            <a:endParaRPr lang="en-IN"/>
          </a:p>
        </p:txBody>
      </p:sp>
      <p:sp>
        <p:nvSpPr>
          <p:cNvPr id="8" name="Footer Placeholder 7">
            <a:extLst>
              <a:ext uri="{FF2B5EF4-FFF2-40B4-BE49-F238E27FC236}">
                <a16:creationId xmlns:a16="http://schemas.microsoft.com/office/drawing/2014/main" xmlns="" id="{CF24D531-1AFE-40F4-B407-A13D38E561B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6EB9A13C-F3B2-4536-8721-FAB18E56E9A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842716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1538B2-7E66-46D2-B90B-4ACCBC668D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2FD9BC10-AC2C-44C4-BB8A-96BF1948FFCE}"/>
              </a:ext>
            </a:extLst>
          </p:cNvPr>
          <p:cNvSpPr>
            <a:spLocks noGrp="1"/>
          </p:cNvSpPr>
          <p:nvPr>
            <p:ph type="dt" sz="half" idx="10"/>
          </p:nvPr>
        </p:nvSpPr>
        <p:spPr/>
        <p:txBody>
          <a:bodyPr/>
          <a:lstStyle/>
          <a:p>
            <a:fld id="{C004658C-45DA-453C-8046-7731F20C314D}" type="datetimeFigureOut">
              <a:rPr lang="en-IN" smtClean="0"/>
              <a:t>07-10-2026</a:t>
            </a:fld>
            <a:endParaRPr lang="en-IN"/>
          </a:p>
        </p:txBody>
      </p:sp>
      <p:sp>
        <p:nvSpPr>
          <p:cNvPr id="4" name="Footer Placeholder 3">
            <a:extLst>
              <a:ext uri="{FF2B5EF4-FFF2-40B4-BE49-F238E27FC236}">
                <a16:creationId xmlns:a16="http://schemas.microsoft.com/office/drawing/2014/main" xmlns="" id="{A643D4D6-9AA0-4487-83AA-68EA43B9E0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CE705848-1F85-45FF-B0BC-4D0BA27CA85C}"/>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742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BFD4D18-C07E-4A35-A2FD-AF3660E9E3B0}"/>
              </a:ext>
            </a:extLst>
          </p:cNvPr>
          <p:cNvSpPr>
            <a:spLocks noGrp="1"/>
          </p:cNvSpPr>
          <p:nvPr>
            <p:ph type="dt" sz="half" idx="10"/>
          </p:nvPr>
        </p:nvSpPr>
        <p:spPr/>
        <p:txBody>
          <a:bodyPr/>
          <a:lstStyle/>
          <a:p>
            <a:fld id="{C004658C-45DA-453C-8046-7731F20C314D}" type="datetimeFigureOut">
              <a:rPr lang="en-IN" smtClean="0"/>
              <a:t>07-10-2026</a:t>
            </a:fld>
            <a:endParaRPr lang="en-IN"/>
          </a:p>
        </p:txBody>
      </p:sp>
      <p:sp>
        <p:nvSpPr>
          <p:cNvPr id="3" name="Footer Placeholder 2">
            <a:extLst>
              <a:ext uri="{FF2B5EF4-FFF2-40B4-BE49-F238E27FC236}">
                <a16:creationId xmlns:a16="http://schemas.microsoft.com/office/drawing/2014/main" xmlns="" id="{3F3251B9-692D-4BE0-BAF1-99171EC3B1F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2C3E1108-801C-468F-8B19-6B581BC1A96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863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2C412B-48AF-409B-8357-2EE7CBBE4D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22EB46A-9741-43DE-A239-502DF85804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10B68FA1-3FBE-49C1-9108-F9557EE74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2EA8935-1423-43BE-B58A-36EE09057C89}"/>
              </a:ext>
            </a:extLst>
          </p:cNvPr>
          <p:cNvSpPr>
            <a:spLocks noGrp="1"/>
          </p:cNvSpPr>
          <p:nvPr>
            <p:ph type="dt" sz="half" idx="10"/>
          </p:nvPr>
        </p:nvSpPr>
        <p:spPr/>
        <p:txBody>
          <a:bodyPr/>
          <a:lstStyle/>
          <a:p>
            <a:fld id="{C004658C-45DA-453C-8046-7731F20C314D}" type="datetimeFigureOut">
              <a:rPr lang="en-IN" smtClean="0"/>
              <a:t>07-10-2026</a:t>
            </a:fld>
            <a:endParaRPr lang="en-IN"/>
          </a:p>
        </p:txBody>
      </p:sp>
      <p:sp>
        <p:nvSpPr>
          <p:cNvPr id="6" name="Footer Placeholder 5">
            <a:extLst>
              <a:ext uri="{FF2B5EF4-FFF2-40B4-BE49-F238E27FC236}">
                <a16:creationId xmlns:a16="http://schemas.microsoft.com/office/drawing/2014/main" xmlns="" id="{FFA87432-8FD6-48D6-A782-B5FD451E0C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DAE8922-295E-443F-94AA-DE04B0771677}"/>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624619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9DF4CF-55BA-44B7-B5C1-6AABBEEA7D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419804C6-94F5-4D5B-8DFD-4C01987A5C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1F494586-57E1-4731-AB5B-330E0EC4C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A67832B-C40F-4E1F-ABB3-BB36A394963E}"/>
              </a:ext>
            </a:extLst>
          </p:cNvPr>
          <p:cNvSpPr>
            <a:spLocks noGrp="1"/>
          </p:cNvSpPr>
          <p:nvPr>
            <p:ph type="dt" sz="half" idx="10"/>
          </p:nvPr>
        </p:nvSpPr>
        <p:spPr/>
        <p:txBody>
          <a:bodyPr/>
          <a:lstStyle/>
          <a:p>
            <a:fld id="{C004658C-45DA-453C-8046-7731F20C314D}" type="datetimeFigureOut">
              <a:rPr lang="en-IN" smtClean="0"/>
              <a:t>07-10-2026</a:t>
            </a:fld>
            <a:endParaRPr lang="en-IN"/>
          </a:p>
        </p:txBody>
      </p:sp>
      <p:sp>
        <p:nvSpPr>
          <p:cNvPr id="6" name="Footer Placeholder 5">
            <a:extLst>
              <a:ext uri="{FF2B5EF4-FFF2-40B4-BE49-F238E27FC236}">
                <a16:creationId xmlns:a16="http://schemas.microsoft.com/office/drawing/2014/main" xmlns="" id="{C88947CF-39CE-409F-BB68-7352DFD949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1D2BF2E-806C-4B7F-9063-3F1E0C91351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9512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252159-3716-4F83-81C9-5BD08B1F55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5DBA662-CCE1-41C4-BF91-B2CB5FC59C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49D8A99-AD56-4CA5-B9A0-FEAF607E21B2}"/>
              </a:ext>
            </a:extLst>
          </p:cNvPr>
          <p:cNvSpPr>
            <a:spLocks noGrp="1"/>
          </p:cNvSpPr>
          <p:nvPr>
            <p:ph type="dt" sz="half" idx="10"/>
          </p:nvPr>
        </p:nvSpPr>
        <p:spPr/>
        <p:txBody>
          <a:bodyPr/>
          <a:lstStyle/>
          <a:p>
            <a:fld id="{C004658C-45DA-453C-8046-7731F20C314D}" type="datetimeFigureOut">
              <a:rPr lang="en-IN" smtClean="0"/>
              <a:t>07-10-2026</a:t>
            </a:fld>
            <a:endParaRPr lang="en-IN"/>
          </a:p>
        </p:txBody>
      </p:sp>
      <p:sp>
        <p:nvSpPr>
          <p:cNvPr id="5" name="Footer Placeholder 4">
            <a:extLst>
              <a:ext uri="{FF2B5EF4-FFF2-40B4-BE49-F238E27FC236}">
                <a16:creationId xmlns:a16="http://schemas.microsoft.com/office/drawing/2014/main" xmlns="" id="{25CD5B1E-135D-48A4-A7D1-D36BF6791B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D967079-262E-4207-A65E-7FEB6D46D3BD}"/>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3619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621C3810-0CAF-41C0-8AEB-61F991B901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743B3C37-946E-469E-BF32-9A3172EB95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A261361-B290-45F7-89D0-EC2684F66A70}"/>
              </a:ext>
            </a:extLst>
          </p:cNvPr>
          <p:cNvSpPr>
            <a:spLocks noGrp="1"/>
          </p:cNvSpPr>
          <p:nvPr>
            <p:ph type="dt" sz="half" idx="10"/>
          </p:nvPr>
        </p:nvSpPr>
        <p:spPr/>
        <p:txBody>
          <a:bodyPr/>
          <a:lstStyle/>
          <a:p>
            <a:fld id="{C004658C-45DA-453C-8046-7731F20C314D}" type="datetimeFigureOut">
              <a:rPr lang="en-IN" smtClean="0"/>
              <a:t>07-10-2026</a:t>
            </a:fld>
            <a:endParaRPr lang="en-IN"/>
          </a:p>
        </p:txBody>
      </p:sp>
      <p:sp>
        <p:nvSpPr>
          <p:cNvPr id="5" name="Footer Placeholder 4">
            <a:extLst>
              <a:ext uri="{FF2B5EF4-FFF2-40B4-BE49-F238E27FC236}">
                <a16:creationId xmlns:a16="http://schemas.microsoft.com/office/drawing/2014/main" xmlns="" id="{68AB217D-811E-4E1E-8334-38008E6F17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0FF01B6-3214-4BB6-9D55-08159A264AE1}"/>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47191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3B01FB5-9B19-4006-BF79-43AAE4B2BB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xmlns="" id="{71D79293-3335-415D-96FF-6F1528620B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xmlns="" id="{05602B98-AB1D-47C8-BA11-5D17054C1E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04658C-45DA-453C-8046-7731F20C314D}" type="datetimeFigureOut">
              <a:rPr lang="en-IN" smtClean="0"/>
              <a:t>07-10-2026</a:t>
            </a:fld>
            <a:endParaRPr lang="en-IN"/>
          </a:p>
        </p:txBody>
      </p:sp>
      <p:sp>
        <p:nvSpPr>
          <p:cNvPr id="5" name="Footer Placeholder 4">
            <a:extLst>
              <a:ext uri="{FF2B5EF4-FFF2-40B4-BE49-F238E27FC236}">
                <a16:creationId xmlns:a16="http://schemas.microsoft.com/office/drawing/2014/main" xmlns="" id="{925A71B4-FC6F-40AF-BC00-01976BC4EC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C241785E-8303-4660-BD55-D6594DE105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2BFB83-5A77-48BE-A920-3538D8F17072}" type="slidenum">
              <a:rPr lang="en-IN" smtClean="0"/>
              <a:t>‹#›</a:t>
            </a:fld>
            <a:endParaRPr lang="en-IN"/>
          </a:p>
        </p:txBody>
      </p:sp>
      <p:pic>
        <p:nvPicPr>
          <p:cNvPr id="7" name="Picture 6">
            <a:extLst>
              <a:ext uri="{FF2B5EF4-FFF2-40B4-BE49-F238E27FC236}">
                <a16:creationId xmlns:a16="http://schemas.microsoft.com/office/drawing/2014/main" xmlns="" id="{B4B2C9EE-F42D-45DD-BECE-E7B06F786BC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xmlns="" id="{3D287664-7564-46A5-A87F-F1F1AB30D4BA}"/>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066235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127.0.0.1:8081/process_ge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xmlns=""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xmlns="" id="{1D08AD46-9F1D-452E-959B-C606D7727AF8}"/>
              </a:ext>
            </a:extLst>
          </p:cNvPr>
          <p:cNvSpPr>
            <a:spLocks noChangeArrowheads="1"/>
          </p:cNvSpPr>
          <p:nvPr/>
        </p:nvSpPr>
        <p:spPr bwMode="auto">
          <a:xfrm>
            <a:off x="7339" y="840421"/>
            <a:ext cx="9685639" cy="4616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Express.js is based on the Node.js middleware module called </a:t>
            </a:r>
            <a:r>
              <a:rPr kumimoji="0" lang="en-US" altLang="en-US" sz="1200" b="1" i="1" u="none" strike="noStrike" cap="none" normalizeH="0" baseline="0" dirty="0">
                <a:ln>
                  <a:noFill/>
                </a:ln>
                <a:solidFill>
                  <a:srgbClr val="181717"/>
                </a:solidFill>
                <a:effectLst/>
                <a:latin typeface="Verdana" panose="020B0604030504040204" pitchFamily="34" charset="0"/>
              </a:rPr>
              <a:t>connect</a:t>
            </a:r>
            <a:r>
              <a:rPr kumimoji="0" lang="en-US" altLang="en-US" sz="1200" b="0" i="0" u="none" strike="noStrike" cap="none" normalizeH="0" baseline="0" dirty="0">
                <a:ln>
                  <a:noFill/>
                </a:ln>
                <a:solidFill>
                  <a:srgbClr val="181717"/>
                </a:solidFill>
                <a:effectLst/>
                <a:latin typeface="Verdana" panose="020B0604030504040204" pitchFamily="34" charset="0"/>
              </a:rPr>
              <a:t> which in turn uses </a:t>
            </a:r>
            <a:r>
              <a:rPr kumimoji="0" lang="en-US" altLang="en-US" sz="1200" b="1" i="0" u="none" strike="noStrike" cap="none" normalizeH="0" baseline="0" dirty="0">
                <a:ln>
                  <a:noFill/>
                </a:ln>
                <a:solidFill>
                  <a:srgbClr val="181717"/>
                </a:solidFill>
                <a:effectLst/>
                <a:latin typeface="Verdana" panose="020B0604030504040204" pitchFamily="34" charset="0"/>
              </a:rPr>
              <a:t>http</a:t>
            </a:r>
            <a:r>
              <a:rPr kumimoji="0" lang="en-US" altLang="en-US" sz="1200" b="0" i="0" u="none" strike="noStrike" cap="none" normalizeH="0" baseline="0" dirty="0">
                <a:ln>
                  <a:noFill/>
                </a:ln>
                <a:solidFill>
                  <a:srgbClr val="181717"/>
                </a:solidFill>
                <a:effectLst/>
                <a:latin typeface="Verdana" panose="020B0604030504040204" pitchFamily="34" charset="0"/>
              </a:rPr>
              <a:t> module. So, any middleware which is based on connect will also work with Express.js.</a:t>
            </a:r>
            <a:endParaRPr lang="en-US" altLang="en-US" sz="800" dirty="0">
              <a:solidFill>
                <a:srgbClr val="007BFF"/>
              </a:solidFill>
            </a:endParaRPr>
          </a:p>
        </p:txBody>
      </p:sp>
      <p:pic>
        <p:nvPicPr>
          <p:cNvPr id="1026" name="Picture 2">
            <a:extLst>
              <a:ext uri="{FF2B5EF4-FFF2-40B4-BE49-F238E27FC236}">
                <a16:creationId xmlns:a16="http://schemas.microsoft.com/office/drawing/2014/main" xmlns="" id="{7C6A72E3-8DF3-4A1A-8774-8D70D5BEC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0859" y="90177"/>
            <a:ext cx="3019425" cy="196215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xmlns="" id="{ECA931F1-4101-4867-8054-E511CA6C792F}"/>
              </a:ext>
            </a:extLst>
          </p:cNvPr>
          <p:cNvSpPr txBox="1"/>
          <p:nvPr/>
        </p:nvSpPr>
        <p:spPr>
          <a:xfrm>
            <a:off x="469563" y="1772381"/>
            <a:ext cx="6134518" cy="369332"/>
          </a:xfrm>
          <a:prstGeom prst="rect">
            <a:avLst/>
          </a:prstGeom>
          <a:noFill/>
        </p:spPr>
        <p:txBody>
          <a:bodyPr wrap="square">
            <a:spAutoFit/>
          </a:bodyPr>
          <a:lstStyle/>
          <a:p>
            <a:pPr algn="just"/>
            <a:r>
              <a:rPr lang="en-IN" b="1" i="0" dirty="0">
                <a:solidFill>
                  <a:srgbClr val="181717"/>
                </a:solidFill>
                <a:effectLst/>
                <a:latin typeface="Segoe UI" panose="020B0502040204020203" pitchFamily="34" charset="0"/>
              </a:rPr>
              <a:t>Advantages of Express.js</a:t>
            </a:r>
          </a:p>
        </p:txBody>
      </p:sp>
      <p:sp>
        <p:nvSpPr>
          <p:cNvPr id="6" name="TextBox 5">
            <a:extLst>
              <a:ext uri="{FF2B5EF4-FFF2-40B4-BE49-F238E27FC236}">
                <a16:creationId xmlns:a16="http://schemas.microsoft.com/office/drawing/2014/main" xmlns="" id="{CB793931-8BFD-4863-ADE9-A02991AEBAD2}"/>
              </a:ext>
            </a:extLst>
          </p:cNvPr>
          <p:cNvSpPr txBox="1"/>
          <p:nvPr/>
        </p:nvSpPr>
        <p:spPr>
          <a:xfrm>
            <a:off x="3074598" y="160774"/>
            <a:ext cx="5577033" cy="461665"/>
          </a:xfrm>
          <a:prstGeom prst="rect">
            <a:avLst/>
          </a:prstGeom>
          <a:noFill/>
        </p:spPr>
        <p:txBody>
          <a:bodyPr wrap="square" rtlCol="0">
            <a:spAutoFit/>
          </a:bodyPr>
          <a:lstStyle/>
          <a:p>
            <a:r>
              <a:rPr lang="en-IN" sz="2400" b="1" dirty="0"/>
              <a:t>Express JS</a:t>
            </a:r>
            <a:endParaRPr lang="en-IN" b="1" dirty="0"/>
          </a:p>
        </p:txBody>
      </p:sp>
      <p:sp>
        <p:nvSpPr>
          <p:cNvPr id="10" name="TextBox 9">
            <a:extLst>
              <a:ext uri="{FF2B5EF4-FFF2-40B4-BE49-F238E27FC236}">
                <a16:creationId xmlns:a16="http://schemas.microsoft.com/office/drawing/2014/main" xmlns="" id="{CFDE1492-EBD1-4F40-A7A0-7FF689383997}"/>
              </a:ext>
            </a:extLst>
          </p:cNvPr>
          <p:cNvSpPr txBox="1"/>
          <p:nvPr/>
        </p:nvSpPr>
        <p:spPr>
          <a:xfrm>
            <a:off x="7339" y="2452028"/>
            <a:ext cx="8809892" cy="3416320"/>
          </a:xfrm>
          <a:prstGeom prst="rect">
            <a:avLst/>
          </a:prstGeom>
          <a:noFill/>
        </p:spPr>
        <p:txBody>
          <a:bodyPr wrap="square">
            <a:spAutoFit/>
          </a:bodyPr>
          <a:lstStyle/>
          <a:p>
            <a:pPr algn="just">
              <a:buFont typeface="+mj-lt"/>
              <a:buAutoNum type="arabicPeriod"/>
            </a:pPr>
            <a:r>
              <a:rPr lang="en-US" b="0" i="0" dirty="0">
                <a:solidFill>
                  <a:srgbClr val="181717"/>
                </a:solidFill>
                <a:effectLst/>
                <a:latin typeface="Verdana" panose="020B0604030504040204" pitchFamily="34" charset="0"/>
              </a:rPr>
              <a:t>Makes Node.js web application development fast and easy.</a:t>
            </a:r>
          </a:p>
          <a:p>
            <a:pPr algn="just">
              <a:buFont typeface="+mj-lt"/>
              <a:buAutoNum type="arabicPeriod"/>
            </a:pPr>
            <a:r>
              <a:rPr lang="en-US" b="0" i="0" dirty="0">
                <a:solidFill>
                  <a:srgbClr val="181717"/>
                </a:solidFill>
                <a:effectLst/>
                <a:latin typeface="Verdana" panose="020B0604030504040204" pitchFamily="34" charset="0"/>
              </a:rPr>
              <a:t>Easy to configure and customize.</a:t>
            </a:r>
          </a:p>
          <a:p>
            <a:pPr algn="just">
              <a:buFont typeface="+mj-lt"/>
              <a:buAutoNum type="arabicPeriod"/>
            </a:pPr>
            <a:r>
              <a:rPr lang="en-US" b="0" i="0" dirty="0">
                <a:solidFill>
                  <a:srgbClr val="181717"/>
                </a:solidFill>
                <a:effectLst/>
                <a:latin typeface="Verdana" panose="020B0604030504040204" pitchFamily="34" charset="0"/>
              </a:rPr>
              <a:t>Allows you to define routes of your application based on HTTP methods and URLs.</a:t>
            </a:r>
          </a:p>
          <a:p>
            <a:pPr algn="just">
              <a:buFont typeface="+mj-lt"/>
              <a:buAutoNum type="arabicPeriod"/>
            </a:pPr>
            <a:r>
              <a:rPr lang="en-US" b="0" i="0" dirty="0">
                <a:solidFill>
                  <a:srgbClr val="181717"/>
                </a:solidFill>
                <a:effectLst/>
                <a:latin typeface="Verdana" panose="020B0604030504040204" pitchFamily="34" charset="0"/>
              </a:rPr>
              <a:t>Includes various middleware modules which you can use to perform additional tasks on request and response.</a:t>
            </a:r>
          </a:p>
          <a:p>
            <a:pPr algn="just">
              <a:buFont typeface="+mj-lt"/>
              <a:buAutoNum type="arabicPeriod"/>
            </a:pPr>
            <a:r>
              <a:rPr lang="en-US" b="0" i="0" dirty="0">
                <a:solidFill>
                  <a:srgbClr val="181717"/>
                </a:solidFill>
                <a:effectLst/>
                <a:latin typeface="Verdana" panose="020B0604030504040204" pitchFamily="34" charset="0"/>
              </a:rPr>
              <a:t>Easy to integrate with different template engines like Jade, </a:t>
            </a:r>
            <a:r>
              <a:rPr lang="en-US" b="0" i="0" dirty="0" err="1">
                <a:solidFill>
                  <a:srgbClr val="181717"/>
                </a:solidFill>
                <a:effectLst/>
                <a:latin typeface="Verdana" panose="020B0604030504040204" pitchFamily="34" charset="0"/>
              </a:rPr>
              <a:t>Vash</a:t>
            </a:r>
            <a:r>
              <a:rPr lang="en-US" b="0" i="0" dirty="0">
                <a:solidFill>
                  <a:srgbClr val="181717"/>
                </a:solidFill>
                <a:effectLst/>
                <a:latin typeface="Verdana" panose="020B0604030504040204" pitchFamily="34" charset="0"/>
              </a:rPr>
              <a:t>, EJS etc.</a:t>
            </a:r>
          </a:p>
          <a:p>
            <a:pPr algn="just">
              <a:buFont typeface="+mj-lt"/>
              <a:buAutoNum type="arabicPeriod"/>
            </a:pPr>
            <a:r>
              <a:rPr lang="en-US" b="0" i="0" dirty="0">
                <a:solidFill>
                  <a:srgbClr val="181717"/>
                </a:solidFill>
                <a:effectLst/>
                <a:latin typeface="Verdana" panose="020B0604030504040204" pitchFamily="34" charset="0"/>
              </a:rPr>
              <a:t>Allows you to define an error handling middleware.</a:t>
            </a:r>
          </a:p>
          <a:p>
            <a:pPr algn="just">
              <a:buFont typeface="+mj-lt"/>
              <a:buAutoNum type="arabicPeriod"/>
            </a:pPr>
            <a:r>
              <a:rPr lang="en-US" b="0" i="0" dirty="0">
                <a:solidFill>
                  <a:srgbClr val="181717"/>
                </a:solidFill>
                <a:effectLst/>
                <a:latin typeface="Verdana" panose="020B0604030504040204" pitchFamily="34" charset="0"/>
              </a:rPr>
              <a:t>Easy to serve static files and resources of your application.</a:t>
            </a:r>
          </a:p>
          <a:p>
            <a:pPr algn="just">
              <a:buFont typeface="+mj-lt"/>
              <a:buAutoNum type="arabicPeriod"/>
            </a:pPr>
            <a:r>
              <a:rPr lang="en-US" b="0" i="0" dirty="0">
                <a:solidFill>
                  <a:srgbClr val="181717"/>
                </a:solidFill>
                <a:effectLst/>
                <a:latin typeface="Verdana" panose="020B0604030504040204" pitchFamily="34" charset="0"/>
              </a:rPr>
              <a:t>Allows you to create REST API server.</a:t>
            </a:r>
          </a:p>
          <a:p>
            <a:pPr algn="just">
              <a:buFont typeface="+mj-lt"/>
              <a:buAutoNum type="arabicPeriod"/>
            </a:pPr>
            <a:r>
              <a:rPr lang="en-US" b="0" i="0" dirty="0">
                <a:solidFill>
                  <a:srgbClr val="181717"/>
                </a:solidFill>
                <a:effectLst/>
                <a:latin typeface="Verdana" panose="020B0604030504040204" pitchFamily="34" charset="0"/>
              </a:rPr>
              <a:t>Easy to connect with databases such as MongoDB, Redis, MySQL</a:t>
            </a:r>
          </a:p>
        </p:txBody>
      </p:sp>
    </p:spTree>
    <p:extLst>
      <p:ext uri="{BB962C8B-B14F-4D97-AF65-F5344CB8AC3E}">
        <p14:creationId xmlns:p14="http://schemas.microsoft.com/office/powerpoint/2010/main" val="13471389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698966-2113-42A2-81EB-D40627B282FC}"/>
              </a:ext>
            </a:extLst>
          </p:cNvPr>
          <p:cNvSpPr>
            <a:spLocks noGrp="1"/>
          </p:cNvSpPr>
          <p:nvPr>
            <p:ph type="title"/>
          </p:nvPr>
        </p:nvSpPr>
        <p:spPr>
          <a:xfrm>
            <a:off x="8632723" y="25912"/>
            <a:ext cx="2910348" cy="475838"/>
          </a:xfrm>
        </p:spPr>
        <p:txBody>
          <a:bodyPr>
            <a:normAutofit/>
          </a:bodyPr>
          <a:lstStyle/>
          <a:p>
            <a:r>
              <a:rPr lang="en-IN" sz="1800" b="0" i="0" dirty="0">
                <a:effectLst/>
                <a:latin typeface="Arial" panose="020B0604020202020204" pitchFamily="34" charset="0"/>
              </a:rPr>
              <a:t>Express Overview</a:t>
            </a:r>
            <a:endParaRPr lang="en-IN" sz="1800" dirty="0"/>
          </a:p>
        </p:txBody>
      </p:sp>
      <p:sp>
        <p:nvSpPr>
          <p:cNvPr id="3" name="Content Placeholder 2">
            <a:extLst>
              <a:ext uri="{FF2B5EF4-FFF2-40B4-BE49-F238E27FC236}">
                <a16:creationId xmlns:a16="http://schemas.microsoft.com/office/drawing/2014/main" xmlns="" id="{9D2D0170-2E4D-4F4F-9998-A77F9DBD22E0}"/>
              </a:ext>
            </a:extLst>
          </p:cNvPr>
          <p:cNvSpPr>
            <a:spLocks noGrp="1"/>
          </p:cNvSpPr>
          <p:nvPr>
            <p:ph idx="1"/>
          </p:nvPr>
        </p:nvSpPr>
        <p:spPr>
          <a:xfrm>
            <a:off x="884902" y="428312"/>
            <a:ext cx="10844980" cy="1160635"/>
          </a:xfrm>
        </p:spPr>
        <p:txBody>
          <a:bodyPr>
            <a:normAutofit/>
          </a:bodyPr>
          <a:lstStyle/>
          <a:p>
            <a:pPr>
              <a:lnSpc>
                <a:spcPct val="100000"/>
              </a:lnSpc>
              <a:spcBef>
                <a:spcPts val="1200"/>
              </a:spcBef>
              <a:spcAft>
                <a:spcPts val="1200"/>
              </a:spcAft>
            </a:pPr>
            <a:r>
              <a:rPr lang="en-US" sz="1800" b="0" i="0" dirty="0">
                <a:solidFill>
                  <a:srgbClr val="000000"/>
                </a:solidFill>
                <a:effectLst/>
                <a:latin typeface="+mj-lt"/>
              </a:rPr>
              <a:t>Express is a mi</a:t>
            </a:r>
            <a:r>
              <a:rPr lang="en-US" sz="1800" b="0" i="1" dirty="0">
                <a:solidFill>
                  <a:srgbClr val="000000"/>
                </a:solidFill>
                <a:effectLst/>
                <a:latin typeface="+mj-lt"/>
              </a:rPr>
              <a:t>ni</a:t>
            </a:r>
            <a:r>
              <a:rPr lang="en-US" sz="1800" b="0" i="0" dirty="0">
                <a:solidFill>
                  <a:srgbClr val="000000"/>
                </a:solidFill>
                <a:effectLst/>
                <a:latin typeface="+mj-lt"/>
              </a:rPr>
              <a:t>mal and flexible Node.js web application framework that provides a robust set of features to develop web and mobile applications. It facilitates the rapid development of Node based Web applications. Following are some of the core features of Express framework −</a:t>
            </a:r>
            <a:endParaRPr lang="en-IN" sz="1800" dirty="0">
              <a:latin typeface="+mj-lt"/>
            </a:endParaRPr>
          </a:p>
        </p:txBody>
      </p:sp>
      <p:sp>
        <p:nvSpPr>
          <p:cNvPr id="5" name="TextBox 4">
            <a:extLst>
              <a:ext uri="{FF2B5EF4-FFF2-40B4-BE49-F238E27FC236}">
                <a16:creationId xmlns:a16="http://schemas.microsoft.com/office/drawing/2014/main" xmlns="" id="{A1C49D16-92C5-4FA4-878C-76839E38F440}"/>
              </a:ext>
            </a:extLst>
          </p:cNvPr>
          <p:cNvSpPr txBox="1"/>
          <p:nvPr/>
        </p:nvSpPr>
        <p:spPr>
          <a:xfrm>
            <a:off x="560440" y="1352668"/>
            <a:ext cx="10982631" cy="923330"/>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mj-lt"/>
              </a:rPr>
              <a:t>Allows to set up </a:t>
            </a:r>
            <a:r>
              <a:rPr lang="en-US" b="0" i="0" dirty="0" err="1">
                <a:solidFill>
                  <a:srgbClr val="000000"/>
                </a:solidFill>
                <a:effectLst/>
                <a:latin typeface="+mj-lt"/>
              </a:rPr>
              <a:t>middlewares</a:t>
            </a:r>
            <a:r>
              <a:rPr lang="en-US" b="0" i="0" dirty="0">
                <a:solidFill>
                  <a:srgbClr val="000000"/>
                </a:solidFill>
                <a:effectLst/>
                <a:latin typeface="+mj-lt"/>
              </a:rPr>
              <a:t> to respond to HTTP Requests.</a:t>
            </a:r>
          </a:p>
          <a:p>
            <a:pPr algn="just">
              <a:buFont typeface="Arial" panose="020B0604020202020204" pitchFamily="34" charset="0"/>
              <a:buChar char="•"/>
            </a:pPr>
            <a:r>
              <a:rPr lang="en-US" b="0" i="0" dirty="0">
                <a:solidFill>
                  <a:srgbClr val="000000"/>
                </a:solidFill>
                <a:effectLst/>
                <a:latin typeface="+mj-lt"/>
              </a:rPr>
              <a:t>Defines a routing table which is used to perform different actions based on HTTP Method and URL.</a:t>
            </a:r>
          </a:p>
          <a:p>
            <a:pPr algn="just">
              <a:buFont typeface="Arial" panose="020B0604020202020204" pitchFamily="34" charset="0"/>
              <a:buChar char="•"/>
            </a:pPr>
            <a:r>
              <a:rPr lang="en-US" b="0" i="0" dirty="0">
                <a:solidFill>
                  <a:srgbClr val="000000"/>
                </a:solidFill>
                <a:effectLst/>
                <a:latin typeface="+mj-lt"/>
              </a:rPr>
              <a:t>Allows to dynamically render HTML Pages based on passing arguments to templates.</a:t>
            </a:r>
          </a:p>
        </p:txBody>
      </p:sp>
      <p:sp>
        <p:nvSpPr>
          <p:cNvPr id="7" name="Rectangle 2">
            <a:extLst>
              <a:ext uri="{FF2B5EF4-FFF2-40B4-BE49-F238E27FC236}">
                <a16:creationId xmlns:a16="http://schemas.microsoft.com/office/drawing/2014/main" xmlns="" id="{517F7E75-9C61-46F0-BFF9-DBF45F0E1D2F}"/>
              </a:ext>
            </a:extLst>
          </p:cNvPr>
          <p:cNvSpPr>
            <a:spLocks noChangeArrowheads="1"/>
          </p:cNvSpPr>
          <p:nvPr/>
        </p:nvSpPr>
        <p:spPr bwMode="auto">
          <a:xfrm>
            <a:off x="294968" y="2275998"/>
            <a:ext cx="10844980" cy="4355038"/>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0" rIns="91440" bIns="45720" numCol="1" anchor="ctr" anchorCtr="0" compatLnSpc="1">
            <a:prstTxWarp prst="textNoShape">
              <a:avLst/>
            </a:prstTxWarp>
            <a:spAutoFit/>
          </a:bodyPr>
          <a:lstStyle/>
          <a:p>
            <a:pPr eaLnBrk="0" fontAlgn="base" hangingPunct="0">
              <a:spcBef>
                <a:spcPts val="600"/>
              </a:spcBef>
              <a:spcAft>
                <a:spcPts val="600"/>
              </a:spcAft>
            </a:pPr>
            <a:r>
              <a:rPr kumimoji="0" lang="en-US" altLang="en-US" sz="2000" b="1" i="0" u="none" strike="noStrike" cap="none" normalizeH="0" baseline="0" dirty="0" err="1">
                <a:ln>
                  <a:noFill/>
                </a:ln>
                <a:solidFill>
                  <a:schemeClr val="tx1"/>
                </a:solidFill>
                <a:effectLst/>
                <a:latin typeface="Courier New" panose="02070309020205020404" pitchFamily="49" charset="0"/>
              </a:rPr>
              <a:t>npm</a:t>
            </a:r>
            <a:r>
              <a:rPr kumimoji="0" lang="en-US" altLang="en-US" sz="2000" b="1" i="0" u="none" strike="noStrike" cap="none" normalizeH="0" baseline="0" dirty="0">
                <a:ln>
                  <a:noFill/>
                </a:ln>
                <a:solidFill>
                  <a:schemeClr val="tx1"/>
                </a:solidFill>
                <a:effectLst/>
                <a:latin typeface="Courier New" panose="02070309020205020404" pitchFamily="49" charset="0"/>
              </a:rPr>
              <a:t> install express --save</a:t>
            </a:r>
            <a:r>
              <a:rPr kumimoji="0" lang="en-US" altLang="en-US" sz="1200" b="1" i="0" u="none" strike="noStrike" cap="none" normalizeH="0" baseline="0" dirty="0">
                <a:ln>
                  <a:noFill/>
                </a:ln>
                <a:solidFill>
                  <a:schemeClr val="tx1"/>
                </a:solidFill>
                <a:effectLst/>
              </a:rPr>
              <a:t> </a:t>
            </a:r>
            <a:endParaRPr kumimoji="0" lang="en-US" altLang="en-US" sz="3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2000" b="0" i="0" u="none" strike="noStrike" cap="none" normalizeH="0" baseline="0" dirty="0">
                <a:ln>
                  <a:noFill/>
                </a:ln>
                <a:solidFill>
                  <a:srgbClr val="000000"/>
                </a:solidFill>
                <a:effectLst/>
                <a:latin typeface="+mj-lt"/>
                <a:cs typeface="Arial" panose="020B0604020202020204" pitchFamily="34" charset="0"/>
              </a:rPr>
              <a:t>The above command saves the installation locally in the </a:t>
            </a:r>
            <a:r>
              <a:rPr kumimoji="0" lang="en-US" altLang="en-US" sz="2000" b="1" i="0" u="none" strike="noStrike" cap="none" normalizeH="0" baseline="0" dirty="0" err="1">
                <a:ln>
                  <a:noFill/>
                </a:ln>
                <a:solidFill>
                  <a:srgbClr val="000000"/>
                </a:solidFill>
                <a:effectLst/>
                <a:latin typeface="+mj-lt"/>
                <a:cs typeface="Arial" panose="020B0604020202020204" pitchFamily="34" charset="0"/>
              </a:rPr>
              <a:t>node_modules</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directory and creates a directory express inside </a:t>
            </a:r>
            <a:r>
              <a:rPr kumimoji="0" lang="en-US" altLang="en-US" sz="2000" b="0" i="0" u="none" strike="noStrike" cap="none" normalizeH="0" baseline="0" dirty="0" err="1">
                <a:ln>
                  <a:noFill/>
                </a:ln>
                <a:solidFill>
                  <a:srgbClr val="000000"/>
                </a:solidFill>
                <a:effectLst/>
                <a:latin typeface="+mj-lt"/>
                <a:cs typeface="Arial" panose="020B0604020202020204" pitchFamily="34" charset="0"/>
              </a:rPr>
              <a:t>node_modules</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You should install the following important modules along with express −</a:t>
            </a:r>
          </a:p>
          <a:p>
            <a:pPr marL="0" marR="0" lvl="0" indent="0" algn="l" defTabSz="914400" rtl="0" eaLnBrk="0" fontAlgn="base" latinLnBrk="0" hangingPunct="0">
              <a:lnSpc>
                <a:spcPct val="100000"/>
              </a:lnSpc>
              <a:spcBef>
                <a:spcPts val="600"/>
              </a:spcBef>
              <a:spcAft>
                <a:spcPts val="600"/>
              </a:spcAft>
              <a:buClrTx/>
              <a:buSzTx/>
              <a:buFontTx/>
              <a:buChar char="•"/>
              <a:tabLst/>
            </a:pPr>
            <a:r>
              <a:rPr kumimoji="0" lang="en-US" altLang="en-US" sz="2000" b="1" i="0" u="none" strike="noStrike" cap="none" normalizeH="0" baseline="0" dirty="0">
                <a:ln>
                  <a:noFill/>
                </a:ln>
                <a:solidFill>
                  <a:srgbClr val="000000"/>
                </a:solidFill>
                <a:effectLst/>
                <a:latin typeface="+mj-lt"/>
                <a:cs typeface="Arial" panose="020B0604020202020204" pitchFamily="34" charset="0"/>
              </a:rPr>
              <a:t>body-parser</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 This is a node.js middleware for handling JSON, Raw, Text and URL encoded </a:t>
            </a:r>
            <a:r>
              <a:rPr kumimoji="0" lang="en-US" altLang="en-US" sz="2000" b="0" i="0" u="none" strike="noStrike" cap="none" normalizeH="0" baseline="0" dirty="0">
                <a:ln>
                  <a:noFill/>
                </a:ln>
                <a:solidFill>
                  <a:srgbClr val="000000"/>
                </a:solidFill>
                <a:effectLst/>
                <a:highlight>
                  <a:srgbClr val="FFFF00"/>
                </a:highlight>
                <a:latin typeface="+mj-lt"/>
                <a:cs typeface="Arial" panose="020B0604020202020204" pitchFamily="34" charset="0"/>
              </a:rPr>
              <a:t>form data.</a:t>
            </a:r>
            <a:endParaRPr kumimoji="0" lang="en-US" altLang="en-US" sz="2000" b="0" i="0" u="none" strike="noStrike" cap="none" normalizeH="0" baseline="0" dirty="0">
              <a:ln>
                <a:noFill/>
              </a:ln>
              <a:solidFill>
                <a:schemeClr val="tx1"/>
              </a:solidFill>
              <a:effectLst/>
              <a:highlight>
                <a:srgbClr val="FFFF00"/>
              </a:highlight>
              <a:latin typeface="+mj-lt"/>
              <a:cs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Char char="•"/>
              <a:tabLst/>
            </a:pPr>
            <a:r>
              <a:rPr kumimoji="0" lang="en-US" altLang="en-US" sz="2000" b="1" i="0" u="none" strike="noStrike" cap="none" normalizeH="0" baseline="0" dirty="0">
                <a:ln>
                  <a:noFill/>
                </a:ln>
                <a:solidFill>
                  <a:srgbClr val="000000"/>
                </a:solidFill>
                <a:effectLst/>
                <a:latin typeface="+mj-lt"/>
                <a:cs typeface="Arial" panose="020B0604020202020204" pitchFamily="34" charset="0"/>
              </a:rPr>
              <a:t>cookie-parser</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 Parse Cookie header and populate </a:t>
            </a:r>
            <a:r>
              <a:rPr kumimoji="0" lang="en-US" altLang="en-US" sz="2000" b="0" i="0" u="none" strike="noStrike" cap="none" normalizeH="0" baseline="0" dirty="0" err="1">
                <a:ln>
                  <a:noFill/>
                </a:ln>
                <a:solidFill>
                  <a:srgbClr val="000000"/>
                </a:solidFill>
                <a:effectLst/>
                <a:latin typeface="+mj-lt"/>
                <a:cs typeface="Arial" panose="020B0604020202020204" pitchFamily="34" charset="0"/>
              </a:rPr>
              <a:t>req.cookies</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with an object keyed by the cookie names.</a:t>
            </a:r>
            <a:endParaRPr kumimoji="0" lang="en-US" altLang="en-US" sz="2000" b="0" i="0" u="none" strike="noStrike" cap="none" normalizeH="0" baseline="0" dirty="0">
              <a:ln>
                <a:noFill/>
              </a:ln>
              <a:solidFill>
                <a:schemeClr val="tx1"/>
              </a:solidFill>
              <a:effectLst/>
              <a:latin typeface="+mj-lt"/>
              <a:cs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Char char="•"/>
              <a:tabLst/>
            </a:pPr>
            <a:r>
              <a:rPr kumimoji="0" lang="en-US" altLang="en-US" sz="2000" b="1" i="0" u="none" strike="noStrike" cap="none" normalizeH="0" baseline="0" dirty="0" err="1">
                <a:ln>
                  <a:noFill/>
                </a:ln>
                <a:solidFill>
                  <a:srgbClr val="000000"/>
                </a:solidFill>
                <a:effectLst/>
                <a:latin typeface="+mj-lt"/>
                <a:cs typeface="Arial" panose="020B0604020202020204" pitchFamily="34" charset="0"/>
              </a:rPr>
              <a:t>multer</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 This is a node.js middleware for handling multipart/form-data.</a:t>
            </a:r>
          </a:p>
          <a:p>
            <a:pPr marL="0" marR="0" lvl="0" indent="0" algn="l" defTabSz="914400" rtl="0" eaLnBrk="0" fontAlgn="base" latinLnBrk="0" hangingPunct="0">
              <a:lnSpc>
                <a:spcPct val="100000"/>
              </a:lnSpc>
              <a:spcBef>
                <a:spcPts val="600"/>
              </a:spcBef>
              <a:spcAft>
                <a:spcPts val="600"/>
              </a:spcAft>
              <a:buClrTx/>
              <a:buSzTx/>
              <a:buFontTx/>
              <a:buChar char="•"/>
              <a:tabLst/>
            </a:pPr>
            <a:endParaRPr kumimoji="0" lang="en-US" altLang="en-US" sz="2000" b="0" i="0" u="none" strike="noStrike" cap="none" normalizeH="0" baseline="0" dirty="0">
              <a:ln>
                <a:noFill/>
              </a:ln>
              <a:solidFill>
                <a:srgbClr val="000000"/>
              </a:solidFill>
              <a:effectLst/>
              <a:latin typeface="+mj-lt"/>
              <a:cs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a:t>
            </a:r>
            <a:r>
              <a:rPr kumimoji="0" lang="en-US" altLang="en-US" sz="2000" b="1" i="0" u="none" strike="noStrike" cap="none" normalizeH="0" baseline="0" dirty="0" err="1">
                <a:ln>
                  <a:noFill/>
                </a:ln>
                <a:solidFill>
                  <a:schemeClr val="tx1"/>
                </a:solidFill>
                <a:effectLst/>
                <a:latin typeface="+mj-lt"/>
                <a:cs typeface="Courier New" panose="02070309020205020404" pitchFamily="49" charset="0"/>
              </a:rPr>
              <a:t>npm</a:t>
            </a: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install body-parser --save </a:t>
            </a: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a:t>
            </a:r>
            <a:r>
              <a:rPr kumimoji="0" lang="en-US" altLang="en-US" sz="2000" b="1" i="0" u="none" strike="noStrike" cap="none" normalizeH="0" baseline="0" dirty="0" err="1">
                <a:ln>
                  <a:noFill/>
                </a:ln>
                <a:solidFill>
                  <a:schemeClr val="tx1"/>
                </a:solidFill>
                <a:effectLst/>
                <a:latin typeface="+mj-lt"/>
                <a:cs typeface="Courier New" panose="02070309020205020404" pitchFamily="49" charset="0"/>
              </a:rPr>
              <a:t>npm</a:t>
            </a: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install cookie-parser --save </a:t>
            </a: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a:t>
            </a:r>
            <a:r>
              <a:rPr kumimoji="0" lang="en-US" altLang="en-US" sz="2000" b="1" i="0" u="none" strike="noStrike" cap="none" normalizeH="0" baseline="0" dirty="0" err="1">
                <a:ln>
                  <a:noFill/>
                </a:ln>
                <a:solidFill>
                  <a:schemeClr val="tx1"/>
                </a:solidFill>
                <a:effectLst/>
                <a:latin typeface="+mj-lt"/>
                <a:cs typeface="Courier New" panose="02070309020205020404" pitchFamily="49" charset="0"/>
              </a:rPr>
              <a:t>npm</a:t>
            </a: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install </a:t>
            </a:r>
            <a:r>
              <a:rPr kumimoji="0" lang="en-US" altLang="en-US" sz="2000" b="1" i="0" u="none" strike="noStrike" cap="none" normalizeH="0" baseline="0" dirty="0" err="1">
                <a:ln>
                  <a:noFill/>
                </a:ln>
                <a:solidFill>
                  <a:schemeClr val="tx1"/>
                </a:solidFill>
                <a:effectLst/>
                <a:latin typeface="+mj-lt"/>
                <a:cs typeface="Courier New" panose="02070309020205020404" pitchFamily="49" charset="0"/>
              </a:rPr>
              <a:t>multer</a:t>
            </a: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--save</a:t>
            </a:r>
            <a:r>
              <a:rPr kumimoji="0" lang="en-US" altLang="en-US" sz="2000" b="1" i="0" u="none" strike="noStrike" cap="none" normalizeH="0" baseline="0" dirty="0">
                <a:ln>
                  <a:noFill/>
                </a:ln>
                <a:solidFill>
                  <a:schemeClr val="tx1"/>
                </a:solidFill>
                <a:effectLst/>
                <a:latin typeface="+mj-lt"/>
              </a:rPr>
              <a:t> </a:t>
            </a:r>
          </a:p>
        </p:txBody>
      </p:sp>
    </p:spTree>
    <p:extLst>
      <p:ext uri="{BB962C8B-B14F-4D97-AF65-F5344CB8AC3E}">
        <p14:creationId xmlns:p14="http://schemas.microsoft.com/office/powerpoint/2010/main" val="2952269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890B72-28A5-43B1-98A1-8C4BB6DE77BC}"/>
              </a:ext>
            </a:extLst>
          </p:cNvPr>
          <p:cNvSpPr>
            <a:spLocks noGrp="1"/>
          </p:cNvSpPr>
          <p:nvPr>
            <p:ph type="title"/>
          </p:nvPr>
        </p:nvSpPr>
        <p:spPr>
          <a:xfrm>
            <a:off x="924231" y="33439"/>
            <a:ext cx="10154265" cy="647598"/>
          </a:xfrm>
        </p:spPr>
        <p:txBody>
          <a:bodyPr>
            <a:normAutofit fontScale="90000"/>
          </a:bodyPr>
          <a:lstStyle/>
          <a:p>
            <a:r>
              <a:rPr lang="en-IN" dirty="0"/>
              <a:t>Demo1:</a:t>
            </a:r>
            <a:r>
              <a:rPr lang="en-IN" b="0" i="0" dirty="0">
                <a:effectLst/>
                <a:latin typeface="Arial" panose="020B0604020202020204" pitchFamily="34" charset="0"/>
              </a:rPr>
              <a:t>Hello world Example</a:t>
            </a:r>
            <a:r>
              <a:rPr lang="en-IN" dirty="0"/>
              <a:t>.</a:t>
            </a:r>
          </a:p>
        </p:txBody>
      </p:sp>
      <p:sp>
        <p:nvSpPr>
          <p:cNvPr id="3" name="Content Placeholder 2">
            <a:extLst>
              <a:ext uri="{FF2B5EF4-FFF2-40B4-BE49-F238E27FC236}">
                <a16:creationId xmlns:a16="http://schemas.microsoft.com/office/drawing/2014/main" xmlns="" id="{2496282F-9057-44C1-A244-F409744722D7}"/>
              </a:ext>
            </a:extLst>
          </p:cNvPr>
          <p:cNvSpPr>
            <a:spLocks noGrp="1"/>
          </p:cNvSpPr>
          <p:nvPr>
            <p:ph idx="1"/>
          </p:nvPr>
        </p:nvSpPr>
        <p:spPr>
          <a:xfrm>
            <a:off x="216310" y="681038"/>
            <a:ext cx="11513574" cy="916364"/>
          </a:xfrm>
        </p:spPr>
        <p:txBody>
          <a:bodyPr>
            <a:normAutofit/>
          </a:bodyPr>
          <a:lstStyle/>
          <a:p>
            <a:r>
              <a:rPr lang="en-US" sz="2000" dirty="0"/>
              <a:t>Following is a very basic Express app which starts a server and listens on port 8081 for connection. This app responds with Hello World! for requests to the homepage. For every other path, it will respond with a 404 Not Found.</a:t>
            </a:r>
            <a:endParaRPr lang="en-IN" sz="2000" dirty="0"/>
          </a:p>
        </p:txBody>
      </p:sp>
      <p:sp>
        <p:nvSpPr>
          <p:cNvPr id="5" name="TextBox 4">
            <a:extLst>
              <a:ext uri="{FF2B5EF4-FFF2-40B4-BE49-F238E27FC236}">
                <a16:creationId xmlns:a16="http://schemas.microsoft.com/office/drawing/2014/main" xmlns="" id="{B8DED620-B093-482D-8DBA-D74406A6D9A0}"/>
              </a:ext>
            </a:extLst>
          </p:cNvPr>
          <p:cNvSpPr txBox="1"/>
          <p:nvPr/>
        </p:nvSpPr>
        <p:spPr>
          <a:xfrm>
            <a:off x="216310" y="1597401"/>
            <a:ext cx="6135328" cy="3970318"/>
          </a:xfrm>
          <a:prstGeom prst="rect">
            <a:avLst/>
          </a:prstGeom>
          <a:noFill/>
        </p:spPr>
        <p:txBody>
          <a:bodyPr wrap="square">
            <a:spAutoFit/>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express</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'express'</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app</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express</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server</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8081</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host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server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address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address</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port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server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address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port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"Example app listening at http://%s:%s"</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host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port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p:txBody>
      </p:sp>
      <p:sp>
        <p:nvSpPr>
          <p:cNvPr id="6" name="Rectangle 1">
            <a:extLst>
              <a:ext uri="{FF2B5EF4-FFF2-40B4-BE49-F238E27FC236}">
                <a16:creationId xmlns:a16="http://schemas.microsoft.com/office/drawing/2014/main" xmlns="" id="{88A6DC13-3C98-4FEF-AB8A-13CE3F09FC7C}"/>
              </a:ext>
            </a:extLst>
          </p:cNvPr>
          <p:cNvSpPr>
            <a:spLocks noChangeArrowheads="1"/>
          </p:cNvSpPr>
          <p:nvPr/>
        </p:nvSpPr>
        <p:spPr bwMode="auto">
          <a:xfrm>
            <a:off x="6447502" y="1375470"/>
            <a:ext cx="5378246" cy="120032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You will see the following output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Example app listening at http://0.0.0.0:8081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Open http://127.0.0.1:8081/ in any browser to see the following result.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8" name="TextBox 7">
            <a:extLst>
              <a:ext uri="{FF2B5EF4-FFF2-40B4-BE49-F238E27FC236}">
                <a16:creationId xmlns:a16="http://schemas.microsoft.com/office/drawing/2014/main" xmlns="" id="{061FAC1A-EBA3-494B-B6BF-85DE72C6EE8B}"/>
              </a:ext>
            </a:extLst>
          </p:cNvPr>
          <p:cNvSpPr txBox="1"/>
          <p:nvPr/>
        </p:nvSpPr>
        <p:spPr>
          <a:xfrm>
            <a:off x="6351638" y="2591553"/>
            <a:ext cx="5985388" cy="2308324"/>
          </a:xfrm>
          <a:prstGeom prst="rect">
            <a:avLst/>
          </a:prstGeom>
          <a:noFill/>
        </p:spPr>
        <p:txBody>
          <a:bodyPr wrap="square">
            <a:spAutoFit/>
          </a:bodyPr>
          <a:lstStyle/>
          <a:p>
            <a:r>
              <a:rPr lang="en-US" b="0" i="0" dirty="0">
                <a:solidFill>
                  <a:srgbClr val="181717"/>
                </a:solidFill>
                <a:effectLst/>
                <a:latin typeface="Verdana" panose="020B0604030504040204" pitchFamily="34" charset="0"/>
              </a:rPr>
              <a:t>In the above example, we imported Express.js module using require() function. </a:t>
            </a:r>
          </a:p>
          <a:p>
            <a:endParaRPr lang="en-US" dirty="0">
              <a:solidFill>
                <a:srgbClr val="181717"/>
              </a:solidFill>
              <a:latin typeface="Verdana" panose="020B0604030504040204" pitchFamily="34" charset="0"/>
            </a:endParaRPr>
          </a:p>
          <a:p>
            <a:r>
              <a:rPr lang="en-US" b="0" i="0" dirty="0">
                <a:solidFill>
                  <a:srgbClr val="181717"/>
                </a:solidFill>
                <a:effectLst/>
                <a:latin typeface="Verdana" panose="020B0604030504040204" pitchFamily="34" charset="0"/>
              </a:rPr>
              <a:t>The express module returns a function. </a:t>
            </a:r>
          </a:p>
          <a:p>
            <a:endParaRPr lang="en-US" dirty="0">
              <a:solidFill>
                <a:srgbClr val="181717"/>
              </a:solidFill>
              <a:latin typeface="Verdana" panose="020B0604030504040204" pitchFamily="34" charset="0"/>
            </a:endParaRPr>
          </a:p>
          <a:p>
            <a:r>
              <a:rPr lang="en-US" b="0" i="0" dirty="0">
                <a:solidFill>
                  <a:srgbClr val="181717"/>
                </a:solidFill>
                <a:effectLst/>
                <a:latin typeface="Verdana" panose="020B0604030504040204" pitchFamily="34" charset="0"/>
              </a:rPr>
              <a:t>This function returns an object which can be used to configure Express application (app in the above example).</a:t>
            </a:r>
            <a:endParaRPr lang="en-IN" dirty="0"/>
          </a:p>
        </p:txBody>
      </p:sp>
      <p:sp>
        <p:nvSpPr>
          <p:cNvPr id="9" name="TextBox 8">
            <a:extLst>
              <a:ext uri="{FF2B5EF4-FFF2-40B4-BE49-F238E27FC236}">
                <a16:creationId xmlns:a16="http://schemas.microsoft.com/office/drawing/2014/main" xmlns="" id="{0FE880DE-E0AC-471B-8B07-E1384B7659BB}"/>
              </a:ext>
            </a:extLst>
          </p:cNvPr>
          <p:cNvSpPr txBox="1"/>
          <p:nvPr/>
        </p:nvSpPr>
        <p:spPr>
          <a:xfrm>
            <a:off x="3159841" y="5083457"/>
            <a:ext cx="8665907" cy="1200329"/>
          </a:xfrm>
          <a:prstGeom prst="rect">
            <a:avLst/>
          </a:prstGeom>
          <a:noFill/>
        </p:spPr>
        <p:txBody>
          <a:bodyPr wrap="square">
            <a:spAutoFit/>
          </a:bodyPr>
          <a:lstStyle/>
          <a:p>
            <a:r>
              <a:rPr lang="en-US" b="0" i="0" dirty="0">
                <a:solidFill>
                  <a:srgbClr val="535A60"/>
                </a:solidFill>
                <a:effectLst/>
                <a:latin typeface="Arial" panose="020B0604020202020204" pitchFamily="34" charset="0"/>
              </a:rPr>
              <a:t>If the hostname is omitted, the server will accept connections on any IPv6 address (::) when IPv6 is available, or any IPv4 address (0.0.0.0) otherwise. A port value of zero will assign a random port. Or you can use </a:t>
            </a:r>
            <a:r>
              <a:rPr lang="en-IN" b="0" i="1" dirty="0">
                <a:solidFill>
                  <a:srgbClr val="202122"/>
                </a:solidFill>
                <a:effectLst/>
                <a:latin typeface="Arial" panose="020B0604020202020204" pitchFamily="34" charset="0"/>
              </a:rPr>
              <a:t>0:0:0:0:0:0:0:0</a:t>
            </a:r>
            <a:r>
              <a:rPr lang="en-IN" b="0" i="0" dirty="0">
                <a:solidFill>
                  <a:srgbClr val="202122"/>
                </a:solidFill>
                <a:effectLst/>
                <a:latin typeface="Arial" panose="020B0604020202020204" pitchFamily="34" charset="0"/>
              </a:rPr>
              <a:t>,  are reduced to </a:t>
            </a:r>
            <a:r>
              <a:rPr lang="en-IN" b="1" i="1" dirty="0">
                <a:solidFill>
                  <a:srgbClr val="FF0000"/>
                </a:solidFill>
                <a:effectLst/>
                <a:latin typeface="Arial" panose="020B0604020202020204" pitchFamily="34" charset="0"/>
              </a:rPr>
              <a:t>::</a:t>
            </a:r>
            <a:endParaRPr lang="en-US" b="1" i="0" dirty="0">
              <a:solidFill>
                <a:srgbClr val="FF0000"/>
              </a:solidFill>
              <a:effectLst/>
              <a:latin typeface="Arial" panose="020B0604020202020204" pitchFamily="34" charset="0"/>
            </a:endParaRPr>
          </a:p>
          <a:p>
            <a:endParaRPr lang="en-IN" dirty="0"/>
          </a:p>
        </p:txBody>
      </p:sp>
      <p:sp>
        <p:nvSpPr>
          <p:cNvPr id="7" name="Rectangle 1">
            <a:extLst>
              <a:ext uri="{FF2B5EF4-FFF2-40B4-BE49-F238E27FC236}">
                <a16:creationId xmlns:a16="http://schemas.microsoft.com/office/drawing/2014/main" xmlns="" id="{C7E0947E-C311-4F3D-BAB3-2E17FC74901F}"/>
              </a:ext>
            </a:extLst>
          </p:cNvPr>
          <p:cNvSpPr>
            <a:spLocks noChangeArrowheads="1"/>
          </p:cNvSpPr>
          <p:nvPr/>
        </p:nvSpPr>
        <p:spPr bwMode="auto">
          <a:xfrm>
            <a:off x="3597403" y="5974994"/>
            <a:ext cx="866590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inherit"/>
              </a:rPr>
              <a:t>or use</a:t>
            </a:r>
          </a:p>
          <a:p>
            <a:pPr eaLnBrk="0" fontAlgn="base" hangingPunct="0">
              <a:spcBef>
                <a:spcPct val="0"/>
              </a:spcBef>
              <a:spcAft>
                <a:spcPct val="0"/>
              </a:spcAft>
            </a:pP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server</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8081</a:t>
            </a:r>
            <a:r>
              <a:rPr lang="en-IN" b="0" dirty="0">
                <a:solidFill>
                  <a:srgbClr val="000000"/>
                </a:solidFill>
                <a:effectLst/>
                <a:latin typeface="Consolas" panose="020B0609020204030204" pitchFamily="49" charset="0"/>
              </a:rPr>
              <a:t>,”127.0.0.1”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xmlns="" id="{C6730D77-88D9-4FF8-92D7-C5C39F382645}"/>
              </a:ext>
            </a:extLst>
          </p:cNvPr>
          <p:cNvSpPr txBox="1"/>
          <p:nvPr/>
        </p:nvSpPr>
        <p:spPr>
          <a:xfrm>
            <a:off x="216310" y="5643716"/>
            <a:ext cx="2782529"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Let e=function(){}</a:t>
            </a:r>
          </a:p>
          <a:p>
            <a:r>
              <a:rPr lang="en-IN" dirty="0"/>
              <a:t>Let </a:t>
            </a:r>
            <a:r>
              <a:rPr lang="en-IN" dirty="0" err="1"/>
              <a:t>demoe</a:t>
            </a:r>
            <a:r>
              <a:rPr lang="en-IN" dirty="0"/>
              <a:t>=e;</a:t>
            </a:r>
          </a:p>
          <a:p>
            <a:r>
              <a:rPr lang="en-IN" dirty="0" err="1"/>
              <a:t>demoe</a:t>
            </a:r>
            <a:r>
              <a:rPr lang="en-IN" dirty="0"/>
              <a:t>();</a:t>
            </a:r>
          </a:p>
          <a:p>
            <a:endParaRPr lang="en-IN" dirty="0"/>
          </a:p>
        </p:txBody>
      </p:sp>
    </p:spTree>
    <p:extLst>
      <p:ext uri="{BB962C8B-B14F-4D97-AF65-F5344CB8AC3E}">
        <p14:creationId xmlns:p14="http://schemas.microsoft.com/office/powerpoint/2010/main" val="352793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B585F28E-1D92-C070-C68C-2BE7529D0822}"/>
              </a:ext>
            </a:extLst>
          </p:cNvPr>
          <p:cNvSpPr txBox="1"/>
          <p:nvPr/>
        </p:nvSpPr>
        <p:spPr>
          <a:xfrm>
            <a:off x="633619" y="1597032"/>
            <a:ext cx="10438571" cy="923330"/>
          </a:xfrm>
          <a:prstGeom prst="rect">
            <a:avLst/>
          </a:prstGeom>
          <a:noFill/>
        </p:spPr>
        <p:txBody>
          <a:bodyPr wrap="square">
            <a:spAutoFit/>
          </a:bodyPr>
          <a:lstStyle/>
          <a:p>
            <a:r>
              <a:rPr lang="en-US" dirty="0"/>
              <a:t>Returns the bound address, the address family name, and port of the server as reported by the operating system if listening on an IP socket (useful to find which port was assigned when getting an OS-assigned address):{ port: 12346, family: 'IPv4', address: '127.0.0.1' }.</a:t>
            </a:r>
            <a:endParaRPr lang="en-IN" dirty="0"/>
          </a:p>
        </p:txBody>
      </p:sp>
      <p:sp>
        <p:nvSpPr>
          <p:cNvPr id="7" name="TextBox 6">
            <a:extLst>
              <a:ext uri="{FF2B5EF4-FFF2-40B4-BE49-F238E27FC236}">
                <a16:creationId xmlns:a16="http://schemas.microsoft.com/office/drawing/2014/main" xmlns="" id="{2F2EFFFF-9DBA-1CBA-1D82-F9D21D132AB9}"/>
              </a:ext>
            </a:extLst>
          </p:cNvPr>
          <p:cNvSpPr txBox="1"/>
          <p:nvPr/>
        </p:nvSpPr>
        <p:spPr>
          <a:xfrm>
            <a:off x="862220" y="908638"/>
            <a:ext cx="6137412" cy="369332"/>
          </a:xfrm>
          <a:prstGeom prst="rect">
            <a:avLst/>
          </a:prstGeom>
          <a:noFill/>
        </p:spPr>
        <p:txBody>
          <a:bodyPr wrap="square">
            <a:spAutoFit/>
          </a:bodyPr>
          <a:lstStyle/>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host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server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address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address</a:t>
            </a:r>
            <a:endParaRPr lang="en-IN" dirty="0"/>
          </a:p>
        </p:txBody>
      </p:sp>
    </p:spTree>
    <p:extLst>
      <p:ext uri="{BB962C8B-B14F-4D97-AF65-F5344CB8AC3E}">
        <p14:creationId xmlns:p14="http://schemas.microsoft.com/office/powerpoint/2010/main" val="3817932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BD5CE8-5820-4FC9-ADC4-4A39789D4907}"/>
              </a:ext>
            </a:extLst>
          </p:cNvPr>
          <p:cNvSpPr>
            <a:spLocks noGrp="1"/>
          </p:cNvSpPr>
          <p:nvPr>
            <p:ph type="title"/>
          </p:nvPr>
        </p:nvSpPr>
        <p:spPr>
          <a:xfrm>
            <a:off x="1064342" y="70058"/>
            <a:ext cx="10515600" cy="1325563"/>
          </a:xfrm>
        </p:spPr>
        <p:txBody>
          <a:bodyPr/>
          <a:lstStyle/>
          <a:p>
            <a:r>
              <a:rPr lang="en-IN" dirty="0" err="1"/>
              <a:t>Demo:module</a:t>
            </a:r>
            <a:r>
              <a:rPr lang="en-IN" dirty="0"/>
              <a:t> returning function and function returning object.</a:t>
            </a:r>
          </a:p>
        </p:txBody>
      </p:sp>
      <p:sp>
        <p:nvSpPr>
          <p:cNvPr id="3" name="Content Placeholder 2">
            <a:extLst>
              <a:ext uri="{FF2B5EF4-FFF2-40B4-BE49-F238E27FC236}">
                <a16:creationId xmlns:a16="http://schemas.microsoft.com/office/drawing/2014/main" xmlns="" id="{9022115D-8309-4271-B604-8E51ECE0B18D}"/>
              </a:ext>
            </a:extLst>
          </p:cNvPr>
          <p:cNvSpPr>
            <a:spLocks noGrp="1"/>
          </p:cNvSpPr>
          <p:nvPr>
            <p:ph idx="1"/>
          </p:nvPr>
        </p:nvSpPr>
        <p:spPr>
          <a:xfrm>
            <a:off x="356419" y="1627581"/>
            <a:ext cx="4658641" cy="2490736"/>
          </a:xfrm>
        </p:spPr>
        <p:txBody>
          <a:bodyPr>
            <a:normAutofit fontScale="55000" lnSpcReduction="20000"/>
          </a:bodyPr>
          <a:lstStyle/>
          <a:p>
            <a:pPr marL="0" indent="0">
              <a:buNone/>
            </a:pPr>
            <a:r>
              <a:rPr lang="en-US" b="0" dirty="0">
                <a:solidFill>
                  <a:srgbClr val="267F99"/>
                </a:solidFill>
                <a:effectLst/>
                <a:latin typeface="Consolas" panose="020B0609020204030204" pitchFamily="49" charset="0"/>
              </a:rPr>
              <a:t>//</a:t>
            </a:r>
            <a:r>
              <a:rPr lang="en-IN" b="0" dirty="0">
                <a:solidFill>
                  <a:srgbClr val="A31515"/>
                </a:solidFill>
                <a:effectLst/>
                <a:latin typeface="Consolas" panose="020B0609020204030204" pitchFamily="49" charset="0"/>
              </a:rPr>
              <a:t> function_returnobj.js</a:t>
            </a:r>
          </a:p>
          <a:p>
            <a:pPr marL="0" indent="0">
              <a:buNone/>
            </a:pPr>
            <a:endParaRPr lang="en-US" b="0" dirty="0">
              <a:solidFill>
                <a:srgbClr val="267F99"/>
              </a:solidFill>
              <a:effectLst/>
              <a:latin typeface="Consolas" panose="020B0609020204030204" pitchFamily="49" charset="0"/>
            </a:endParaRPr>
          </a:p>
          <a:p>
            <a:pPr marL="0" indent="0">
              <a:buNone/>
            </a:pPr>
            <a:r>
              <a:rPr lang="en-US" b="0" dirty="0" err="1">
                <a:solidFill>
                  <a:srgbClr val="267F99"/>
                </a:solidFill>
                <a:effectLst/>
                <a:latin typeface="Consolas" panose="020B0609020204030204" pitchFamily="49" charset="0"/>
              </a:rPr>
              <a:t>exports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myfunction</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Object</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pPr marL="0" indent="0">
              <a:buNone/>
            </a:pPr>
            <a:endParaRPr lang="en-IN" dirty="0"/>
          </a:p>
        </p:txBody>
      </p:sp>
      <p:sp>
        <p:nvSpPr>
          <p:cNvPr id="5" name="TextBox 4">
            <a:extLst>
              <a:ext uri="{FF2B5EF4-FFF2-40B4-BE49-F238E27FC236}">
                <a16:creationId xmlns:a16="http://schemas.microsoft.com/office/drawing/2014/main" xmlns="" id="{1174F170-2B84-47E0-8292-CD30E37E581B}"/>
              </a:ext>
            </a:extLst>
          </p:cNvPr>
          <p:cNvSpPr txBox="1"/>
          <p:nvPr/>
        </p:nvSpPr>
        <p:spPr>
          <a:xfrm>
            <a:off x="88490" y="4118317"/>
            <a:ext cx="5690141" cy="1477328"/>
          </a:xfrm>
          <a:prstGeom prst="rect">
            <a:avLst/>
          </a:prstGeom>
          <a:noFill/>
        </p:spPr>
        <p:txBody>
          <a:bodyPr wrap="square">
            <a:spAutoFit/>
          </a:bodyPr>
          <a:lstStyle/>
          <a:p>
            <a:r>
              <a:rPr lang="en-IN" b="0" dirty="0">
                <a:solidFill>
                  <a:srgbClr val="0000FF"/>
                </a:solidFill>
                <a:effectLst/>
                <a:latin typeface="Consolas" panose="020B0609020204030204" pitchFamily="49" charset="0"/>
              </a:rPr>
              <a:t>//useit.js</a:t>
            </a:r>
          </a:p>
          <a:p>
            <a:endParaRPr lang="en-IN" b="0" dirty="0">
              <a:solidFill>
                <a:srgbClr val="0000FF"/>
              </a:solidFill>
              <a:effectLst/>
              <a:latin typeface="Consolas" panose="020B0609020204030204" pitchFamily="49" charset="0"/>
            </a:endParaRP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f</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function_returnobj</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o</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f</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myfunction</a:t>
            </a:r>
            <a:r>
              <a:rPr lang="en-IN" b="0" dirty="0">
                <a:solidFill>
                  <a:srgbClr val="000000"/>
                </a:solidFill>
                <a:effectLst/>
                <a:latin typeface="Consolas" panose="020B0609020204030204" pitchFamily="49" charset="0"/>
              </a:rPr>
              <a:t>();</a:t>
            </a: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o</a:t>
            </a:r>
            <a:r>
              <a:rPr lang="en-IN" b="0" dirty="0">
                <a:solidFill>
                  <a:srgbClr val="000000"/>
                </a:solidFill>
                <a:effectLst/>
                <a:latin typeface="Consolas" panose="020B0609020204030204" pitchFamily="49" charset="0"/>
              </a:rPr>
              <a:t>);</a:t>
            </a:r>
          </a:p>
        </p:txBody>
      </p:sp>
      <p:sp>
        <p:nvSpPr>
          <p:cNvPr id="4" name="Content Placeholder 2">
            <a:extLst>
              <a:ext uri="{FF2B5EF4-FFF2-40B4-BE49-F238E27FC236}">
                <a16:creationId xmlns:a16="http://schemas.microsoft.com/office/drawing/2014/main" xmlns="" id="{8FB45DCB-7FD8-0D99-090C-D6A767EF4877}"/>
              </a:ext>
            </a:extLst>
          </p:cNvPr>
          <p:cNvSpPr txBox="1">
            <a:spLocks/>
          </p:cNvSpPr>
          <p:nvPr/>
        </p:nvSpPr>
        <p:spPr>
          <a:xfrm>
            <a:off x="5976365" y="1262355"/>
            <a:ext cx="4658641" cy="2490736"/>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267F99"/>
                </a:solidFill>
                <a:latin typeface="Consolas" panose="020B0609020204030204" pitchFamily="49" charset="0"/>
              </a:rPr>
              <a:t>//</a:t>
            </a:r>
            <a:r>
              <a:rPr lang="en-IN" dirty="0">
                <a:solidFill>
                  <a:srgbClr val="A31515"/>
                </a:solidFill>
                <a:latin typeface="Consolas" panose="020B0609020204030204" pitchFamily="49" charset="0"/>
              </a:rPr>
              <a:t> function_returnobj.js</a:t>
            </a:r>
          </a:p>
          <a:p>
            <a:pPr marL="0" indent="0">
              <a:buFont typeface="Arial" panose="020B0604020202020204" pitchFamily="34" charset="0"/>
              <a:buNone/>
            </a:pPr>
            <a:endParaRPr lang="en-US" dirty="0">
              <a:solidFill>
                <a:srgbClr val="267F99"/>
              </a:solidFill>
              <a:latin typeface="Consolas" panose="020B0609020204030204" pitchFamily="49" charset="0"/>
            </a:endParaRPr>
          </a:p>
          <a:p>
            <a:pPr marL="0" indent="0">
              <a:buFont typeface="Arial" panose="020B0604020202020204" pitchFamily="34" charset="0"/>
              <a:buNone/>
            </a:pPr>
            <a:r>
              <a:rPr lang="en-US" dirty="0">
                <a:solidFill>
                  <a:srgbClr val="267F99"/>
                </a:solidFill>
                <a:latin typeface="Consolas" panose="020B0609020204030204" pitchFamily="49" charset="0"/>
              </a:rPr>
              <a:t>exports </a:t>
            </a:r>
            <a:r>
              <a:rPr lang="en-US" dirty="0">
                <a:solidFill>
                  <a:srgbClr val="0000FF"/>
                </a:solidFill>
                <a:latin typeface="Consolas" panose="020B0609020204030204" pitchFamily="49" charset="0"/>
              </a:rPr>
              <a:t>function</a:t>
            </a:r>
            <a:r>
              <a:rPr lang="en-US" dirty="0">
                <a:solidFill>
                  <a:srgbClr val="000000"/>
                </a:solidFill>
                <a:latin typeface="Consolas" panose="020B0609020204030204" pitchFamily="49" charset="0"/>
              </a:rPr>
              <a:t> ()</a:t>
            </a:r>
          </a:p>
          <a:p>
            <a:pPr marL="0" indent="0">
              <a:buFont typeface="Arial" panose="020B0604020202020204" pitchFamily="34" charset="0"/>
              <a:buNone/>
            </a:pPr>
            <a:r>
              <a:rPr lang="en-US" dirty="0">
                <a:solidFill>
                  <a:srgbClr val="000000"/>
                </a:solidFill>
                <a:latin typeface="Consolas" panose="020B0609020204030204" pitchFamily="49" charset="0"/>
              </a:rPr>
              <a:t>{</a:t>
            </a:r>
          </a:p>
          <a:p>
            <a:pPr marL="0" indent="0">
              <a:buFont typeface="Arial" panose="020B0604020202020204" pitchFamily="34" charset="0"/>
              <a:buNone/>
            </a:pPr>
            <a:r>
              <a:rPr lang="en-US" dirty="0">
                <a:solidFill>
                  <a:srgbClr val="000000"/>
                </a:solidFill>
                <a:latin typeface="Consolas" panose="020B0609020204030204" pitchFamily="49" charset="0"/>
              </a:rPr>
              <a:t> </a:t>
            </a:r>
            <a:r>
              <a:rPr lang="en-US" dirty="0">
                <a:solidFill>
                  <a:srgbClr val="AF00DB"/>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new</a:t>
            </a:r>
            <a:r>
              <a:rPr lang="en-US" dirty="0">
                <a:solidFill>
                  <a:srgbClr val="000000"/>
                </a:solidFill>
                <a:latin typeface="Consolas" panose="020B0609020204030204" pitchFamily="49" charset="0"/>
              </a:rPr>
              <a:t> </a:t>
            </a:r>
            <a:r>
              <a:rPr lang="en-US" dirty="0">
                <a:solidFill>
                  <a:srgbClr val="267F99"/>
                </a:solidFill>
                <a:latin typeface="Consolas" panose="020B0609020204030204" pitchFamily="49" charset="0"/>
              </a:rPr>
              <a:t>Object</a:t>
            </a:r>
            <a:r>
              <a:rPr lang="en-US" dirty="0">
                <a:solidFill>
                  <a:srgbClr val="000000"/>
                </a:solidFill>
                <a:latin typeface="Consolas" panose="020B0609020204030204" pitchFamily="49" charset="0"/>
              </a:rPr>
              <a:t>();</a:t>
            </a:r>
          </a:p>
          <a:p>
            <a:pPr marL="0" indent="0">
              <a:buFont typeface="Arial" panose="020B0604020202020204" pitchFamily="34" charset="0"/>
              <a:buNone/>
            </a:pPr>
            <a:r>
              <a:rPr lang="en-US" dirty="0">
                <a:solidFill>
                  <a:srgbClr val="000000"/>
                </a:solidFill>
                <a:latin typeface="Consolas" panose="020B0609020204030204" pitchFamily="49" charset="0"/>
              </a:rPr>
              <a:t/>
            </a: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a:t>
            </a:r>
          </a:p>
          <a:p>
            <a:pPr marL="0" indent="0">
              <a:buFont typeface="Arial" panose="020B0604020202020204" pitchFamily="34" charset="0"/>
              <a:buNone/>
            </a:pPr>
            <a:r>
              <a:rPr lang="en-US" dirty="0">
                <a:solidFill>
                  <a:srgbClr val="000000"/>
                </a:solidFill>
                <a:latin typeface="Consolas" panose="020B0609020204030204" pitchFamily="49" charset="0"/>
              </a:rPr>
              <a:t/>
            </a:r>
            <a:br>
              <a:rPr lang="en-US" dirty="0">
                <a:solidFill>
                  <a:srgbClr val="000000"/>
                </a:solidFill>
                <a:latin typeface="Consolas" panose="020B0609020204030204" pitchFamily="49" charset="0"/>
              </a:rPr>
            </a:br>
            <a:endParaRPr lang="en-US" dirty="0">
              <a:solidFill>
                <a:srgbClr val="000000"/>
              </a:solidFill>
              <a:latin typeface="Consolas" panose="020B0609020204030204" pitchFamily="49" charset="0"/>
            </a:endParaRPr>
          </a:p>
          <a:p>
            <a:pPr marL="0" indent="0">
              <a:buFont typeface="Arial" panose="020B0604020202020204" pitchFamily="34" charset="0"/>
              <a:buNone/>
            </a:pPr>
            <a:endParaRPr lang="en-IN" dirty="0"/>
          </a:p>
        </p:txBody>
      </p:sp>
      <p:sp>
        <p:nvSpPr>
          <p:cNvPr id="6" name="TextBox 5">
            <a:extLst>
              <a:ext uri="{FF2B5EF4-FFF2-40B4-BE49-F238E27FC236}">
                <a16:creationId xmlns:a16="http://schemas.microsoft.com/office/drawing/2014/main" xmlns="" id="{B4952775-5199-CB6E-2C34-128DDAB25502}"/>
              </a:ext>
            </a:extLst>
          </p:cNvPr>
          <p:cNvSpPr txBox="1"/>
          <p:nvPr/>
        </p:nvSpPr>
        <p:spPr>
          <a:xfrm>
            <a:off x="6145440" y="3762893"/>
            <a:ext cx="5690141" cy="1477328"/>
          </a:xfrm>
          <a:prstGeom prst="rect">
            <a:avLst/>
          </a:prstGeom>
          <a:noFill/>
        </p:spPr>
        <p:txBody>
          <a:bodyPr wrap="square">
            <a:spAutoFit/>
          </a:bodyPr>
          <a:lstStyle/>
          <a:p>
            <a:r>
              <a:rPr lang="en-IN" b="0" dirty="0">
                <a:solidFill>
                  <a:srgbClr val="0000FF"/>
                </a:solidFill>
                <a:effectLst/>
                <a:latin typeface="Consolas" panose="020B0609020204030204" pitchFamily="49" charset="0"/>
              </a:rPr>
              <a:t>//useit.js</a:t>
            </a:r>
          </a:p>
          <a:p>
            <a:endParaRPr lang="en-IN" b="0" dirty="0">
              <a:solidFill>
                <a:srgbClr val="0000FF"/>
              </a:solidFill>
              <a:effectLst/>
              <a:latin typeface="Consolas" panose="020B0609020204030204" pitchFamily="49" charset="0"/>
            </a:endParaRP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f</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function_returnobj</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o</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f</a:t>
            </a:r>
            <a:r>
              <a:rPr lang="en-IN" b="0" dirty="0">
                <a:solidFill>
                  <a:srgbClr val="000000"/>
                </a:solidFill>
                <a:effectLst/>
                <a:latin typeface="Consolas" panose="020B0609020204030204" pitchFamily="49" charset="0"/>
              </a:rPr>
              <a:t>();</a:t>
            </a: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o</a:t>
            </a:r>
            <a:r>
              <a:rPr lang="en-I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7964124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xmlns="" id="{0BF96971-8DA1-4D41-B8C2-CFB697A2F422}"/>
              </a:ext>
            </a:extLst>
          </p:cNvPr>
          <p:cNvSpPr>
            <a:spLocks noChangeArrowheads="1"/>
          </p:cNvSpPr>
          <p:nvPr/>
        </p:nvSpPr>
        <p:spPr bwMode="auto">
          <a:xfrm>
            <a:off x="393291" y="2212821"/>
            <a:ext cx="10726994" cy="226215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313131"/>
                </a:solidFill>
                <a:effectLst/>
                <a:latin typeface="+mj-lt"/>
                <a:cs typeface="Arial" panose="020B0604020202020204" pitchFamily="34" charset="0"/>
              </a:rPr>
              <a:t>Request Object</a:t>
            </a:r>
            <a:r>
              <a:rPr kumimoji="0" lang="en-US" altLang="en-US" b="0" i="0" u="none" strike="noStrike" cap="none" normalizeH="0" baseline="0" dirty="0">
                <a:ln>
                  <a:noFill/>
                </a:ln>
                <a:solidFill>
                  <a:srgbClr val="000000"/>
                </a:solidFill>
                <a:effectLst/>
                <a:latin typeface="+mj-lt"/>
                <a:cs typeface="Arial" panose="020B0604020202020204" pitchFamily="34" charset="0"/>
              </a:rPr>
              <a:t> − The request object represents the HTTP request and has properties for the request query string, parameters, body, HTTP headers, and so 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mj-l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313131"/>
                </a:solidFill>
                <a:effectLst/>
                <a:latin typeface="+mj-lt"/>
                <a:cs typeface="Arial" panose="020B0604020202020204" pitchFamily="34" charset="0"/>
              </a:rPr>
              <a:t>Response Object</a:t>
            </a:r>
            <a:r>
              <a:rPr kumimoji="0" lang="en-US" altLang="en-US" b="0" i="0" u="none" strike="noStrike" cap="none" normalizeH="0" baseline="0" dirty="0">
                <a:ln>
                  <a:noFill/>
                </a:ln>
                <a:solidFill>
                  <a:srgbClr val="000000"/>
                </a:solidFill>
                <a:effectLst/>
                <a:latin typeface="+mj-lt"/>
                <a:cs typeface="Arial" panose="020B0604020202020204" pitchFamily="34" charset="0"/>
              </a:rPr>
              <a:t> − The response object represents the HTTP response that an Express app sends when it gets an HTTP request.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mj-l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mj-lt"/>
                <a:cs typeface="Arial" panose="020B0604020202020204" pitchFamily="34" charset="0"/>
              </a:rPr>
              <a:t>You can print </a:t>
            </a:r>
            <a:r>
              <a:rPr kumimoji="0" lang="en-US" altLang="en-US" b="1" i="0" u="none" strike="noStrike" cap="none" normalizeH="0" baseline="0" dirty="0">
                <a:ln>
                  <a:noFill/>
                </a:ln>
                <a:solidFill>
                  <a:srgbClr val="000000"/>
                </a:solidFill>
                <a:effectLst/>
                <a:latin typeface="+mj-lt"/>
                <a:cs typeface="Arial" panose="020B0604020202020204" pitchFamily="34" charset="0"/>
              </a:rPr>
              <a:t>req</a:t>
            </a:r>
            <a:r>
              <a:rPr kumimoji="0" lang="en-US" altLang="en-US" b="0" i="0" u="none" strike="noStrike" cap="none" normalizeH="0" baseline="0" dirty="0">
                <a:ln>
                  <a:noFill/>
                </a:ln>
                <a:solidFill>
                  <a:srgbClr val="000000"/>
                </a:solidFill>
                <a:effectLst/>
                <a:latin typeface="+mj-lt"/>
                <a:cs typeface="Arial" panose="020B0604020202020204" pitchFamily="34" charset="0"/>
              </a:rPr>
              <a:t> and </a:t>
            </a:r>
            <a:r>
              <a:rPr kumimoji="0" lang="en-US" altLang="en-US" b="1" i="0" u="none" strike="noStrike" cap="none" normalizeH="0" baseline="0" dirty="0">
                <a:ln>
                  <a:noFill/>
                </a:ln>
                <a:solidFill>
                  <a:srgbClr val="000000"/>
                </a:solidFill>
                <a:effectLst/>
                <a:latin typeface="+mj-lt"/>
                <a:cs typeface="Arial" panose="020B0604020202020204" pitchFamily="34" charset="0"/>
              </a:rPr>
              <a:t>res</a:t>
            </a:r>
            <a:r>
              <a:rPr kumimoji="0" lang="en-US" altLang="en-US" b="0" i="0" u="none" strike="noStrike" cap="none" normalizeH="0" baseline="0" dirty="0">
                <a:ln>
                  <a:noFill/>
                </a:ln>
                <a:solidFill>
                  <a:srgbClr val="000000"/>
                </a:solidFill>
                <a:effectLst/>
                <a:latin typeface="+mj-lt"/>
                <a:cs typeface="Arial" panose="020B0604020202020204" pitchFamily="34" charset="0"/>
              </a:rPr>
              <a:t> objects which provide a lot of information related to HTTP request and response including cookies, sessions, URL, etc.</a:t>
            </a:r>
            <a:endParaRPr kumimoji="0" lang="en-US" altLang="en-US" b="0" i="0" u="none" strike="noStrike" cap="none" normalizeH="0" baseline="0" dirty="0">
              <a:ln>
                <a:noFill/>
              </a:ln>
              <a:solidFill>
                <a:schemeClr val="tx1"/>
              </a:solidFill>
              <a:effectLst/>
              <a:latin typeface="+mj-lt"/>
            </a:endParaRPr>
          </a:p>
        </p:txBody>
      </p:sp>
      <p:sp>
        <p:nvSpPr>
          <p:cNvPr id="6" name="TextBox 5">
            <a:extLst>
              <a:ext uri="{FF2B5EF4-FFF2-40B4-BE49-F238E27FC236}">
                <a16:creationId xmlns:a16="http://schemas.microsoft.com/office/drawing/2014/main" xmlns="" id="{C5A88C39-CCEF-4E54-B95B-8F7B562EDAE5}"/>
              </a:ext>
            </a:extLst>
          </p:cNvPr>
          <p:cNvSpPr txBox="1"/>
          <p:nvPr/>
        </p:nvSpPr>
        <p:spPr>
          <a:xfrm>
            <a:off x="2212259" y="174211"/>
            <a:ext cx="6135328"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Request &amp; Response</a:t>
            </a:r>
          </a:p>
        </p:txBody>
      </p:sp>
      <p:sp>
        <p:nvSpPr>
          <p:cNvPr id="8" name="TextBox 7">
            <a:extLst>
              <a:ext uri="{FF2B5EF4-FFF2-40B4-BE49-F238E27FC236}">
                <a16:creationId xmlns:a16="http://schemas.microsoft.com/office/drawing/2014/main" xmlns="" id="{8CAF93ED-D87C-4E43-B91E-FD5B2CD51B34}"/>
              </a:ext>
            </a:extLst>
          </p:cNvPr>
          <p:cNvSpPr txBox="1"/>
          <p:nvPr/>
        </p:nvSpPr>
        <p:spPr>
          <a:xfrm>
            <a:off x="462116" y="822292"/>
            <a:ext cx="11110285"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Express application uses a callback function whose parameters are </a:t>
            </a:r>
            <a:r>
              <a:rPr kumimoji="0" lang="en-US" altLang="en-US" sz="18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request</a:t>
            </a: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and </a:t>
            </a:r>
            <a:r>
              <a:rPr kumimoji="0" lang="en-US" altLang="en-US" sz="18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response</a:t>
            </a: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objects.</a:t>
            </a:r>
            <a:endParaRPr kumimoji="0" lang="en-US" altLang="en-US" sz="16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
        <p:nvSpPr>
          <p:cNvPr id="10" name="TextBox 9">
            <a:extLst>
              <a:ext uri="{FF2B5EF4-FFF2-40B4-BE49-F238E27FC236}">
                <a16:creationId xmlns:a16="http://schemas.microsoft.com/office/drawing/2014/main" xmlns="" id="{370E40B3-D9AE-4B4B-8316-5EE2AD24D93C}"/>
              </a:ext>
            </a:extLst>
          </p:cNvPr>
          <p:cNvSpPr txBox="1"/>
          <p:nvPr/>
        </p:nvSpPr>
        <p:spPr>
          <a:xfrm>
            <a:off x="1356852" y="1470373"/>
            <a:ext cx="6135328"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app.get</a:t>
            </a: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function (req, res) { // -- }) </a:t>
            </a:r>
            <a:endParaRPr kumimoji="0" lang="en-US" altLang="en-US" sz="11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906950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F85795-621C-4E2C-B519-692831BA6D42}"/>
              </a:ext>
            </a:extLst>
          </p:cNvPr>
          <p:cNvSpPr>
            <a:spLocks noGrp="1"/>
          </p:cNvSpPr>
          <p:nvPr>
            <p:ph type="title"/>
          </p:nvPr>
        </p:nvSpPr>
        <p:spPr>
          <a:xfrm>
            <a:off x="1445342" y="0"/>
            <a:ext cx="3903406" cy="373626"/>
          </a:xfrm>
        </p:spPr>
        <p:txBody>
          <a:bodyPr>
            <a:normAutofit/>
          </a:bodyPr>
          <a:lstStyle/>
          <a:p>
            <a:r>
              <a:rPr lang="en-IN" sz="2000" b="0" i="0" dirty="0">
                <a:effectLst/>
              </a:rPr>
              <a:t>Basic Routing</a:t>
            </a:r>
            <a:endParaRPr lang="en-IN" sz="2000" dirty="0"/>
          </a:p>
        </p:txBody>
      </p:sp>
      <p:sp>
        <p:nvSpPr>
          <p:cNvPr id="3" name="Content Placeholder 2">
            <a:extLst>
              <a:ext uri="{FF2B5EF4-FFF2-40B4-BE49-F238E27FC236}">
                <a16:creationId xmlns:a16="http://schemas.microsoft.com/office/drawing/2014/main" xmlns="" id="{4C42B026-7A7E-4F08-BD56-78965D0FB58B}"/>
              </a:ext>
            </a:extLst>
          </p:cNvPr>
          <p:cNvSpPr>
            <a:spLocks noGrp="1"/>
          </p:cNvSpPr>
          <p:nvPr>
            <p:ph idx="1"/>
          </p:nvPr>
        </p:nvSpPr>
        <p:spPr>
          <a:xfrm>
            <a:off x="3775587" y="88490"/>
            <a:ext cx="8003458" cy="1042219"/>
          </a:xfrm>
        </p:spPr>
        <p:txBody>
          <a:bodyPr>
            <a:normAutofit fontScale="77500" lnSpcReduction="20000"/>
          </a:bodyPr>
          <a:lstStyle/>
          <a:p>
            <a:r>
              <a:rPr lang="en-US" dirty="0"/>
              <a:t>We have seen a basic application which serves HTTP request for the dac.html . Routing refers to determining how an application responds to a client request to a particular endpoint, which is a URI (or path) and a specific HTTP request method (GET, POST, and so on).</a:t>
            </a:r>
            <a:endParaRPr lang="en-IN" dirty="0"/>
          </a:p>
        </p:txBody>
      </p:sp>
      <p:sp>
        <p:nvSpPr>
          <p:cNvPr id="5" name="TextBox 4">
            <a:extLst>
              <a:ext uri="{FF2B5EF4-FFF2-40B4-BE49-F238E27FC236}">
                <a16:creationId xmlns:a16="http://schemas.microsoft.com/office/drawing/2014/main" xmlns="" id="{7E9665EB-CA06-4B8C-97F5-6FD3323ECBE8}"/>
              </a:ext>
            </a:extLst>
          </p:cNvPr>
          <p:cNvSpPr txBox="1"/>
          <p:nvPr/>
        </p:nvSpPr>
        <p:spPr>
          <a:xfrm>
            <a:off x="113072" y="942139"/>
            <a:ext cx="4994786" cy="5478423"/>
          </a:xfrm>
          <a:prstGeom prst="rect">
            <a:avLst/>
          </a:prstGeom>
          <a:noFill/>
        </p:spPr>
        <p:txBody>
          <a:bodyPr wrap="square">
            <a:spAutoFit/>
          </a:bodyPr>
          <a:lstStyle/>
          <a:p>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 = </a:t>
            </a:r>
            <a:r>
              <a:rPr lang="en-IN" sz="1400" b="0" dirty="0">
                <a:solidFill>
                  <a:srgbClr val="795E26"/>
                </a:solidFill>
                <a:effectLst/>
                <a:latin typeface="Consolas" panose="020B0609020204030204" pitchFamily="49" charset="0"/>
              </a:rPr>
              <a:t>require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app</a:t>
            </a:r>
            <a:r>
              <a:rPr lang="en-IN" sz="1400" b="0" dirty="0">
                <a:solidFill>
                  <a:srgbClr val="000000"/>
                </a:solidFill>
                <a:effectLst/>
                <a:latin typeface="Consolas" panose="020B0609020204030204" pitchFamily="49" charset="0"/>
              </a:rPr>
              <a:t> = </a:t>
            </a:r>
            <a:r>
              <a:rPr lang="en-IN" sz="1400" b="0" dirty="0">
                <a:solidFill>
                  <a:srgbClr val="795E26"/>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r>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This responds with "Hello World" on the homepage</a:t>
            </a:r>
            <a:endParaRPr lang="en-IN" sz="1400" b="0" dirty="0">
              <a:solidFill>
                <a:srgbClr val="000000"/>
              </a:solidFill>
              <a:effectLst/>
              <a:latin typeface="Consolas" panose="020B0609020204030204" pitchFamily="49" charset="0"/>
            </a:endParaRPr>
          </a:p>
          <a:p>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"Got a GET request for the homepage"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GET'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r>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This responds a POST request for the homepage</a:t>
            </a:r>
            <a:endParaRPr lang="en-IN" sz="1400" b="0" dirty="0">
              <a:solidFill>
                <a:srgbClr val="000000"/>
              </a:solidFill>
              <a:effectLst/>
              <a:latin typeface="Consolas" panose="020B0609020204030204" pitchFamily="49" charset="0"/>
            </a:endParaRPr>
          </a:p>
          <a:p>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post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"Got a POST request for the homepage"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POST'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r>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This responds a DELETE request for the /</a:t>
            </a:r>
            <a:r>
              <a:rPr lang="en-IN" sz="1400" b="0" dirty="0" err="1">
                <a:solidFill>
                  <a:srgbClr val="008000"/>
                </a:solidFill>
                <a:effectLst/>
                <a:latin typeface="Consolas" panose="020B0609020204030204" pitchFamily="49" charset="0"/>
              </a:rPr>
              <a:t>del_user</a:t>
            </a:r>
            <a:r>
              <a:rPr lang="en-IN" sz="1400" b="0" dirty="0">
                <a:solidFill>
                  <a:srgbClr val="008000"/>
                </a:solidFill>
                <a:effectLst/>
                <a:latin typeface="Consolas" panose="020B0609020204030204" pitchFamily="49" charset="0"/>
              </a:rPr>
              <a:t> page.</a:t>
            </a:r>
            <a:endParaRPr lang="en-IN" sz="1400" b="0" dirty="0">
              <a:solidFill>
                <a:srgbClr val="000000"/>
              </a:solidFill>
              <a:effectLst/>
              <a:latin typeface="Consolas" panose="020B0609020204030204" pitchFamily="49" charset="0"/>
            </a:endParaRPr>
          </a:p>
          <a:p>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delete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del_user</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"Got a DELETE request for /</a:t>
            </a:r>
            <a:r>
              <a:rPr lang="en-IN" sz="1400" b="0" dirty="0" err="1">
                <a:solidFill>
                  <a:srgbClr val="A31515"/>
                </a:solidFill>
                <a:effectLst/>
                <a:latin typeface="Consolas" panose="020B0609020204030204" pitchFamily="49" charset="0"/>
              </a:rPr>
              <a:t>del_user</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DELETE'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xmlns="" id="{1D29FE35-6B99-4B18-BBF9-9B882A279F6F}"/>
              </a:ext>
            </a:extLst>
          </p:cNvPr>
          <p:cNvSpPr txBox="1"/>
          <p:nvPr/>
        </p:nvSpPr>
        <p:spPr>
          <a:xfrm>
            <a:off x="5456903" y="1373026"/>
            <a:ext cx="6322142" cy="4616648"/>
          </a:xfrm>
          <a:prstGeom prst="rect">
            <a:avLst/>
          </a:prstGeom>
          <a:noFill/>
        </p:spPr>
        <p:txBody>
          <a:bodyPr wrap="square">
            <a:spAutoFit/>
          </a:bodyPr>
          <a:lstStyle/>
          <a:p>
            <a:r>
              <a:rPr lang="en-IN" sz="1400" b="0" dirty="0">
                <a:solidFill>
                  <a:srgbClr val="000000"/>
                </a:solidFill>
                <a:effectLst/>
                <a:latin typeface="Consolas" panose="020B0609020204030204" pitchFamily="49" charset="0"/>
              </a:rPr>
              <a:t/>
            </a:r>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This responds a GET request for the /</a:t>
            </a:r>
            <a:r>
              <a:rPr lang="en-IN" sz="1400" b="0" dirty="0" err="1">
                <a:solidFill>
                  <a:srgbClr val="008000"/>
                </a:solidFill>
                <a:effectLst/>
                <a:latin typeface="Consolas" panose="020B0609020204030204" pitchFamily="49" charset="0"/>
              </a:rPr>
              <a:t>list_user</a:t>
            </a:r>
            <a:r>
              <a:rPr lang="en-IN" sz="1400" b="0" dirty="0">
                <a:solidFill>
                  <a:srgbClr val="008000"/>
                </a:solidFill>
                <a:effectLst/>
                <a:latin typeface="Consolas" panose="020B0609020204030204" pitchFamily="49" charset="0"/>
              </a:rPr>
              <a:t> page.</a:t>
            </a:r>
            <a:endParaRPr lang="en-IN" sz="1400" b="0" dirty="0">
              <a:solidFill>
                <a:srgbClr val="000000"/>
              </a:solidFill>
              <a:effectLst/>
              <a:latin typeface="Consolas" panose="020B0609020204030204" pitchFamily="49" charset="0"/>
            </a:endParaRPr>
          </a:p>
          <a:p>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list_user</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"Got a GET request for /</a:t>
            </a:r>
            <a:r>
              <a:rPr lang="en-IN" sz="1400" b="0" dirty="0" err="1">
                <a:solidFill>
                  <a:srgbClr val="A31515"/>
                </a:solidFill>
                <a:effectLst/>
                <a:latin typeface="Consolas" panose="020B0609020204030204" pitchFamily="49" charset="0"/>
              </a:rPr>
              <a:t>list_user</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'Page Listing'</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r>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This responds a GET request for </a:t>
            </a:r>
            <a:r>
              <a:rPr lang="en-IN" sz="1400" b="0" dirty="0" err="1">
                <a:solidFill>
                  <a:srgbClr val="008000"/>
                </a:solidFill>
                <a:effectLst/>
                <a:latin typeface="Consolas" panose="020B0609020204030204" pitchFamily="49" charset="0"/>
              </a:rPr>
              <a:t>abcd</a:t>
            </a:r>
            <a:r>
              <a:rPr lang="en-IN" sz="1400" b="0" dirty="0">
                <a:solidFill>
                  <a:srgbClr val="008000"/>
                </a:solidFill>
                <a:effectLst/>
                <a:latin typeface="Consolas" panose="020B0609020204030204" pitchFamily="49" charset="0"/>
              </a:rPr>
              <a:t>, </a:t>
            </a:r>
            <a:r>
              <a:rPr lang="en-IN" sz="1400" b="0" dirty="0" err="1">
                <a:solidFill>
                  <a:srgbClr val="008000"/>
                </a:solidFill>
                <a:effectLst/>
                <a:latin typeface="Consolas" panose="020B0609020204030204" pitchFamily="49" charset="0"/>
              </a:rPr>
              <a:t>abxcd</a:t>
            </a:r>
            <a:r>
              <a:rPr lang="en-IN" sz="1400" b="0" dirty="0">
                <a:solidFill>
                  <a:srgbClr val="008000"/>
                </a:solidFill>
                <a:effectLst/>
                <a:latin typeface="Consolas" panose="020B0609020204030204" pitchFamily="49" charset="0"/>
              </a:rPr>
              <a:t>, ab123cd, and so on</a:t>
            </a:r>
            <a:endParaRPr lang="en-IN" sz="1400" b="0" dirty="0">
              <a:solidFill>
                <a:srgbClr val="000000"/>
              </a:solidFill>
              <a:effectLst/>
              <a:latin typeface="Consolas" panose="020B0609020204030204" pitchFamily="49" charset="0"/>
            </a:endParaRPr>
          </a:p>
          <a:p>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'/ab*cd'</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"Got a GET request for /ab*cd"</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'Page Pattern Match'</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r>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server</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listen</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8081</a:t>
            </a:r>
            <a:r>
              <a:rPr lang="en-IN" sz="1400" b="0" dirty="0">
                <a:solidFill>
                  <a:srgbClr val="000000"/>
                </a:solidFill>
                <a:effectLst/>
                <a:latin typeface="Consolas" panose="020B0609020204030204" pitchFamily="49" charset="0"/>
              </a:rPr>
              <a:t>,”127.0.0.1”,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 {</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host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server</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address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address</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port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server</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address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port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"Example app listening at http://%s:%s"</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host</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port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603982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04568F-7FAF-4899-9F09-0B61E127ED84}"/>
              </a:ext>
            </a:extLst>
          </p:cNvPr>
          <p:cNvSpPr>
            <a:spLocks noGrp="1"/>
          </p:cNvSpPr>
          <p:nvPr>
            <p:ph type="title"/>
          </p:nvPr>
        </p:nvSpPr>
        <p:spPr>
          <a:xfrm>
            <a:off x="1120877" y="99654"/>
            <a:ext cx="10232923" cy="844243"/>
          </a:xfrm>
        </p:spPr>
        <p:txBody>
          <a:bodyPr/>
          <a:lstStyle/>
          <a:p>
            <a:r>
              <a:rPr lang="en-IN" dirty="0"/>
              <a:t>Reading static file</a:t>
            </a:r>
          </a:p>
        </p:txBody>
      </p:sp>
      <p:sp>
        <p:nvSpPr>
          <p:cNvPr id="3" name="Content Placeholder 2">
            <a:extLst>
              <a:ext uri="{FF2B5EF4-FFF2-40B4-BE49-F238E27FC236}">
                <a16:creationId xmlns:a16="http://schemas.microsoft.com/office/drawing/2014/main" xmlns="" id="{52A88D2C-DAA5-413E-8DA1-3E4C8CEEFB5A}"/>
              </a:ext>
            </a:extLst>
          </p:cNvPr>
          <p:cNvSpPr>
            <a:spLocks noGrp="1"/>
          </p:cNvSpPr>
          <p:nvPr>
            <p:ph idx="1"/>
          </p:nvPr>
        </p:nvSpPr>
        <p:spPr>
          <a:xfrm>
            <a:off x="88490" y="1140542"/>
            <a:ext cx="11265310" cy="5036421"/>
          </a:xfrm>
        </p:spPr>
        <p:txBody>
          <a:bodyPr>
            <a:normAutofit fontScale="92500" lnSpcReduction="10000"/>
          </a:bodyPr>
          <a:lstStyle/>
          <a:p>
            <a:r>
              <a:rPr lang="en-US" dirty="0"/>
              <a:t>Express provides a </a:t>
            </a:r>
            <a:r>
              <a:rPr lang="en-US" b="1" dirty="0"/>
              <a:t>built-in middleware </a:t>
            </a:r>
            <a:r>
              <a:rPr lang="en-US" dirty="0" err="1"/>
              <a:t>express.static</a:t>
            </a:r>
            <a:r>
              <a:rPr lang="en-US" dirty="0"/>
              <a:t> to serve static files, such as images, CSS, JavaScript, etc.</a:t>
            </a:r>
          </a:p>
          <a:p>
            <a:r>
              <a:rPr lang="en-US" dirty="0"/>
              <a:t>You simply need to pass the name of the directory where you keep your static assets, to the </a:t>
            </a:r>
            <a:r>
              <a:rPr lang="en-US" dirty="0" err="1"/>
              <a:t>express.static</a:t>
            </a:r>
            <a:r>
              <a:rPr lang="en-US" dirty="0"/>
              <a:t> middleware to start serving the files directly. For example, if you keep your images, CSS, and JavaScript files in a directory named public, you can do this −</a:t>
            </a:r>
          </a:p>
          <a:p>
            <a:pPr marL="457200" lvl="1" indent="0">
              <a:buNone/>
            </a:pPr>
            <a:r>
              <a:rPr lang="en-US" b="1" dirty="0" err="1"/>
              <a:t>app.use</a:t>
            </a:r>
            <a:r>
              <a:rPr lang="en-US" b="1" dirty="0"/>
              <a:t>(</a:t>
            </a:r>
            <a:r>
              <a:rPr lang="en-US" b="1" dirty="0" err="1"/>
              <a:t>express.static</a:t>
            </a:r>
            <a:r>
              <a:rPr lang="en-US" b="1" dirty="0"/>
              <a:t>('public')); We will keep a few images in public/images sub-directory as follows −</a:t>
            </a:r>
          </a:p>
          <a:p>
            <a:pPr marL="457200" lvl="1" indent="0">
              <a:buNone/>
            </a:pPr>
            <a:endParaRPr lang="en-US" b="1" dirty="0"/>
          </a:p>
          <a:p>
            <a:pPr marL="457200" lvl="1" indent="0">
              <a:buNone/>
            </a:pPr>
            <a:r>
              <a:rPr lang="en-US" b="1" dirty="0" err="1"/>
              <a:t>node_modules</a:t>
            </a:r>
            <a:endParaRPr lang="en-US" b="1" dirty="0"/>
          </a:p>
          <a:p>
            <a:pPr marL="457200" lvl="1" indent="0">
              <a:buNone/>
            </a:pPr>
            <a:r>
              <a:rPr lang="en-US" b="1" dirty="0"/>
              <a:t>server.js</a:t>
            </a:r>
          </a:p>
          <a:p>
            <a:pPr marL="457200" lvl="1" indent="0">
              <a:buNone/>
            </a:pPr>
            <a:r>
              <a:rPr lang="en-US" b="1" dirty="0"/>
              <a:t>public/</a:t>
            </a:r>
          </a:p>
          <a:p>
            <a:pPr marL="457200" lvl="1" indent="0">
              <a:buNone/>
            </a:pPr>
            <a:r>
              <a:rPr lang="en-US" b="1" dirty="0"/>
              <a:t>public/images</a:t>
            </a:r>
          </a:p>
          <a:p>
            <a:pPr marL="457200" lvl="1" indent="0">
              <a:buNone/>
            </a:pPr>
            <a:r>
              <a:rPr lang="en-US" b="1" dirty="0"/>
              <a:t>public/images/logo.png</a:t>
            </a:r>
            <a:endParaRPr lang="en-IN" b="1" dirty="0"/>
          </a:p>
        </p:txBody>
      </p:sp>
      <p:sp>
        <p:nvSpPr>
          <p:cNvPr id="6" name="TextBox 5">
            <a:extLst>
              <a:ext uri="{FF2B5EF4-FFF2-40B4-BE49-F238E27FC236}">
                <a16:creationId xmlns:a16="http://schemas.microsoft.com/office/drawing/2014/main" xmlns="" id="{2DBFD2B5-E0D0-C9AB-D8BE-262C9BBB3E90}"/>
              </a:ext>
            </a:extLst>
          </p:cNvPr>
          <p:cNvSpPr txBox="1"/>
          <p:nvPr/>
        </p:nvSpPr>
        <p:spPr>
          <a:xfrm>
            <a:off x="5036654" y="3695952"/>
            <a:ext cx="6602067"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 </a:t>
            </a:r>
            <a:r>
              <a:rPr lang="en-US" sz="2400" dirty="0"/>
              <a:t>root directory from which to serve static assets. The function determines the file to serve by combining req.url with the provided root directory. When a file is not found, instead of sending a 404 response, it calls next() to move on to the next middleware, allowing for stacking and </a:t>
            </a:r>
            <a:r>
              <a:rPr lang="en-US" sz="2400" dirty="0" err="1"/>
              <a:t>fall-backs</a:t>
            </a:r>
            <a:r>
              <a:rPr lang="en-US" sz="2400" dirty="0"/>
              <a:t>.</a:t>
            </a:r>
            <a:endParaRPr lang="en-IN" dirty="0"/>
          </a:p>
        </p:txBody>
      </p:sp>
      <p:cxnSp>
        <p:nvCxnSpPr>
          <p:cNvPr id="8" name="Straight Arrow Connector 7">
            <a:extLst>
              <a:ext uri="{FF2B5EF4-FFF2-40B4-BE49-F238E27FC236}">
                <a16:creationId xmlns:a16="http://schemas.microsoft.com/office/drawing/2014/main" xmlns="" id="{D71CB55F-6C3F-9D9A-4A07-8380010260FF}"/>
              </a:ext>
            </a:extLst>
          </p:cNvPr>
          <p:cNvCxnSpPr/>
          <p:nvPr/>
        </p:nvCxnSpPr>
        <p:spPr>
          <a:xfrm>
            <a:off x="3896139" y="3657600"/>
            <a:ext cx="1252331" cy="208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4697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879A404-9EBF-4913-9B5D-E35732CD64E9}"/>
              </a:ext>
            </a:extLst>
          </p:cNvPr>
          <p:cNvSpPr>
            <a:spLocks noGrp="1"/>
          </p:cNvSpPr>
          <p:nvPr>
            <p:ph idx="1"/>
          </p:nvPr>
        </p:nvSpPr>
        <p:spPr>
          <a:xfrm>
            <a:off x="1573160" y="360618"/>
            <a:ext cx="9859297" cy="416130"/>
          </a:xfrm>
        </p:spPr>
        <p:txBody>
          <a:bodyPr>
            <a:normAutofit fontScale="92500" lnSpcReduction="10000"/>
          </a:bodyPr>
          <a:lstStyle/>
          <a:p>
            <a:pPr marL="0" indent="0">
              <a:buNone/>
            </a:pPr>
            <a:r>
              <a:rPr lang="en-IN" dirty="0"/>
              <a:t>How to run -In browser :http://localhost:8081/Images/circ.bmp</a:t>
            </a:r>
          </a:p>
        </p:txBody>
      </p:sp>
      <p:sp>
        <p:nvSpPr>
          <p:cNvPr id="5" name="TextBox 4">
            <a:extLst>
              <a:ext uri="{FF2B5EF4-FFF2-40B4-BE49-F238E27FC236}">
                <a16:creationId xmlns:a16="http://schemas.microsoft.com/office/drawing/2014/main" xmlns="" id="{D2F0DCDE-5205-4DA4-8960-45CD47C0DEBF}"/>
              </a:ext>
            </a:extLst>
          </p:cNvPr>
          <p:cNvSpPr txBox="1"/>
          <p:nvPr/>
        </p:nvSpPr>
        <p:spPr>
          <a:xfrm>
            <a:off x="501446" y="1166842"/>
            <a:ext cx="9242322" cy="5078313"/>
          </a:xfrm>
          <a:prstGeom prst="rect">
            <a:avLst/>
          </a:prstGeom>
          <a:noFill/>
        </p:spPr>
        <p:txBody>
          <a:bodyPr wrap="square">
            <a:spAutoFit/>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express</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'express'</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app</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express</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use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express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static</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'public'</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server</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8081</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host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server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address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address</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port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server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address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port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"Example app listening at http://%s:%s"</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host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port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endParaRPr lang="en-IN" dirty="0">
              <a:solidFill>
                <a:srgbClr val="000000"/>
              </a:solidFill>
              <a:latin typeface="Consolas" panose="020B0609020204030204" pitchFamily="49" charset="0"/>
            </a:endParaRPr>
          </a:p>
          <a:p>
            <a:r>
              <a:rPr lang="en-IN" b="0" dirty="0">
                <a:solidFill>
                  <a:srgbClr val="000000"/>
                </a:solidFill>
                <a:effectLst/>
                <a:latin typeface="Consolas" panose="020B0609020204030204" pitchFamily="49" charset="0"/>
              </a:rPr>
              <a:t>In </a:t>
            </a:r>
            <a:r>
              <a:rPr lang="en-IN" b="0" dirty="0" err="1">
                <a:solidFill>
                  <a:srgbClr val="000000"/>
                </a:solidFill>
                <a:effectLst/>
                <a:latin typeface="Consolas" panose="020B0609020204030204" pitchFamily="49" charset="0"/>
              </a:rPr>
              <a:t>comd</a:t>
            </a:r>
            <a:r>
              <a:rPr lang="en-IN" b="0" dirty="0">
                <a:solidFill>
                  <a:srgbClr val="000000"/>
                </a:solidFill>
                <a:effectLst/>
                <a:latin typeface="Consolas" panose="020B0609020204030204" pitchFamily="49" charset="0"/>
              </a:rPr>
              <a:t>: node filename.js </a:t>
            </a:r>
          </a:p>
          <a:p>
            <a:r>
              <a:rPr lang="en-IN" dirty="0">
                <a:solidFill>
                  <a:srgbClr val="000000"/>
                </a:solidFill>
                <a:latin typeface="Consolas" panose="020B0609020204030204" pitchFamily="49" charset="0"/>
              </a:rPr>
              <a:t>This will start server</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409873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37AD3BF-BE08-45DB-8998-29144D945474}"/>
              </a:ext>
            </a:extLst>
          </p:cNvPr>
          <p:cNvSpPr>
            <a:spLocks noGrp="1"/>
          </p:cNvSpPr>
          <p:nvPr>
            <p:ph idx="1"/>
          </p:nvPr>
        </p:nvSpPr>
        <p:spPr>
          <a:xfrm>
            <a:off x="157315" y="1551039"/>
            <a:ext cx="7787150" cy="3755922"/>
          </a:xfrm>
        </p:spPr>
        <p:txBody>
          <a:bodyPr>
            <a:normAutofit/>
          </a:bodyPr>
          <a:lstStyle/>
          <a:p>
            <a:pPr marL="0" indent="0">
              <a:buNone/>
            </a:pPr>
            <a:r>
              <a:rPr lang="en-IN" sz="1500" b="0" dirty="0">
                <a:solidFill>
                  <a:srgbClr val="800000"/>
                </a:solidFill>
                <a:effectLst/>
                <a:latin typeface="Consolas" panose="020B0609020204030204" pitchFamily="49" charset="0"/>
              </a:rPr>
              <a:t>&lt;html&gt;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&lt;body&gt;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a:t>
            </a:r>
          </a:p>
          <a:p>
            <a:pPr marL="0" indent="0">
              <a:buNone/>
            </a:pP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&lt;form</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action</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"http://127.0.0.1:8081/</a:t>
            </a:r>
            <a:r>
              <a:rPr lang="en-IN" sz="1500" b="0" dirty="0" err="1">
                <a:solidFill>
                  <a:srgbClr val="0000FF"/>
                </a:solidFill>
                <a:effectLst/>
                <a:latin typeface="Consolas" panose="020B0609020204030204" pitchFamily="49" charset="0"/>
              </a:rPr>
              <a:t>process_get</a:t>
            </a:r>
            <a:r>
              <a:rPr lang="en-IN" sz="1500" b="0" dirty="0">
                <a:solidFill>
                  <a:srgbClr val="0000FF"/>
                </a:solidFill>
                <a:effectLst/>
                <a:latin typeface="Consolas" panose="020B0609020204030204" pitchFamily="49" charset="0"/>
              </a:rPr>
              <a: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method</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"GET"</a:t>
            </a:r>
            <a:r>
              <a:rPr lang="en-IN" sz="1500" b="0" dirty="0">
                <a:solidFill>
                  <a:srgbClr val="800000"/>
                </a:solidFill>
                <a:effectLst/>
                <a:latin typeface="Consolas" panose="020B0609020204030204" pitchFamily="49" charset="0"/>
              </a:rPr>
              <a:t>&gt;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First Name: </a:t>
            </a:r>
            <a:r>
              <a:rPr lang="en-IN" sz="1500" b="0" dirty="0">
                <a:solidFill>
                  <a:srgbClr val="800000"/>
                </a:solidFill>
                <a:effectLst/>
                <a:latin typeface="Consolas" panose="020B0609020204030204" pitchFamily="49" charset="0"/>
              </a:rPr>
              <a:t>&lt;input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type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"text"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name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a:t>
            </a:r>
            <a:r>
              <a:rPr lang="en-IN" sz="1500" b="0" dirty="0" err="1">
                <a:solidFill>
                  <a:srgbClr val="0000FF"/>
                </a:solidFill>
                <a:effectLst/>
                <a:latin typeface="Consolas" panose="020B0609020204030204" pitchFamily="49" charset="0"/>
              </a:rPr>
              <a:t>first_name</a:t>
            </a:r>
            <a:r>
              <a:rPr lang="en-IN" sz="1500" b="0" dirty="0">
                <a:solidFill>
                  <a:srgbClr val="0000FF"/>
                </a:solidFill>
                <a:effectLst/>
                <a:latin typeface="Consolas" panose="020B0609020204030204" pitchFamily="49" charset="0"/>
              </a:rPr>
              <a:t>"</a:t>
            </a:r>
            <a:r>
              <a:rPr lang="en-IN" sz="1500" b="0" dirty="0">
                <a:solidFill>
                  <a:srgbClr val="800000"/>
                </a:solidFill>
                <a:effectLst/>
                <a:latin typeface="Consolas" panose="020B0609020204030204" pitchFamily="49" charset="0"/>
              </a:rPr>
              <a:t>&gt;</a:t>
            </a: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a:t>
            </a:r>
            <a:r>
              <a:rPr lang="en-IN" sz="1500" b="0" dirty="0" err="1">
                <a:solidFill>
                  <a:srgbClr val="800000"/>
                </a:solidFill>
                <a:effectLst/>
                <a:latin typeface="Consolas" panose="020B0609020204030204" pitchFamily="49" charset="0"/>
              </a:rPr>
              <a:t>br</a:t>
            </a:r>
            <a:r>
              <a:rPr lang="en-IN" sz="1500" b="0" dirty="0">
                <a:solidFill>
                  <a:srgbClr val="800000"/>
                </a:solidFill>
                <a:effectLst/>
                <a:latin typeface="Consolas" panose="020B0609020204030204" pitchFamily="49" charset="0"/>
              </a:rPr>
              <a:t>&gt;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Last Name: </a:t>
            </a:r>
            <a:r>
              <a:rPr lang="en-IN" sz="1500" b="0" dirty="0">
                <a:solidFill>
                  <a:srgbClr val="800000"/>
                </a:solidFill>
                <a:effectLst/>
                <a:latin typeface="Consolas" panose="020B0609020204030204" pitchFamily="49" charset="0"/>
              </a:rPr>
              <a:t>&lt;input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type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"text"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name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a:t>
            </a:r>
            <a:r>
              <a:rPr lang="en-IN" sz="1500" b="0" dirty="0" err="1">
                <a:solidFill>
                  <a:srgbClr val="0000FF"/>
                </a:solidFill>
                <a:effectLst/>
                <a:latin typeface="Consolas" panose="020B0609020204030204" pitchFamily="49" charset="0"/>
              </a:rPr>
              <a:t>last_name</a:t>
            </a:r>
            <a:r>
              <a:rPr lang="en-IN" sz="1500" b="0" dirty="0">
                <a:solidFill>
                  <a:srgbClr val="0000FF"/>
                </a:solidFill>
                <a:effectLst/>
                <a:latin typeface="Consolas" panose="020B0609020204030204" pitchFamily="49" charset="0"/>
              </a:rPr>
              <a:t>"</a:t>
            </a:r>
            <a:r>
              <a:rPr lang="en-IN" sz="1500" b="0" dirty="0">
                <a:solidFill>
                  <a:srgbClr val="800000"/>
                </a:solidFill>
                <a:effectLst/>
                <a:latin typeface="Consolas" panose="020B0609020204030204" pitchFamily="49" charset="0"/>
              </a:rPr>
              <a:t>&gt;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&lt;input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type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"submit"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value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"Submit"</a:t>
            </a:r>
            <a:r>
              <a:rPr lang="en-IN" sz="1500" b="0" dirty="0">
                <a:solidFill>
                  <a:srgbClr val="800000"/>
                </a:solidFill>
                <a:effectLst/>
                <a:latin typeface="Consolas" panose="020B0609020204030204" pitchFamily="49" charset="0"/>
              </a:rPr>
              <a:t>&gt;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&lt;/form&gt;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a:t>
            </a:r>
          </a:p>
          <a:p>
            <a:pPr marL="0" indent="0">
              <a:buNone/>
            </a:pP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&lt;/body&gt;</a:t>
            </a:r>
            <a:endParaRPr lang="en-IN" sz="1500" b="0" dirty="0">
              <a:solidFill>
                <a:srgbClr val="000000"/>
              </a:solidFill>
              <a:effectLst/>
              <a:latin typeface="Consolas" panose="020B0609020204030204" pitchFamily="49" charset="0"/>
            </a:endParaRPr>
          </a:p>
          <a:p>
            <a:pPr marL="0" indent="0">
              <a:buNone/>
            </a:pPr>
            <a:r>
              <a:rPr lang="en-IN" sz="1500" b="0" dirty="0">
                <a:solidFill>
                  <a:srgbClr val="800000"/>
                </a:solidFill>
                <a:effectLst/>
                <a:latin typeface="Consolas" panose="020B0609020204030204" pitchFamily="49" charset="0"/>
              </a:rPr>
              <a:t>&lt;/html&gt;</a:t>
            </a:r>
            <a:endParaRPr lang="en-IN" sz="1500" b="0" dirty="0">
              <a:solidFill>
                <a:srgbClr val="000000"/>
              </a:solidFill>
              <a:effectLst/>
              <a:latin typeface="Consolas" panose="020B0609020204030204" pitchFamily="49" charset="0"/>
            </a:endParaRPr>
          </a:p>
          <a:p>
            <a:pPr marL="0" indent="0">
              <a:buNone/>
            </a:pPr>
            <a:endParaRPr lang="en-IN" dirty="0"/>
          </a:p>
        </p:txBody>
      </p:sp>
      <p:sp>
        <p:nvSpPr>
          <p:cNvPr id="5" name="TextBox 4">
            <a:extLst>
              <a:ext uri="{FF2B5EF4-FFF2-40B4-BE49-F238E27FC236}">
                <a16:creationId xmlns:a16="http://schemas.microsoft.com/office/drawing/2014/main" xmlns="" id="{1677AD96-5CE0-46E3-A8EB-E75E2A036EF8}"/>
              </a:ext>
            </a:extLst>
          </p:cNvPr>
          <p:cNvSpPr txBox="1"/>
          <p:nvPr/>
        </p:nvSpPr>
        <p:spPr>
          <a:xfrm>
            <a:off x="403123" y="761604"/>
            <a:ext cx="10677831"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Here is a simple example which passes two values using HTML FORM GET method. We are going to use </a:t>
            </a:r>
            <a:r>
              <a:rPr lang="en-US" b="1" i="0" dirty="0" err="1">
                <a:solidFill>
                  <a:srgbClr val="000000"/>
                </a:solidFill>
                <a:effectLst/>
                <a:latin typeface="Arial" panose="020B0604020202020204" pitchFamily="34" charset="0"/>
              </a:rPr>
              <a:t>process_get</a:t>
            </a:r>
            <a:r>
              <a:rPr lang="en-US" b="0" i="0" dirty="0">
                <a:solidFill>
                  <a:srgbClr val="000000"/>
                </a:solidFill>
                <a:effectLst/>
                <a:latin typeface="Arial" panose="020B0604020202020204" pitchFamily="34" charset="0"/>
              </a:rPr>
              <a:t> router inside server.js to handle this input.</a:t>
            </a:r>
            <a:endParaRPr lang="en-IN" dirty="0"/>
          </a:p>
        </p:txBody>
      </p:sp>
      <p:cxnSp>
        <p:nvCxnSpPr>
          <p:cNvPr id="7" name="Straight Arrow Connector 6">
            <a:extLst>
              <a:ext uri="{FF2B5EF4-FFF2-40B4-BE49-F238E27FC236}">
                <a16:creationId xmlns:a16="http://schemas.microsoft.com/office/drawing/2014/main" xmlns="" id="{5FA2FB81-B129-4555-9464-ABF256194CEB}"/>
              </a:ext>
            </a:extLst>
          </p:cNvPr>
          <p:cNvCxnSpPr>
            <a:cxnSpLocks/>
          </p:cNvCxnSpPr>
          <p:nvPr/>
        </p:nvCxnSpPr>
        <p:spPr>
          <a:xfrm>
            <a:off x="1386348" y="1238864"/>
            <a:ext cx="3854246" cy="1327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146845FC-1697-4ADE-9796-B5A13EA42386}"/>
              </a:ext>
            </a:extLst>
          </p:cNvPr>
          <p:cNvSpPr txBox="1"/>
          <p:nvPr/>
        </p:nvSpPr>
        <p:spPr>
          <a:xfrm>
            <a:off x="157315" y="5556460"/>
            <a:ext cx="9055510" cy="923330"/>
          </a:xfrm>
          <a:prstGeom prst="rect">
            <a:avLst/>
          </a:prstGeom>
          <a:noFill/>
        </p:spPr>
        <p:txBody>
          <a:bodyPr wrap="square" rtlCol="0">
            <a:spAutoFit/>
          </a:bodyPr>
          <a:lstStyle/>
          <a:p>
            <a:r>
              <a:rPr lang="en-IN" dirty="0"/>
              <a:t>In this example when clint click on submit it will listen to action so control will go to</a:t>
            </a:r>
          </a:p>
          <a:p>
            <a:r>
              <a:rPr lang="en-IN" sz="1800" b="0" dirty="0">
                <a:solidFill>
                  <a:srgbClr val="0000FF"/>
                </a:solidFill>
                <a:effectLst/>
                <a:latin typeface="Consolas" panose="020B0609020204030204" pitchFamily="49" charset="0"/>
                <a:hlinkClick r:id="rId2"/>
              </a:rPr>
              <a:t>http://127.0.0.1:8081/process_get</a:t>
            </a:r>
            <a:endParaRPr lang="en-IN" sz="1800" b="0" dirty="0">
              <a:solidFill>
                <a:srgbClr val="0000FF"/>
              </a:solidFill>
              <a:effectLst/>
              <a:latin typeface="Consolas" panose="020B0609020204030204" pitchFamily="49" charset="0"/>
            </a:endParaRPr>
          </a:p>
          <a:p>
            <a:r>
              <a:rPr lang="en-IN" dirty="0">
                <a:latin typeface="Consolas" panose="020B0609020204030204" pitchFamily="49" charset="0"/>
              </a:rPr>
              <a:t>Method which is written in [server] code</a:t>
            </a:r>
            <a:endParaRPr lang="en-IN" dirty="0"/>
          </a:p>
        </p:txBody>
      </p:sp>
      <p:sp>
        <p:nvSpPr>
          <p:cNvPr id="10" name="TextBox 9">
            <a:extLst>
              <a:ext uri="{FF2B5EF4-FFF2-40B4-BE49-F238E27FC236}">
                <a16:creationId xmlns:a16="http://schemas.microsoft.com/office/drawing/2014/main" xmlns="" id="{327028BB-2723-4975-9BE4-C092130B15CF}"/>
              </a:ext>
            </a:extLst>
          </p:cNvPr>
          <p:cNvSpPr txBox="1"/>
          <p:nvPr/>
        </p:nvSpPr>
        <p:spPr>
          <a:xfrm>
            <a:off x="1877961" y="88490"/>
            <a:ext cx="9006349" cy="461665"/>
          </a:xfrm>
          <a:prstGeom prst="rect">
            <a:avLst/>
          </a:prstGeom>
          <a:noFill/>
        </p:spPr>
        <p:txBody>
          <a:bodyPr wrap="square" rtlCol="0">
            <a:spAutoFit/>
          </a:bodyPr>
          <a:lstStyle/>
          <a:p>
            <a:r>
              <a:rPr lang="en-IN" sz="2400" b="1" dirty="0"/>
              <a:t>Using Get Method Submit Form detail to Server </a:t>
            </a:r>
          </a:p>
        </p:txBody>
      </p:sp>
      <p:sp>
        <p:nvSpPr>
          <p:cNvPr id="12" name="TextBox 11">
            <a:extLst>
              <a:ext uri="{FF2B5EF4-FFF2-40B4-BE49-F238E27FC236}">
                <a16:creationId xmlns:a16="http://schemas.microsoft.com/office/drawing/2014/main" xmlns="" id="{6ACE9D6E-1B7C-43F2-B3FB-DEB119396696}"/>
              </a:ext>
            </a:extLst>
          </p:cNvPr>
          <p:cNvSpPr txBox="1"/>
          <p:nvPr/>
        </p:nvSpPr>
        <p:spPr>
          <a:xfrm>
            <a:off x="5240594" y="3864807"/>
            <a:ext cx="6145160" cy="1200329"/>
          </a:xfrm>
          <a:prstGeom prst="rect">
            <a:avLst/>
          </a:prstGeom>
          <a:ln w="19050"/>
        </p:spPr>
        <p:style>
          <a:lnRef idx="2">
            <a:schemeClr val="accent1"/>
          </a:lnRef>
          <a:fillRef idx="1">
            <a:schemeClr val="lt1"/>
          </a:fillRef>
          <a:effectRef idx="0">
            <a:schemeClr val="accent1"/>
          </a:effectRef>
          <a:fontRef idx="minor">
            <a:schemeClr val="dk1"/>
          </a:fontRef>
        </p:style>
        <p:txBody>
          <a:bodyPr wrap="square">
            <a:spAutoFit/>
          </a:bodyPr>
          <a:lstStyle/>
          <a:p>
            <a:endParaRPr lang="en-IN" dirty="0"/>
          </a:p>
          <a:p>
            <a:r>
              <a:rPr lang="en-IN" dirty="0"/>
              <a:t>To run code type on </a:t>
            </a:r>
            <a:r>
              <a:rPr lang="en-IN" dirty="0" err="1"/>
              <a:t>cmd</a:t>
            </a:r>
            <a:r>
              <a:rPr lang="en-IN" dirty="0"/>
              <a:t>&gt; node 05server_post.js</a:t>
            </a:r>
          </a:p>
          <a:p>
            <a:endParaRPr lang="en-IN" dirty="0"/>
          </a:p>
          <a:p>
            <a:r>
              <a:rPr lang="en-IN" dirty="0"/>
              <a:t> and in </a:t>
            </a:r>
            <a:r>
              <a:rPr lang="en-IN" dirty="0" err="1"/>
              <a:t>url</a:t>
            </a:r>
            <a:r>
              <a:rPr lang="en-IN" dirty="0"/>
              <a:t> :http://localhost:8081/04get_form.html</a:t>
            </a:r>
          </a:p>
        </p:txBody>
      </p:sp>
      <p:sp>
        <p:nvSpPr>
          <p:cNvPr id="8" name="TextBox 7">
            <a:extLst>
              <a:ext uri="{FF2B5EF4-FFF2-40B4-BE49-F238E27FC236}">
                <a16:creationId xmlns:a16="http://schemas.microsoft.com/office/drawing/2014/main" xmlns="" id="{E1AE0AA6-F90D-45DA-A657-BCF2A4A84369}"/>
              </a:ext>
            </a:extLst>
          </p:cNvPr>
          <p:cNvSpPr txBox="1"/>
          <p:nvPr/>
        </p:nvSpPr>
        <p:spPr>
          <a:xfrm>
            <a:off x="5240594" y="1714593"/>
            <a:ext cx="6504038" cy="369332"/>
          </a:xfrm>
          <a:prstGeom prst="rect">
            <a:avLst/>
          </a:prstGeom>
          <a:noFill/>
        </p:spPr>
        <p:txBody>
          <a:bodyPr wrap="square">
            <a:spAutoFit/>
          </a:bodyPr>
          <a:lstStyle/>
          <a:p>
            <a:r>
              <a:rPr lang="en-IN" dirty="0"/>
              <a:t>in URL :http://localhost:8081/</a:t>
            </a:r>
            <a:r>
              <a:rPr lang="en-IN" dirty="0" err="1"/>
              <a:t>process_get</a:t>
            </a:r>
            <a:endParaRPr lang="en-IN" dirty="0"/>
          </a:p>
        </p:txBody>
      </p:sp>
    </p:spTree>
    <p:extLst>
      <p:ext uri="{BB962C8B-B14F-4D97-AF65-F5344CB8AC3E}">
        <p14:creationId xmlns:p14="http://schemas.microsoft.com/office/powerpoint/2010/main" val="3781538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66FDA72-BC4A-43F5-913B-8726CABF0985}"/>
              </a:ext>
            </a:extLst>
          </p:cNvPr>
          <p:cNvSpPr>
            <a:spLocks noGrp="1"/>
          </p:cNvSpPr>
          <p:nvPr>
            <p:ph idx="1"/>
          </p:nvPr>
        </p:nvSpPr>
        <p:spPr>
          <a:xfrm>
            <a:off x="6688393" y="-82059"/>
            <a:ext cx="5375787" cy="6765848"/>
          </a:xfrm>
        </p:spPr>
        <p:txBody>
          <a:bodyPr>
            <a:noAutofit/>
          </a:bodyPr>
          <a:lstStyle/>
          <a:p>
            <a:pPr marL="0" indent="0">
              <a:buNone/>
            </a:pP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 = </a:t>
            </a:r>
            <a:r>
              <a:rPr lang="en-IN" sz="1400" b="0" dirty="0">
                <a:solidFill>
                  <a:srgbClr val="795E26"/>
                </a:solidFill>
                <a:effectLst/>
                <a:latin typeface="Consolas" panose="020B0609020204030204" pitchFamily="49" charset="0"/>
              </a:rPr>
              <a:t>require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a:t>
            </a:r>
          </a:p>
          <a:p>
            <a:pPr marL="0" indent="0">
              <a:buNone/>
            </a:pP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app</a:t>
            </a:r>
            <a:r>
              <a:rPr lang="en-IN" sz="1400" b="0" dirty="0">
                <a:solidFill>
                  <a:srgbClr val="000000"/>
                </a:solidFill>
                <a:effectLst/>
                <a:latin typeface="Consolas" panose="020B0609020204030204" pitchFamily="49" charset="0"/>
              </a:rPr>
              <a:t> = </a:t>
            </a:r>
            <a:r>
              <a:rPr lang="en-IN" sz="1400" b="0" dirty="0">
                <a:solidFill>
                  <a:srgbClr val="795E26"/>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r>
            <a:br>
              <a:rPr lang="en-IN" sz="1400" b="0" dirty="0">
                <a:solidFill>
                  <a:srgbClr val="000000"/>
                </a:solidFill>
                <a:effectLst/>
                <a:latin typeface="Consolas" panose="020B0609020204030204" pitchFamily="49" charset="0"/>
              </a:rPr>
            </a:br>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use</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express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static</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'public'</a:t>
            </a:r>
            <a:r>
              <a:rPr lang="en-IN" sz="1400" b="0" dirty="0">
                <a:solidFill>
                  <a:srgbClr val="000000"/>
                </a:solidFill>
                <a:effectLst/>
                <a:latin typeface="Consolas" panose="020B0609020204030204" pitchFamily="49" charset="0"/>
              </a:rPr>
              <a:t>));</a:t>
            </a:r>
          </a:p>
          <a:p>
            <a:pPr marL="0" indent="0">
              <a:buNone/>
            </a:pPr>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a:t>
            </a:r>
            <a:r>
              <a:rPr lang="en-IN" sz="2000" b="1" dirty="0">
                <a:solidFill>
                  <a:srgbClr val="000000"/>
                </a:solidFill>
                <a:effectLst/>
                <a:latin typeface="Consolas" panose="020B0609020204030204" pitchFamily="49" charset="0"/>
              </a:rPr>
              <a:t>(</a:t>
            </a:r>
            <a:r>
              <a:rPr lang="en-IN" sz="2000" b="1" dirty="0">
                <a:solidFill>
                  <a:srgbClr val="A31515"/>
                </a:solidFill>
                <a:effectLst/>
                <a:latin typeface="Consolas" panose="020B0609020204030204" pitchFamily="49" charset="0"/>
              </a:rPr>
              <a:t>'/</a:t>
            </a:r>
            <a:r>
              <a:rPr lang="en-IN" sz="1400" b="1" dirty="0">
                <a:solidFill>
                  <a:srgbClr val="CE9178"/>
                </a:solidFill>
                <a:effectLst/>
                <a:latin typeface="Consolas" panose="020B0609020204030204" pitchFamily="49" charset="0"/>
              </a:rPr>
              <a:t> </a:t>
            </a:r>
            <a:r>
              <a:rPr lang="en-IN" sz="1400" b="1" dirty="0" err="1">
                <a:solidFill>
                  <a:srgbClr val="CE9178"/>
                </a:solidFill>
                <a:effectLst/>
                <a:latin typeface="Consolas" panose="020B0609020204030204" pitchFamily="49" charset="0"/>
              </a:rPr>
              <a:t>getform</a:t>
            </a:r>
            <a:r>
              <a:rPr lang="en-IN" sz="2000" b="1" dirty="0">
                <a:solidFill>
                  <a:srgbClr val="A31515"/>
                </a:solidFill>
                <a:effectLst/>
                <a:latin typeface="Consolas" panose="020B0609020204030204" pitchFamily="49" charset="0"/>
              </a:rPr>
              <a:t>'</a:t>
            </a:r>
            <a:r>
              <a:rPr lang="en-IN" sz="2000" b="1"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sendFile</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__</a:t>
            </a:r>
            <a:r>
              <a:rPr lang="en-IN" sz="1400" b="0" dirty="0" err="1">
                <a:solidFill>
                  <a:srgbClr val="001080"/>
                </a:solidFill>
                <a:effectLst/>
                <a:latin typeface="Consolas" panose="020B0609020204030204" pitchFamily="49" charset="0"/>
              </a:rPr>
              <a:t>dirname</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"04get_form.html"</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a:t>
            </a:r>
            <a:r>
              <a:rPr lang="en-IN" sz="2000" b="1" dirty="0">
                <a:solidFill>
                  <a:srgbClr val="000000"/>
                </a:solidFill>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r>
            <a:br>
              <a:rPr lang="en-IN" sz="1400" b="0" dirty="0">
                <a:solidFill>
                  <a:srgbClr val="000000"/>
                </a:solidFill>
                <a:effectLst/>
                <a:latin typeface="Consolas" panose="020B0609020204030204" pitchFamily="49" charset="0"/>
              </a:rPr>
            </a:br>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process_get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Prepare output in JSON format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response</a:t>
            </a:r>
            <a:r>
              <a:rPr lang="en-IN" sz="1400" b="0" dirty="0">
                <a:solidFill>
                  <a:srgbClr val="000000"/>
                </a:solidFill>
                <a:effectLst/>
                <a:latin typeface="Consolas" panose="020B0609020204030204" pitchFamily="49" charset="0"/>
              </a:rPr>
              <a:t> =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first_name:req</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query</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first_name</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last_name:req</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query</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last_name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response</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end</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JSON</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stringify</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response</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 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server</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listen</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8081</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 {</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host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server</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address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address</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port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server</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address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port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"Example app listening at http://%s:%s"</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host</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port</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
            </a:r>
            <a:br>
              <a:rPr lang="en-IN" sz="1800" b="0" dirty="0">
                <a:solidFill>
                  <a:srgbClr val="000000"/>
                </a:solidFill>
                <a:effectLst/>
                <a:latin typeface="Consolas" panose="020B0609020204030204" pitchFamily="49" charset="0"/>
              </a:rPr>
            </a:br>
            <a:endParaRPr lang="en-IN" sz="1800" dirty="0"/>
          </a:p>
        </p:txBody>
      </p:sp>
      <p:sp>
        <p:nvSpPr>
          <p:cNvPr id="5" name="TextBox 4">
            <a:extLst>
              <a:ext uri="{FF2B5EF4-FFF2-40B4-BE49-F238E27FC236}">
                <a16:creationId xmlns:a16="http://schemas.microsoft.com/office/drawing/2014/main" xmlns="" id="{E440E319-BA66-44C2-AF56-E7F8D9AA076D}"/>
              </a:ext>
            </a:extLst>
          </p:cNvPr>
          <p:cNvSpPr txBox="1"/>
          <p:nvPr/>
        </p:nvSpPr>
        <p:spPr>
          <a:xfrm>
            <a:off x="184355" y="778895"/>
            <a:ext cx="6504038" cy="369332"/>
          </a:xfrm>
          <a:prstGeom prst="rect">
            <a:avLst/>
          </a:prstGeom>
          <a:noFill/>
        </p:spPr>
        <p:txBody>
          <a:bodyPr wrap="square">
            <a:spAutoFit/>
          </a:bodyPr>
          <a:lstStyle/>
          <a:p>
            <a:r>
              <a:rPr lang="en-IN" dirty="0"/>
              <a:t>Type in URL :http://localhost:8081/04get_form.html</a:t>
            </a:r>
          </a:p>
        </p:txBody>
      </p:sp>
      <p:sp>
        <p:nvSpPr>
          <p:cNvPr id="4" name="TextBox 3">
            <a:extLst>
              <a:ext uri="{FF2B5EF4-FFF2-40B4-BE49-F238E27FC236}">
                <a16:creationId xmlns:a16="http://schemas.microsoft.com/office/drawing/2014/main" xmlns="" id="{4C1C0538-7B4D-4EA9-BBF5-EC5E5D220140}"/>
              </a:ext>
            </a:extLst>
          </p:cNvPr>
          <p:cNvSpPr txBox="1"/>
          <p:nvPr/>
        </p:nvSpPr>
        <p:spPr>
          <a:xfrm>
            <a:off x="462117" y="2009181"/>
            <a:ext cx="6504038" cy="369332"/>
          </a:xfrm>
          <a:prstGeom prst="rect">
            <a:avLst/>
          </a:prstGeom>
          <a:noFill/>
        </p:spPr>
        <p:txBody>
          <a:bodyPr wrap="square">
            <a:spAutoFit/>
          </a:bodyPr>
          <a:lstStyle/>
          <a:p>
            <a:r>
              <a:rPr lang="en-IN" dirty="0"/>
              <a:t>in URL :http://localhost:8081/</a:t>
            </a:r>
            <a:r>
              <a:rPr lang="en-IN" dirty="0" err="1"/>
              <a:t>process_get</a:t>
            </a:r>
            <a:endParaRPr lang="en-IN" dirty="0"/>
          </a:p>
        </p:txBody>
      </p:sp>
      <p:cxnSp>
        <p:nvCxnSpPr>
          <p:cNvPr id="6" name="Straight Arrow Connector 5">
            <a:extLst>
              <a:ext uri="{FF2B5EF4-FFF2-40B4-BE49-F238E27FC236}">
                <a16:creationId xmlns:a16="http://schemas.microsoft.com/office/drawing/2014/main" xmlns="" id="{F79585E9-4E07-4A3A-8C36-3F76D4B807DE}"/>
              </a:ext>
            </a:extLst>
          </p:cNvPr>
          <p:cNvCxnSpPr/>
          <p:nvPr/>
        </p:nvCxnSpPr>
        <p:spPr>
          <a:xfrm>
            <a:off x="5093110" y="2009181"/>
            <a:ext cx="2998838" cy="41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xmlns="" id="{063806DF-DE69-400B-963E-33948E10D62D}"/>
              </a:ext>
            </a:extLst>
          </p:cNvPr>
          <p:cNvSpPr txBox="1"/>
          <p:nvPr/>
        </p:nvSpPr>
        <p:spPr>
          <a:xfrm>
            <a:off x="368710" y="2750782"/>
            <a:ext cx="6135328" cy="2031325"/>
          </a:xfrm>
          <a:prstGeom prst="rect">
            <a:avLst/>
          </a:prstGeom>
          <a:noFill/>
        </p:spPr>
        <p:txBody>
          <a:bodyPr wrap="square">
            <a:spAutoFit/>
          </a:bodyPr>
          <a:lstStyle/>
          <a:p>
            <a:r>
              <a:rPr lang="en-US" dirty="0"/>
              <a:t>__</a:t>
            </a:r>
            <a:r>
              <a:rPr lang="en-US" dirty="0" err="1"/>
              <a:t>dirname</a:t>
            </a:r>
            <a:r>
              <a:rPr lang="en-US" dirty="0"/>
              <a:t> is an environment variable that tells you the absolute path of the directory containing the currently executing file.</a:t>
            </a:r>
          </a:p>
          <a:p>
            <a:endParaRPr lang="en-US" dirty="0"/>
          </a:p>
          <a:p>
            <a:endParaRPr lang="en-US" dirty="0"/>
          </a:p>
          <a:p>
            <a:r>
              <a:rPr lang="en-US" dirty="0"/>
              <a:t> The __</a:t>
            </a:r>
            <a:r>
              <a:rPr lang="en-US" dirty="0" err="1"/>
              <a:t>dirname</a:t>
            </a:r>
            <a:r>
              <a:rPr lang="en-US" dirty="0"/>
              <a:t> variable always returns the absolute path of where your files live.</a:t>
            </a:r>
          </a:p>
          <a:p>
            <a:endParaRPr lang="en-IN" dirty="0"/>
          </a:p>
        </p:txBody>
      </p:sp>
    </p:spTree>
    <p:extLst>
      <p:ext uri="{BB962C8B-B14F-4D97-AF65-F5344CB8AC3E}">
        <p14:creationId xmlns:p14="http://schemas.microsoft.com/office/powerpoint/2010/main" val="2019976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5E8E031-71A8-4DBF-958A-EC2A22B09C6D}"/>
              </a:ext>
            </a:extLst>
          </p:cNvPr>
          <p:cNvSpPr>
            <a:spLocks noGrp="1"/>
          </p:cNvSpPr>
          <p:nvPr>
            <p:ph idx="1"/>
          </p:nvPr>
        </p:nvSpPr>
        <p:spPr>
          <a:xfrm>
            <a:off x="988141" y="339511"/>
            <a:ext cx="11203859" cy="771534"/>
          </a:xfrm>
        </p:spPr>
        <p:txBody>
          <a:bodyPr>
            <a:normAutofit/>
          </a:bodyPr>
          <a:lstStyle/>
          <a:p>
            <a:r>
              <a:rPr lang="en-US" sz="1800" dirty="0"/>
              <a:t>Here is a simple example which passes two values using HTML FORM POST method. We are going to use </a:t>
            </a:r>
            <a:r>
              <a:rPr lang="en-US" sz="1800" b="1" dirty="0" err="1"/>
              <a:t>process_get</a:t>
            </a:r>
            <a:r>
              <a:rPr lang="en-US" sz="1800" b="1" dirty="0"/>
              <a:t> </a:t>
            </a:r>
            <a:r>
              <a:rPr lang="en-US" sz="1800" dirty="0"/>
              <a:t>router inside server.js to handle this input.</a:t>
            </a:r>
            <a:endParaRPr lang="en-IN" sz="1800" dirty="0"/>
          </a:p>
        </p:txBody>
      </p:sp>
      <p:sp>
        <p:nvSpPr>
          <p:cNvPr id="4" name="Title 3">
            <a:extLst>
              <a:ext uri="{FF2B5EF4-FFF2-40B4-BE49-F238E27FC236}">
                <a16:creationId xmlns:a16="http://schemas.microsoft.com/office/drawing/2014/main" xmlns="" id="{39F4C306-B923-43EB-8A86-13C8E902D7A5}"/>
              </a:ext>
            </a:extLst>
          </p:cNvPr>
          <p:cNvSpPr txBox="1">
            <a:spLocks noGrp="1"/>
          </p:cNvSpPr>
          <p:nvPr>
            <p:ph type="title"/>
          </p:nvPr>
        </p:nvSpPr>
        <p:spPr>
          <a:xfrm>
            <a:off x="4139379" y="-88491"/>
            <a:ext cx="7364363" cy="428002"/>
          </a:xfrm>
          <a:prstGeom prst="rect">
            <a:avLst/>
          </a:prstGeom>
          <a:noFill/>
        </p:spPr>
        <p:txBody>
          <a:bodyPr wrap="square" rtlCol="0">
            <a:spAutoFit/>
          </a:bodyPr>
          <a:lstStyle/>
          <a:p>
            <a:r>
              <a:rPr lang="en-IN" sz="2400" b="1" dirty="0"/>
              <a:t>Using Post Method Submit Form detail to Server </a:t>
            </a:r>
          </a:p>
        </p:txBody>
      </p:sp>
      <p:sp>
        <p:nvSpPr>
          <p:cNvPr id="8" name="TextBox 7">
            <a:extLst>
              <a:ext uri="{FF2B5EF4-FFF2-40B4-BE49-F238E27FC236}">
                <a16:creationId xmlns:a16="http://schemas.microsoft.com/office/drawing/2014/main" xmlns="" id="{28C0CBAE-ECC6-464A-8A89-38920C7A335B}"/>
              </a:ext>
            </a:extLst>
          </p:cNvPr>
          <p:cNvSpPr txBox="1"/>
          <p:nvPr/>
        </p:nvSpPr>
        <p:spPr>
          <a:xfrm>
            <a:off x="98323" y="1273387"/>
            <a:ext cx="11906864" cy="3139321"/>
          </a:xfrm>
          <a:prstGeom prst="rect">
            <a:avLst/>
          </a:prstGeom>
          <a:noFill/>
        </p:spPr>
        <p:txBody>
          <a:bodyPr wrap="square">
            <a:spAutoFit/>
          </a:bodyPr>
          <a:lstStyle/>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&lt;form</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action</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"http://127.0.0.1:8081/</a:t>
            </a:r>
            <a:r>
              <a:rPr lang="en-IN" b="0" dirty="0" err="1">
                <a:solidFill>
                  <a:srgbClr val="0000FF"/>
                </a:solidFill>
                <a:effectLst/>
                <a:latin typeface="Consolas" panose="020B0609020204030204" pitchFamily="49" charset="0"/>
              </a:rPr>
              <a:t>process_post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method</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"POST"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First Name: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type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"text"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name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first_name</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Last Name: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type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"text"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name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last_name</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type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"submit"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value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"Submit"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&lt;/form&gt;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p:txBody>
      </p:sp>
      <p:cxnSp>
        <p:nvCxnSpPr>
          <p:cNvPr id="10" name="Straight Arrow Connector 9">
            <a:extLst>
              <a:ext uri="{FF2B5EF4-FFF2-40B4-BE49-F238E27FC236}">
                <a16:creationId xmlns:a16="http://schemas.microsoft.com/office/drawing/2014/main" xmlns="" id="{61A3670A-1861-4678-9031-A036845DFEA8}"/>
              </a:ext>
            </a:extLst>
          </p:cNvPr>
          <p:cNvCxnSpPr/>
          <p:nvPr/>
        </p:nvCxnSpPr>
        <p:spPr>
          <a:xfrm flipH="1">
            <a:off x="6508955" y="683043"/>
            <a:ext cx="4837471" cy="1470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xmlns="" id="{6EE3B48A-4FC3-BC6F-2A59-339B4DA8154E}"/>
              </a:ext>
            </a:extLst>
          </p:cNvPr>
          <p:cNvSpPr txBox="1"/>
          <p:nvPr/>
        </p:nvSpPr>
        <p:spPr>
          <a:xfrm>
            <a:off x="2863850" y="4575050"/>
            <a:ext cx="6134100" cy="369332"/>
          </a:xfrm>
          <a:prstGeom prst="rect">
            <a:avLst/>
          </a:prstGeom>
          <a:noFill/>
        </p:spPr>
        <p:txBody>
          <a:bodyPr wrap="square">
            <a:spAutoFit/>
          </a:bodyPr>
          <a:lstStyle/>
          <a:p>
            <a:r>
              <a:rPr lang="en-IN" sz="1800" b="0" dirty="0">
                <a:solidFill>
                  <a:srgbClr val="008000"/>
                </a:solidFill>
                <a:effectLst/>
                <a:latin typeface="Consolas" panose="020B0609020204030204" pitchFamily="49" charset="0"/>
              </a:rPr>
              <a:t>Create application/x-www-form-</a:t>
            </a:r>
            <a:r>
              <a:rPr lang="en-IN" sz="1800" b="0" dirty="0" err="1">
                <a:solidFill>
                  <a:srgbClr val="008000"/>
                </a:solidFill>
                <a:effectLst/>
                <a:latin typeface="Consolas" panose="020B0609020204030204" pitchFamily="49" charset="0"/>
              </a:rPr>
              <a:t>urlencoded</a:t>
            </a:r>
            <a:r>
              <a:rPr lang="en-IN" sz="1800" b="0" dirty="0">
                <a:solidFill>
                  <a:srgbClr val="008000"/>
                </a:solidFill>
                <a:effectLst/>
                <a:latin typeface="Consolas" panose="020B0609020204030204" pitchFamily="49" charset="0"/>
              </a:rPr>
              <a:t> parser</a:t>
            </a:r>
            <a:endParaRPr lang="en-IN" dirty="0"/>
          </a:p>
        </p:txBody>
      </p:sp>
    </p:spTree>
    <p:extLst>
      <p:ext uri="{BB962C8B-B14F-4D97-AF65-F5344CB8AC3E}">
        <p14:creationId xmlns:p14="http://schemas.microsoft.com/office/powerpoint/2010/main" val="1021913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B4BBE8E-D89D-CFC9-5CFE-3519EB582153}"/>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xmlns="" id="{36A6FDAC-FE0E-6B09-C242-0ED56232DEB3}"/>
              </a:ext>
            </a:extLst>
          </p:cNvPr>
          <p:cNvSpPr txBox="1">
            <a:spLocks noGrp="1"/>
          </p:cNvSpPr>
          <p:nvPr>
            <p:ph idx="1"/>
          </p:nvPr>
        </p:nvSpPr>
        <p:spPr>
          <a:xfrm>
            <a:off x="1119160" y="70728"/>
            <a:ext cx="6402830" cy="6285823"/>
          </a:xfrm>
          <a:prstGeom prst="rect">
            <a:avLst/>
          </a:prstGeom>
          <a:noFill/>
        </p:spPr>
        <p:txBody>
          <a:bodyPr wrap="square">
            <a:spAutoFit/>
          </a:bodyPr>
          <a:lstStyle/>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express</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require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'express'</a:t>
            </a:r>
            <a:r>
              <a:rPr lang="en-IN" sz="1200" b="0" dirty="0">
                <a:solidFill>
                  <a:srgbClr val="000000"/>
                </a:solidFill>
                <a:effectLst/>
                <a:latin typeface="Consolas" panose="020B0609020204030204" pitchFamily="49" charset="0"/>
              </a:rPr>
              <a:t>);</a:t>
            </a: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app</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express</a:t>
            </a:r>
            <a:r>
              <a:rPr lang="en-IN" sz="1200" b="0" dirty="0">
                <a:solidFill>
                  <a:srgbClr val="000000"/>
                </a:solidFill>
                <a:effectLst/>
                <a:latin typeface="Consolas" panose="020B0609020204030204" pitchFamily="49" charset="0"/>
              </a:rPr>
              <a:t>();</a:t>
            </a:r>
          </a:p>
          <a:p>
            <a:pPr marL="0" indent="0">
              <a:buNone/>
            </a:pPr>
            <a:r>
              <a:rPr lang="en-IN" sz="1200" b="0" dirty="0">
                <a:solidFill>
                  <a:srgbClr val="008000"/>
                </a:solidFill>
                <a:effectLst/>
                <a:latin typeface="Consolas" panose="020B0609020204030204" pitchFamily="49" charset="0"/>
              </a:rPr>
              <a:t>// Create application/x-www-form-</a:t>
            </a:r>
            <a:r>
              <a:rPr lang="en-IN" sz="1200" b="0" dirty="0" err="1">
                <a:solidFill>
                  <a:srgbClr val="008000"/>
                </a:solidFill>
                <a:effectLst/>
                <a:latin typeface="Consolas" panose="020B0609020204030204" pitchFamily="49" charset="0"/>
              </a:rPr>
              <a:t>urlencoded</a:t>
            </a:r>
            <a:r>
              <a:rPr lang="en-IN" sz="1200" b="0" dirty="0">
                <a:solidFill>
                  <a:srgbClr val="008000"/>
                </a:solidFill>
                <a:effectLst/>
                <a:latin typeface="Consolas" panose="020B0609020204030204" pitchFamily="49" charset="0"/>
              </a:rPr>
              <a:t> parser</a:t>
            </a:r>
            <a:endParaRPr lang="en-IN" sz="1200" b="0" dirty="0">
              <a:solidFill>
                <a:srgbClr val="000000"/>
              </a:solidFill>
              <a:effectLst/>
              <a:latin typeface="Consolas" panose="020B0609020204030204" pitchFamily="49" charset="0"/>
            </a:endParaRPr>
          </a:p>
          <a:p>
            <a:pPr marL="0" indent="0">
              <a:buNone/>
            </a:pPr>
            <a:r>
              <a:rPr lang="en-IN" sz="1200" b="0" dirty="0" err="1">
                <a:solidFill>
                  <a:srgbClr val="001080"/>
                </a:solidFill>
                <a:effectLst/>
                <a:highlight>
                  <a:srgbClr val="FFFF00"/>
                </a:highlight>
                <a:latin typeface="Consolas" panose="020B0609020204030204" pitchFamily="49" charset="0"/>
              </a:rPr>
              <a:t>app</a:t>
            </a:r>
            <a:r>
              <a:rPr lang="en-IN" sz="1200" b="0" dirty="0" err="1">
                <a:solidFill>
                  <a:srgbClr val="000000"/>
                </a:solidFill>
                <a:effectLst/>
                <a:highlight>
                  <a:srgbClr val="FFFF00"/>
                </a:highlight>
                <a:latin typeface="Consolas" panose="020B0609020204030204" pitchFamily="49" charset="0"/>
              </a:rPr>
              <a:t>.</a:t>
            </a:r>
            <a:r>
              <a:rPr lang="en-IN" sz="1200" b="0" dirty="0" err="1">
                <a:solidFill>
                  <a:srgbClr val="795E26"/>
                </a:solidFill>
                <a:effectLst/>
                <a:highlight>
                  <a:srgbClr val="FFFF00"/>
                </a:highlight>
                <a:latin typeface="Consolas" panose="020B0609020204030204" pitchFamily="49" charset="0"/>
              </a:rPr>
              <a:t>use</a:t>
            </a:r>
            <a:r>
              <a:rPr lang="en-IN" sz="1200" b="0" dirty="0">
                <a:solidFill>
                  <a:srgbClr val="000000"/>
                </a:solidFill>
                <a:effectLst/>
                <a:highlight>
                  <a:srgbClr val="FFFF00"/>
                </a:highlight>
                <a:latin typeface="Consolas" panose="020B0609020204030204" pitchFamily="49" charset="0"/>
              </a:rPr>
              <a:t>(</a:t>
            </a:r>
            <a:r>
              <a:rPr lang="en-IN" sz="1200" b="0" dirty="0" err="1">
                <a:solidFill>
                  <a:srgbClr val="001080"/>
                </a:solidFill>
                <a:effectLst/>
                <a:highlight>
                  <a:srgbClr val="FFFF00"/>
                </a:highlight>
                <a:latin typeface="Consolas" panose="020B0609020204030204" pitchFamily="49" charset="0"/>
              </a:rPr>
              <a:t>express</a:t>
            </a:r>
            <a:r>
              <a:rPr lang="en-IN" sz="1200" b="0" dirty="0" err="1">
                <a:solidFill>
                  <a:srgbClr val="000000"/>
                </a:solidFill>
                <a:effectLst/>
                <a:highlight>
                  <a:srgbClr val="FFFF00"/>
                </a:highlight>
                <a:latin typeface="Consolas" panose="020B0609020204030204" pitchFamily="49" charset="0"/>
              </a:rPr>
              <a:t>.</a:t>
            </a:r>
            <a:r>
              <a:rPr lang="en-IN" sz="1200" b="0" dirty="0" err="1">
                <a:solidFill>
                  <a:srgbClr val="795E26"/>
                </a:solidFill>
                <a:effectLst/>
                <a:highlight>
                  <a:srgbClr val="FFFF00"/>
                </a:highlight>
                <a:latin typeface="Consolas" panose="020B0609020204030204" pitchFamily="49" charset="0"/>
              </a:rPr>
              <a:t>static</a:t>
            </a:r>
            <a:r>
              <a:rPr lang="en-IN" sz="1200" b="0" dirty="0">
                <a:solidFill>
                  <a:srgbClr val="000000"/>
                </a:solidFill>
                <a:effectLst/>
                <a:highlight>
                  <a:srgbClr val="FFFF00"/>
                </a:highlight>
                <a:latin typeface="Consolas" panose="020B0609020204030204" pitchFamily="49" charset="0"/>
              </a:rPr>
              <a:t>(</a:t>
            </a:r>
            <a:r>
              <a:rPr lang="en-IN" sz="1200" b="0" dirty="0">
                <a:solidFill>
                  <a:srgbClr val="A31515"/>
                </a:solidFill>
                <a:effectLst/>
                <a:highlight>
                  <a:srgbClr val="FFFF00"/>
                </a:highlight>
                <a:latin typeface="Consolas" panose="020B0609020204030204" pitchFamily="49" charset="0"/>
              </a:rPr>
              <a:t>'public’</a:t>
            </a:r>
            <a:r>
              <a:rPr lang="en-IN" sz="1200" b="0" dirty="0">
                <a:solidFill>
                  <a:srgbClr val="000000"/>
                </a:solidFill>
                <a:effectLst/>
                <a:highlight>
                  <a:srgbClr val="FFFF00"/>
                </a:highlight>
                <a:latin typeface="Consolas" panose="020B0609020204030204" pitchFamily="49" charset="0"/>
              </a:rPr>
              <a:t>));</a:t>
            </a:r>
          </a:p>
          <a:p>
            <a:pPr marL="0" indent="0">
              <a:buNone/>
            </a:pPr>
            <a:r>
              <a:rPr lang="en-IN" sz="1000" b="0" dirty="0" err="1">
                <a:solidFill>
                  <a:srgbClr val="000000"/>
                </a:solidFill>
                <a:effectLst/>
                <a:highlight>
                  <a:srgbClr val="FFFF00"/>
                </a:highlight>
                <a:latin typeface="Consolas" panose="020B0609020204030204" pitchFamily="49" charset="0"/>
              </a:rPr>
              <a:t>app.use</a:t>
            </a:r>
            <a:r>
              <a:rPr lang="en-IN" sz="1000" b="0" dirty="0">
                <a:solidFill>
                  <a:srgbClr val="000000"/>
                </a:solidFill>
                <a:effectLst/>
                <a:highlight>
                  <a:srgbClr val="FFFF00"/>
                </a:highlight>
                <a:latin typeface="Consolas" panose="020B0609020204030204" pitchFamily="49" charset="0"/>
              </a:rPr>
              <a:t>(</a:t>
            </a:r>
            <a:r>
              <a:rPr lang="en-IN" sz="1000" b="0" dirty="0" err="1">
                <a:solidFill>
                  <a:srgbClr val="000000"/>
                </a:solidFill>
                <a:effectLst/>
                <a:highlight>
                  <a:srgbClr val="FFFF00"/>
                </a:highlight>
                <a:latin typeface="Consolas" panose="020B0609020204030204" pitchFamily="49" charset="0"/>
              </a:rPr>
              <a:t>express.urlencoded</a:t>
            </a:r>
            <a:r>
              <a:rPr lang="en-IN" sz="1000" b="0" dirty="0">
                <a:solidFill>
                  <a:srgbClr val="000000"/>
                </a:solidFill>
                <a:effectLst/>
                <a:highlight>
                  <a:srgbClr val="FFFF00"/>
                </a:highlight>
                <a:latin typeface="Consolas" panose="020B0609020204030204" pitchFamily="49" charset="0"/>
              </a:rPr>
              <a:t>({ extended: </a:t>
            </a:r>
            <a:r>
              <a:rPr lang="en-IN" sz="1000" b="0" dirty="0">
                <a:solidFill>
                  <a:srgbClr val="0000FF"/>
                </a:solidFill>
                <a:effectLst/>
                <a:highlight>
                  <a:srgbClr val="FFFF00"/>
                </a:highlight>
                <a:latin typeface="Consolas" panose="020B0609020204030204" pitchFamily="49" charset="0"/>
              </a:rPr>
              <a:t>false</a:t>
            </a:r>
            <a:r>
              <a:rPr lang="en-IN" sz="1000" b="0" dirty="0">
                <a:solidFill>
                  <a:srgbClr val="000000"/>
                </a:solidFill>
                <a:effectLst/>
                <a:highlight>
                  <a:srgbClr val="FFFF00"/>
                </a:highlight>
                <a:latin typeface="Consolas" panose="020B0609020204030204" pitchFamily="49" charset="0"/>
              </a:rPr>
              <a:t> }));</a:t>
            </a:r>
          </a:p>
          <a:p>
            <a:pPr marL="0" indent="0">
              <a:buNone/>
            </a:pPr>
            <a:r>
              <a:rPr lang="en-IN" sz="1200" b="0" dirty="0" err="1">
                <a:solidFill>
                  <a:srgbClr val="001080"/>
                </a:solidFill>
                <a:effectLst/>
                <a:latin typeface="Consolas" panose="020B0609020204030204" pitchFamily="49" charset="0"/>
              </a:rPr>
              <a:t>app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get</a:t>
            </a:r>
            <a:r>
              <a:rPr lang="en-IN" sz="1200" b="0" dirty="0">
                <a:solidFill>
                  <a:srgbClr val="000000"/>
                </a:solidFill>
                <a:effectLst/>
                <a:latin typeface="Consolas" panose="020B0609020204030204" pitchFamily="49" charset="0"/>
              </a:rPr>
              <a:t>(</a:t>
            </a:r>
            <a:r>
              <a:rPr lang="en-IN" sz="1200" dirty="0">
                <a:solidFill>
                  <a:srgbClr val="A31515"/>
                </a:solidFill>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000" b="0" dirty="0" err="1">
                <a:solidFill>
                  <a:srgbClr val="A31515"/>
                </a:solidFill>
                <a:effectLst/>
                <a:latin typeface="Consolas" panose="020B0609020204030204" pitchFamily="49" charset="0"/>
              </a:rPr>
              <a:t>postdata</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req</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res</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sendFile</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__</a:t>
            </a:r>
            <a:r>
              <a:rPr lang="en-IN" sz="1200" b="0" dirty="0" err="1">
                <a:solidFill>
                  <a:srgbClr val="001080"/>
                </a:solidFill>
                <a:effectLst/>
                <a:latin typeface="Consolas" panose="020B0609020204030204" pitchFamily="49" charset="0"/>
              </a:rPr>
              <a:t>dirname</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a:t>
            </a:r>
            <a:r>
              <a:rPr lang="en-IN" sz="1000" b="0" dirty="0" smtClean="0">
                <a:solidFill>
                  <a:srgbClr val="A31515"/>
                </a:solidFill>
                <a:effectLst/>
                <a:latin typeface="Consolas" panose="020B0609020204030204" pitchFamily="49" charset="0"/>
              </a:rPr>
              <a:t>05post_formjson.html</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a:t>
            </a:r>
          </a:p>
          <a:p>
            <a:pPr marL="0" indent="0">
              <a:buNone/>
            </a:pPr>
            <a:r>
              <a:rPr lang="en-IN" sz="1200" b="0" dirty="0" err="1">
                <a:solidFill>
                  <a:srgbClr val="001080"/>
                </a:solidFill>
                <a:effectLst/>
                <a:latin typeface="Consolas" panose="020B0609020204030204" pitchFamily="49" charset="0"/>
              </a:rPr>
              <a:t>app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post</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process_post</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req</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Prepare output in JSON format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response</a:t>
            </a:r>
            <a:r>
              <a:rPr lang="en-IN" sz="1200" b="0" dirty="0">
                <a:solidFill>
                  <a:srgbClr val="000000"/>
                </a:solidFill>
                <a:effectLst/>
                <a:latin typeface="Consolas" panose="020B0609020204030204" pitchFamily="49" charset="0"/>
              </a:rPr>
              <a:t> = {</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first_name:req</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body</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first_name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last_name:req</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body</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last_name</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response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res</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end</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JSON</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stringify</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response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server</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app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listen</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8081</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 {</a:t>
            </a:r>
          </a:p>
          <a:p>
            <a:pPr marL="0" indent="0">
              <a:buNone/>
            </a:pP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host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server</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address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address</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port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server</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address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port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"Example app listening at http://%s:%s"</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host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port</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a:t>
            </a:r>
          </a:p>
        </p:txBody>
      </p:sp>
      <p:sp>
        <p:nvSpPr>
          <p:cNvPr id="5" name="TextBox 4">
            <a:extLst>
              <a:ext uri="{FF2B5EF4-FFF2-40B4-BE49-F238E27FC236}">
                <a16:creationId xmlns:a16="http://schemas.microsoft.com/office/drawing/2014/main" xmlns="" id="{873F2C0F-5836-0E2F-8A46-FF150E0D964B}"/>
              </a:ext>
            </a:extLst>
          </p:cNvPr>
          <p:cNvSpPr txBox="1"/>
          <p:nvPr/>
        </p:nvSpPr>
        <p:spPr>
          <a:xfrm>
            <a:off x="5842277" y="968921"/>
            <a:ext cx="1679713"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err="1"/>
              <a:t>App.use</a:t>
            </a:r>
            <a:r>
              <a:rPr lang="en-US" dirty="0"/>
              <a:t>()</a:t>
            </a:r>
          </a:p>
          <a:p>
            <a:r>
              <a:rPr lang="en-US" dirty="0"/>
              <a:t>Middle ware </a:t>
            </a:r>
            <a:endParaRPr lang="en-IN" dirty="0"/>
          </a:p>
        </p:txBody>
      </p:sp>
      <p:sp>
        <p:nvSpPr>
          <p:cNvPr id="7" name="TextBox 6">
            <a:extLst>
              <a:ext uri="{FF2B5EF4-FFF2-40B4-BE49-F238E27FC236}">
                <a16:creationId xmlns:a16="http://schemas.microsoft.com/office/drawing/2014/main" xmlns="" id="{4C9DB321-81F3-9A01-600A-0B492683E8FE}"/>
              </a:ext>
            </a:extLst>
          </p:cNvPr>
          <p:cNvSpPr txBox="1"/>
          <p:nvPr/>
        </p:nvSpPr>
        <p:spPr>
          <a:xfrm>
            <a:off x="7859367" y="70728"/>
            <a:ext cx="4176920" cy="1754326"/>
          </a:xfrm>
          <a:prstGeom prst="rect">
            <a:avLst/>
          </a:prstGeom>
          <a:noFill/>
        </p:spPr>
        <p:txBody>
          <a:bodyPr wrap="square">
            <a:spAutoFit/>
          </a:bodyPr>
          <a:lstStyle/>
          <a:p>
            <a:pPr algn="l" fontAlgn="base">
              <a:buFont typeface="+mj-lt"/>
              <a:buAutoNum type="arabicPeriod"/>
            </a:pPr>
            <a:r>
              <a:rPr lang="en-US" b="0" i="0" dirty="0">
                <a:solidFill>
                  <a:srgbClr val="0C0D0E"/>
                </a:solidFill>
                <a:effectLst/>
                <a:latin typeface="inherit"/>
              </a:rPr>
              <a:t>What is Middleware? </a:t>
            </a:r>
          </a:p>
          <a:p>
            <a:pPr algn="l" fontAlgn="base">
              <a:buFont typeface="+mj-lt"/>
              <a:buAutoNum type="arabicPeriod"/>
            </a:pPr>
            <a:endParaRPr lang="en-US" dirty="0">
              <a:solidFill>
                <a:srgbClr val="0C0D0E"/>
              </a:solidFill>
              <a:latin typeface="inherit"/>
            </a:endParaRPr>
          </a:p>
          <a:p>
            <a:pPr algn="l" fontAlgn="base"/>
            <a:r>
              <a:rPr lang="en-US" b="0" i="0" dirty="0">
                <a:solidFill>
                  <a:srgbClr val="0C0D0E"/>
                </a:solidFill>
                <a:effectLst/>
                <a:latin typeface="inherit"/>
              </a:rPr>
              <a:t>It is those methods/functions/operations that are called BETWEEN processing the Request and sending the Response in your application method.</a:t>
            </a:r>
          </a:p>
        </p:txBody>
      </p:sp>
      <p:cxnSp>
        <p:nvCxnSpPr>
          <p:cNvPr id="9" name="Straight Arrow Connector 8">
            <a:extLst>
              <a:ext uri="{FF2B5EF4-FFF2-40B4-BE49-F238E27FC236}">
                <a16:creationId xmlns:a16="http://schemas.microsoft.com/office/drawing/2014/main" xmlns="" id="{362FC88D-8D57-450C-8820-F6C972B4EABA}"/>
              </a:ext>
            </a:extLst>
          </p:cNvPr>
          <p:cNvCxnSpPr/>
          <p:nvPr/>
        </p:nvCxnSpPr>
        <p:spPr>
          <a:xfrm>
            <a:off x="4320575" y="1556762"/>
            <a:ext cx="6559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xmlns="" id="{52E92CA3-13C9-1C2A-CAE3-800E471AD909}"/>
              </a:ext>
            </a:extLst>
          </p:cNvPr>
          <p:cNvCxnSpPr>
            <a:cxnSpLocks/>
          </p:cNvCxnSpPr>
          <p:nvPr/>
        </p:nvCxnSpPr>
        <p:spPr>
          <a:xfrm>
            <a:off x="3992584" y="1292087"/>
            <a:ext cx="655982" cy="216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xmlns="" id="{94D67EA2-4F84-7B06-9E22-4DBD710BD5D5}"/>
              </a:ext>
            </a:extLst>
          </p:cNvPr>
          <p:cNvSpPr txBox="1"/>
          <p:nvPr/>
        </p:nvSpPr>
        <p:spPr>
          <a:xfrm>
            <a:off x="7832035" y="2079368"/>
            <a:ext cx="3687418" cy="2585323"/>
          </a:xfrm>
          <a:prstGeom prst="rect">
            <a:avLst/>
          </a:prstGeom>
          <a:noFill/>
        </p:spPr>
        <p:txBody>
          <a:bodyPr wrap="square">
            <a:spAutoFit/>
          </a:bodyPr>
          <a:lstStyle/>
          <a:p>
            <a:r>
              <a:rPr lang="en-US" dirty="0"/>
              <a:t>2.  You </a:t>
            </a:r>
            <a:r>
              <a:rPr lang="en-US" dirty="0" err="1"/>
              <a:t>nedd</a:t>
            </a:r>
            <a:endParaRPr lang="en-US" dirty="0"/>
          </a:p>
          <a:p>
            <a:r>
              <a:rPr lang="en-US" dirty="0" err="1"/>
              <a:t>express.urlencoded</a:t>
            </a:r>
            <a:r>
              <a:rPr lang="en-US" dirty="0"/>
              <a:t>() for POST and PUT requests, because in both these requests you are sending data (in the form of some data object) to the server and you are asking the server to accept or store that data (object), which is enclosed in the body (i.e. </a:t>
            </a:r>
            <a:r>
              <a:rPr lang="en-US" dirty="0" err="1"/>
              <a:t>req.body</a:t>
            </a:r>
            <a:r>
              <a:rPr lang="en-US" dirty="0"/>
              <a:t>) of that (POST or PUT) Request</a:t>
            </a:r>
            <a:endParaRPr lang="en-IN" dirty="0"/>
          </a:p>
        </p:txBody>
      </p:sp>
      <p:sp>
        <p:nvSpPr>
          <p:cNvPr id="17" name="TextBox 16">
            <a:extLst>
              <a:ext uri="{FF2B5EF4-FFF2-40B4-BE49-F238E27FC236}">
                <a16:creationId xmlns:a16="http://schemas.microsoft.com/office/drawing/2014/main" xmlns="" id="{6386256B-81C7-9AEF-F1C7-CD6728F68750}"/>
              </a:ext>
            </a:extLst>
          </p:cNvPr>
          <p:cNvSpPr txBox="1"/>
          <p:nvPr/>
        </p:nvSpPr>
        <p:spPr>
          <a:xfrm>
            <a:off x="7822095" y="4919005"/>
            <a:ext cx="4196797" cy="1754326"/>
          </a:xfrm>
          <a:prstGeom prst="rect">
            <a:avLst/>
          </a:prstGeom>
          <a:noFill/>
        </p:spPr>
        <p:txBody>
          <a:bodyPr wrap="square">
            <a:spAutoFit/>
          </a:bodyPr>
          <a:lstStyle/>
          <a:p>
            <a:r>
              <a:rPr lang="en-US" dirty="0" err="1"/>
              <a:t>express.urlencoded</a:t>
            </a:r>
            <a:r>
              <a:rPr lang="en-US" dirty="0"/>
              <a:t>() is a method inbuilt in express to recognize the incoming Request Object as </a:t>
            </a:r>
            <a:r>
              <a:rPr lang="en-US" dirty="0">
                <a:highlight>
                  <a:srgbClr val="FFFF00"/>
                </a:highlight>
              </a:rPr>
              <a:t>strings or arrays</a:t>
            </a:r>
            <a:r>
              <a:rPr lang="en-US" dirty="0"/>
              <a:t>. This method is called as a middleware in your application using the code: </a:t>
            </a:r>
            <a:r>
              <a:rPr lang="en-US" dirty="0" err="1"/>
              <a:t>app.use</a:t>
            </a:r>
            <a:r>
              <a:rPr lang="en-US" dirty="0"/>
              <a:t>(</a:t>
            </a:r>
            <a:r>
              <a:rPr lang="en-US" dirty="0" err="1"/>
              <a:t>express.urlencoded</a:t>
            </a:r>
            <a:r>
              <a:rPr lang="en-US" dirty="0"/>
              <a:t>());</a:t>
            </a:r>
            <a:endParaRPr lang="en-IN" dirty="0"/>
          </a:p>
        </p:txBody>
      </p:sp>
      <p:sp>
        <p:nvSpPr>
          <p:cNvPr id="3" name="TextBox 2">
            <a:extLst>
              <a:ext uri="{FF2B5EF4-FFF2-40B4-BE49-F238E27FC236}">
                <a16:creationId xmlns:a16="http://schemas.microsoft.com/office/drawing/2014/main" xmlns="" id="{BB50AB21-F471-7943-0FC1-43D22D7DF9A2}"/>
              </a:ext>
            </a:extLst>
          </p:cNvPr>
          <p:cNvSpPr txBox="1"/>
          <p:nvPr/>
        </p:nvSpPr>
        <p:spPr>
          <a:xfrm>
            <a:off x="4800599" y="4016890"/>
            <a:ext cx="3021495"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const { </a:t>
            </a:r>
            <a:r>
              <a:rPr lang="en-US" dirty="0" err="1"/>
              <a:t>first_name</a:t>
            </a:r>
            <a:r>
              <a:rPr lang="en-US" dirty="0"/>
              <a:t>, </a:t>
            </a:r>
            <a:r>
              <a:rPr lang="en-US" dirty="0" err="1"/>
              <a:t>last_name</a:t>
            </a:r>
            <a:r>
              <a:rPr lang="en-US" dirty="0"/>
              <a:t> } = </a:t>
            </a:r>
            <a:r>
              <a:rPr lang="en-US" dirty="0" err="1"/>
              <a:t>req.body</a:t>
            </a:r>
            <a:r>
              <a:rPr lang="en-US" dirty="0"/>
              <a:t>;</a:t>
            </a:r>
            <a:endParaRPr lang="en-IN" dirty="0"/>
          </a:p>
        </p:txBody>
      </p:sp>
    </p:spTree>
    <p:extLst>
      <p:ext uri="{BB962C8B-B14F-4D97-AF65-F5344CB8AC3E}">
        <p14:creationId xmlns:p14="http://schemas.microsoft.com/office/powerpoint/2010/main" val="3901494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8781E1F3-1360-EF52-9D39-CC60567B7B54}"/>
              </a:ext>
            </a:extLst>
          </p:cNvPr>
          <p:cNvSpPr txBox="1"/>
          <p:nvPr/>
        </p:nvSpPr>
        <p:spPr>
          <a:xfrm>
            <a:off x="252984" y="1925658"/>
            <a:ext cx="11742419" cy="3970318"/>
          </a:xfrm>
          <a:prstGeom prst="rect">
            <a:avLst/>
          </a:prstGeom>
          <a:noFill/>
        </p:spPr>
        <p:txBody>
          <a:bodyPr wrap="square">
            <a:spAutoFit/>
          </a:bodyPr>
          <a:lstStyle/>
          <a:p>
            <a:r>
              <a:rPr lang="en-US" b="1" dirty="0"/>
              <a:t>Purpose</a:t>
            </a:r>
            <a:r>
              <a:rPr lang="en-US" dirty="0"/>
              <a:t>: This tells your Express app to use the built‑in middleware , </a:t>
            </a:r>
            <a:r>
              <a:rPr lang="en-US" dirty="0" err="1">
                <a:highlight>
                  <a:srgbClr val="FFFF00"/>
                </a:highlight>
              </a:rPr>
              <a:t>express.urlencoded</a:t>
            </a:r>
            <a:r>
              <a:rPr lang="en-US" dirty="0">
                <a:highlight>
                  <a:srgbClr val="FFFF00"/>
                </a:highlight>
              </a:rPr>
              <a:t>() </a:t>
            </a:r>
            <a:r>
              <a:rPr lang="en-US" dirty="0"/>
              <a:t>which parses incoming requests with URL‑encoded payloads (like form submissions).</a:t>
            </a:r>
          </a:p>
          <a:p>
            <a:r>
              <a:rPr lang="en-US" dirty="0"/>
              <a:t>•</a:t>
            </a:r>
          </a:p>
          <a:p>
            <a:r>
              <a:rPr lang="en-US" b="1" dirty="0"/>
              <a:t>What it does</a:t>
            </a:r>
            <a:r>
              <a:rPr lang="en-US" dirty="0"/>
              <a:t>: It converts data sent via HTML forms (</a:t>
            </a:r>
            <a:r>
              <a:rPr lang="en-US" dirty="0">
                <a:highlight>
                  <a:srgbClr val="FFFF00"/>
                </a:highlight>
              </a:rPr>
              <a:t>application/x-www-form-</a:t>
            </a:r>
            <a:r>
              <a:rPr lang="en-US" dirty="0" err="1">
                <a:highlight>
                  <a:srgbClr val="FFFF00"/>
                </a:highlight>
              </a:rPr>
              <a:t>urlencoded</a:t>
            </a:r>
            <a:r>
              <a:rPr lang="en-US" dirty="0"/>
              <a:t>) into a JavaScript object and makes it available on </a:t>
            </a:r>
            <a:r>
              <a:rPr lang="en-US" dirty="0" err="1">
                <a:highlight>
                  <a:srgbClr val="FFFF00"/>
                </a:highlight>
              </a:rPr>
              <a:t>req.body</a:t>
            </a:r>
            <a:r>
              <a:rPr lang="en-US" dirty="0"/>
              <a:t>.</a:t>
            </a:r>
          </a:p>
          <a:p>
            <a:endParaRPr lang="en-US" b="1" dirty="0"/>
          </a:p>
          <a:p>
            <a:r>
              <a:rPr lang="en-US" b="1" dirty="0"/>
              <a:t>Parameter</a:t>
            </a:r>
            <a:r>
              <a:rPr lang="en-US" dirty="0"/>
              <a:t> :</a:t>
            </a:r>
            <a:r>
              <a:rPr lang="en-US" dirty="0">
                <a:highlight>
                  <a:srgbClr val="FFFF00"/>
                </a:highlight>
              </a:rPr>
              <a:t>{</a:t>
            </a:r>
            <a:r>
              <a:rPr lang="en-US" dirty="0" err="1">
                <a:highlight>
                  <a:srgbClr val="FFFF00"/>
                </a:highlight>
              </a:rPr>
              <a:t>extended:false</a:t>
            </a:r>
            <a:r>
              <a:rPr lang="en-US" dirty="0">
                <a:highlight>
                  <a:srgbClr val="FFFF00"/>
                </a:highlight>
              </a:rPr>
              <a:t>}</a:t>
            </a:r>
          </a:p>
          <a:p>
            <a:endParaRPr lang="en-US" dirty="0"/>
          </a:p>
          <a:p>
            <a:r>
              <a:rPr lang="en-US" dirty="0"/>
              <a:t>If  </a:t>
            </a:r>
            <a:r>
              <a:rPr lang="en-US" dirty="0">
                <a:highlight>
                  <a:srgbClr val="FFFF00"/>
                </a:highlight>
              </a:rPr>
              <a:t>false</a:t>
            </a:r>
            <a:r>
              <a:rPr lang="en-US" dirty="0"/>
              <a:t>: Uses the </a:t>
            </a:r>
            <a:r>
              <a:rPr lang="en-US" b="1" dirty="0" err="1"/>
              <a:t>querystring</a:t>
            </a:r>
            <a:r>
              <a:rPr lang="en-US" b="1" dirty="0"/>
              <a:t> </a:t>
            </a:r>
            <a:r>
              <a:rPr lang="en-US" dirty="0"/>
              <a:t>library, meaning nested objects are not supported. </a:t>
            </a:r>
          </a:p>
          <a:p>
            <a:r>
              <a:rPr lang="en-US" dirty="0"/>
              <a:t>	Example:  → name=</a:t>
            </a:r>
            <a:r>
              <a:rPr lang="en-US" dirty="0" err="1"/>
              <a:t>John&amp;age</a:t>
            </a:r>
            <a:r>
              <a:rPr lang="en-US" dirty="0"/>
              <a:t>=30 → { name: 'John', age: '30' }.</a:t>
            </a:r>
          </a:p>
          <a:p>
            <a:endParaRPr lang="en-US" dirty="0"/>
          </a:p>
          <a:p>
            <a:r>
              <a:rPr lang="en-US" dirty="0"/>
              <a:t>If </a:t>
            </a:r>
            <a:r>
              <a:rPr lang="en-US" dirty="0">
                <a:highlight>
                  <a:srgbClr val="FFFF00"/>
                </a:highlight>
              </a:rPr>
              <a:t>true</a:t>
            </a:r>
            <a:r>
              <a:rPr lang="en-US" dirty="0"/>
              <a:t> : Uses the </a:t>
            </a:r>
            <a:r>
              <a:rPr lang="en-US" b="1" dirty="0" err="1"/>
              <a:t>qs</a:t>
            </a:r>
            <a:r>
              <a:rPr lang="en-US" dirty="0"/>
              <a:t> library, which </a:t>
            </a:r>
            <a:r>
              <a:rPr lang="en-US" b="1" dirty="0"/>
              <a:t>allows nested objects</a:t>
            </a:r>
            <a:r>
              <a:rPr lang="en-US" dirty="0"/>
              <a:t>. </a:t>
            </a:r>
          </a:p>
          <a:p>
            <a:r>
              <a:rPr lang="en-US" dirty="0"/>
              <a:t>	Example:  → . </a:t>
            </a:r>
            <a:r>
              <a:rPr lang="en-US" dirty="0">
                <a:latin typeface="Courier New" panose="02070309020205020404" pitchFamily="49" charset="0"/>
              </a:rPr>
              <a:t>user[name]=</a:t>
            </a:r>
            <a:r>
              <a:rPr lang="en-US" dirty="0" err="1">
                <a:latin typeface="Courier New" panose="02070309020205020404" pitchFamily="49" charset="0"/>
              </a:rPr>
              <a:t>John&amp;user</a:t>
            </a:r>
            <a:r>
              <a:rPr lang="en-US" dirty="0">
                <a:latin typeface="Courier New" panose="02070309020205020404" pitchFamily="49" charset="0"/>
              </a:rPr>
              <a:t>[age]=30</a:t>
            </a:r>
            <a:r>
              <a:rPr lang="en-US" dirty="0"/>
              <a:t> → </a:t>
            </a:r>
            <a:r>
              <a:rPr lang="en-US" dirty="0">
                <a:latin typeface="Courier New" panose="02070309020205020404" pitchFamily="49" charset="0"/>
              </a:rPr>
              <a:t>{ user: { name: 'John', age: '30' } }</a:t>
            </a:r>
            <a:r>
              <a:rPr lang="en-US" dirty="0"/>
              <a:t>.</a:t>
            </a:r>
          </a:p>
          <a:p>
            <a:endParaRPr lang="en-IN" dirty="0"/>
          </a:p>
        </p:txBody>
      </p:sp>
      <p:sp>
        <p:nvSpPr>
          <p:cNvPr id="8" name="TextBox 7">
            <a:extLst>
              <a:ext uri="{FF2B5EF4-FFF2-40B4-BE49-F238E27FC236}">
                <a16:creationId xmlns:a16="http://schemas.microsoft.com/office/drawing/2014/main" xmlns="" id="{6C216144-72B2-DAA3-B27C-67467289440B}"/>
              </a:ext>
            </a:extLst>
          </p:cNvPr>
          <p:cNvSpPr txBox="1"/>
          <p:nvPr/>
        </p:nvSpPr>
        <p:spPr>
          <a:xfrm>
            <a:off x="1817370" y="959004"/>
            <a:ext cx="7021830" cy="3416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app.use</a:t>
            </a:r>
            <a:r>
              <a:rPr kumimoji="0" lang="en-IN"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express.urlencoded</a:t>
            </a:r>
            <a:r>
              <a:rPr kumimoji="0" lang="en-IN"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extended: </a:t>
            </a:r>
            <a:r>
              <a:rPr kumimoji="0" lang="en-IN"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false</a:t>
            </a:r>
            <a:r>
              <a:rPr kumimoji="0" lang="en-IN"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p:txBody>
      </p:sp>
    </p:spTree>
    <p:extLst>
      <p:ext uri="{BB962C8B-B14F-4D97-AF65-F5344CB8AC3E}">
        <p14:creationId xmlns:p14="http://schemas.microsoft.com/office/powerpoint/2010/main" val="203719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4AB6874E-0C5D-2570-D4FE-655CDDDE4107}"/>
              </a:ext>
            </a:extLst>
          </p:cNvPr>
          <p:cNvSpPr txBox="1"/>
          <p:nvPr/>
        </p:nvSpPr>
        <p:spPr>
          <a:xfrm>
            <a:off x="293021" y="1648849"/>
            <a:ext cx="11831245"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It looks at requests where the Content-Type: application/</a:t>
            </a:r>
            <a:r>
              <a:rPr lang="en-US" dirty="0" err="1"/>
              <a:t>json</a:t>
            </a:r>
            <a:r>
              <a:rPr lang="en-US" dirty="0"/>
              <a:t> header is present and transforms the text-based JSON input into JS-accessible variables</a:t>
            </a:r>
            <a:endParaRPr lang="en-IN" dirty="0"/>
          </a:p>
        </p:txBody>
      </p:sp>
      <p:sp>
        <p:nvSpPr>
          <p:cNvPr id="5" name="TextBox 4">
            <a:extLst>
              <a:ext uri="{FF2B5EF4-FFF2-40B4-BE49-F238E27FC236}">
                <a16:creationId xmlns:a16="http://schemas.microsoft.com/office/drawing/2014/main" xmlns="" id="{54F56123-6772-46AD-7DBB-5EDABA5FC62E}"/>
              </a:ext>
            </a:extLst>
          </p:cNvPr>
          <p:cNvSpPr txBox="1"/>
          <p:nvPr/>
        </p:nvSpPr>
        <p:spPr>
          <a:xfrm>
            <a:off x="2381250" y="543455"/>
            <a:ext cx="6244166"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app</a:t>
            </a:r>
            <a:r>
              <a:rPr kumimoji="0" lang="en-IN" sz="18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Express</a:t>
            </a:r>
            <a:r>
              <a:rPr kumimoji="0" lang="en-IN" sz="1800" b="0" i="0" u="none" strike="noStrike" kern="1200" cap="none" spc="0" normalizeH="0" baseline="0" noProof="0" dirty="0" err="1">
                <a:ln>
                  <a:noFill/>
                </a:ln>
                <a:solidFill>
                  <a:srgbClr val="3B3B3B"/>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json</a:t>
            </a:r>
            <a:r>
              <a:rPr kumimoji="0" lang="en-IN" sz="1800" b="0" i="0" u="none" strike="noStrike" kern="1200" cap="none" spc="0" normalizeH="0" baseline="0" noProof="0" dirty="0">
                <a:ln>
                  <a:noFill/>
                </a:ln>
                <a:solidFill>
                  <a:srgbClr val="3B3B3B"/>
                </a:solidFill>
                <a:effectLst/>
                <a:uLnTx/>
                <a:uFillTx/>
                <a:latin typeface="Consolas" panose="020B0609020204030204" pitchFamily="49" charset="0"/>
                <a:ea typeface="+mn-ea"/>
                <a:cs typeface="+mn-cs"/>
              </a:rPr>
              <a:t>()); </a:t>
            </a:r>
          </a:p>
        </p:txBody>
      </p:sp>
      <p:sp>
        <p:nvSpPr>
          <p:cNvPr id="11" name="TextBox 10">
            <a:extLst>
              <a:ext uri="{FF2B5EF4-FFF2-40B4-BE49-F238E27FC236}">
                <a16:creationId xmlns:a16="http://schemas.microsoft.com/office/drawing/2014/main" xmlns="" id="{CB1F7247-EE18-5ECE-4DC7-C2A324D3123F}"/>
              </a:ext>
            </a:extLst>
          </p:cNvPr>
          <p:cNvSpPr txBox="1"/>
          <p:nvPr/>
        </p:nvSpPr>
        <p:spPr>
          <a:xfrm>
            <a:off x="228599" y="2739305"/>
            <a:ext cx="11895667" cy="132343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t>- </a:t>
            </a:r>
            <a:r>
              <a:rPr lang="en-US" sz="2000" b="1" dirty="0"/>
              <a:t>Purpose</a:t>
            </a:r>
            <a:r>
              <a:rPr lang="en-US" sz="2000" dirty="0"/>
              <a:t>: It tells your Express application to use the built‑in middleware </a:t>
            </a:r>
            <a:r>
              <a:rPr lang="en-US" sz="2000" dirty="0" err="1"/>
              <a:t>express.json</a:t>
            </a:r>
            <a:r>
              <a:rPr lang="en-US" sz="2000" dirty="0"/>
              <a:t>().</a:t>
            </a:r>
          </a:p>
          <a:p>
            <a:r>
              <a:rPr lang="en-US" sz="2000" dirty="0"/>
              <a:t>- </a:t>
            </a:r>
            <a:r>
              <a:rPr lang="en-US" sz="2000" b="1" dirty="0"/>
              <a:t>What it does</a:t>
            </a:r>
            <a:r>
              <a:rPr lang="en-US" sz="2000" dirty="0"/>
              <a:t>: This middleware parses incoming requests with JSON payloads (i.e., when the client sends data in the body as JSON).</a:t>
            </a:r>
          </a:p>
          <a:p>
            <a:r>
              <a:rPr lang="en-US" sz="2000" dirty="0"/>
              <a:t>- </a:t>
            </a:r>
            <a:r>
              <a:rPr lang="en-US" sz="2000" b="1" dirty="0"/>
              <a:t>Result</a:t>
            </a:r>
            <a:r>
              <a:rPr lang="en-US" sz="2000" dirty="0"/>
              <a:t>: After parsing, the JSON data is available on </a:t>
            </a:r>
            <a:r>
              <a:rPr lang="en-US" sz="2000" dirty="0" err="1"/>
              <a:t>req.body</a:t>
            </a:r>
            <a:r>
              <a:rPr lang="en-US" sz="2000" dirty="0"/>
              <a:t> in your route handlers.</a:t>
            </a:r>
          </a:p>
        </p:txBody>
      </p:sp>
      <p:sp>
        <p:nvSpPr>
          <p:cNvPr id="13" name="TextBox 12">
            <a:extLst>
              <a:ext uri="{FF2B5EF4-FFF2-40B4-BE49-F238E27FC236}">
                <a16:creationId xmlns:a16="http://schemas.microsoft.com/office/drawing/2014/main" xmlns="" id="{D59F1B9E-A85E-393B-D33F-992C2D72E93A}"/>
              </a:ext>
            </a:extLst>
          </p:cNvPr>
          <p:cNvSpPr txBox="1"/>
          <p:nvPr/>
        </p:nvSpPr>
        <p:spPr>
          <a:xfrm>
            <a:off x="293021" y="4678803"/>
            <a:ext cx="5802979"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err="1"/>
              <a:t>app.use</a:t>
            </a:r>
            <a:r>
              <a:rPr lang="en-IN" dirty="0"/>
              <a:t>(</a:t>
            </a:r>
            <a:r>
              <a:rPr lang="en-IN" dirty="0" err="1"/>
              <a:t>express.json</a:t>
            </a:r>
            <a:r>
              <a:rPr lang="en-IN" dirty="0"/>
              <a:t>());</a:t>
            </a:r>
            <a:r>
              <a:rPr lang="en-IN" dirty="0" err="1"/>
              <a:t>app.post</a:t>
            </a:r>
            <a:r>
              <a:rPr lang="en-IN" dirty="0"/>
              <a:t>('/user', (</a:t>
            </a:r>
            <a:r>
              <a:rPr lang="en-IN" dirty="0" err="1"/>
              <a:t>req</a:t>
            </a:r>
            <a:r>
              <a:rPr lang="en-IN" dirty="0"/>
              <a:t>, res) =&gt; {  // If client sends { "name": "Sriram", "age": 30 }  console.log(req.body.name); // "Sriram"  console.log(</a:t>
            </a:r>
            <a:r>
              <a:rPr lang="en-IN" dirty="0" err="1"/>
              <a:t>req.body.age</a:t>
            </a:r>
            <a:r>
              <a:rPr lang="en-IN" dirty="0"/>
              <a:t>);  // 30  </a:t>
            </a:r>
          </a:p>
          <a:p>
            <a:r>
              <a:rPr lang="en-IN" dirty="0" err="1"/>
              <a:t>res.send</a:t>
            </a:r>
            <a:r>
              <a:rPr lang="en-IN" dirty="0"/>
              <a:t>('User received');});</a:t>
            </a:r>
          </a:p>
        </p:txBody>
      </p:sp>
      <p:sp>
        <p:nvSpPr>
          <p:cNvPr id="15" name="TextBox 14">
            <a:extLst>
              <a:ext uri="{FF2B5EF4-FFF2-40B4-BE49-F238E27FC236}">
                <a16:creationId xmlns:a16="http://schemas.microsoft.com/office/drawing/2014/main" xmlns="" id="{81069B9C-914B-89F3-1856-A487C33E72AF}"/>
              </a:ext>
            </a:extLst>
          </p:cNvPr>
          <p:cNvSpPr txBox="1"/>
          <p:nvPr/>
        </p:nvSpPr>
        <p:spPr>
          <a:xfrm>
            <a:off x="6208643" y="4678803"/>
            <a:ext cx="5526157"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dirty="0"/>
              <a:t>Without </a:t>
            </a:r>
            <a:r>
              <a:rPr lang="en-US" dirty="0" err="1">
                <a:latin typeface="Courier New" panose="02070309020205020404" pitchFamily="49" charset="0"/>
              </a:rPr>
              <a:t>express.json</a:t>
            </a:r>
            <a:r>
              <a:rPr lang="en-US" dirty="0">
                <a:latin typeface="Courier New" panose="02070309020205020404" pitchFamily="49" charset="0"/>
              </a:rPr>
              <a:t>()</a:t>
            </a:r>
            <a:r>
              <a:rPr lang="en-US" dirty="0"/>
              <a:t>, </a:t>
            </a:r>
          </a:p>
          <a:p>
            <a:pPr>
              <a:buNone/>
            </a:pPr>
            <a:endParaRPr lang="en-US" dirty="0"/>
          </a:p>
          <a:p>
            <a:pPr>
              <a:buNone/>
            </a:pPr>
            <a:r>
              <a:rPr lang="en-US" dirty="0" err="1">
                <a:latin typeface="Courier New" panose="02070309020205020404" pitchFamily="49" charset="0"/>
              </a:rPr>
              <a:t>req.body</a:t>
            </a:r>
            <a:r>
              <a:rPr lang="en-US" dirty="0"/>
              <a:t> would be </a:t>
            </a:r>
            <a:r>
              <a:rPr lang="en-US" dirty="0">
                <a:latin typeface="Courier New" panose="02070309020205020404" pitchFamily="49" charset="0"/>
              </a:rPr>
              <a:t>undefined</a:t>
            </a:r>
            <a:r>
              <a:rPr lang="en-US" dirty="0"/>
              <a:t> for JSON requests, because Express wouldn’t know how to parse the incoming JSON data.</a:t>
            </a:r>
          </a:p>
        </p:txBody>
      </p:sp>
    </p:spTree>
    <p:extLst>
      <p:ext uri="{BB962C8B-B14F-4D97-AF65-F5344CB8AC3E}">
        <p14:creationId xmlns:p14="http://schemas.microsoft.com/office/powerpoint/2010/main" val="2503470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E065D3B5-EA42-B356-1548-6A1A3BD89EC2}"/>
              </a:ext>
            </a:extLst>
          </p:cNvPr>
          <p:cNvGraphicFramePr>
            <a:graphicFrameLocks noGrp="1"/>
          </p:cNvGraphicFramePr>
          <p:nvPr>
            <p:extLst>
              <p:ext uri="{D42A27DB-BD31-4B8C-83A1-F6EECF244321}">
                <p14:modId xmlns:p14="http://schemas.microsoft.com/office/powerpoint/2010/main" val="1257550547"/>
              </p:ext>
            </p:extLst>
          </p:nvPr>
        </p:nvGraphicFramePr>
        <p:xfrm>
          <a:off x="245533" y="719665"/>
          <a:ext cx="11743266" cy="4130040"/>
        </p:xfrm>
        <a:graphic>
          <a:graphicData uri="http://schemas.openxmlformats.org/drawingml/2006/table">
            <a:tbl>
              <a:tblPr firstRow="1" bandRow="1">
                <a:tableStyleId>{5C22544A-7EE6-4342-B048-85BDC9FD1C3A}</a:tableStyleId>
              </a:tblPr>
              <a:tblGrid>
                <a:gridCol w="5638800">
                  <a:extLst>
                    <a:ext uri="{9D8B030D-6E8A-4147-A177-3AD203B41FA5}">
                      <a16:colId xmlns:a16="http://schemas.microsoft.com/office/drawing/2014/main" xmlns="" val="3762088539"/>
                    </a:ext>
                  </a:extLst>
                </a:gridCol>
                <a:gridCol w="2190044">
                  <a:extLst>
                    <a:ext uri="{9D8B030D-6E8A-4147-A177-3AD203B41FA5}">
                      <a16:colId xmlns:a16="http://schemas.microsoft.com/office/drawing/2014/main" xmlns="" val="2902305904"/>
                    </a:ext>
                  </a:extLst>
                </a:gridCol>
                <a:gridCol w="3914422">
                  <a:extLst>
                    <a:ext uri="{9D8B030D-6E8A-4147-A177-3AD203B41FA5}">
                      <a16:colId xmlns:a16="http://schemas.microsoft.com/office/drawing/2014/main" xmlns="" val="612824276"/>
                    </a:ext>
                  </a:extLst>
                </a:gridCol>
              </a:tblGrid>
              <a:tr h="838200">
                <a:tc>
                  <a:txBody>
                    <a:bodyPr/>
                    <a:lstStyle/>
                    <a:p>
                      <a:r>
                        <a:rPr lang="en-IN" dirty="0"/>
                        <a:t>Type of data</a:t>
                      </a:r>
                    </a:p>
                  </a:txBody>
                  <a:tcPr/>
                </a:tc>
                <a:tc>
                  <a:txBody>
                    <a:bodyPr/>
                    <a:lstStyle/>
                    <a:p>
                      <a:r>
                        <a:rPr lang="en-IN" dirty="0"/>
                        <a:t>Method</a:t>
                      </a:r>
                    </a:p>
                  </a:txBody>
                  <a:tcPr/>
                </a:tc>
                <a:tc>
                  <a:txBody>
                    <a:bodyPr/>
                    <a:lstStyle/>
                    <a:p>
                      <a:r>
                        <a:rPr lang="en-IN" dirty="0"/>
                        <a:t>How to read</a:t>
                      </a:r>
                    </a:p>
                  </a:txBody>
                  <a:tcPr/>
                </a:tc>
                <a:extLst>
                  <a:ext uri="{0D108BD9-81ED-4DB2-BD59-A6C34878D82A}">
                    <a16:rowId xmlns:a16="http://schemas.microsoft.com/office/drawing/2014/main" xmlns="" val="1258880409"/>
                  </a:ext>
                </a:extLst>
              </a:tr>
              <a:tr h="838200">
                <a:tc>
                  <a:txBody>
                    <a:bodyPr/>
                    <a:lstStyle/>
                    <a:p>
                      <a:r>
                        <a:rPr lang="en-IN" sz="1600" b="0" dirty="0">
                          <a:solidFill>
                            <a:srgbClr val="800000"/>
                          </a:solidFill>
                          <a:effectLst/>
                          <a:latin typeface="Consolas" panose="020B0609020204030204" pitchFamily="49" charset="0"/>
                        </a:rPr>
                        <a:t>&lt;form</a:t>
                      </a:r>
                      <a:r>
                        <a:rPr lang="en-IN" sz="1600" b="0" dirty="0">
                          <a:solidFill>
                            <a:srgbClr val="000000"/>
                          </a:solidFill>
                          <a:effectLst/>
                          <a:latin typeface="Consolas" panose="020B0609020204030204" pitchFamily="49" charset="0"/>
                        </a:rPr>
                        <a:t> </a:t>
                      </a:r>
                    </a:p>
                    <a:p>
                      <a:r>
                        <a:rPr lang="en-IN" sz="1600" b="0" dirty="0">
                          <a:solidFill>
                            <a:srgbClr val="FF0000"/>
                          </a:solidFill>
                          <a:effectLst/>
                          <a:latin typeface="Consolas" panose="020B0609020204030204" pitchFamily="49" charset="0"/>
                        </a:rPr>
                        <a:t>action</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"http://127.0.0.1:8081/</a:t>
                      </a:r>
                      <a:r>
                        <a:rPr lang="en-IN" sz="1600" b="0" dirty="0" err="1">
                          <a:solidFill>
                            <a:srgbClr val="0000FF"/>
                          </a:solidFill>
                          <a:effectLst/>
                          <a:latin typeface="Consolas" panose="020B0609020204030204" pitchFamily="49" charset="0"/>
                        </a:rPr>
                        <a:t>process_get</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p>
                    <a:p>
                      <a:r>
                        <a:rPr lang="en-IN" sz="1600" b="0" dirty="0">
                          <a:solidFill>
                            <a:srgbClr val="FF0000"/>
                          </a:solidFill>
                          <a:effectLst/>
                          <a:latin typeface="Consolas" panose="020B0609020204030204" pitchFamily="49" charset="0"/>
                        </a:rPr>
                        <a:t>method</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"GET"</a:t>
                      </a:r>
                      <a:r>
                        <a:rPr lang="en-IN" sz="1600" b="0" dirty="0">
                          <a:solidFill>
                            <a:srgbClr val="800000"/>
                          </a:solidFill>
                          <a:effectLst/>
                          <a:latin typeface="Consolas" panose="020B0609020204030204" pitchFamily="49" charset="0"/>
                        </a:rPr>
                        <a:t>&gt;</a:t>
                      </a:r>
                      <a:endParaRPr lang="en-IN" sz="1600" dirty="0"/>
                    </a:p>
                  </a:txBody>
                  <a:tcPr/>
                </a:tc>
                <a:tc>
                  <a:txBody>
                    <a:bodyPr/>
                    <a:lstStyle/>
                    <a:p>
                      <a:r>
                        <a:rPr lang="en-IN" dirty="0"/>
                        <a:t>GET</a:t>
                      </a:r>
                    </a:p>
                  </a:txBody>
                  <a:tcPr/>
                </a:tc>
                <a:tc>
                  <a:txBody>
                    <a:bodyPr/>
                    <a:lstStyle/>
                    <a:p>
                      <a:r>
                        <a:rPr lang="en-IN" sz="1800" b="0" dirty="0" err="1">
                          <a:solidFill>
                            <a:srgbClr val="001080"/>
                          </a:solidFill>
                          <a:effectLst/>
                          <a:latin typeface="Consolas" panose="020B0609020204030204" pitchFamily="49" charset="0"/>
                        </a:rPr>
                        <a:t>req</a:t>
                      </a:r>
                      <a:r>
                        <a:rPr lang="en-IN" sz="1800" b="0" dirty="0" err="1">
                          <a:solidFill>
                            <a:srgbClr val="000000"/>
                          </a:solidFill>
                          <a:effectLst/>
                          <a:latin typeface="Consolas" panose="020B0609020204030204" pitchFamily="49" charset="0"/>
                        </a:rPr>
                        <a:t>.</a:t>
                      </a:r>
                      <a:r>
                        <a:rPr lang="en-IN" sz="1800" b="0" dirty="0" err="1">
                          <a:solidFill>
                            <a:srgbClr val="001080"/>
                          </a:solidFill>
                          <a:effectLst/>
                          <a:highlight>
                            <a:srgbClr val="FFFF00"/>
                          </a:highlight>
                          <a:latin typeface="Consolas" panose="020B0609020204030204" pitchFamily="49" charset="0"/>
                        </a:rPr>
                        <a:t>query</a:t>
                      </a:r>
                      <a:r>
                        <a:rPr lang="en-IN" sz="1800" b="0" dirty="0" err="1">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first_name</a:t>
                      </a:r>
                      <a:endParaRPr lang="en-IN" dirty="0"/>
                    </a:p>
                  </a:txBody>
                  <a:tcPr/>
                </a:tc>
                <a:extLst>
                  <a:ext uri="{0D108BD9-81ED-4DB2-BD59-A6C34878D82A}">
                    <a16:rowId xmlns:a16="http://schemas.microsoft.com/office/drawing/2014/main" xmlns="" val="869898369"/>
                  </a:ext>
                </a:extLst>
              </a:tr>
              <a:tr h="838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dirty="0">
                          <a:solidFill>
                            <a:srgbClr val="800000"/>
                          </a:solidFill>
                          <a:effectLst/>
                          <a:latin typeface="Consolas" panose="020B0609020204030204" pitchFamily="49" charset="0"/>
                        </a:rPr>
                        <a:t>&lt;form</a:t>
                      </a:r>
                      <a:r>
                        <a:rPr lang="en-IN" sz="1600" b="0" dirty="0">
                          <a:solidFill>
                            <a:srgbClr val="000000"/>
                          </a:solidFill>
                          <a:effectLst/>
                          <a:latin typeface="Consolas" panose="020B0609020204030204"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dirty="0">
                          <a:solidFill>
                            <a:srgbClr val="FF0000"/>
                          </a:solidFill>
                          <a:effectLst/>
                          <a:latin typeface="Consolas" panose="020B0609020204030204" pitchFamily="49" charset="0"/>
                        </a:rPr>
                        <a:t>action</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"http://127.0.0.1:8081/</a:t>
                      </a:r>
                      <a:r>
                        <a:rPr lang="en-IN" sz="1600" b="0" dirty="0" err="1">
                          <a:solidFill>
                            <a:srgbClr val="0000FF"/>
                          </a:solidFill>
                          <a:effectLst/>
                          <a:latin typeface="Consolas" panose="020B0609020204030204" pitchFamily="49" charset="0"/>
                        </a:rPr>
                        <a:t>process_post</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dirty="0">
                          <a:solidFill>
                            <a:srgbClr val="FF0000"/>
                          </a:solidFill>
                          <a:effectLst/>
                          <a:latin typeface="Consolas" panose="020B0609020204030204" pitchFamily="49" charset="0"/>
                        </a:rPr>
                        <a:t>method</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"POST"</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endParaRPr lang="en-IN" dirty="0"/>
                    </a:p>
                  </a:txBody>
                  <a:tcPr/>
                </a:tc>
                <a:tc>
                  <a:txBody>
                    <a:bodyPr/>
                    <a:lstStyle/>
                    <a:p>
                      <a:r>
                        <a:rPr lang="en-IN" dirty="0"/>
                        <a:t>POST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dirty="0" err="1">
                          <a:solidFill>
                            <a:srgbClr val="000000"/>
                          </a:solidFill>
                          <a:effectLst/>
                          <a:latin typeface="Consolas" panose="020B0609020204030204" pitchFamily="49" charset="0"/>
                        </a:rPr>
                        <a:t>app.use</a:t>
                      </a:r>
                      <a:r>
                        <a:rPr lang="en-IN" sz="1600" b="0" dirty="0">
                          <a:solidFill>
                            <a:srgbClr val="000000"/>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express.urlencoded</a:t>
                      </a:r>
                      <a:r>
                        <a:rPr lang="en-IN" sz="1600" b="0" dirty="0">
                          <a:solidFill>
                            <a:srgbClr val="000000"/>
                          </a:solidFill>
                          <a:effectLst/>
                          <a:latin typeface="Consolas" panose="020B0609020204030204" pitchFamily="49" charset="0"/>
                        </a:rPr>
                        <a:t>({ extended: </a:t>
                      </a:r>
                      <a:r>
                        <a:rPr lang="en-IN" sz="1600" b="0" dirty="0">
                          <a:solidFill>
                            <a:srgbClr val="0000FF"/>
                          </a:solidFill>
                          <a:effectLst/>
                          <a:latin typeface="Consolas" panose="020B0609020204030204" pitchFamily="49" charset="0"/>
                        </a:rPr>
                        <a:t>false</a:t>
                      </a:r>
                      <a:r>
                        <a:rPr lang="en-IN" sz="1600" b="0" dirty="0">
                          <a:solidFill>
                            <a:srgbClr val="000000"/>
                          </a:solidFill>
                          <a:effectLst/>
                          <a:latin typeface="Consolas" panose="020B0609020204030204" pitchFamily="49" charset="0"/>
                        </a:rPr>
                        <a:t> }));</a:t>
                      </a:r>
                    </a:p>
                    <a:p>
                      <a:endParaRPr lang="en-IN" dirty="0"/>
                    </a:p>
                  </a:txBody>
                  <a:tcPr/>
                </a:tc>
                <a:tc>
                  <a:txBody>
                    <a:bodyPr/>
                    <a:lstStyle/>
                    <a:p>
                      <a:r>
                        <a:rPr lang="en-IN" sz="1800" b="0" dirty="0" err="1">
                          <a:solidFill>
                            <a:srgbClr val="001080"/>
                          </a:solidFill>
                          <a:effectLst/>
                          <a:latin typeface="Consolas" panose="020B0609020204030204" pitchFamily="49" charset="0"/>
                        </a:rPr>
                        <a:t>req</a:t>
                      </a:r>
                      <a:r>
                        <a:rPr lang="en-IN" sz="1800" b="0" dirty="0" err="1">
                          <a:solidFill>
                            <a:srgbClr val="000000"/>
                          </a:solidFill>
                          <a:effectLst/>
                          <a:latin typeface="Consolas" panose="020B0609020204030204" pitchFamily="49" charset="0"/>
                        </a:rPr>
                        <a:t>.</a:t>
                      </a:r>
                      <a:r>
                        <a:rPr lang="en-IN" sz="1800" b="0" dirty="0" err="1">
                          <a:solidFill>
                            <a:srgbClr val="001080"/>
                          </a:solidFill>
                          <a:effectLst/>
                          <a:highlight>
                            <a:srgbClr val="00FFFF"/>
                          </a:highlight>
                          <a:latin typeface="Consolas" panose="020B0609020204030204" pitchFamily="49" charset="0"/>
                        </a:rPr>
                        <a:t>body</a:t>
                      </a:r>
                      <a:r>
                        <a:rPr lang="en-IN" sz="1800" b="0" dirty="0" err="1">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first_name</a:t>
                      </a:r>
                      <a:endParaRPr lang="en-IN" dirty="0"/>
                    </a:p>
                  </a:txBody>
                  <a:tcPr/>
                </a:tc>
                <a:extLst>
                  <a:ext uri="{0D108BD9-81ED-4DB2-BD59-A6C34878D82A}">
                    <a16:rowId xmlns:a16="http://schemas.microsoft.com/office/drawing/2014/main" xmlns="" val="2329675763"/>
                  </a:ext>
                </a:extLst>
              </a:tr>
              <a:tr h="838200">
                <a:tc>
                  <a:txBody>
                    <a:bodyPr/>
                    <a:lstStyle/>
                    <a:p>
                      <a:r>
                        <a:rPr lang="en-IN" dirty="0"/>
                        <a:t>Json data</a:t>
                      </a:r>
                    </a:p>
                  </a:txBody>
                  <a:tcPr/>
                </a:tc>
                <a:tc>
                  <a:txBody>
                    <a:bodyPr/>
                    <a:lstStyle/>
                    <a:p>
                      <a:r>
                        <a:rPr lang="en-IN" dirty="0"/>
                        <a:t>POST</a:t>
                      </a:r>
                    </a:p>
                  </a:txBody>
                  <a:tcPr/>
                </a:tc>
                <a:tc>
                  <a:txBody>
                    <a:bodyPr/>
                    <a:lstStyle/>
                    <a:p>
                      <a:endParaRPr lang="en-IN" dirty="0"/>
                    </a:p>
                  </a:txBody>
                  <a:tcPr/>
                </a:tc>
                <a:extLst>
                  <a:ext uri="{0D108BD9-81ED-4DB2-BD59-A6C34878D82A}">
                    <a16:rowId xmlns:a16="http://schemas.microsoft.com/office/drawing/2014/main" xmlns="" val="268080040"/>
                  </a:ext>
                </a:extLst>
              </a:tr>
            </a:tbl>
          </a:graphicData>
        </a:graphic>
      </p:graphicFrame>
    </p:spTree>
    <p:extLst>
      <p:ext uri="{BB962C8B-B14F-4D97-AF65-F5344CB8AC3E}">
        <p14:creationId xmlns:p14="http://schemas.microsoft.com/office/powerpoint/2010/main" val="4113988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4BAF232C-F3CD-B836-B258-C97F895AB31D}"/>
              </a:ext>
            </a:extLst>
          </p:cNvPr>
          <p:cNvSpPr txBox="1"/>
          <p:nvPr/>
        </p:nvSpPr>
        <p:spPr>
          <a:xfrm>
            <a:off x="1858617" y="945661"/>
            <a:ext cx="2663687" cy="313932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err="1"/>
              <a:t>Wwwroot</a:t>
            </a:r>
            <a:endParaRPr lang="en-US" dirty="0"/>
          </a:p>
          <a:p>
            <a:endParaRPr lang="en-US" dirty="0"/>
          </a:p>
          <a:p>
            <a:endParaRPr lang="en-US" dirty="0"/>
          </a:p>
          <a:p>
            <a:r>
              <a:rPr lang="en-US"/>
              <a:t>Public folder</a:t>
            </a:r>
            <a:endParaRPr lang="en-US" dirty="0"/>
          </a:p>
          <a:p>
            <a:endParaRPr lang="en-US" dirty="0"/>
          </a:p>
          <a:p>
            <a:r>
              <a:rPr lang="en-US" dirty="0" err="1"/>
              <a:t>Js</a:t>
            </a:r>
            <a:endParaRPr lang="en-US" dirty="0"/>
          </a:p>
          <a:p>
            <a:r>
              <a:rPr lang="en-US" dirty="0" err="1"/>
              <a:t>Css</a:t>
            </a:r>
            <a:endParaRPr lang="en-US" dirty="0"/>
          </a:p>
          <a:p>
            <a:r>
              <a:rPr lang="en-US" dirty="0"/>
              <a:t>Static  index.html</a:t>
            </a:r>
          </a:p>
          <a:p>
            <a:endParaRPr lang="en-US" dirty="0"/>
          </a:p>
          <a:p>
            <a:endParaRPr lang="en-US" dirty="0"/>
          </a:p>
          <a:p>
            <a:endParaRPr lang="en-IN" dirty="0"/>
          </a:p>
        </p:txBody>
      </p:sp>
      <p:sp>
        <p:nvSpPr>
          <p:cNvPr id="5" name="TextBox 4">
            <a:extLst>
              <a:ext uri="{FF2B5EF4-FFF2-40B4-BE49-F238E27FC236}">
                <a16:creationId xmlns:a16="http://schemas.microsoft.com/office/drawing/2014/main" xmlns="" id="{B960CBC2-3202-C2E1-EBA2-05349DAACDE1}"/>
              </a:ext>
            </a:extLst>
          </p:cNvPr>
          <p:cNvSpPr txBox="1"/>
          <p:nvPr/>
        </p:nvSpPr>
        <p:spPr>
          <a:xfrm>
            <a:off x="9153939" y="1242391"/>
            <a:ext cx="2196548" cy="3925957"/>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endParaRPr lang="en-IN" dirty="0"/>
          </a:p>
        </p:txBody>
      </p:sp>
      <p:sp>
        <p:nvSpPr>
          <p:cNvPr id="6" name="TextBox 5">
            <a:extLst>
              <a:ext uri="{FF2B5EF4-FFF2-40B4-BE49-F238E27FC236}">
                <a16:creationId xmlns:a16="http://schemas.microsoft.com/office/drawing/2014/main" xmlns="" id="{D28D6E98-29CB-76BE-1920-31A0B017531E}"/>
              </a:ext>
            </a:extLst>
          </p:cNvPr>
          <p:cNvSpPr txBox="1"/>
          <p:nvPr/>
        </p:nvSpPr>
        <p:spPr>
          <a:xfrm>
            <a:off x="8984974" y="616226"/>
            <a:ext cx="2057400" cy="369332"/>
          </a:xfrm>
          <a:prstGeom prst="rect">
            <a:avLst/>
          </a:prstGeom>
          <a:noFill/>
        </p:spPr>
        <p:txBody>
          <a:bodyPr wrap="square" rtlCol="0">
            <a:spAutoFit/>
          </a:bodyPr>
          <a:lstStyle/>
          <a:p>
            <a:r>
              <a:rPr lang="en-US" dirty="0"/>
              <a:t>Client Browser</a:t>
            </a:r>
            <a:endParaRPr lang="en-IN" dirty="0"/>
          </a:p>
        </p:txBody>
      </p:sp>
      <p:cxnSp>
        <p:nvCxnSpPr>
          <p:cNvPr id="8" name="Straight Arrow Connector 7">
            <a:extLst>
              <a:ext uri="{FF2B5EF4-FFF2-40B4-BE49-F238E27FC236}">
                <a16:creationId xmlns:a16="http://schemas.microsoft.com/office/drawing/2014/main" xmlns="" id="{C69FDF53-11B1-CA30-FAC4-F6C4C0B25867}"/>
              </a:ext>
            </a:extLst>
          </p:cNvPr>
          <p:cNvCxnSpPr/>
          <p:nvPr/>
        </p:nvCxnSpPr>
        <p:spPr>
          <a:xfrm flipH="1" flipV="1">
            <a:off x="5218043" y="1967948"/>
            <a:ext cx="3935896" cy="79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xmlns="" id="{B98E5B53-1D24-FE0A-FF61-AD69FEBCF793}"/>
              </a:ext>
            </a:extLst>
          </p:cNvPr>
          <p:cNvCxnSpPr/>
          <p:nvPr/>
        </p:nvCxnSpPr>
        <p:spPr>
          <a:xfrm>
            <a:off x="3677478" y="2773018"/>
            <a:ext cx="50788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4507277E-04E2-10CA-EB13-1790303F4969}"/>
              </a:ext>
            </a:extLst>
          </p:cNvPr>
          <p:cNvSpPr txBox="1"/>
          <p:nvPr/>
        </p:nvSpPr>
        <p:spPr>
          <a:xfrm>
            <a:off x="1858617" y="4422913"/>
            <a:ext cx="2832653" cy="2308324"/>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err="1"/>
              <a:t>Src</a:t>
            </a:r>
            <a:r>
              <a:rPr lang="en-US" dirty="0"/>
              <a:t> folder</a:t>
            </a:r>
          </a:p>
          <a:p>
            <a:endParaRPr lang="en-US" dirty="0"/>
          </a:p>
          <a:p>
            <a:r>
              <a:rPr lang="en-US" dirty="0"/>
              <a:t>    JSX</a:t>
            </a:r>
          </a:p>
          <a:p>
            <a:r>
              <a:rPr lang="en-US" dirty="0"/>
              <a:t>JS</a:t>
            </a:r>
          </a:p>
          <a:p>
            <a:r>
              <a:rPr lang="en-US" dirty="0"/>
              <a:t>PHP</a:t>
            </a:r>
          </a:p>
          <a:p>
            <a:r>
              <a:rPr lang="en-US" dirty="0"/>
              <a:t>ASP</a:t>
            </a:r>
          </a:p>
          <a:p>
            <a:r>
              <a:rPr lang="en-US" dirty="0"/>
              <a:t>HSP</a:t>
            </a:r>
          </a:p>
          <a:p>
            <a:endParaRPr lang="en-IN" dirty="0"/>
          </a:p>
        </p:txBody>
      </p:sp>
      <p:sp>
        <p:nvSpPr>
          <p:cNvPr id="12" name="Rectangle 11">
            <a:extLst>
              <a:ext uri="{FF2B5EF4-FFF2-40B4-BE49-F238E27FC236}">
                <a16:creationId xmlns:a16="http://schemas.microsoft.com/office/drawing/2014/main" xmlns="" id="{BAC1C3F0-3D9E-D1D4-F827-0A51F9691A49}"/>
              </a:ext>
            </a:extLst>
          </p:cNvPr>
          <p:cNvSpPr/>
          <p:nvPr/>
        </p:nvSpPr>
        <p:spPr>
          <a:xfrm>
            <a:off x="109330" y="5168348"/>
            <a:ext cx="1470992" cy="924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engine</a:t>
            </a:r>
            <a:endParaRPr lang="en-IN" dirty="0"/>
          </a:p>
        </p:txBody>
      </p:sp>
      <p:sp>
        <p:nvSpPr>
          <p:cNvPr id="13" name="Flowchart: Magnetic Disk 12">
            <a:extLst>
              <a:ext uri="{FF2B5EF4-FFF2-40B4-BE49-F238E27FC236}">
                <a16:creationId xmlns:a16="http://schemas.microsoft.com/office/drawing/2014/main" xmlns="" id="{17654BA5-EF28-2C27-7433-ED4095EF0839}"/>
              </a:ext>
            </a:extLst>
          </p:cNvPr>
          <p:cNvSpPr/>
          <p:nvPr/>
        </p:nvSpPr>
        <p:spPr>
          <a:xfrm>
            <a:off x="258417" y="3995530"/>
            <a:ext cx="1103244" cy="815009"/>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xmlns="" id="{70E704D7-F2BF-9ADD-B2A4-FF3553C6B73E}"/>
              </a:ext>
            </a:extLst>
          </p:cNvPr>
          <p:cNvCxnSpPr/>
          <p:nvPr/>
        </p:nvCxnSpPr>
        <p:spPr>
          <a:xfrm flipH="1">
            <a:off x="3896139" y="3548270"/>
            <a:ext cx="5337313" cy="1620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xmlns="" id="{E9D1C6A8-1332-195B-B5C6-2C26FBBD2BDD}"/>
              </a:ext>
            </a:extLst>
          </p:cNvPr>
          <p:cNvCxnSpPr/>
          <p:nvPr/>
        </p:nvCxnSpPr>
        <p:spPr>
          <a:xfrm flipH="1" flipV="1">
            <a:off x="1361661" y="4860233"/>
            <a:ext cx="2604052" cy="308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xmlns="" id="{1D109272-B800-F93F-F7BB-A7EBD1789B36}"/>
              </a:ext>
            </a:extLst>
          </p:cNvPr>
          <p:cNvCxnSpPr>
            <a:endCxn id="5" idx="1"/>
          </p:cNvCxnSpPr>
          <p:nvPr/>
        </p:nvCxnSpPr>
        <p:spPr>
          <a:xfrm flipV="1">
            <a:off x="4025348" y="3205370"/>
            <a:ext cx="5128591" cy="15157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84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2761</TotalTime>
  <Words>1331</Words>
  <Application>Microsoft Office PowerPoint</Application>
  <PresentationFormat>Widescreen</PresentationFormat>
  <Paragraphs>306</Paragraphs>
  <Slides>18</Slides>
  <Notes>1</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Calibri</vt:lpstr>
      <vt:lpstr>Cambria</vt:lpstr>
      <vt:lpstr>Consolas</vt:lpstr>
      <vt:lpstr>Courier New</vt:lpstr>
      <vt:lpstr>Garamond</vt:lpstr>
      <vt:lpstr>inherit</vt:lpstr>
      <vt:lpstr>Segoe UI</vt:lpstr>
      <vt:lpstr>Verdana</vt:lpstr>
      <vt:lpstr>Office Theme</vt:lpstr>
      <vt:lpstr>PowerPoint Presentation</vt:lpstr>
      <vt:lpstr>PowerPoint Presentation</vt:lpstr>
      <vt:lpstr>Express Overview</vt:lpstr>
      <vt:lpstr>Demo1:Hello world Example.</vt:lpstr>
      <vt:lpstr>PowerPoint Presentation</vt:lpstr>
      <vt:lpstr>Demo:module returning function and function returning object.</vt:lpstr>
      <vt:lpstr>PowerPoint Presentation</vt:lpstr>
      <vt:lpstr>Basic Routing</vt:lpstr>
      <vt:lpstr>Reading static file</vt:lpstr>
      <vt:lpstr>PowerPoint Presentation</vt:lpstr>
      <vt:lpstr>PowerPoint Presentation</vt:lpstr>
      <vt:lpstr>PowerPoint Presentation</vt:lpstr>
      <vt:lpstr>Using Post Method Submit Form detail to Server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LHG</cp:lastModifiedBy>
  <cp:revision>153</cp:revision>
  <dcterms:created xsi:type="dcterms:W3CDTF">2020-12-02T14:02:37Z</dcterms:created>
  <dcterms:modified xsi:type="dcterms:W3CDTF">2026-10-07T03:22:28Z</dcterms:modified>
</cp:coreProperties>
</file>