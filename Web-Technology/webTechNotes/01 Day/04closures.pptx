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3" r:id="rId5"/>
    <p:sldId id="26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82A6A-E397-4844-B0E7-4F67EFAB82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43B229-9B53-4B95-8D17-D479D34069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21C3F-85C1-4968-985E-A949264AB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6F2C8-4E50-413C-9D54-5132F95FF238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305447-D2C9-4BD7-88B2-E09BE08CE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9AF2CC-7878-476D-A56C-47A51DC50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0EF25-D25A-4B6B-98AC-D9243AE812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5015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691CE-5306-4814-8B6D-DC106C847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27763-0C53-421D-9A13-B08DEFD045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80DC6-8969-4603-B229-C221B5BD6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6F2C8-4E50-413C-9D54-5132F95FF238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A7F64-43B9-4771-A56B-70CAFF1F7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83C9E3-BD1D-4586-B483-A94B3BE20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0EF25-D25A-4B6B-98AC-D9243AE812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652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C5F0A-579F-44D8-BEB4-7D07160AE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D7493A-9E1C-484D-A12E-E347BA142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4A8C2E-2F6A-45B1-88C9-673E91C92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6F2C8-4E50-413C-9D54-5132F95FF238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2B4A6-AFB7-4D59-B1F9-CEB07F8E8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A9C5EB-F304-4FA1-937C-33A4D294C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0EF25-D25A-4B6B-98AC-D9243AE812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2190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8D994-55C5-4209-9427-FBB245A39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6C1E2-2867-47DA-BAE7-DE067C9AF2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54873A-2F37-4178-B19B-4817D742CE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8E5B4-E840-41B3-A92D-08AAA9226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6F2C8-4E50-413C-9D54-5132F95FF238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93DEEE-56C2-4DFC-984A-5BFDC3A2B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B8E82D-E570-427B-B621-ECF690ED4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0EF25-D25A-4B6B-98AC-D9243AE812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7226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D0EAF-9307-4351-887C-FD45D6DF0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C3F1EB-408A-4EF8-93D8-B58C3F89D5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BA5211-C4B9-4C80-8C78-F005AB9C21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D26DF7-625B-4323-99C7-BAC58B9C41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EEC50C-9FF4-4B4C-803D-81E56CF7BC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881B03-3A1D-4CBC-8ADE-3CB680069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6F2C8-4E50-413C-9D54-5132F95FF238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8601DD-E93F-4405-A200-3A5D4516A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C37D5A-2BD8-4AD0-BAAE-13D197610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0EF25-D25A-4B6B-98AC-D9243AE812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3073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0146A-0772-4846-B0E1-E46701B6F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186014-D239-412D-967C-FE1A99B45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6F2C8-4E50-413C-9D54-5132F95FF238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D0AEC7-991B-4207-BB86-E83E1C68E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1C2A05-83CD-476F-A435-84B1CD340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0EF25-D25A-4B6B-98AC-D9243AE812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6554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69325A-2F97-49CD-9F7A-6C6E72A9E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6F2C8-4E50-413C-9D54-5132F95FF238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3B3747-CD5A-475C-8B19-9948E7444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DE65E7-1626-4044-930A-D98D93EDD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0EF25-D25A-4B6B-98AC-D9243AE812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6938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A9062-8951-4B6D-A69D-C0ACFDA0F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6FD7C-2C9E-47B9-9B17-043019D5C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A63BE8-EB82-480D-B452-42ABD0A039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D40710-AF99-40B7-AD1F-329E23D3D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6F2C8-4E50-413C-9D54-5132F95FF238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D58743-559D-4E50-89D8-8F9DE4859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9A2877-9412-429C-BF51-FB9919512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0EF25-D25A-4B6B-98AC-D9243AE812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8761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771AF-0172-4F12-91EE-30219D9B1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2E75FE-7FF6-4EB1-92A1-D7413856B3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2F6E54-45FA-4DC1-8DC5-B141435078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6431C2-2DEE-4AAA-A173-874236378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6F2C8-4E50-413C-9D54-5132F95FF238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8FAEAE-434A-4491-8F2F-03C7E240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FA1B01-791E-4ECE-BB68-5AC36DBBE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0EF25-D25A-4B6B-98AC-D9243AE812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3303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3D6DC-11B1-470F-8D06-58AACB531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E492E8-B8A9-41D4-A80B-420271B0C8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6E63F4-016F-4D51-8CEF-E6DDFF5C8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6F2C8-4E50-413C-9D54-5132F95FF238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6A676-71FA-4748-A0EF-38202EE8D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5B2C2-B5D9-441A-B970-36FD3980B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0EF25-D25A-4B6B-98AC-D9243AE812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998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88A36A-349E-437D-B472-A6131DEBE9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2CA23E-7CB3-4E79-8E9B-EA4A9DD95D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3FA7F-C2A8-4CA8-A085-5706520F1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6F2C8-4E50-413C-9D54-5132F95FF238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92031-6227-408F-9DE6-A7C03C586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83AF8-F14F-4D05-BF0B-838DBE635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0EF25-D25A-4B6B-98AC-D9243AE812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482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9EF9C1-6D78-4589-9DB8-D9925309C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06BB72-ED79-4A00-B13D-E6DDD9449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7B9CF1-8C39-450E-9D00-AD94D8F4EC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46F2C8-4E50-413C-9D54-5132F95FF238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314D12-871A-415B-88CD-317C40D5E8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FAA4D-8095-4EF7-95DD-DE3F33EF44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40EF25-D25A-4B6B-98AC-D9243AE81247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420F04-0A09-4483-A96C-4B76B64E46C3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0" y="-76200"/>
            <a:ext cx="1282699" cy="85753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C4796F5-3DA3-4AF4-A0F2-9B0B21C72318}"/>
              </a:ext>
            </a:extLst>
          </p:cNvPr>
          <p:cNvSpPr/>
          <p:nvPr userDrawn="1"/>
        </p:nvSpPr>
        <p:spPr>
          <a:xfrm>
            <a:off x="228600" y="6593087"/>
            <a:ext cx="851535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8993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8450" y="971550"/>
            <a:ext cx="6343650" cy="50292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E8A8E-ED85-4B70-916D-ED56E0E40BBC}"/>
              </a:ext>
            </a:extLst>
          </p:cNvPr>
          <p:cNvSpPr txBox="1"/>
          <p:nvPr/>
        </p:nvSpPr>
        <p:spPr>
          <a:xfrm>
            <a:off x="3067050" y="3886201"/>
            <a:ext cx="2457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dirty="0" err="1"/>
              <a:t>Ketki</a:t>
            </a:r>
            <a:r>
              <a:rPr lang="en-IN" sz="1350" dirty="0"/>
              <a:t> Acharya</a:t>
            </a:r>
          </a:p>
          <a:p>
            <a:r>
              <a:rPr lang="en-IN" sz="1350" dirty="0"/>
              <a:t>From: SM VITA ATC of CDAC</a:t>
            </a:r>
          </a:p>
          <a:p>
            <a:r>
              <a:rPr lang="en-IN" sz="1350" dirty="0"/>
              <a:t>9769201036</a:t>
            </a:r>
          </a:p>
          <a:p>
            <a:r>
              <a:rPr lang="en-IN" sz="1350" dirty="0"/>
              <a:t>ketkiacharya.net@gmail.com</a:t>
            </a:r>
          </a:p>
        </p:txBody>
      </p:sp>
    </p:spTree>
    <p:extLst>
      <p:ext uri="{BB962C8B-B14F-4D97-AF65-F5344CB8AC3E}">
        <p14:creationId xmlns:p14="http://schemas.microsoft.com/office/powerpoint/2010/main" val="629767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44B9B-C0CF-4F18-B558-F0877F3A2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3932" y="0"/>
            <a:ext cx="9965267" cy="642408"/>
          </a:xfrm>
        </p:spPr>
        <p:txBody>
          <a:bodyPr>
            <a:normAutofit fontScale="90000"/>
          </a:bodyPr>
          <a:lstStyle/>
          <a:p>
            <a:r>
              <a:rPr lang="en-IN" dirty="0"/>
              <a:t>Why closures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DF96E-4990-4D29-9DFE-EB3DF0F25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666" y="753534"/>
            <a:ext cx="11015133" cy="431799"/>
          </a:xfrm>
        </p:spPr>
        <p:txBody>
          <a:bodyPr>
            <a:normAutofit fontScale="85000" lnSpcReduction="10000"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Global variables can be made local (private static) with </a:t>
            </a:r>
            <a:r>
              <a:rPr lang="en-US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closures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33E757-C303-40AD-AD5C-2A411AFC43DE}"/>
              </a:ext>
            </a:extLst>
          </p:cNvPr>
          <p:cNvSpPr txBox="1"/>
          <p:nvPr/>
        </p:nvSpPr>
        <p:spPr>
          <a:xfrm>
            <a:off x="493184" y="1661573"/>
            <a:ext cx="4806403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+= 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</a:p>
          <a:p>
            <a:endParaRPr lang="en-IN" b="0" dirty="0">
              <a:solidFill>
                <a:srgbClr val="800000"/>
              </a:solidFill>
              <a:effectLst/>
              <a:latin typeface="Consolas" panose="020B0609020204030204" pitchFamily="49" charset="0"/>
            </a:endParaRPr>
          </a:p>
          <a:p>
            <a:endParaRPr lang="en-IN" dirty="0">
              <a:solidFill>
                <a:srgbClr val="800000"/>
              </a:solidFill>
              <a:latin typeface="Consolas" panose="020B0609020204030204" pitchFamily="49" charset="0"/>
            </a:endParaRPr>
          </a:p>
          <a:p>
            <a:endParaRPr lang="en-IN" b="0" dirty="0">
              <a:solidFill>
                <a:srgbClr val="8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800000"/>
                </a:solidFill>
                <a:latin typeface="Consolas" panose="020B0609020204030204" pitchFamily="49" charset="0"/>
              </a:rPr>
              <a:t>In this example counter is global variable so it may get modified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130EFB-03FB-4B85-BBEF-510EA9000CF2}"/>
              </a:ext>
            </a:extLst>
          </p:cNvPr>
          <p:cNvSpPr txBox="1"/>
          <p:nvPr/>
        </p:nvSpPr>
        <p:spPr>
          <a:xfrm>
            <a:off x="5659968" y="1185333"/>
            <a:ext cx="61341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+= 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</a:p>
          <a:p>
            <a:endParaRPr lang="en-IN" b="0" dirty="0">
              <a:solidFill>
                <a:srgbClr val="800000"/>
              </a:solidFill>
              <a:effectLst/>
              <a:latin typeface="Consolas" panose="020B0609020204030204" pitchFamily="49" charset="0"/>
            </a:endParaRPr>
          </a:p>
          <a:p>
            <a:endParaRPr lang="en-IN" dirty="0">
              <a:solidFill>
                <a:srgbClr val="800000"/>
              </a:solidFill>
              <a:latin typeface="Consolas" panose="020B0609020204030204" pitchFamily="49" charset="0"/>
            </a:endParaRPr>
          </a:p>
          <a:p>
            <a:endParaRPr lang="en-IN" b="0" dirty="0">
              <a:solidFill>
                <a:srgbClr val="8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800000"/>
                </a:solidFill>
                <a:latin typeface="Consolas" panose="020B0609020204030204" pitchFamily="49" charset="0"/>
              </a:rPr>
              <a:t>In this example counter is local variable but now it will return 1 1 1 as counter get initialised to 0 for each function call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069A58-8996-4197-AF09-66CC38E0B255}"/>
              </a:ext>
            </a:extLst>
          </p:cNvPr>
          <p:cNvSpPr/>
          <p:nvPr/>
        </p:nvSpPr>
        <p:spPr>
          <a:xfrm>
            <a:off x="3513326" y="1731803"/>
            <a:ext cx="1809135" cy="8849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0     1    2  3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26A21F-4766-47C4-A444-BE26BED39490}"/>
              </a:ext>
            </a:extLst>
          </p:cNvPr>
          <p:cNvSpPr txBox="1"/>
          <p:nvPr/>
        </p:nvSpPr>
        <p:spPr>
          <a:xfrm>
            <a:off x="2949678" y="1273902"/>
            <a:ext cx="993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counter</a:t>
            </a:r>
            <a:endParaRPr lang="en-IN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8D5CB63-189A-49E9-912B-187C0FD5286E}"/>
              </a:ext>
            </a:extLst>
          </p:cNvPr>
          <p:cNvCxnSpPr/>
          <p:nvPr/>
        </p:nvCxnSpPr>
        <p:spPr>
          <a:xfrm>
            <a:off x="3185652" y="2635045"/>
            <a:ext cx="21139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D6435D-D70C-42FF-845B-DBCA1CC260E1}"/>
              </a:ext>
            </a:extLst>
          </p:cNvPr>
          <p:cNvCxnSpPr/>
          <p:nvPr/>
        </p:nvCxnSpPr>
        <p:spPr>
          <a:xfrm flipV="1">
            <a:off x="3677264" y="2017052"/>
            <a:ext cx="530942" cy="29496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D199518-90C8-4952-A347-FA47F2AE8AA7}"/>
              </a:ext>
            </a:extLst>
          </p:cNvPr>
          <p:cNvCxnSpPr/>
          <p:nvPr/>
        </p:nvCxnSpPr>
        <p:spPr>
          <a:xfrm flipV="1">
            <a:off x="4083395" y="2002926"/>
            <a:ext cx="530942" cy="29496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209FBBA-A6AB-42A3-991F-F927BB4DDB2B}"/>
              </a:ext>
            </a:extLst>
          </p:cNvPr>
          <p:cNvCxnSpPr/>
          <p:nvPr/>
        </p:nvCxnSpPr>
        <p:spPr>
          <a:xfrm flipV="1">
            <a:off x="4417894" y="2017052"/>
            <a:ext cx="530942" cy="29496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6029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031DA-7A2D-4856-B21A-FC44E6AC8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0867" y="170393"/>
            <a:ext cx="9804400" cy="388408"/>
          </a:xfrm>
        </p:spPr>
        <p:txBody>
          <a:bodyPr>
            <a:normAutofit fontScale="90000"/>
          </a:bodyPr>
          <a:lstStyle/>
          <a:p>
            <a:r>
              <a:rPr lang="en-IN" dirty="0"/>
              <a:t>Nested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CA37C-A1F7-4764-B5B5-4BD5147AC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868" y="911225"/>
            <a:ext cx="3860526" cy="3808259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plus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{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       counter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+= 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}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plus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    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 marL="0" indent="0">
              <a:buNone/>
            </a:pP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04D173-0061-4673-906D-134D2C786294}"/>
              </a:ext>
            </a:extLst>
          </p:cNvPr>
          <p:cNvSpPr txBox="1"/>
          <p:nvPr/>
        </p:nvSpPr>
        <p:spPr>
          <a:xfrm>
            <a:off x="5588364" y="143506"/>
            <a:ext cx="620183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1600" dirty="0">
                <a:solidFill>
                  <a:srgbClr val="333333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JavaScript supports nested functions. Nested functions have access to the scope "above" them.</a:t>
            </a:r>
            <a:endParaRPr lang="en-IN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1600" dirty="0">
                <a:solidFill>
                  <a:srgbClr val="333333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this example, the inner function </a:t>
            </a:r>
            <a:r>
              <a:rPr lang="en-US" sz="1600" b="1" dirty="0">
                <a:solidFill>
                  <a:srgbClr val="333333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plus()</a:t>
            </a:r>
            <a:r>
              <a:rPr lang="en-US" sz="1600" dirty="0">
                <a:solidFill>
                  <a:srgbClr val="333333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has access to the </a:t>
            </a:r>
            <a:r>
              <a:rPr lang="en-US" sz="1600" b="1" dirty="0">
                <a:solidFill>
                  <a:srgbClr val="333333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counter</a:t>
            </a:r>
            <a:r>
              <a:rPr lang="en-US" sz="1600" dirty="0">
                <a:solidFill>
                  <a:srgbClr val="333333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variable in the parent function:</a:t>
            </a:r>
            <a:endParaRPr lang="en-IN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32F0FA6-06CC-476A-9533-983F7B627C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022" y="1727897"/>
            <a:ext cx="6442768" cy="21749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could have solved the counter dilemma, if we could reach the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plus()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function from the outside.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 also need to find a way to execute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counter = 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only once.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 need a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closure.pus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4160377-4377-9C27-5A9D-951501EAA502}"/>
              </a:ext>
            </a:extLst>
          </p:cNvPr>
          <p:cNvSpPr txBox="1">
            <a:spLocks/>
          </p:cNvSpPr>
          <p:nvPr/>
        </p:nvSpPr>
        <p:spPr>
          <a:xfrm>
            <a:off x="3022054" y="2879348"/>
            <a:ext cx="3860526" cy="3808259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solidFill>
                  <a:srgbClr val="800000"/>
                </a:solidFill>
                <a:latin typeface="Consolas" panose="020B0609020204030204" pitchFamily="49" charset="0"/>
              </a:rPr>
              <a:t>&lt;script&gt;</a:t>
            </a: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Let Plus=function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() 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IN" dirty="0">
                <a:solidFill>
                  <a:srgbClr val="001080"/>
                </a:solidFill>
                <a:latin typeface="Consolas" panose="020B0609020204030204" pitchFamily="49" charset="0"/>
              </a:rPr>
              <a:t>counter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IN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  </a:t>
            </a:r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return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IN" dirty="0">
                <a:solidFill>
                  <a:srgbClr val="FFC000"/>
                </a:solidFill>
                <a:latin typeface="Consolas" panose="020B0609020204030204" pitchFamily="49" charset="0"/>
              </a:rPr>
              <a:t>function () 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solidFill>
                  <a:srgbClr val="FFC000"/>
                </a:solidFill>
                <a:latin typeface="Consolas" panose="020B0609020204030204" pitchFamily="49" charset="0"/>
              </a:rPr>
              <a:t>     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solidFill>
                  <a:srgbClr val="FFC000"/>
                </a:solidFill>
                <a:latin typeface="Consolas" panose="020B0609020204030204" pitchFamily="49" charset="0"/>
              </a:rPr>
              <a:t>       return counter += 1;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solidFill>
                  <a:srgbClr val="FFC000"/>
                </a:solidFill>
                <a:latin typeface="Consolas" panose="020B0609020204030204" pitchFamily="49" charset="0"/>
              </a:rPr>
              <a:t> 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  }</a:t>
            </a:r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()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 err="1">
                <a:solidFill>
                  <a:srgbClr val="001080"/>
                </a:solidFill>
                <a:latin typeface="Consolas" panose="020B0609020204030204" pitchFamily="49" charset="0"/>
              </a:rPr>
              <a:t>document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795E26"/>
                </a:solidFill>
                <a:latin typeface="Consolas" panose="020B0609020204030204" pitchFamily="49" charset="0"/>
              </a:rPr>
              <a:t>write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795E26"/>
                </a:solidFill>
                <a:latin typeface="Consolas" panose="020B0609020204030204" pitchFamily="49" charset="0"/>
              </a:rPr>
              <a:t>plus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 err="1">
                <a:solidFill>
                  <a:srgbClr val="001080"/>
                </a:solidFill>
                <a:latin typeface="Consolas" panose="020B0609020204030204" pitchFamily="49" charset="0"/>
              </a:rPr>
              <a:t>document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795E26"/>
                </a:solidFill>
                <a:latin typeface="Consolas" panose="020B0609020204030204" pitchFamily="49" charset="0"/>
              </a:rPr>
              <a:t>write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795E26"/>
                </a:solidFill>
                <a:latin typeface="Consolas" panose="020B0609020204030204" pitchFamily="49" charset="0"/>
              </a:rPr>
              <a:t>plus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solidFill>
                  <a:srgbClr val="800000"/>
                </a:solidFill>
                <a:latin typeface="Consolas" panose="020B0609020204030204" pitchFamily="49" charset="0"/>
              </a:rPr>
              <a:t>&lt;/script&gt;</a:t>
            </a: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b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7176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56B9EC5-61A6-4E7F-B346-FB613F293C69}"/>
              </a:ext>
            </a:extLst>
          </p:cNvPr>
          <p:cNvSpPr txBox="1"/>
          <p:nvPr/>
        </p:nvSpPr>
        <p:spPr>
          <a:xfrm>
            <a:off x="6337300" y="133770"/>
            <a:ext cx="564726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(</a:t>
            </a: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() {</a:t>
            </a:r>
          </a:p>
          <a:p>
            <a:pPr marL="0" indent="0">
              <a:buNone/>
            </a:pP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sz="1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() {</a:t>
            </a:r>
            <a:r>
              <a:rPr lang="en-IN" sz="1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+= </a:t>
            </a:r>
            <a:r>
              <a:rPr lang="en-I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  }</a:t>
            </a:r>
          </a:p>
          <a:p>
            <a:pPr marL="0" indent="0">
              <a:buNone/>
            </a:pP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})();</a:t>
            </a:r>
          </a:p>
          <a:p>
            <a:pPr marL="0" indent="0">
              <a:buNone/>
            </a:pP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As soon as page gets loaded it will invoke above code[self invoking function and counter will be initialized to 0. self invoking function get called only one time so it will initialised counter to 0 only one time and add is now pointing to anonymous function returning counter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048C43-7DD0-42F7-89CF-579BD63F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0800" y="68792"/>
            <a:ext cx="10033000" cy="676275"/>
          </a:xfrm>
        </p:spPr>
        <p:txBody>
          <a:bodyPr>
            <a:normAutofit fontScale="90000"/>
          </a:bodyPr>
          <a:lstStyle/>
          <a:p>
            <a:r>
              <a:rPr lang="en-IN" dirty="0"/>
              <a:t>closures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1CE5D-6780-4DDA-8DC2-DBCB2F8E6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133" y="885825"/>
            <a:ext cx="5974190" cy="555430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&lt;!DOCTYPE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Counting with a local variable.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myFunction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Count!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&lt;/button&gt;//3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"demo"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200" b="0" dirty="0">
                <a:solidFill>
                  <a:schemeClr val="accent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() </a:t>
            </a:r>
            <a:r>
              <a:rPr lang="en-IN" sz="1600" b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en-IN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function</a:t>
            </a:r>
            <a:r>
              <a:rPr lang="en-IN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() {</a:t>
            </a:r>
            <a:r>
              <a:rPr lang="en-IN" sz="12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en-IN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counter</a:t>
            </a:r>
            <a:r>
              <a:rPr lang="en-IN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+= </a:t>
            </a:r>
            <a:r>
              <a:rPr lang="en-IN" sz="12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1</a:t>
            </a:r>
            <a:r>
              <a:rPr lang="en-IN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;}</a:t>
            </a:r>
          </a:p>
          <a:p>
            <a:pPr marL="0" indent="0">
              <a:buNone/>
            </a:pPr>
            <a:r>
              <a:rPr lang="en-IN" sz="1600" b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200" b="0" dirty="0">
                <a:solidFill>
                  <a:schemeClr val="accent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1200" b="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()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//1</a:t>
            </a:r>
          </a:p>
          <a:p>
            <a:pPr marL="0" indent="0">
              <a:buNone/>
            </a:pP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myFunction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(){//4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"demo"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();//5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&lt;/script&gt;&lt;/body&gt;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BE6049-85B0-4DF2-8D31-7633AB73BA62}"/>
              </a:ext>
            </a:extLst>
          </p:cNvPr>
          <p:cNvSpPr txBox="1"/>
          <p:nvPr/>
        </p:nvSpPr>
        <p:spPr>
          <a:xfrm>
            <a:off x="6246283" y="5000062"/>
            <a:ext cx="61341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myFunction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"demo"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BE837A1-36D5-4AD4-A7DC-D977BF4968B8}"/>
              </a:ext>
            </a:extLst>
          </p:cNvPr>
          <p:cNvCxnSpPr>
            <a:cxnSpLocks/>
          </p:cNvCxnSpPr>
          <p:nvPr/>
        </p:nvCxnSpPr>
        <p:spPr>
          <a:xfrm flipV="1">
            <a:off x="7755466" y="133770"/>
            <a:ext cx="3115734" cy="11051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800939B-DA06-4091-87F9-4AB60A5AA582}"/>
              </a:ext>
            </a:extLst>
          </p:cNvPr>
          <p:cNvSpPr txBox="1"/>
          <p:nvPr/>
        </p:nvSpPr>
        <p:spPr>
          <a:xfrm>
            <a:off x="6544733" y="2009079"/>
            <a:ext cx="5427134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() {</a:t>
            </a:r>
            <a:r>
              <a:rPr lang="en-IN" sz="1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+= </a:t>
            </a:r>
            <a:r>
              <a:rPr lang="en-I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;}</a:t>
            </a:r>
            <a:endParaRPr lang="en-IN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43915B6-74BD-499E-88AA-7A147D099DE3}"/>
              </a:ext>
            </a:extLst>
          </p:cNvPr>
          <p:cNvCxnSpPr/>
          <p:nvPr/>
        </p:nvCxnSpPr>
        <p:spPr>
          <a:xfrm>
            <a:off x="7103533" y="338667"/>
            <a:ext cx="719667" cy="16278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9F7BEB3-AD85-E87F-2D95-68CFD3C0489B}"/>
              </a:ext>
            </a:extLst>
          </p:cNvPr>
          <p:cNvSpPr/>
          <p:nvPr/>
        </p:nvSpPr>
        <p:spPr>
          <a:xfrm>
            <a:off x="4055533" y="133770"/>
            <a:ext cx="1799167" cy="18753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Counter=0</a:t>
            </a:r>
          </a:p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4D5628-A223-5110-CF90-D3472D3E336D}"/>
              </a:ext>
            </a:extLst>
          </p:cNvPr>
          <p:cNvSpPr/>
          <p:nvPr/>
        </p:nvSpPr>
        <p:spPr>
          <a:xfrm>
            <a:off x="4506011" y="1180805"/>
            <a:ext cx="1217633" cy="74125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Return  counter =1</a:t>
            </a:r>
            <a:endParaRPr lang="en-IN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BE64D2C-CF6D-7F41-E535-82195289DEE1}"/>
              </a:ext>
            </a:extLst>
          </p:cNvPr>
          <p:cNvSpPr/>
          <p:nvPr/>
        </p:nvSpPr>
        <p:spPr>
          <a:xfrm>
            <a:off x="886120" y="1762812"/>
            <a:ext cx="3902696" cy="1234913"/>
          </a:xfrm>
          <a:custGeom>
            <a:avLst/>
            <a:gdLst>
              <a:gd name="connsiteX0" fmla="*/ 3902696 w 3902696"/>
              <a:gd name="connsiteY0" fmla="*/ 0 h 1234913"/>
              <a:gd name="connsiteX1" fmla="*/ 3289954 w 3902696"/>
              <a:gd name="connsiteY1" fmla="*/ 18854 h 1234913"/>
              <a:gd name="connsiteX2" fmla="*/ 3148552 w 3902696"/>
              <a:gd name="connsiteY2" fmla="*/ 47134 h 1234913"/>
              <a:gd name="connsiteX3" fmla="*/ 2752626 w 3902696"/>
              <a:gd name="connsiteY3" fmla="*/ 103695 h 1234913"/>
              <a:gd name="connsiteX4" fmla="*/ 2545237 w 3902696"/>
              <a:gd name="connsiteY4" fmla="*/ 160256 h 1234913"/>
              <a:gd name="connsiteX5" fmla="*/ 2375554 w 3902696"/>
              <a:gd name="connsiteY5" fmla="*/ 188536 h 1234913"/>
              <a:gd name="connsiteX6" fmla="*/ 2215299 w 3902696"/>
              <a:gd name="connsiteY6" fmla="*/ 254524 h 1234913"/>
              <a:gd name="connsiteX7" fmla="*/ 2036189 w 3902696"/>
              <a:gd name="connsiteY7" fmla="*/ 301658 h 1234913"/>
              <a:gd name="connsiteX8" fmla="*/ 1593129 w 3902696"/>
              <a:gd name="connsiteY8" fmla="*/ 471341 h 1234913"/>
              <a:gd name="connsiteX9" fmla="*/ 1414020 w 3902696"/>
              <a:gd name="connsiteY9" fmla="*/ 537328 h 1234913"/>
              <a:gd name="connsiteX10" fmla="*/ 1272618 w 3902696"/>
              <a:gd name="connsiteY10" fmla="*/ 603316 h 1234913"/>
              <a:gd name="connsiteX11" fmla="*/ 1150070 w 3902696"/>
              <a:gd name="connsiteY11" fmla="*/ 650450 h 1234913"/>
              <a:gd name="connsiteX12" fmla="*/ 1065228 w 3902696"/>
              <a:gd name="connsiteY12" fmla="*/ 697584 h 1234913"/>
              <a:gd name="connsiteX13" fmla="*/ 923826 w 3902696"/>
              <a:gd name="connsiteY13" fmla="*/ 754145 h 1234913"/>
              <a:gd name="connsiteX14" fmla="*/ 782424 w 3902696"/>
              <a:gd name="connsiteY14" fmla="*/ 857840 h 1234913"/>
              <a:gd name="connsiteX15" fmla="*/ 697583 w 3902696"/>
              <a:gd name="connsiteY15" fmla="*/ 914400 h 1234913"/>
              <a:gd name="connsiteX16" fmla="*/ 650449 w 3902696"/>
              <a:gd name="connsiteY16" fmla="*/ 961534 h 1234913"/>
              <a:gd name="connsiteX17" fmla="*/ 452486 w 3902696"/>
              <a:gd name="connsiteY17" fmla="*/ 1093510 h 1234913"/>
              <a:gd name="connsiteX18" fmla="*/ 395925 w 3902696"/>
              <a:gd name="connsiteY18" fmla="*/ 1150070 h 1234913"/>
              <a:gd name="connsiteX19" fmla="*/ 320511 w 3902696"/>
              <a:gd name="connsiteY19" fmla="*/ 1178351 h 1234913"/>
              <a:gd name="connsiteX20" fmla="*/ 254523 w 3902696"/>
              <a:gd name="connsiteY20" fmla="*/ 1197204 h 1234913"/>
              <a:gd name="connsiteX21" fmla="*/ 179109 w 3902696"/>
              <a:gd name="connsiteY21" fmla="*/ 1225485 h 1234913"/>
              <a:gd name="connsiteX22" fmla="*/ 0 w 3902696"/>
              <a:gd name="connsiteY22" fmla="*/ 1234912 h 1234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3902696" h="1234913">
                <a:moveTo>
                  <a:pt x="3902696" y="0"/>
                </a:moveTo>
                <a:cubicBezTo>
                  <a:pt x="3698449" y="6285"/>
                  <a:pt x="3493900" y="6107"/>
                  <a:pt x="3289954" y="18854"/>
                </a:cubicBezTo>
                <a:cubicBezTo>
                  <a:pt x="3241980" y="21852"/>
                  <a:pt x="3195824" y="38426"/>
                  <a:pt x="3148552" y="47134"/>
                </a:cubicBezTo>
                <a:cubicBezTo>
                  <a:pt x="2908574" y="91341"/>
                  <a:pt x="2975242" y="80263"/>
                  <a:pt x="2752626" y="103695"/>
                </a:cubicBezTo>
                <a:cubicBezTo>
                  <a:pt x="2683496" y="122549"/>
                  <a:pt x="2615144" y="144527"/>
                  <a:pt x="2545237" y="160256"/>
                </a:cubicBezTo>
                <a:cubicBezTo>
                  <a:pt x="2489294" y="172843"/>
                  <a:pt x="2430689" y="172783"/>
                  <a:pt x="2375554" y="188536"/>
                </a:cubicBezTo>
                <a:cubicBezTo>
                  <a:pt x="2320007" y="204407"/>
                  <a:pt x="2270104" y="236256"/>
                  <a:pt x="2215299" y="254524"/>
                </a:cubicBezTo>
                <a:cubicBezTo>
                  <a:pt x="2156731" y="274047"/>
                  <a:pt x="2094487" y="281342"/>
                  <a:pt x="2036189" y="301658"/>
                </a:cubicBezTo>
                <a:cubicBezTo>
                  <a:pt x="1886850" y="353700"/>
                  <a:pt x="1741022" y="415321"/>
                  <a:pt x="1593129" y="471341"/>
                </a:cubicBezTo>
                <a:cubicBezTo>
                  <a:pt x="1533629" y="493879"/>
                  <a:pt x="1471677" y="510421"/>
                  <a:pt x="1414020" y="537328"/>
                </a:cubicBezTo>
                <a:cubicBezTo>
                  <a:pt x="1366886" y="559324"/>
                  <a:pt x="1320426" y="582827"/>
                  <a:pt x="1272618" y="603316"/>
                </a:cubicBezTo>
                <a:cubicBezTo>
                  <a:pt x="1232390" y="620557"/>
                  <a:pt x="1189914" y="632339"/>
                  <a:pt x="1150070" y="650450"/>
                </a:cubicBezTo>
                <a:cubicBezTo>
                  <a:pt x="1120618" y="663837"/>
                  <a:pt x="1094638" y="684104"/>
                  <a:pt x="1065228" y="697584"/>
                </a:cubicBezTo>
                <a:cubicBezTo>
                  <a:pt x="1019079" y="718735"/>
                  <a:pt x="967993" y="729117"/>
                  <a:pt x="923826" y="754145"/>
                </a:cubicBezTo>
                <a:cubicBezTo>
                  <a:pt x="872974" y="782961"/>
                  <a:pt x="831057" y="825418"/>
                  <a:pt x="782424" y="857840"/>
                </a:cubicBezTo>
                <a:cubicBezTo>
                  <a:pt x="754144" y="876693"/>
                  <a:pt x="724309" y="893401"/>
                  <a:pt x="697583" y="914400"/>
                </a:cubicBezTo>
                <a:cubicBezTo>
                  <a:pt x="680112" y="928127"/>
                  <a:pt x="667719" y="947554"/>
                  <a:pt x="650449" y="961534"/>
                </a:cubicBezTo>
                <a:cubicBezTo>
                  <a:pt x="509973" y="1075253"/>
                  <a:pt x="551538" y="1053889"/>
                  <a:pt x="452486" y="1093510"/>
                </a:cubicBezTo>
                <a:cubicBezTo>
                  <a:pt x="433632" y="1112363"/>
                  <a:pt x="420890" y="1140708"/>
                  <a:pt x="395925" y="1150070"/>
                </a:cubicBezTo>
                <a:cubicBezTo>
                  <a:pt x="370787" y="1159497"/>
                  <a:pt x="345981" y="1169861"/>
                  <a:pt x="320511" y="1178351"/>
                </a:cubicBezTo>
                <a:cubicBezTo>
                  <a:pt x="298809" y="1185585"/>
                  <a:pt x="276022" y="1189386"/>
                  <a:pt x="254523" y="1197204"/>
                </a:cubicBezTo>
                <a:cubicBezTo>
                  <a:pt x="212291" y="1212561"/>
                  <a:pt x="223938" y="1221216"/>
                  <a:pt x="179109" y="1225485"/>
                </a:cubicBezTo>
                <a:cubicBezTo>
                  <a:pt x="76253" y="1235281"/>
                  <a:pt x="64886" y="1234912"/>
                  <a:pt x="0" y="1234912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5785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947A1BC-25EB-4B4D-BE75-02500D425213}"/>
              </a:ext>
            </a:extLst>
          </p:cNvPr>
          <p:cNvSpPr/>
          <p:nvPr/>
        </p:nvSpPr>
        <p:spPr>
          <a:xfrm>
            <a:off x="353961" y="1170039"/>
            <a:ext cx="2792362" cy="27628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B8CEA8-8483-4604-A351-768A964DC40E}"/>
              </a:ext>
            </a:extLst>
          </p:cNvPr>
          <p:cNvSpPr/>
          <p:nvPr/>
        </p:nvSpPr>
        <p:spPr>
          <a:xfrm>
            <a:off x="884903" y="2123768"/>
            <a:ext cx="1061884" cy="82590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12CA5D-8CF5-4665-9FD1-97BCEAA6689F}"/>
              </a:ext>
            </a:extLst>
          </p:cNvPr>
          <p:cNvSpPr txBox="1"/>
          <p:nvPr/>
        </p:nvSpPr>
        <p:spPr>
          <a:xfrm>
            <a:off x="757085" y="1754436"/>
            <a:ext cx="15928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document</a:t>
            </a:r>
            <a:endParaRPr lang="en-IN" dirty="0">
              <a:solidFill>
                <a:schemeClr val="bg1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8579B6A-F98F-40F4-8052-D52130E0680C}"/>
              </a:ext>
            </a:extLst>
          </p:cNvPr>
          <p:cNvCxnSpPr/>
          <p:nvPr/>
        </p:nvCxnSpPr>
        <p:spPr>
          <a:xfrm flipV="1">
            <a:off x="1376516" y="2257126"/>
            <a:ext cx="2202425" cy="2359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512CBEB6-3482-4447-9BDE-95CE937793C3}"/>
              </a:ext>
            </a:extLst>
          </p:cNvPr>
          <p:cNvSpPr/>
          <p:nvPr/>
        </p:nvSpPr>
        <p:spPr>
          <a:xfrm>
            <a:off x="3677265" y="1465006"/>
            <a:ext cx="2418735" cy="18091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F67C33-A330-440C-976C-64BB299AF5A9}"/>
              </a:ext>
            </a:extLst>
          </p:cNvPr>
          <p:cNvSpPr txBox="1"/>
          <p:nvPr/>
        </p:nvSpPr>
        <p:spPr>
          <a:xfrm>
            <a:off x="3942734" y="878969"/>
            <a:ext cx="20156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New Document()</a:t>
            </a:r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4EF0FD-8243-463D-B0F9-0D70D8CE10C8}"/>
              </a:ext>
            </a:extLst>
          </p:cNvPr>
          <p:cNvSpPr/>
          <p:nvPr/>
        </p:nvSpPr>
        <p:spPr>
          <a:xfrm>
            <a:off x="6715432" y="1563329"/>
            <a:ext cx="2192594" cy="86523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getElementById</a:t>
            </a:r>
            <a:r>
              <a:rPr lang="en-IN" dirty="0"/>
              <a:t>()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FFD8995-862F-469B-BB2B-420855A0D80E}"/>
              </a:ext>
            </a:extLst>
          </p:cNvPr>
          <p:cNvCxnSpPr/>
          <p:nvPr/>
        </p:nvCxnSpPr>
        <p:spPr>
          <a:xfrm>
            <a:off x="7541342" y="2192594"/>
            <a:ext cx="353961" cy="12364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F93DEF50-F146-47AC-A043-55E71C90BA83}"/>
              </a:ext>
            </a:extLst>
          </p:cNvPr>
          <p:cNvSpPr/>
          <p:nvPr/>
        </p:nvSpPr>
        <p:spPr>
          <a:xfrm>
            <a:off x="7718322" y="3559277"/>
            <a:ext cx="1700981" cy="10717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71A16D-8DC3-4EFC-96EC-C2B906C3827F}"/>
              </a:ext>
            </a:extLst>
          </p:cNvPr>
          <p:cNvSpPr txBox="1"/>
          <p:nvPr/>
        </p:nvSpPr>
        <p:spPr>
          <a:xfrm>
            <a:off x="8013290" y="3189945"/>
            <a:ext cx="2900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New </a:t>
            </a:r>
            <a:r>
              <a:rPr lang="en-IN" dirty="0" err="1"/>
              <a:t>ParagraphElement</a:t>
            </a:r>
            <a:r>
              <a:rPr lang="en-IN" dirty="0"/>
              <a:t> ()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59CB308-4B88-4080-B7E9-66DAE310B96D}"/>
              </a:ext>
            </a:extLst>
          </p:cNvPr>
          <p:cNvSpPr/>
          <p:nvPr/>
        </p:nvSpPr>
        <p:spPr>
          <a:xfrm>
            <a:off x="9665110" y="4143968"/>
            <a:ext cx="1809135" cy="48977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/>
              <a:t>innerHTML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D8E7BF-1226-4AA7-8C47-BB2EA3FB1C17}"/>
              </a:ext>
            </a:extLst>
          </p:cNvPr>
          <p:cNvSpPr txBox="1"/>
          <p:nvPr/>
        </p:nvSpPr>
        <p:spPr>
          <a:xfrm>
            <a:off x="732503" y="743861"/>
            <a:ext cx="20156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New Window()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6880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522</TotalTime>
  <Words>580</Words>
  <Application>Microsoft Office PowerPoint</Application>
  <PresentationFormat>Widescreen</PresentationFormat>
  <Paragraphs>113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Calibri Light</vt:lpstr>
      <vt:lpstr>Cambria</vt:lpstr>
      <vt:lpstr>Consolas</vt:lpstr>
      <vt:lpstr>Verdana</vt:lpstr>
      <vt:lpstr>Office Theme</vt:lpstr>
      <vt:lpstr>PowerPoint Presentation</vt:lpstr>
      <vt:lpstr>Why closures</vt:lpstr>
      <vt:lpstr>Nested function</vt:lpstr>
      <vt:lpstr>closures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Sriram Mantri vidyanidhi infotech academy</dc:creator>
  <cp:lastModifiedBy>sriram mantri vidyanidhi infotech academy</cp:lastModifiedBy>
  <cp:revision>20</cp:revision>
  <dcterms:created xsi:type="dcterms:W3CDTF">2020-12-02T08:54:24Z</dcterms:created>
  <dcterms:modified xsi:type="dcterms:W3CDTF">2026-03-16T08:46:56Z</dcterms:modified>
</cp:coreProperties>
</file>