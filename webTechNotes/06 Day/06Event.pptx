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0" r:id="rId2"/>
    <p:sldId id="261" r:id="rId3"/>
    <p:sldId id="262" r:id="rId4"/>
    <p:sldId id="263" r:id="rId5"/>
    <p:sldId id="264" r:id="rId6"/>
    <p:sldId id="265" r:id="rId7"/>
    <p:sldId id="266" r:id="rId8"/>
    <p:sldId id="267" r:id="rId9"/>
    <p:sldId id="271" r:id="rId10"/>
    <p:sldId id="268"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10464-61E2-41E8-8205-52832A0119E0}"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A22B6C-E47F-4918-A49B-A69FD53B94FE}" type="slidenum">
              <a:rPr lang="en-IN" smtClean="0"/>
              <a:t>‹#›</a:t>
            </a:fld>
            <a:endParaRPr lang="en-IN"/>
          </a:p>
        </p:txBody>
      </p:sp>
    </p:spTree>
    <p:extLst>
      <p:ext uri="{BB962C8B-B14F-4D97-AF65-F5344CB8AC3E}">
        <p14:creationId xmlns:p14="http://schemas.microsoft.com/office/powerpoint/2010/main" val="2957400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A22B6C-E47F-4918-A49B-A69FD53B94FE}" type="slidenum">
              <a:rPr lang="en-IN" smtClean="0"/>
              <a:t>3</a:t>
            </a:fld>
            <a:endParaRPr lang="en-IN"/>
          </a:p>
        </p:txBody>
      </p:sp>
    </p:spTree>
    <p:extLst>
      <p:ext uri="{BB962C8B-B14F-4D97-AF65-F5344CB8AC3E}">
        <p14:creationId xmlns:p14="http://schemas.microsoft.com/office/powerpoint/2010/main" val="2360006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79AA-7DB2-4E22-9DB9-1DFD80A276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E125A2-81D8-48D9-A4D4-762E76A11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8F41CC-7373-4202-80E9-781D34420484}"/>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F174E508-A7D7-48F7-AA83-967A083BD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82D8E-5C7A-400C-87B1-F36EC0BEA9C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4341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8276-87E5-41E9-B38C-4C620DA2A6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985A2B-1D3C-4DF8-BF9A-B8879BBBF2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E61C5A-01FF-47D6-881A-F530B51D6AD5}"/>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3CC15029-464E-4C68-A311-1AB713E59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A2286F-B770-4CBC-9A20-E0B83E5EDD04}"/>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61101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D722-374F-4E12-A5AA-B9666F37CB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82E163-600C-418A-ACBE-B44E13E8B4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9BAE46-3447-4D09-B3ED-F5401DDFB00A}"/>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F6491CE6-143A-463E-AECE-C349F97A6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8D3F5-F204-43F2-B1E4-ACD84E7E387E}"/>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593320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BE08-92E1-4B5D-9E99-A0C0AAC53A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7B5F4F-3C28-47D1-BED5-8ADA893405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EC5FE2-F6BE-4D2A-BBDD-0E36DD31A5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50E181-871A-49B5-AC2D-0DCC9E52625D}"/>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6" name="Footer Placeholder 5">
            <a:extLst>
              <a:ext uri="{FF2B5EF4-FFF2-40B4-BE49-F238E27FC236}">
                <a16:creationId xmlns:a16="http://schemas.microsoft.com/office/drawing/2014/main" id="{EEEB6C27-6DB1-43C1-A70C-BDBF5A5993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71FC8D-07E3-4653-8043-3619F6DC4EDC}"/>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9716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C55E5-0A61-43AA-BC1C-939A358777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163860-A6E6-45DF-B060-6D50E3AC9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EDDF13-3E79-4BED-BDC6-89C59873D8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D2395D-B0E7-460D-855C-BB680480BF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203D23-023E-4AC4-A344-8BDCFC3AA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CD23E0-3C96-48DB-8181-59697EA8CEB1}"/>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8" name="Footer Placeholder 7">
            <a:extLst>
              <a:ext uri="{FF2B5EF4-FFF2-40B4-BE49-F238E27FC236}">
                <a16:creationId xmlns:a16="http://schemas.microsoft.com/office/drawing/2014/main" id="{EF17CF6A-4942-4728-B7ED-A17A6EB457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30C65-E289-4C45-97DA-C56A5975FF3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3912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DFC42-11F8-45C6-9C26-8257048EDC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5D5B2D-F22C-40CE-BA70-082496719C25}"/>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4" name="Footer Placeholder 3">
            <a:extLst>
              <a:ext uri="{FF2B5EF4-FFF2-40B4-BE49-F238E27FC236}">
                <a16:creationId xmlns:a16="http://schemas.microsoft.com/office/drawing/2014/main" id="{AD3EDC11-7751-41EF-8597-BEB295D90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D11D39-4738-42E3-A87F-53C2E98273B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7938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B8C9DD-A4A0-4C5E-8B00-A44F65C4B23F}"/>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3" name="Footer Placeholder 2">
            <a:extLst>
              <a:ext uri="{FF2B5EF4-FFF2-40B4-BE49-F238E27FC236}">
                <a16:creationId xmlns:a16="http://schemas.microsoft.com/office/drawing/2014/main" id="{33A337FE-119A-4DB9-B6DE-0283F60BEC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88C703-1142-4EC7-B5B2-C4C2CD21680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392405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D7FA-65E3-421A-B992-B629D3569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3BB33E-87E7-4865-A99D-DD0A8B56D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79C521-E7D8-436D-8CB1-FDF8CD052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EBEC6-0AE1-45B0-A83D-3875AE770466}"/>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6" name="Footer Placeholder 5">
            <a:extLst>
              <a:ext uri="{FF2B5EF4-FFF2-40B4-BE49-F238E27FC236}">
                <a16:creationId xmlns:a16="http://schemas.microsoft.com/office/drawing/2014/main" id="{3B7D5F76-6BDE-4A06-B8B8-F3F0A3A0F6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2EA2E6-F7B7-49D5-83CF-2B883C28EC36}"/>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80223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3867-4B2E-495C-BEB2-97D4995B57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6FF83C-FA49-4FFC-BD34-43AA12EC39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EE11CF-FF0E-457F-A636-CB699E226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0FCB39-DCD5-4067-A6EE-EA86C9C786B8}"/>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6" name="Footer Placeholder 5">
            <a:extLst>
              <a:ext uri="{FF2B5EF4-FFF2-40B4-BE49-F238E27FC236}">
                <a16:creationId xmlns:a16="http://schemas.microsoft.com/office/drawing/2014/main" id="{D6A727EA-7636-40E0-8F79-9B521BE1D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8E3A76-C622-4AD4-BD45-02B6AC90751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9975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1C6D-D331-4574-A295-DABD017E9C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CFD89B-8285-4DA7-93A8-EDA72D91C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B95E3-BA4F-48F1-AE90-05ED1BBA9F4B}"/>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6DCF4A06-8165-4D2D-A982-C4A9534A6A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95065-794D-4A01-9B48-DA734075B37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95067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922A6-8E3F-49F0-B0B3-C4018BCF85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847A00-48AD-4CAC-8F30-08D650339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D60D0-1118-4969-A999-BC8DA18A6977}"/>
              </a:ext>
            </a:extLst>
          </p:cNvPr>
          <p:cNvSpPr>
            <a:spLocks noGrp="1"/>
          </p:cNvSpPr>
          <p:nvPr>
            <p:ph type="dt" sz="half" idx="10"/>
          </p:nvPr>
        </p:nvSpPr>
        <p:spPr/>
        <p:txBody>
          <a:body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05357BD6-E0A6-4149-8DDB-4E8940E53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51E6E8-8992-45B4-AA42-AD0F304A7B2A}"/>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402956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DA15A-4ED9-4487-A195-CE9601420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889064-A8EF-4C32-8E87-C422ED5580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A1D0C-B70F-4649-9CBC-EFF65B194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1A9AD-BE8B-4CE7-90FD-75C1A9B9426F}" type="datetimeFigureOut">
              <a:rPr lang="en-IN" smtClean="0"/>
              <a:t>07-04-2026</a:t>
            </a:fld>
            <a:endParaRPr lang="en-IN"/>
          </a:p>
        </p:txBody>
      </p:sp>
      <p:sp>
        <p:nvSpPr>
          <p:cNvPr id="5" name="Footer Placeholder 4">
            <a:extLst>
              <a:ext uri="{FF2B5EF4-FFF2-40B4-BE49-F238E27FC236}">
                <a16:creationId xmlns:a16="http://schemas.microsoft.com/office/drawing/2014/main" id="{4E4F4856-151A-4CA2-ACA3-75BDA4C84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90B48E-BB63-4E2B-97CE-02960B1C8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858F87-BE41-46BA-8F9D-59AE843C54F4}" type="slidenum">
              <a:rPr lang="en-IN" smtClean="0"/>
              <a:t>‹#›</a:t>
            </a:fld>
            <a:endParaRPr lang="en-IN"/>
          </a:p>
        </p:txBody>
      </p:sp>
      <p:pic>
        <p:nvPicPr>
          <p:cNvPr id="7" name="Picture 6">
            <a:extLst>
              <a:ext uri="{FF2B5EF4-FFF2-40B4-BE49-F238E27FC236}">
                <a16:creationId xmlns:a16="http://schemas.microsoft.com/office/drawing/2014/main" id="{FDFD8442-60F6-4727-BC60-400453F8263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1710D0AB-C3B8-479C-8CD1-51DCD8AC6C4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963112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8E287-4371-4237-B06E-051B262EAB7E}"/>
              </a:ext>
            </a:extLst>
          </p:cNvPr>
          <p:cNvSpPr>
            <a:spLocks noGrp="1"/>
          </p:cNvSpPr>
          <p:nvPr>
            <p:ph type="title"/>
          </p:nvPr>
        </p:nvSpPr>
        <p:spPr>
          <a:xfrm>
            <a:off x="2694038" y="100422"/>
            <a:ext cx="6803923" cy="598436"/>
          </a:xfrm>
        </p:spPr>
        <p:txBody>
          <a:bodyPr>
            <a:normAutofit fontScale="90000"/>
          </a:bodyPr>
          <a:lstStyle/>
          <a:p>
            <a:r>
              <a:rPr lang="en-IN" b="0" i="0" dirty="0">
                <a:solidFill>
                  <a:srgbClr val="000000"/>
                </a:solidFill>
                <a:effectLst/>
                <a:latin typeface="Segoe UI" panose="020B0502040204020203" pitchFamily="34" charset="0"/>
              </a:rPr>
              <a:t>Events in Node.js</a:t>
            </a:r>
            <a:endParaRPr lang="en-IN" dirty="0"/>
          </a:p>
        </p:txBody>
      </p:sp>
      <p:sp>
        <p:nvSpPr>
          <p:cNvPr id="3" name="Content Placeholder 2">
            <a:extLst>
              <a:ext uri="{FF2B5EF4-FFF2-40B4-BE49-F238E27FC236}">
                <a16:creationId xmlns:a16="http://schemas.microsoft.com/office/drawing/2014/main" id="{7B7CAF28-CB81-489D-87D3-4FB4C926750A}"/>
              </a:ext>
            </a:extLst>
          </p:cNvPr>
          <p:cNvSpPr>
            <a:spLocks noGrp="1"/>
          </p:cNvSpPr>
          <p:nvPr>
            <p:ph idx="1"/>
          </p:nvPr>
        </p:nvSpPr>
        <p:spPr>
          <a:xfrm>
            <a:off x="975852" y="691299"/>
            <a:ext cx="10515600" cy="1150636"/>
          </a:xfrm>
        </p:spPr>
        <p:txBody>
          <a:bodyPr/>
          <a:lstStyle/>
          <a:p>
            <a:pPr marL="30480" marR="30480" algn="just">
              <a:lnSpc>
                <a:spcPts val="1800"/>
              </a:lnSpc>
              <a:spcAft>
                <a:spcPts val="1200"/>
              </a:spcAft>
            </a:pPr>
            <a:r>
              <a:rPr lang="en-US" sz="1200" dirty="0">
                <a:solidFill>
                  <a:srgbClr val="000000"/>
                </a:solidFill>
                <a:latin typeface="Verdana" panose="020B0604030504040204" pitchFamily="34" charset="0"/>
                <a:cs typeface="Times New Roman" panose="02020603050405020304" pitchFamily="18" charset="0"/>
              </a:rPr>
              <a:t>Every action on a computer is an event. Like when a connection is made or a file is opened.</a:t>
            </a:r>
          </a:p>
          <a:p>
            <a:pPr marL="30480" marR="30480" algn="just">
              <a:lnSpc>
                <a:spcPts val="1800"/>
              </a:lnSpc>
              <a:spcAft>
                <a:spcPts val="1200"/>
              </a:spcAft>
            </a:pPr>
            <a:r>
              <a:rPr lang="en-US" sz="1200" dirty="0">
                <a:solidFill>
                  <a:srgbClr val="000000"/>
                </a:solidFill>
                <a:latin typeface="Verdana" panose="020B0604030504040204" pitchFamily="34" charset="0"/>
                <a:cs typeface="Times New Roman" panose="02020603050405020304" pitchFamily="18" charset="0"/>
              </a:rPr>
              <a:t>Objects in Node.js can fire events, like the </a:t>
            </a:r>
            <a:r>
              <a:rPr lang="en-US" sz="1200" dirty="0" err="1">
                <a:solidFill>
                  <a:srgbClr val="000000"/>
                </a:solidFill>
                <a:latin typeface="Verdana" panose="020B0604030504040204" pitchFamily="34" charset="0"/>
                <a:cs typeface="Times New Roman" panose="02020603050405020304" pitchFamily="18" charset="0"/>
              </a:rPr>
              <a:t>readStream</a:t>
            </a:r>
            <a:r>
              <a:rPr lang="en-US" sz="1200" dirty="0">
                <a:solidFill>
                  <a:srgbClr val="000000"/>
                </a:solidFill>
                <a:latin typeface="Verdana" panose="020B0604030504040204" pitchFamily="34" charset="0"/>
                <a:cs typeface="Times New Roman" panose="02020603050405020304" pitchFamily="18" charset="0"/>
              </a:rPr>
              <a:t> object fires events when opening and closing a file:</a:t>
            </a:r>
          </a:p>
          <a:p>
            <a:endParaRPr lang="en-IN" sz="1200" dirty="0">
              <a:solidFill>
                <a:srgbClr val="000000"/>
              </a:solidFill>
              <a:latin typeface="Verdan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97A06F9-9C90-475B-B12F-ECE0501D8F33}"/>
              </a:ext>
            </a:extLst>
          </p:cNvPr>
          <p:cNvSpPr txBox="1"/>
          <p:nvPr/>
        </p:nvSpPr>
        <p:spPr>
          <a:xfrm>
            <a:off x="513735" y="1578213"/>
            <a:ext cx="10515600" cy="1150636"/>
          </a:xfrm>
          <a:prstGeom prst="rect">
            <a:avLst/>
          </a:prstGeom>
          <a:noFill/>
        </p:spPr>
        <p:txBody>
          <a:bodyPr wrap="square">
            <a:spAutoFit/>
          </a:bodyPr>
          <a:lstStyle/>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Node.js uses events heavily and it is also one of the reasons why Node.js is pretty fast compared to other similar technologies. As soon as Node starts its server, it simply initiates its variables,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delcares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functions and then simply waits for event to occur.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an event-driven application, there is generally a main loop that listens for events, and then triggers a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 when one of those events is detected.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Event Loop">
            <a:extLst>
              <a:ext uri="{FF2B5EF4-FFF2-40B4-BE49-F238E27FC236}">
                <a16:creationId xmlns:a16="http://schemas.microsoft.com/office/drawing/2014/main" id="{A9E738AE-678E-4A3A-8FD4-7443E03FBE1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0" y="2656586"/>
            <a:ext cx="7315199" cy="1830112"/>
          </a:xfrm>
          <a:prstGeom prst="rect">
            <a:avLst/>
          </a:prstGeom>
          <a:noFill/>
          <a:ln>
            <a:noFill/>
          </a:ln>
        </p:spPr>
      </p:pic>
      <p:sp>
        <p:nvSpPr>
          <p:cNvPr id="8" name="TextBox 7">
            <a:extLst>
              <a:ext uri="{FF2B5EF4-FFF2-40B4-BE49-F238E27FC236}">
                <a16:creationId xmlns:a16="http://schemas.microsoft.com/office/drawing/2014/main" id="{1178DADF-EECC-43A7-B278-17B8D99919F6}"/>
              </a:ext>
            </a:extLst>
          </p:cNvPr>
          <p:cNvSpPr txBox="1"/>
          <p:nvPr/>
        </p:nvSpPr>
        <p:spPr>
          <a:xfrm>
            <a:off x="250723" y="4414434"/>
            <a:ext cx="6135328" cy="1920077"/>
          </a:xfrm>
          <a:prstGeom prst="rect">
            <a:avLst/>
          </a:prstGeom>
          <a:noFill/>
        </p:spPr>
        <p:txBody>
          <a:bodyPr wrap="square">
            <a:spAutoFit/>
          </a:bodyPr>
          <a:lstStyle/>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While Events seems similar to what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are. The difference lies in the fact </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that </a:t>
            </a:r>
            <a:r>
              <a:rPr lang="en-IN" sz="12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functions are called when an asynchronous function returns its result where as event handling works on the observer pattern. The functions which listens to events acts as Observers.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Whenever an event gets fired, its listener function starts executing. Node.js has multiple in-built events available through </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module and </a:t>
            </a:r>
            <a:r>
              <a:rPr lang="en-IN" sz="12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which is used to bind events and event listeners as follows: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19728C0-8EAA-4216-A238-6EAF940ADE75}"/>
              </a:ext>
            </a:extLst>
          </p:cNvPr>
          <p:cNvSpPr txBox="1"/>
          <p:nvPr/>
        </p:nvSpPr>
        <p:spPr>
          <a:xfrm>
            <a:off x="7098891" y="2842714"/>
            <a:ext cx="5093109" cy="3323987"/>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Import events module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import {   } from./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0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Following is the syntax to bind event handler with an event: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event and even handler as follows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eventName</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eventHandler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p>
          <a:p>
            <a:pPr marL="30480" marR="30480" algn="just">
              <a:lnSpc>
                <a:spcPts val="1800"/>
              </a:lnSpc>
              <a:spcAft>
                <a:spcPts val="1200"/>
              </a:spcAft>
            </a:pPr>
            <a:r>
              <a:rPr lang="en-IN"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We can fire an event </a:t>
            </a:r>
            <a:r>
              <a:rPr lang="en-IN" sz="11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programatically</a:t>
            </a:r>
            <a:r>
              <a:rPr lang="en-IN"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as follows:</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9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an event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9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9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9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eventName</a:t>
            </a:r>
            <a:r>
              <a:rPr lang="en-IN" sz="9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5069683-EA7C-4650-A98A-08A15636332B}"/>
              </a:ext>
            </a:extLst>
          </p:cNvPr>
          <p:cNvSpPr txBox="1"/>
          <p:nvPr/>
        </p:nvSpPr>
        <p:spPr>
          <a:xfrm>
            <a:off x="10245212" y="2378590"/>
            <a:ext cx="1848465" cy="1754326"/>
          </a:xfrm>
          <a:prstGeom prst="rect">
            <a:avLst/>
          </a:prstGeom>
          <a:noFill/>
        </p:spPr>
        <p:txBody>
          <a:bodyPr wrap="square" rtlCol="0">
            <a:spAutoFit/>
          </a:bodyPr>
          <a:lstStyle/>
          <a:p>
            <a:r>
              <a:rPr lang="en-US" dirty="0"/>
              <a:t>events{</a:t>
            </a:r>
          </a:p>
          <a:p>
            <a:r>
              <a:rPr lang="en-US" dirty="0"/>
              <a:t>Class </a:t>
            </a:r>
            <a:r>
              <a:rPr lang="en-US" dirty="0" err="1"/>
              <a:t>EventEmitter</a:t>
            </a:r>
            <a:endParaRPr lang="en-US" dirty="0"/>
          </a:p>
          <a:p>
            <a:r>
              <a:rPr lang="en-US" dirty="0"/>
              <a:t>{</a:t>
            </a:r>
          </a:p>
          <a:p>
            <a:r>
              <a:rPr lang="en-US" dirty="0"/>
              <a:t>   }</a:t>
            </a:r>
          </a:p>
          <a:p>
            <a:r>
              <a:rPr lang="en-US" dirty="0"/>
              <a:t>}</a:t>
            </a:r>
            <a:endParaRPr lang="en-IN" dirty="0"/>
          </a:p>
        </p:txBody>
      </p:sp>
    </p:spTree>
    <p:extLst>
      <p:ext uri="{BB962C8B-B14F-4D97-AF65-F5344CB8AC3E}">
        <p14:creationId xmlns:p14="http://schemas.microsoft.com/office/powerpoint/2010/main" val="83388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E188-8874-41AF-8663-3543E9BB245A}"/>
              </a:ext>
            </a:extLst>
          </p:cNvPr>
          <p:cNvSpPr>
            <a:spLocks noGrp="1"/>
          </p:cNvSpPr>
          <p:nvPr>
            <p:ph type="title"/>
          </p:nvPr>
        </p:nvSpPr>
        <p:spPr>
          <a:xfrm>
            <a:off x="1179871" y="43272"/>
            <a:ext cx="2979174" cy="637765"/>
          </a:xfrm>
        </p:spPr>
        <p:txBody>
          <a:bodyPr>
            <a:normAutofit fontScale="90000"/>
          </a:bodyPr>
          <a:lstStyle/>
          <a:p>
            <a:r>
              <a:rPr lang="en-IN" dirty="0"/>
              <a:t>Examples</a:t>
            </a:r>
          </a:p>
        </p:txBody>
      </p:sp>
      <p:sp>
        <p:nvSpPr>
          <p:cNvPr id="5" name="TextBox 4">
            <a:extLst>
              <a:ext uri="{FF2B5EF4-FFF2-40B4-BE49-F238E27FC236}">
                <a16:creationId xmlns:a16="http://schemas.microsoft.com/office/drawing/2014/main" id="{4F7C9534-4CE2-4497-95E8-6507FCF6FE44}"/>
              </a:ext>
            </a:extLst>
          </p:cNvPr>
          <p:cNvSpPr txBox="1"/>
          <p:nvPr/>
        </p:nvSpPr>
        <p:spPr>
          <a:xfrm>
            <a:off x="304800" y="754361"/>
            <a:ext cx="6361470" cy="5632311"/>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3600" dirty="0"/>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event handler as follows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connected</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b="1"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 </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succesful</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the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event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the connection event with the handler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the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event with the anonymous function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 received </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succesfully</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the connection event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"Program Ended."</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CB130FD5-BE26-45A5-96D7-BA606FF18041}"/>
              </a:ext>
            </a:extLst>
          </p:cNvPr>
          <p:cNvCxnSpPr/>
          <p:nvPr/>
        </p:nvCxnSpPr>
        <p:spPr>
          <a:xfrm flipH="1" flipV="1">
            <a:off x="1877961" y="2281084"/>
            <a:ext cx="2212258" cy="16518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46D6B8E5-3A45-4CDC-9C7B-82E6C906ECEF}"/>
              </a:ext>
            </a:extLst>
          </p:cNvPr>
          <p:cNvCxnSpPr/>
          <p:nvPr/>
        </p:nvCxnSpPr>
        <p:spPr>
          <a:xfrm>
            <a:off x="2989006" y="3264310"/>
            <a:ext cx="0" cy="1435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FEAD1C7-B350-4172-B23A-9E3071725ABB}"/>
              </a:ext>
            </a:extLst>
          </p:cNvPr>
          <p:cNvSpPr/>
          <p:nvPr/>
        </p:nvSpPr>
        <p:spPr>
          <a:xfrm>
            <a:off x="5427406" y="2281084"/>
            <a:ext cx="2015613"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connectHandler</a:t>
            </a:r>
            <a:endParaRPr lang="en-IN" dirty="0"/>
          </a:p>
        </p:txBody>
      </p:sp>
      <p:sp>
        <p:nvSpPr>
          <p:cNvPr id="6" name="Rectangle 5">
            <a:extLst>
              <a:ext uri="{FF2B5EF4-FFF2-40B4-BE49-F238E27FC236}">
                <a16:creationId xmlns:a16="http://schemas.microsoft.com/office/drawing/2014/main" id="{8890CF1E-6E5F-4200-A49D-398595F6651A}"/>
              </a:ext>
            </a:extLst>
          </p:cNvPr>
          <p:cNvSpPr/>
          <p:nvPr/>
        </p:nvSpPr>
        <p:spPr>
          <a:xfrm>
            <a:off x="8264012" y="570271"/>
            <a:ext cx="4006644" cy="3195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function connected()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console.log('connection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succesful</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 Fire the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event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eventEmitter.emit</a:t>
            </a: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data_received</a:t>
            </a: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tx1"/>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C71B58BD-8AAF-4EB9-B830-C8FB490BB3AC}"/>
              </a:ext>
            </a:extLst>
          </p:cNvPr>
          <p:cNvCxnSpPr>
            <a:cxnSpLocks/>
          </p:cNvCxnSpPr>
          <p:nvPr/>
        </p:nvCxnSpPr>
        <p:spPr>
          <a:xfrm flipV="1">
            <a:off x="7300450" y="2408903"/>
            <a:ext cx="811164" cy="78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0BFDFF4-CF02-4FC1-8E56-8F2E620CFC82}"/>
              </a:ext>
            </a:extLst>
          </p:cNvPr>
          <p:cNvSpPr txBox="1"/>
          <p:nvPr/>
        </p:nvSpPr>
        <p:spPr>
          <a:xfrm>
            <a:off x="6961238" y="4015570"/>
            <a:ext cx="3490449" cy="244521"/>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7BDA070-EE1D-427E-8B1E-0D15D06BB074}"/>
              </a:ext>
            </a:extLst>
          </p:cNvPr>
          <p:cNvSpPr txBox="1"/>
          <p:nvPr/>
        </p:nvSpPr>
        <p:spPr>
          <a:xfrm>
            <a:off x="5624051" y="3106993"/>
            <a:ext cx="200578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endParaRPr lang="en-IN" dirty="0"/>
          </a:p>
        </p:txBody>
      </p:sp>
      <p:cxnSp>
        <p:nvCxnSpPr>
          <p:cNvPr id="15" name="Straight Arrow Connector 14">
            <a:extLst>
              <a:ext uri="{FF2B5EF4-FFF2-40B4-BE49-F238E27FC236}">
                <a16:creationId xmlns:a16="http://schemas.microsoft.com/office/drawing/2014/main" id="{57A390BC-7979-442A-8A69-2274EB360E02}"/>
              </a:ext>
            </a:extLst>
          </p:cNvPr>
          <p:cNvCxnSpPr>
            <a:cxnSpLocks/>
          </p:cNvCxnSpPr>
          <p:nvPr/>
        </p:nvCxnSpPr>
        <p:spPr>
          <a:xfrm flipV="1">
            <a:off x="6961238" y="2842430"/>
            <a:ext cx="953730" cy="421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544CA8A-EC23-49D7-8B86-BBD68CF94046}"/>
              </a:ext>
            </a:extLst>
          </p:cNvPr>
          <p:cNvSpPr txBox="1"/>
          <p:nvPr/>
        </p:nvSpPr>
        <p:spPr>
          <a:xfrm>
            <a:off x="5958350" y="5042994"/>
            <a:ext cx="215326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endParaRPr lang="en-IN" dirty="0"/>
          </a:p>
        </p:txBody>
      </p:sp>
      <p:cxnSp>
        <p:nvCxnSpPr>
          <p:cNvPr id="20" name="Straight Arrow Connector 19">
            <a:extLst>
              <a:ext uri="{FF2B5EF4-FFF2-40B4-BE49-F238E27FC236}">
                <a16:creationId xmlns:a16="http://schemas.microsoft.com/office/drawing/2014/main" id="{E42FF2A2-7878-4EDC-AE9A-947EBCAAE47D}"/>
              </a:ext>
            </a:extLst>
          </p:cNvPr>
          <p:cNvCxnSpPr>
            <a:cxnSpLocks/>
          </p:cNvCxnSpPr>
          <p:nvPr/>
        </p:nvCxnSpPr>
        <p:spPr>
          <a:xfrm>
            <a:off x="7300450" y="4916129"/>
            <a:ext cx="1406012" cy="88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F8ACA41-869E-4728-9C21-FF3671339008}"/>
              </a:ext>
            </a:extLst>
          </p:cNvPr>
          <p:cNvSpPr/>
          <p:nvPr/>
        </p:nvSpPr>
        <p:spPr>
          <a:xfrm>
            <a:off x="8917858" y="4509907"/>
            <a:ext cx="3165987" cy="22153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function(){</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console.log('data received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succesfully</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dirty="0">
              <a:solidFill>
                <a:schemeClr val="bg1"/>
              </a:solidFill>
              <a:latin typeface="Consolas" panose="020B0609020204030204" pitchFamily="49"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dirty="0">
              <a:solidFill>
                <a:schemeClr val="bg1"/>
              </a:solidFill>
            </a:endParaRPr>
          </a:p>
        </p:txBody>
      </p:sp>
      <p:sp>
        <p:nvSpPr>
          <p:cNvPr id="25" name="TextBox 24">
            <a:extLst>
              <a:ext uri="{FF2B5EF4-FFF2-40B4-BE49-F238E27FC236}">
                <a16:creationId xmlns:a16="http://schemas.microsoft.com/office/drawing/2014/main" id="{F3C96EC5-852C-48AF-9D84-3CC18CCC86FE}"/>
              </a:ext>
            </a:extLst>
          </p:cNvPr>
          <p:cNvSpPr txBox="1"/>
          <p:nvPr/>
        </p:nvSpPr>
        <p:spPr>
          <a:xfrm>
            <a:off x="4336026" y="6325824"/>
            <a:ext cx="4444179" cy="2683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6B9AAD7A-3E8F-4F01-827B-628BDF95E8F6}"/>
              </a:ext>
            </a:extLst>
          </p:cNvPr>
          <p:cNvSpPr/>
          <p:nvPr/>
        </p:nvSpPr>
        <p:spPr>
          <a:xfrm>
            <a:off x="5048864" y="20120"/>
            <a:ext cx="757084" cy="6406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9" name="TextBox 28">
            <a:extLst>
              <a:ext uri="{FF2B5EF4-FFF2-40B4-BE49-F238E27FC236}">
                <a16:creationId xmlns:a16="http://schemas.microsoft.com/office/drawing/2014/main" id="{AF31EB7F-8EC6-4CB3-8DDF-BF06D8DE900A}"/>
              </a:ext>
            </a:extLst>
          </p:cNvPr>
          <p:cNvSpPr txBox="1"/>
          <p:nvPr/>
        </p:nvSpPr>
        <p:spPr>
          <a:xfrm>
            <a:off x="4875571" y="569695"/>
            <a:ext cx="346586" cy="369332"/>
          </a:xfrm>
          <a:prstGeom prst="rect">
            <a:avLst/>
          </a:prstGeom>
          <a:noFill/>
        </p:spPr>
        <p:txBody>
          <a:bodyPr wrap="square" rtlCol="0">
            <a:spAutoFit/>
          </a:bodyPr>
          <a:lstStyle/>
          <a:p>
            <a:r>
              <a:rPr lang="en-IN" dirty="0"/>
              <a:t>a</a:t>
            </a:r>
          </a:p>
        </p:txBody>
      </p:sp>
      <p:sp>
        <p:nvSpPr>
          <p:cNvPr id="30" name="Rectangle 29">
            <a:extLst>
              <a:ext uri="{FF2B5EF4-FFF2-40B4-BE49-F238E27FC236}">
                <a16:creationId xmlns:a16="http://schemas.microsoft.com/office/drawing/2014/main" id="{C8CB4ADA-8312-4BAC-8490-F0F0F760A03D}"/>
              </a:ext>
            </a:extLst>
          </p:cNvPr>
          <p:cNvSpPr/>
          <p:nvPr/>
        </p:nvSpPr>
        <p:spPr>
          <a:xfrm>
            <a:off x="5222157" y="835741"/>
            <a:ext cx="2407674" cy="5318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reference type data</a:t>
            </a:r>
          </a:p>
          <a:p>
            <a:pPr algn="ctr"/>
            <a:r>
              <a:rPr lang="en-IN" dirty="0"/>
              <a:t>Let </a:t>
            </a:r>
            <a:r>
              <a:rPr lang="en-IN" dirty="0" err="1"/>
              <a:t>ob</a:t>
            </a:r>
            <a:r>
              <a:rPr lang="en-IN" dirty="0"/>
              <a:t>=function(){}</a:t>
            </a:r>
          </a:p>
        </p:txBody>
      </p:sp>
      <p:sp>
        <p:nvSpPr>
          <p:cNvPr id="31" name="Rectangle 30">
            <a:extLst>
              <a:ext uri="{FF2B5EF4-FFF2-40B4-BE49-F238E27FC236}">
                <a16:creationId xmlns:a16="http://schemas.microsoft.com/office/drawing/2014/main" id="{9F263453-34EA-4751-89B1-47E238DD80F1}"/>
              </a:ext>
            </a:extLst>
          </p:cNvPr>
          <p:cNvSpPr/>
          <p:nvPr/>
        </p:nvSpPr>
        <p:spPr>
          <a:xfrm>
            <a:off x="5958350" y="1445674"/>
            <a:ext cx="560437"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ob</a:t>
            </a:r>
            <a:endParaRPr lang="en-IN" dirty="0"/>
          </a:p>
        </p:txBody>
      </p:sp>
      <p:cxnSp>
        <p:nvCxnSpPr>
          <p:cNvPr id="33" name="Straight Arrow Connector 32">
            <a:extLst>
              <a:ext uri="{FF2B5EF4-FFF2-40B4-BE49-F238E27FC236}">
                <a16:creationId xmlns:a16="http://schemas.microsoft.com/office/drawing/2014/main" id="{95B5FFB8-7534-43EB-B09C-3AB567196DB8}"/>
              </a:ext>
            </a:extLst>
          </p:cNvPr>
          <p:cNvCxnSpPr>
            <a:cxnSpLocks/>
          </p:cNvCxnSpPr>
          <p:nvPr/>
        </p:nvCxnSpPr>
        <p:spPr>
          <a:xfrm flipV="1">
            <a:off x="6408173" y="1700981"/>
            <a:ext cx="459658" cy="89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8D400FB-8D1A-4404-B0DD-F75646E058EA}"/>
              </a:ext>
            </a:extLst>
          </p:cNvPr>
          <p:cNvSpPr/>
          <p:nvPr/>
        </p:nvSpPr>
        <p:spPr>
          <a:xfrm>
            <a:off x="6867831" y="1448083"/>
            <a:ext cx="1302775" cy="74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a:t>
            </a:r>
          </a:p>
        </p:txBody>
      </p:sp>
      <p:sp>
        <p:nvSpPr>
          <p:cNvPr id="37" name="TextBox 36">
            <a:extLst>
              <a:ext uri="{FF2B5EF4-FFF2-40B4-BE49-F238E27FC236}">
                <a16:creationId xmlns:a16="http://schemas.microsoft.com/office/drawing/2014/main" id="{0F078512-91BA-415A-AFDB-BC7F3892BD8C}"/>
              </a:ext>
            </a:extLst>
          </p:cNvPr>
          <p:cNvSpPr txBox="1"/>
          <p:nvPr/>
        </p:nvSpPr>
        <p:spPr>
          <a:xfrm>
            <a:off x="6558115" y="58677"/>
            <a:ext cx="2625214" cy="369332"/>
          </a:xfrm>
          <a:prstGeom prst="rect">
            <a:avLst/>
          </a:prstGeom>
          <a:noFill/>
        </p:spPr>
        <p:txBody>
          <a:bodyPr wrap="square">
            <a:spAutoFit/>
          </a:bodyPr>
          <a:lstStyle/>
          <a:p>
            <a:r>
              <a:rPr lang="en-IN" dirty="0"/>
              <a:t>a=5 //value data</a:t>
            </a:r>
          </a:p>
        </p:txBody>
      </p:sp>
      <p:cxnSp>
        <p:nvCxnSpPr>
          <p:cNvPr id="13" name="Straight Arrow Connector 12">
            <a:extLst>
              <a:ext uri="{FF2B5EF4-FFF2-40B4-BE49-F238E27FC236}">
                <a16:creationId xmlns:a16="http://schemas.microsoft.com/office/drawing/2014/main" id="{697CB25D-8EDB-44AE-A7D3-6AEBFB2F26BC}"/>
              </a:ext>
            </a:extLst>
          </p:cNvPr>
          <p:cNvCxnSpPr/>
          <p:nvPr/>
        </p:nvCxnSpPr>
        <p:spPr>
          <a:xfrm>
            <a:off x="2517058" y="2281084"/>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85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27E52-FD7F-4ECB-BEA3-AA67748EB5F6}"/>
              </a:ext>
            </a:extLst>
          </p:cNvPr>
          <p:cNvSpPr>
            <a:spLocks noGrp="1"/>
          </p:cNvSpPr>
          <p:nvPr>
            <p:ph idx="1"/>
          </p:nvPr>
        </p:nvSpPr>
        <p:spPr>
          <a:xfrm>
            <a:off x="629265" y="825910"/>
            <a:ext cx="10724535" cy="5351053"/>
          </a:xfrm>
        </p:spPr>
        <p:txBody>
          <a:bodyPr>
            <a:normAutofit/>
          </a:bodyPr>
          <a:lstStyle/>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Many objects in Node emit events for example a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net.Server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emits an event each time a peer connects to it, a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fs.readStream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emits an event when the file is opened. All objects which emit events are instances of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R="30480">
              <a:lnSpc>
                <a:spcPct val="115000"/>
              </a:lnSpc>
              <a:spcBef>
                <a:spcPts val="240"/>
              </a:spcBef>
              <a:spcAft>
                <a:spcPts val="240"/>
              </a:spcAft>
            </a:pPr>
            <a:r>
              <a:rPr lang="en-IN" sz="1800" spc="-75" dirty="0" err="1">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 Class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As we have seen in previous section,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lies in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module. It is accessibly via following syntax: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Import events module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8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When an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instance faces any error, it emits an 'error' event. When new listener is added,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newListener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event is fired and when a listener is removed,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removeListener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event is fired.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provides multiple properties like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and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emit</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property is used to bind a function with the event and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emit</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is used to fire an event.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40032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EB132-59D1-4FDA-957F-4C2ED2577AF9}"/>
              </a:ext>
            </a:extLst>
          </p:cNvPr>
          <p:cNvSpPr>
            <a:spLocks noGrp="1"/>
          </p:cNvSpPr>
          <p:nvPr>
            <p:ph idx="1"/>
          </p:nvPr>
        </p:nvSpPr>
        <p:spPr>
          <a:xfrm>
            <a:off x="1" y="707923"/>
            <a:ext cx="5338916" cy="3323303"/>
          </a:xfrm>
        </p:spPr>
        <p:txBody>
          <a:bodyPr>
            <a:no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events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'events'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eventEmitter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events</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EventEmitter</a:t>
            </a: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008000"/>
                </a:solidFill>
                <a:effectLst/>
                <a:latin typeface="Consolas" panose="020B0609020204030204" pitchFamily="49" charset="0"/>
              </a:rPr>
              <a:t>// listener #1</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listner1</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listner1</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'listner1 executed.'</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listener #2</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listner2</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listner2</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'listner2 executed.'</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a:p>
            <a:pPr marL="0" indent="0">
              <a:buNone/>
            </a:pPr>
            <a:endParaRPr lang="en-IN" sz="1200" dirty="0"/>
          </a:p>
        </p:txBody>
      </p:sp>
      <p:sp>
        <p:nvSpPr>
          <p:cNvPr id="5" name="TextBox 4">
            <a:extLst>
              <a:ext uri="{FF2B5EF4-FFF2-40B4-BE49-F238E27FC236}">
                <a16:creationId xmlns:a16="http://schemas.microsoft.com/office/drawing/2014/main" id="{90B5B65C-94AF-4DB4-B5A5-09367B3FF81E}"/>
              </a:ext>
            </a:extLst>
          </p:cNvPr>
          <p:cNvSpPr txBox="1"/>
          <p:nvPr/>
        </p:nvSpPr>
        <p:spPr>
          <a:xfrm>
            <a:off x="5761704" y="9832"/>
            <a:ext cx="6135328" cy="648895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Bind the connection event with the listner1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addListener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listner1</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Bind the connection event with the listner2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listner2</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Fire the connection event </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emit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Remove the binding of listner1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removeListener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listner1</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"Listner1 will not listen now."</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Fire the connection event </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emit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"Program Ended."</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graphicFrame>
        <p:nvGraphicFramePr>
          <p:cNvPr id="2" name="Table 3">
            <a:extLst>
              <a:ext uri="{FF2B5EF4-FFF2-40B4-BE49-F238E27FC236}">
                <a16:creationId xmlns:a16="http://schemas.microsoft.com/office/drawing/2014/main" id="{C6F95D8B-BA1E-49F7-9AA4-A3E7EAE311BC}"/>
              </a:ext>
            </a:extLst>
          </p:cNvPr>
          <p:cNvGraphicFramePr>
            <a:graphicFrameLocks noGrp="1"/>
          </p:cNvGraphicFramePr>
          <p:nvPr>
            <p:extLst>
              <p:ext uri="{D42A27DB-BD31-4B8C-83A1-F6EECF244321}">
                <p14:modId xmlns:p14="http://schemas.microsoft.com/office/powerpoint/2010/main" val="2427241060"/>
              </p:ext>
            </p:extLst>
          </p:nvPr>
        </p:nvGraphicFramePr>
        <p:xfrm>
          <a:off x="948814" y="5745858"/>
          <a:ext cx="3441290" cy="440541"/>
        </p:xfrm>
        <a:graphic>
          <a:graphicData uri="http://schemas.openxmlformats.org/drawingml/2006/table">
            <a:tbl>
              <a:tblPr firstRow="1" bandRow="1">
                <a:tableStyleId>{5C22544A-7EE6-4342-B048-85BDC9FD1C3A}</a:tableStyleId>
              </a:tblPr>
              <a:tblGrid>
                <a:gridCol w="1720645">
                  <a:extLst>
                    <a:ext uri="{9D8B030D-6E8A-4147-A177-3AD203B41FA5}">
                      <a16:colId xmlns:a16="http://schemas.microsoft.com/office/drawing/2014/main" val="1461183101"/>
                    </a:ext>
                  </a:extLst>
                </a:gridCol>
                <a:gridCol w="1720645">
                  <a:extLst>
                    <a:ext uri="{9D8B030D-6E8A-4147-A177-3AD203B41FA5}">
                      <a16:colId xmlns:a16="http://schemas.microsoft.com/office/drawing/2014/main" val="552304080"/>
                    </a:ext>
                  </a:extLst>
                </a:gridCol>
              </a:tblGrid>
              <a:tr h="440541">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26846778"/>
                  </a:ext>
                </a:extLst>
              </a:tr>
            </a:tbl>
          </a:graphicData>
        </a:graphic>
      </p:graphicFrame>
      <p:sp>
        <p:nvSpPr>
          <p:cNvPr id="6" name="TextBox 5">
            <a:extLst>
              <a:ext uri="{FF2B5EF4-FFF2-40B4-BE49-F238E27FC236}">
                <a16:creationId xmlns:a16="http://schemas.microsoft.com/office/drawing/2014/main" id="{2BCFC1C2-2A2A-4955-901C-6D28073F14E7}"/>
              </a:ext>
            </a:extLst>
          </p:cNvPr>
          <p:cNvSpPr txBox="1"/>
          <p:nvPr/>
        </p:nvSpPr>
        <p:spPr>
          <a:xfrm>
            <a:off x="216310" y="6186399"/>
            <a:ext cx="1602658" cy="369332"/>
          </a:xfrm>
          <a:prstGeom prst="rect">
            <a:avLst/>
          </a:prstGeom>
          <a:noFill/>
        </p:spPr>
        <p:txBody>
          <a:bodyPr wrap="square">
            <a:spAutoFit/>
          </a:bodyPr>
          <a:lstStyle/>
          <a:p>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endParaRPr lang="en-IN" dirty="0"/>
          </a:p>
        </p:txBody>
      </p:sp>
      <p:cxnSp>
        <p:nvCxnSpPr>
          <p:cNvPr id="8" name="Straight Arrow Connector 7">
            <a:extLst>
              <a:ext uri="{FF2B5EF4-FFF2-40B4-BE49-F238E27FC236}">
                <a16:creationId xmlns:a16="http://schemas.microsoft.com/office/drawing/2014/main" id="{5ECBD0BE-A5A7-47E5-8BB0-1CFC55CDB27D}"/>
              </a:ext>
            </a:extLst>
          </p:cNvPr>
          <p:cNvCxnSpPr/>
          <p:nvPr/>
        </p:nvCxnSpPr>
        <p:spPr>
          <a:xfrm flipV="1">
            <a:off x="1907458" y="5250426"/>
            <a:ext cx="0" cy="639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3CAF79D-FF83-4669-B479-2C040FE19856}"/>
              </a:ext>
            </a:extLst>
          </p:cNvPr>
          <p:cNvCxnSpPr/>
          <p:nvPr/>
        </p:nvCxnSpPr>
        <p:spPr>
          <a:xfrm flipV="1">
            <a:off x="3161071" y="5327031"/>
            <a:ext cx="0" cy="639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4AC8730-21DD-4358-8953-A6E510C1397D}"/>
              </a:ext>
            </a:extLst>
          </p:cNvPr>
          <p:cNvSpPr txBox="1"/>
          <p:nvPr/>
        </p:nvSpPr>
        <p:spPr>
          <a:xfrm>
            <a:off x="88490" y="4296319"/>
            <a:ext cx="2772697"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listner1</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'listner1 executed.'</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0FE47D24-207B-4F9F-9A3D-9EA33D895CD5}"/>
              </a:ext>
            </a:extLst>
          </p:cNvPr>
          <p:cNvSpPr txBox="1"/>
          <p:nvPr/>
        </p:nvSpPr>
        <p:spPr>
          <a:xfrm>
            <a:off x="3052917" y="4296319"/>
            <a:ext cx="2497393"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listner2</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a:solidFill>
                  <a:srgbClr val="000000"/>
                </a:solidFill>
                <a:effectLst/>
                <a:latin typeface="Consolas" panose="020B0609020204030204" pitchFamily="49" charset="0"/>
              </a:rPr>
              <a:t>(</a:t>
            </a:r>
            <a:r>
              <a:rPr lang="en-IN" sz="1400" b="0">
                <a:solidFill>
                  <a:srgbClr val="A31515"/>
                </a:solidFill>
                <a:effectLst/>
                <a:latin typeface="Consolas" panose="020B0609020204030204" pitchFamily="49" charset="0"/>
              </a:rPr>
              <a:t>'listner2 </a:t>
            </a:r>
            <a:r>
              <a:rPr lang="en-IN" sz="1400" b="0" dirty="0">
                <a:solidFill>
                  <a:srgbClr val="A31515"/>
                </a:solidFill>
                <a:effectLst/>
                <a:latin typeface="Consolas" panose="020B0609020204030204" pitchFamily="49" charset="0"/>
              </a:rPr>
              <a:t>executed.'</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p:txBody>
      </p:sp>
      <p:cxnSp>
        <p:nvCxnSpPr>
          <p:cNvPr id="15" name="Straight Connector 14">
            <a:extLst>
              <a:ext uri="{FF2B5EF4-FFF2-40B4-BE49-F238E27FC236}">
                <a16:creationId xmlns:a16="http://schemas.microsoft.com/office/drawing/2014/main" id="{0BD9A97D-BFD3-4360-BE3E-3BDE6C8F1435}"/>
              </a:ext>
            </a:extLst>
          </p:cNvPr>
          <p:cNvCxnSpPr/>
          <p:nvPr/>
        </p:nvCxnSpPr>
        <p:spPr>
          <a:xfrm>
            <a:off x="2458065" y="3854245"/>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B7041F-35E3-4947-AE49-82E0FB0A0CB6}"/>
              </a:ext>
            </a:extLst>
          </p:cNvPr>
          <p:cNvCxnSpPr/>
          <p:nvPr/>
        </p:nvCxnSpPr>
        <p:spPr>
          <a:xfrm flipH="1">
            <a:off x="1622323" y="4031226"/>
            <a:ext cx="471948" cy="2339839"/>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ECA0167D-5442-48A3-9446-336E29D4C146}"/>
              </a:ext>
            </a:extLst>
          </p:cNvPr>
          <p:cNvCxnSpPr/>
          <p:nvPr/>
        </p:nvCxnSpPr>
        <p:spPr>
          <a:xfrm flipH="1">
            <a:off x="2190137" y="4198374"/>
            <a:ext cx="53610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9848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87A5566-7675-4959-86AB-FDBEF46A2F80}"/>
              </a:ext>
            </a:extLst>
          </p:cNvPr>
          <p:cNvGraphicFramePr>
            <a:graphicFrameLocks noGrp="1"/>
          </p:cNvGraphicFramePr>
          <p:nvPr>
            <p:extLst>
              <p:ext uri="{D42A27DB-BD31-4B8C-83A1-F6EECF244321}">
                <p14:modId xmlns:p14="http://schemas.microsoft.com/office/powerpoint/2010/main" val="3539277297"/>
              </p:ext>
            </p:extLst>
          </p:nvPr>
        </p:nvGraphicFramePr>
        <p:xfrm>
          <a:off x="393290" y="118573"/>
          <a:ext cx="11798710" cy="6620853"/>
        </p:xfrm>
        <a:graphic>
          <a:graphicData uri="http://schemas.openxmlformats.org/drawingml/2006/table">
            <a:tbl>
              <a:tblPr firstRow="1" firstCol="1" bandRow="1"/>
              <a:tblGrid>
                <a:gridCol w="648930">
                  <a:extLst>
                    <a:ext uri="{9D8B030D-6E8A-4147-A177-3AD203B41FA5}">
                      <a16:colId xmlns:a16="http://schemas.microsoft.com/office/drawing/2014/main" val="3504701292"/>
                    </a:ext>
                  </a:extLst>
                </a:gridCol>
                <a:gridCol w="11149780">
                  <a:extLst>
                    <a:ext uri="{9D8B030D-6E8A-4147-A177-3AD203B41FA5}">
                      <a16:colId xmlns:a16="http://schemas.microsoft.com/office/drawing/2014/main" val="2167704635"/>
                    </a:ext>
                  </a:extLst>
                </a:gridCol>
              </a:tblGrid>
              <a:tr h="219270">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S.N.</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method &amp; Description</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val="3927634197"/>
                  </a:ext>
                </a:extLst>
              </a:tr>
              <a:tr h="690333">
                <a:tc>
                  <a:txBody>
                    <a:bodyPr/>
                    <a:lstStyle/>
                    <a:p>
                      <a:pPr>
                        <a:lnSpc>
                          <a:spcPts val="1650"/>
                        </a:lnSpc>
                        <a:spcBef>
                          <a:spcPts val="600"/>
                        </a:spcBef>
                        <a:spcAft>
                          <a:spcPts val="600"/>
                        </a:spcAft>
                      </a:pP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1</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addListener(event, listener)</a:t>
                      </a:r>
                      <a:b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listener to the end of the listeners array for the specified event. No checks are made to see if the listener has already been added. Multiple calls passing the same combination of event and listener will result in the listener being added multiple times. Returns emitter, so calls can be chained.</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2919363940"/>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2</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on(event,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listener to the end of the listeners array for the specified event. No checks are made to see if the listener has already been added. Multiple calls passing the same combination of event and listener will result in the listener being added multiple times.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959835555"/>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3</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once(event,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one time listener for the event. This listener is invoked only one time, after which it is removed.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060439269"/>
                  </a:ext>
                </a:extLst>
              </a:tr>
              <a:tr h="925865">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4</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 a listener from the listener array for the specified event. Caution: changes array indices in the listener array behind the listener.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will remove, at most, one instance of a listener from the listener array. If any single listener has been added multiple times to the listener array for the specified event, then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must be called multiple times to remove each instance.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882583001"/>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5</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removeAllListeners</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Removes all listeners, or those of the specified event. It's not a good idea to remove listeners that were added elsewhere in the code, especially when it's on an emitter that you didn't create (e.g. sockets or file streams).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503507393"/>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6</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setMaxListeners</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(n)</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By default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EventEmitters</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will print a warning if more than 10 listeners are added for a particular event. This is a useful default which helps finding memory leaks. Obviously not all Emitters should be limited to 10. This function allows that to be increased. Set to zero for unlimited.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794326774"/>
                  </a:ext>
                </a:extLst>
              </a:tr>
              <a:tr h="454802">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7</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listeners(event)</a:t>
                      </a:r>
                      <a:b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Returns an array of listeners for the specified event.</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246691048"/>
                  </a:ext>
                </a:extLst>
              </a:tr>
              <a:tr h="454802">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8</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emit(event, [arg1], [arg2], [...])</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Execute each of the listeners in order with the supplied arguments. Returns true if event had listeners, false otherwise.</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584301397"/>
                  </a:ext>
                </a:extLst>
              </a:tr>
            </a:tbl>
          </a:graphicData>
        </a:graphic>
      </p:graphicFrame>
    </p:spTree>
    <p:extLst>
      <p:ext uri="{BB962C8B-B14F-4D97-AF65-F5344CB8AC3E}">
        <p14:creationId xmlns:p14="http://schemas.microsoft.com/office/powerpoint/2010/main" val="2156395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F8B8CA-A461-84FE-F0EA-7A61E1EB8104}"/>
              </a:ext>
            </a:extLst>
          </p:cNvPr>
          <p:cNvSpPr txBox="1"/>
          <p:nvPr/>
        </p:nvSpPr>
        <p:spPr>
          <a:xfrm>
            <a:off x="1416377" y="243512"/>
            <a:ext cx="6132136" cy="6370975"/>
          </a:xfrm>
          <a:prstGeom prst="rect">
            <a:avLst/>
          </a:prstGeom>
          <a:solidFill>
            <a:schemeClr val="tx1"/>
          </a:solidFill>
        </p:spPr>
        <p:txBody>
          <a:bodyPr wrap="square">
            <a:spAutoFit/>
          </a:bodyPr>
          <a:lstStyle/>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4EC9B0"/>
                </a:solidFill>
                <a:effectLst/>
                <a:latin typeface="Consolas" panose="020B0609020204030204" pitchFamily="49" charset="0"/>
              </a:rPr>
              <a:t>events</a:t>
            </a:r>
            <a:r>
              <a:rPr lang="en-IN" sz="1200" b="0" dirty="0">
                <a:solidFill>
                  <a:srgbClr val="D4D4D4"/>
                </a:solidFill>
                <a:effectLst/>
                <a:latin typeface="Consolas" panose="020B0609020204030204" pitchFamily="49" charset="0"/>
              </a:rPr>
              <a:t> = </a:t>
            </a:r>
            <a:r>
              <a:rPr lang="en-IN" sz="1200" b="0" dirty="0">
                <a:solidFill>
                  <a:srgbClr val="DCDCAA"/>
                </a:solidFill>
                <a:effectLst/>
                <a:latin typeface="Consolas" panose="020B0609020204030204" pitchFamily="49" charset="0"/>
              </a:rPr>
              <a:t>require</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'events'</a:t>
            </a:r>
            <a:r>
              <a:rPr lang="en-IN" sz="1200" b="0" dirty="0">
                <a:solidFill>
                  <a:srgbClr val="D4D4D4"/>
                </a:solidFill>
                <a:effectLst/>
                <a:latin typeface="Consolas" panose="020B0609020204030204" pitchFamily="49" charset="0"/>
              </a:rPr>
              <a:t>);</a:t>
            </a: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eventEmitter</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new</a:t>
            </a:r>
            <a:r>
              <a:rPr lang="en-IN" sz="1200" b="0" dirty="0">
                <a:solidFill>
                  <a:srgbClr val="D4D4D4"/>
                </a:solidFill>
                <a:effectLst/>
                <a:latin typeface="Consolas" panose="020B0609020204030204" pitchFamily="49" charset="0"/>
              </a:rPr>
              <a:t> </a:t>
            </a:r>
            <a:r>
              <a:rPr lang="en-IN" sz="1200" b="0" dirty="0" err="1">
                <a:solidFill>
                  <a:srgbClr val="4EC9B0"/>
                </a:solidFill>
                <a:effectLst/>
                <a:latin typeface="Consolas" panose="020B0609020204030204" pitchFamily="49" charset="0"/>
              </a:rPr>
              <a:t>events</a:t>
            </a:r>
            <a:r>
              <a:rPr lang="en-IN" sz="1200" b="0" dirty="0" err="1">
                <a:solidFill>
                  <a:srgbClr val="D4D4D4"/>
                </a:solidFill>
                <a:effectLst/>
                <a:latin typeface="Consolas" panose="020B0609020204030204" pitchFamily="49" charset="0"/>
              </a:rPr>
              <a:t>.</a:t>
            </a:r>
            <a:r>
              <a:rPr lang="en-IN" sz="1200" b="0" dirty="0" err="1">
                <a:solidFill>
                  <a:srgbClr val="4EC9B0"/>
                </a:solidFill>
                <a:effectLst/>
                <a:latin typeface="Consolas" panose="020B0609020204030204" pitchFamily="49" charset="0"/>
              </a:rPr>
              <a:t>EventEmitter</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listener #1</a:t>
            </a:r>
            <a:endParaRPr lang="en-IN" sz="1200" b="0" dirty="0">
              <a:solidFill>
                <a:srgbClr val="D4D4D4"/>
              </a:solidFill>
              <a:effectLst/>
              <a:latin typeface="Consolas" panose="020B0609020204030204" pitchFamily="49" charset="0"/>
            </a:endParaRP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function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'listner1 executed.'</a:t>
            </a:r>
            <a:r>
              <a:rPr lang="en-IN" sz="1200" b="0" dirty="0">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err="1">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listener #2</a:t>
            </a:r>
            <a:endParaRPr lang="en-IN" sz="1200" b="0" dirty="0">
              <a:solidFill>
                <a:srgbClr val="D4D4D4"/>
              </a:solidFill>
              <a:effectLst/>
              <a:latin typeface="Consolas" panose="020B0609020204030204" pitchFamily="49" charset="0"/>
            </a:endParaRP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function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'listner2 </a:t>
            </a:r>
            <a:r>
              <a:rPr lang="en-IN" sz="1200" b="0" dirty="0" err="1">
                <a:solidFill>
                  <a:srgbClr val="CE9178"/>
                </a:solidFill>
                <a:effectLst/>
                <a:latin typeface="Consolas" panose="020B0609020204030204" pitchFamily="49" charset="0"/>
              </a:rPr>
              <a:t>executed.'</a:t>
            </a:r>
            <a:r>
              <a:rPr lang="en-IN" sz="1200" b="0" dirty="0" err="1">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Bind the connection event with the listner1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addListener</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Bind the connection event with the listner2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on</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Fire the connection event </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emit</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5</a:t>
            </a:r>
            <a:r>
              <a:rPr lang="en-IN" sz="1200" b="0" dirty="0">
                <a:solidFill>
                  <a:srgbClr val="D4D4D4"/>
                </a:solidFill>
                <a:effectLst/>
                <a:latin typeface="Consolas" panose="020B0609020204030204" pitchFamily="49" charset="0"/>
              </a:rPr>
              <a:t>);</a:t>
            </a:r>
          </a:p>
          <a:p>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listeners</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p>
          <a:p>
            <a:r>
              <a:rPr lang="en-IN" sz="1200" b="0" dirty="0">
                <a:solidFill>
                  <a:srgbClr val="6A9955"/>
                </a:solidFill>
                <a:effectLst/>
                <a:latin typeface="Consolas" panose="020B0609020204030204" pitchFamily="49" charset="0"/>
              </a:rPr>
              <a:t>// Remove the binding of listner1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removeListener</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p>
          <a:p>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"Listner1 will not listen now."</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Fire the connection event </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emit</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7</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br>
              <a:rPr lang="en-IN" sz="1200" b="0" dirty="0">
                <a:solidFill>
                  <a:srgbClr val="D4D4D4"/>
                </a:solidFill>
                <a:effectLst/>
                <a:latin typeface="Consolas" panose="020B0609020204030204" pitchFamily="49" charset="0"/>
              </a:rPr>
            </a:b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"Program Ended."</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endParaRPr lang="en-IN" sz="12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7322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3B34F7-4A0E-F5A2-195D-65EF4E59E02C}"/>
              </a:ext>
            </a:extLst>
          </p:cNvPr>
          <p:cNvSpPr txBox="1"/>
          <p:nvPr/>
        </p:nvSpPr>
        <p:spPr>
          <a:xfrm>
            <a:off x="211667" y="1024467"/>
            <a:ext cx="11362266" cy="2585323"/>
          </a:xfrm>
          <a:prstGeom prst="rect">
            <a:avLst/>
          </a:prstGeom>
          <a:noFill/>
        </p:spPr>
        <p:txBody>
          <a:bodyPr wrap="square">
            <a:spAutoFit/>
          </a:bodyPr>
          <a:lstStyle/>
          <a:p>
            <a:pPr marL="285750" indent="-285750">
              <a:buFontTx/>
              <a:buChar char="-"/>
            </a:pPr>
            <a:r>
              <a:rPr lang="en-US" dirty="0"/>
              <a:t>When building Express apps (like your /</a:t>
            </a:r>
            <a:r>
              <a:rPr lang="en-US" dirty="0" err="1"/>
              <a:t>listUsers</a:t>
            </a:r>
            <a:r>
              <a:rPr lang="en-US" dirty="0"/>
              <a:t> example), </a:t>
            </a:r>
          </a:p>
          <a:p>
            <a:pPr marL="285750" indent="-285750">
              <a:buFontTx/>
              <a:buChar char="-"/>
            </a:pPr>
            <a:endParaRPr lang="en-US" dirty="0"/>
          </a:p>
          <a:p>
            <a:pPr marL="285750" indent="-285750">
              <a:buFontTx/>
              <a:buChar char="-"/>
            </a:pPr>
            <a:r>
              <a:rPr lang="en-US" dirty="0"/>
              <a:t>the underlying HTTP server emits </a:t>
            </a:r>
            <a:r>
              <a:rPr lang="en-US" b="1" dirty="0"/>
              <a:t>request</a:t>
            </a:r>
            <a:r>
              <a:rPr lang="en-US" dirty="0"/>
              <a:t> events for each incoming call.</a:t>
            </a:r>
          </a:p>
          <a:p>
            <a:pPr marL="285750" indent="-285750">
              <a:buFontTx/>
              <a:buChar char="-"/>
            </a:pPr>
            <a:endParaRPr lang="en-US" dirty="0"/>
          </a:p>
          <a:p>
            <a:pPr marL="285750" indent="-285750">
              <a:buFontTx/>
              <a:buChar char="-"/>
            </a:pPr>
            <a:r>
              <a:rPr lang="en-US" dirty="0"/>
              <a:t>For file operations, </a:t>
            </a:r>
            <a:r>
              <a:rPr lang="en-US" dirty="0" err="1"/>
              <a:t>fs.createReadStream</a:t>
            </a:r>
            <a:r>
              <a:rPr lang="en-US" dirty="0"/>
              <a:t> emits </a:t>
            </a:r>
            <a:r>
              <a:rPr lang="en-US" b="1" dirty="0"/>
              <a:t>open, data, end, and error </a:t>
            </a:r>
            <a:r>
              <a:rPr lang="en-US" dirty="0"/>
              <a:t>— useful for debugging file reads.</a:t>
            </a:r>
          </a:p>
          <a:p>
            <a:pPr marL="285750" indent="-285750">
              <a:buFontTx/>
              <a:buChar char="-"/>
            </a:pPr>
            <a:endParaRPr lang="en-US" dirty="0"/>
          </a:p>
          <a:p>
            <a:pPr marL="285750" indent="-285750">
              <a:buFontTx/>
              <a:buChar char="-"/>
            </a:pPr>
            <a:endParaRPr lang="en-US" dirty="0"/>
          </a:p>
          <a:p>
            <a:r>
              <a:rPr lang="en-US" dirty="0"/>
              <a:t>- For network apps, </a:t>
            </a:r>
            <a:r>
              <a:rPr lang="en-US" dirty="0" err="1"/>
              <a:t>net.Server</a:t>
            </a:r>
            <a:r>
              <a:rPr lang="en-US" dirty="0"/>
              <a:t> and </a:t>
            </a:r>
            <a:r>
              <a:rPr lang="en-US" dirty="0" err="1"/>
              <a:t>net.Socket</a:t>
            </a:r>
            <a:r>
              <a:rPr lang="en-US" dirty="0"/>
              <a:t> events (</a:t>
            </a:r>
            <a:r>
              <a:rPr lang="en-US" b="1" dirty="0"/>
              <a:t>connection</a:t>
            </a:r>
            <a:r>
              <a:rPr lang="en-US" dirty="0"/>
              <a:t>, </a:t>
            </a:r>
            <a:r>
              <a:rPr lang="en-US" b="1" dirty="0"/>
              <a:t>data</a:t>
            </a:r>
            <a:r>
              <a:rPr lang="en-US" dirty="0"/>
              <a:t>, </a:t>
            </a:r>
            <a:r>
              <a:rPr lang="en-US" b="1" dirty="0"/>
              <a:t>close</a:t>
            </a:r>
            <a:r>
              <a:rPr lang="en-US" dirty="0"/>
              <a:t>) are critical for handling client connections safely.</a:t>
            </a:r>
          </a:p>
        </p:txBody>
      </p:sp>
    </p:spTree>
    <p:extLst>
      <p:ext uri="{BB962C8B-B14F-4D97-AF65-F5344CB8AC3E}">
        <p14:creationId xmlns:p14="http://schemas.microsoft.com/office/powerpoint/2010/main" val="3787500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BC26FE-73AE-4C04-B442-117311DD9995}"/>
              </a:ext>
            </a:extLst>
          </p:cNvPr>
          <p:cNvSpPr txBox="1"/>
          <p:nvPr/>
        </p:nvSpPr>
        <p:spPr>
          <a:xfrm>
            <a:off x="1380065" y="58846"/>
            <a:ext cx="9906001" cy="6740307"/>
          </a:xfrm>
          <a:prstGeom prst="rect">
            <a:avLst/>
          </a:prstGeom>
          <a:noFill/>
        </p:spPr>
        <p:txBody>
          <a:bodyPr wrap="square">
            <a:spAutoFit/>
          </a:bodyPr>
          <a:lstStyle/>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http</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require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server</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http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 This is triggered by the "request" event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'Request event fired!'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3B3B3B"/>
                </a:solidFill>
                <a:effectLst/>
                <a:latin typeface="Consolas" panose="020B0609020204030204" pitchFamily="49" charset="0"/>
              </a:rPr>
              <a:t>, {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Fired when a new TCP connection is made</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server</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on</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'connection'</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socket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'Connection event fired!'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Fired when the server closes</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server</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on</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'close'</a:t>
            </a:r>
            <a:r>
              <a:rPr lang="en-IN" b="0" dirty="0">
                <a:solidFill>
                  <a:srgbClr val="3B3B3B"/>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'Server closed.'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Start listening</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server</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3000</a:t>
            </a:r>
            <a:r>
              <a:rPr lang="en-IN" b="0" dirty="0">
                <a:solidFill>
                  <a:srgbClr val="3B3B3B"/>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'Server listening on port 8081'</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610869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9E53A6-4FE7-2673-A87E-4CB287698D20}"/>
              </a:ext>
            </a:extLst>
          </p:cNvPr>
          <p:cNvSpPr txBox="1"/>
          <p:nvPr/>
        </p:nvSpPr>
        <p:spPr>
          <a:xfrm>
            <a:off x="1399115" y="0"/>
            <a:ext cx="10530417" cy="6555641"/>
          </a:xfrm>
          <a:prstGeom prst="rect">
            <a:avLst/>
          </a:prstGeom>
          <a:noFill/>
        </p:spPr>
        <p:txBody>
          <a:bodyPr wrap="square">
            <a:spAutoFit/>
          </a:bodyPr>
          <a:lstStyle/>
          <a:p>
            <a:pPr>
              <a:buNone/>
            </a:pP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267F99"/>
                </a:solidFill>
                <a:effectLst/>
                <a:latin typeface="Consolas" panose="020B0609020204030204" pitchFamily="49" charset="0"/>
              </a:rPr>
              <a:t>fs</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require</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fs'</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008000"/>
                </a:solidFill>
                <a:effectLst/>
                <a:latin typeface="Consolas" panose="020B0609020204030204" pitchFamily="49" charset="0"/>
              </a:rPr>
              <a:t>// Create a readable stream for a file</a:t>
            </a:r>
            <a:endParaRPr lang="en-IN" sz="1400" b="0" dirty="0">
              <a:solidFill>
                <a:srgbClr val="3B3B3B"/>
              </a:solidFill>
              <a:effectLst/>
              <a:latin typeface="Consolas" panose="020B0609020204030204" pitchFamily="49" charset="0"/>
            </a:endParaRPr>
          </a:p>
          <a:p>
            <a:pPr>
              <a:buNone/>
            </a:pP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stream</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fs</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createReadStream</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users.json</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 </a:t>
            </a:r>
            <a:r>
              <a:rPr lang="en-IN" sz="1400" b="0" dirty="0">
                <a:solidFill>
                  <a:srgbClr val="001080"/>
                </a:solidFill>
                <a:effectLst/>
                <a:latin typeface="Consolas" panose="020B0609020204030204" pitchFamily="49" charset="0"/>
              </a:rPr>
              <a:t>encoding:</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'utf8'</a:t>
            </a:r>
            <a:r>
              <a:rPr lang="en-IN" sz="1400" b="0" dirty="0">
                <a:solidFill>
                  <a:srgbClr val="3B3B3B"/>
                </a:solidFill>
                <a:effectLst/>
                <a:latin typeface="Consolas" panose="020B0609020204030204" pitchFamily="49" charset="0"/>
              </a:rPr>
              <a:t> });</a:t>
            </a:r>
          </a:p>
          <a:p>
            <a:pPr>
              <a:buNone/>
            </a:pPr>
            <a:br>
              <a:rPr lang="en-IN" sz="1400" b="0" dirty="0">
                <a:solidFill>
                  <a:srgbClr val="3B3B3B"/>
                </a:solidFill>
                <a:effectLst/>
                <a:latin typeface="Consolas" panose="020B0609020204030204" pitchFamily="49" charset="0"/>
              </a:rPr>
            </a:br>
            <a:r>
              <a:rPr lang="en-IN" sz="1400" b="0" dirty="0">
                <a:solidFill>
                  <a:srgbClr val="008000"/>
                </a:solidFill>
                <a:effectLst/>
                <a:latin typeface="Consolas" panose="020B0609020204030204" pitchFamily="49" charset="0"/>
              </a:rPr>
              <a:t>// Listen for the "open" event (file descriptor opened)</a:t>
            </a:r>
            <a:endParaRPr lang="en-IN" sz="1400" b="0" dirty="0">
              <a:solidFill>
                <a:srgbClr val="3B3B3B"/>
              </a:solidFill>
              <a:effectLst/>
              <a:latin typeface="Consolas" panose="020B0609020204030204" pitchFamily="49" charset="0"/>
            </a:endParaRPr>
          </a:p>
          <a:p>
            <a:pPr>
              <a:buNone/>
            </a:pPr>
            <a:r>
              <a:rPr lang="en-IN" sz="1400" b="0" dirty="0" err="1">
                <a:solidFill>
                  <a:srgbClr val="0070C1"/>
                </a:solidFill>
                <a:effectLst/>
                <a:latin typeface="Consolas" panose="020B0609020204030204" pitchFamily="49" charset="0"/>
              </a:rPr>
              <a:t>stream</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'open'</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3B3B3B"/>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'File has been opened.'</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008000"/>
                </a:solidFill>
                <a:effectLst/>
                <a:latin typeface="Consolas" panose="020B0609020204030204" pitchFamily="49" charset="0"/>
              </a:rPr>
              <a:t>// Listen for the "data" event (chunks of file data)</a:t>
            </a:r>
            <a:endParaRPr lang="en-IN" sz="1400" b="0" dirty="0">
              <a:solidFill>
                <a:srgbClr val="3B3B3B"/>
              </a:solidFill>
              <a:effectLst/>
              <a:latin typeface="Consolas" panose="020B0609020204030204" pitchFamily="49" charset="0"/>
            </a:endParaRPr>
          </a:p>
          <a:p>
            <a:pPr>
              <a:buNone/>
            </a:pPr>
            <a:r>
              <a:rPr lang="en-IN" sz="1400" b="0" dirty="0" err="1">
                <a:solidFill>
                  <a:srgbClr val="0070C1"/>
                </a:solidFill>
                <a:effectLst/>
                <a:latin typeface="Consolas" panose="020B0609020204030204" pitchFamily="49" charset="0"/>
              </a:rPr>
              <a:t>stream</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'data'</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chunk</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3B3B3B"/>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'Received data chunk:'</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chunk</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a:t>
            </a:r>
          </a:p>
          <a:p>
            <a:pPr>
              <a:buNone/>
            </a:pPr>
            <a:endParaRPr lang="en-IN" sz="1400" b="0" dirty="0">
              <a:solidFill>
                <a:srgbClr val="3B3B3B"/>
              </a:solidFill>
              <a:effectLst/>
              <a:latin typeface="Consolas" panose="020B0609020204030204" pitchFamily="49" charset="0"/>
            </a:endParaRPr>
          </a:p>
          <a:p>
            <a:pPr>
              <a:buNone/>
            </a:pPr>
            <a:r>
              <a:rPr lang="en-IN" sz="1400" b="0" dirty="0">
                <a:solidFill>
                  <a:srgbClr val="008000"/>
                </a:solidFill>
                <a:effectLst/>
                <a:latin typeface="Consolas" panose="020B0609020204030204" pitchFamily="49" charset="0"/>
              </a:rPr>
              <a:t>// Listen for the "error" event (something went wrong)</a:t>
            </a:r>
            <a:endParaRPr lang="en-IN" sz="1400" b="0" dirty="0">
              <a:solidFill>
                <a:srgbClr val="3B3B3B"/>
              </a:solidFill>
              <a:effectLst/>
              <a:latin typeface="Consolas" panose="020B0609020204030204" pitchFamily="49" charset="0"/>
            </a:endParaRPr>
          </a:p>
          <a:p>
            <a:pPr>
              <a:buNone/>
            </a:pPr>
            <a:r>
              <a:rPr lang="en-IN" sz="1400" b="0" dirty="0" err="1">
                <a:solidFill>
                  <a:srgbClr val="0070C1"/>
                </a:solidFill>
                <a:effectLst/>
                <a:latin typeface="Consolas" panose="020B0609020204030204" pitchFamily="49" charset="0"/>
              </a:rPr>
              <a:t>stream</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err</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console</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Earror</a:t>
            </a:r>
            <a:r>
              <a:rPr lang="en-IN" sz="1400" b="0" dirty="0">
                <a:solidFill>
                  <a:srgbClr val="A31515"/>
                </a:solidFill>
                <a:effectLst/>
                <a:latin typeface="Consolas" panose="020B0609020204030204" pitchFamily="49" charset="0"/>
              </a:rPr>
              <a:t> occurred:'</a:t>
            </a: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err</a:t>
            </a:r>
            <a:r>
              <a:rPr lang="en-IN" sz="1400" b="0" dirty="0" err="1">
                <a:solidFill>
                  <a:srgbClr val="3B3B3B"/>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message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a:t>
            </a:r>
          </a:p>
          <a:p>
            <a:pPr>
              <a:buNone/>
            </a:pPr>
            <a:endParaRPr lang="en-IN" sz="1400" b="0" dirty="0">
              <a:solidFill>
                <a:srgbClr val="3B3B3B"/>
              </a:solidFill>
              <a:effectLst/>
              <a:latin typeface="Consolas" panose="020B0609020204030204" pitchFamily="49" charset="0"/>
            </a:endParaRPr>
          </a:p>
          <a:p>
            <a:pPr>
              <a:buNone/>
            </a:pPr>
            <a:r>
              <a:rPr lang="en-IN" sz="1400" b="0" dirty="0">
                <a:solidFill>
                  <a:srgbClr val="008000"/>
                </a:solidFill>
                <a:effectLst/>
                <a:latin typeface="Consolas" panose="020B0609020204030204" pitchFamily="49" charset="0"/>
              </a:rPr>
              <a:t>// Listen for the "end" event (finished reading)</a:t>
            </a:r>
            <a:endParaRPr lang="en-IN" sz="1400" b="0" dirty="0">
              <a:solidFill>
                <a:srgbClr val="3B3B3B"/>
              </a:solidFill>
              <a:effectLst/>
              <a:latin typeface="Consolas" panose="020B0609020204030204" pitchFamily="49" charset="0"/>
            </a:endParaRPr>
          </a:p>
          <a:p>
            <a:pPr>
              <a:buNone/>
            </a:pPr>
            <a:r>
              <a:rPr lang="en-IN" sz="1400" b="0" dirty="0" err="1">
                <a:solidFill>
                  <a:srgbClr val="0070C1"/>
                </a:solidFill>
                <a:effectLst/>
                <a:latin typeface="Consolas" panose="020B0609020204030204" pitchFamily="49" charset="0"/>
              </a:rPr>
              <a:t>stream</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'end'</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3B3B3B"/>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'Finished reading file.'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endParaRPr lang="en-IN" sz="1400" b="0" dirty="0">
              <a:solidFill>
                <a:srgbClr val="3B3B3B"/>
              </a:solidFill>
              <a:effectLst/>
              <a:latin typeface="Consolas" panose="020B0609020204030204" pitchFamily="49" charset="0"/>
            </a:endParaRPr>
          </a:p>
          <a:p>
            <a:pPr>
              <a:buNone/>
            </a:pPr>
            <a:r>
              <a:rPr lang="en-IN" sz="1400" b="0" dirty="0">
                <a:solidFill>
                  <a:srgbClr val="008000"/>
                </a:solidFill>
                <a:effectLst/>
                <a:latin typeface="Consolas" panose="020B0609020204030204" pitchFamily="49" charset="0"/>
              </a:rPr>
              <a:t>// Listen for the "close" event (stream closed)</a:t>
            </a:r>
            <a:endParaRPr lang="en-IN" sz="1400" b="0" dirty="0">
              <a:solidFill>
                <a:srgbClr val="3B3B3B"/>
              </a:solidFill>
              <a:effectLst/>
              <a:latin typeface="Consolas" panose="020B0609020204030204" pitchFamily="49" charset="0"/>
            </a:endParaRPr>
          </a:p>
          <a:p>
            <a:pPr>
              <a:buNone/>
            </a:pPr>
            <a:r>
              <a:rPr lang="en-IN" sz="1400" b="0" dirty="0" err="1">
                <a:solidFill>
                  <a:srgbClr val="0070C1"/>
                </a:solidFill>
                <a:effectLst/>
                <a:latin typeface="Consolas" panose="020B0609020204030204" pitchFamily="49" charset="0"/>
              </a:rPr>
              <a:t>stream</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on</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'close'</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3B3B3B"/>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'Stream closed.'</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44496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25706E-C0F3-A7B4-89F7-BEFA7F703C54}"/>
              </a:ext>
            </a:extLst>
          </p:cNvPr>
          <p:cNvSpPr txBox="1"/>
          <p:nvPr/>
        </p:nvSpPr>
        <p:spPr>
          <a:xfrm>
            <a:off x="296333" y="846667"/>
            <a:ext cx="11345334" cy="4626908"/>
          </a:xfrm>
          <a:prstGeom prst="rect">
            <a:avLst/>
          </a:prstGeom>
          <a:noFill/>
        </p:spPr>
        <p:txBody>
          <a:bodyPr wrap="square">
            <a:spAutoFit/>
          </a:bodyPr>
          <a:lstStyle/>
          <a:p>
            <a:pPr algn="ctr">
              <a:spcBef>
                <a:spcPts val="750"/>
              </a:spcBef>
              <a:spcAft>
                <a:spcPts val="750"/>
              </a:spcAft>
              <a:buNone/>
            </a:pPr>
            <a:r>
              <a:rPr lang="en-US" b="1" i="0" dirty="0">
                <a:solidFill>
                  <a:srgbClr val="000000"/>
                </a:solidFill>
                <a:effectLst/>
                <a:latin typeface="Segoe UI" panose="020B0502040204020203" pitchFamily="34" charset="0"/>
              </a:rPr>
              <a:t>What are Streams?</a:t>
            </a:r>
          </a:p>
          <a:p>
            <a:pPr algn="l">
              <a:buNone/>
            </a:pPr>
            <a:r>
              <a:rPr lang="en-US" b="0" i="0" dirty="0">
                <a:solidFill>
                  <a:srgbClr val="000000"/>
                </a:solidFill>
                <a:effectLst/>
                <a:latin typeface="Segoe UI" panose="020B0502040204020203" pitchFamily="34" charset="0"/>
              </a:rPr>
              <a:t>In Node.js, streams are collections of data, which might not be available in full at once and don't have to fit in memory.</a:t>
            </a:r>
          </a:p>
          <a:p>
            <a:pPr algn="l">
              <a:buNone/>
            </a:pPr>
            <a:endParaRPr lang="en-US" b="0" i="0" dirty="0">
              <a:solidFill>
                <a:srgbClr val="000000"/>
              </a:solidFill>
              <a:effectLst/>
              <a:latin typeface="Segoe UI" panose="020B0502040204020203" pitchFamily="34" charset="0"/>
            </a:endParaRPr>
          </a:p>
          <a:p>
            <a:pPr algn="l">
              <a:buNone/>
            </a:pPr>
            <a:r>
              <a:rPr lang="en-US" b="0" i="0" dirty="0">
                <a:solidFill>
                  <a:srgbClr val="000000"/>
                </a:solidFill>
                <a:effectLst/>
                <a:latin typeface="Segoe UI" panose="020B0502040204020203" pitchFamily="34" charset="0"/>
              </a:rPr>
              <a:t>Think of them as conveyor belts that move data from one place to another, allowing you to work with each piece as it arrives rather than waiting for the whole dataset.</a:t>
            </a:r>
          </a:p>
          <a:p>
            <a:pPr algn="l">
              <a:buNone/>
            </a:pPr>
            <a:endParaRPr lang="en-US" b="0" i="0" dirty="0">
              <a:solidFill>
                <a:srgbClr val="000000"/>
              </a:solidFill>
              <a:effectLst/>
              <a:latin typeface="Segoe UI" panose="020B0502040204020203" pitchFamily="34" charset="0"/>
            </a:endParaRPr>
          </a:p>
          <a:p>
            <a:pPr algn="l">
              <a:buNone/>
            </a:pPr>
            <a:r>
              <a:rPr lang="en-US" b="0" i="0" dirty="0">
                <a:solidFill>
                  <a:srgbClr val="000000"/>
                </a:solidFill>
                <a:effectLst/>
                <a:latin typeface="Segoe UI" panose="020B0502040204020203" pitchFamily="34" charset="0"/>
              </a:rPr>
              <a:t>Streams are one of Node.js's most powerful features and are used extensively in:</a:t>
            </a:r>
          </a:p>
          <a:p>
            <a:pPr algn="l">
              <a:buNone/>
            </a:pPr>
            <a:endParaRPr lang="en-US" b="0" i="0" dirty="0">
              <a:solidFill>
                <a:srgbClr val="000000"/>
              </a:solidFill>
              <a:effectLst/>
              <a:latin typeface="Segoe UI" panose="020B0502040204020203" pitchFamily="34" charset="0"/>
            </a:endParaRPr>
          </a:p>
          <a:p>
            <a:pPr algn="l">
              <a:buFont typeface="Arial" panose="020B0604020202020204" pitchFamily="34" charset="0"/>
              <a:buChar char="•"/>
            </a:pPr>
            <a:r>
              <a:rPr lang="en-US" b="0" i="0" dirty="0">
                <a:solidFill>
                  <a:srgbClr val="000000"/>
                </a:solidFill>
                <a:effectLst/>
                <a:latin typeface="Segoe UI" panose="020B0502040204020203" pitchFamily="34" charset="0"/>
              </a:rPr>
              <a:t>File system operations (reading/writing files)</a:t>
            </a:r>
          </a:p>
          <a:p>
            <a:pPr algn="l">
              <a:buFont typeface="Arial" panose="020B0604020202020204" pitchFamily="34" charset="0"/>
              <a:buChar char="•"/>
            </a:pPr>
            <a:r>
              <a:rPr lang="en-US" b="0" i="0" dirty="0">
                <a:solidFill>
                  <a:srgbClr val="000000"/>
                </a:solidFill>
                <a:effectLst/>
                <a:latin typeface="Segoe UI" panose="020B0502040204020203" pitchFamily="34" charset="0"/>
              </a:rPr>
              <a:t>HTTP requests and responses</a:t>
            </a:r>
          </a:p>
          <a:p>
            <a:pPr algn="l">
              <a:buFont typeface="Arial" panose="020B0604020202020204" pitchFamily="34" charset="0"/>
              <a:buChar char="•"/>
            </a:pPr>
            <a:r>
              <a:rPr lang="en-US" b="0" i="0" dirty="0">
                <a:solidFill>
                  <a:srgbClr val="000000"/>
                </a:solidFill>
                <a:effectLst/>
                <a:latin typeface="Segoe UI" panose="020B0502040204020203" pitchFamily="34" charset="0"/>
              </a:rPr>
              <a:t>Data compression and decompression</a:t>
            </a:r>
          </a:p>
          <a:p>
            <a:pPr algn="l">
              <a:buFont typeface="Arial" panose="020B0604020202020204" pitchFamily="34" charset="0"/>
              <a:buChar char="•"/>
            </a:pPr>
            <a:r>
              <a:rPr lang="en-US" b="0" i="0" dirty="0">
                <a:solidFill>
                  <a:srgbClr val="000000"/>
                </a:solidFill>
                <a:effectLst/>
                <a:latin typeface="Segoe UI" panose="020B0502040204020203" pitchFamily="34" charset="0"/>
              </a:rPr>
              <a:t>Database operations</a:t>
            </a:r>
          </a:p>
          <a:p>
            <a:pPr algn="l">
              <a:buFont typeface="Arial" panose="020B0604020202020204" pitchFamily="34" charset="0"/>
              <a:buChar char="•"/>
            </a:pPr>
            <a:r>
              <a:rPr lang="en-US" b="0" i="0" dirty="0">
                <a:solidFill>
                  <a:srgbClr val="000000"/>
                </a:solidFill>
                <a:effectLst/>
                <a:latin typeface="Segoe UI" panose="020B0502040204020203" pitchFamily="34" charset="0"/>
              </a:rPr>
              <a:t>Real-time data processing</a:t>
            </a:r>
          </a:p>
          <a:p>
            <a:pPr>
              <a:buNone/>
            </a:pPr>
            <a:br>
              <a:rPr lang="en-US" dirty="0"/>
            </a:br>
            <a:r>
              <a:rPr lang="en-US" b="0" i="0" dirty="0">
                <a:solidFill>
                  <a:srgbClr val="000000"/>
                </a:solidFill>
                <a:effectLst/>
                <a:latin typeface="Segoe UI" panose="020B0502040204020203" pitchFamily="34" charset="0"/>
              </a:rPr>
              <a:t>Streams are one of the fundamental concepts in Node.js for handling data efficiently.</a:t>
            </a:r>
          </a:p>
        </p:txBody>
      </p:sp>
    </p:spTree>
    <p:extLst>
      <p:ext uri="{BB962C8B-B14F-4D97-AF65-F5344CB8AC3E}">
        <p14:creationId xmlns:p14="http://schemas.microsoft.com/office/powerpoint/2010/main" val="2804065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A145A1-6599-DE39-70FF-9D5A3CD17295}"/>
              </a:ext>
            </a:extLst>
          </p:cNvPr>
          <p:cNvSpPr txBox="1"/>
          <p:nvPr/>
        </p:nvSpPr>
        <p:spPr>
          <a:xfrm>
            <a:off x="711199" y="516467"/>
            <a:ext cx="11565467" cy="5227072"/>
          </a:xfrm>
          <a:prstGeom prst="rect">
            <a:avLst/>
          </a:prstGeom>
          <a:noFill/>
        </p:spPr>
        <p:txBody>
          <a:bodyPr wrap="square">
            <a:spAutoFit/>
          </a:bodyPr>
          <a:lstStyle/>
          <a:p>
            <a:pPr algn="ctr">
              <a:spcBef>
                <a:spcPts val="750"/>
              </a:spcBef>
              <a:spcAft>
                <a:spcPts val="750"/>
              </a:spcAft>
              <a:buNone/>
            </a:pPr>
            <a:r>
              <a:rPr lang="en-US" b="1" i="0" dirty="0">
                <a:solidFill>
                  <a:srgbClr val="000000"/>
                </a:solidFill>
                <a:effectLst/>
                <a:latin typeface="Segoe UI" panose="020B0502040204020203" pitchFamily="34" charset="0"/>
              </a:rPr>
              <a:t>Why Use Streams?</a:t>
            </a:r>
          </a:p>
          <a:p>
            <a:pPr algn="l">
              <a:buNone/>
            </a:pPr>
            <a:r>
              <a:rPr lang="en-US" b="0" i="0" dirty="0">
                <a:solidFill>
                  <a:srgbClr val="000000"/>
                </a:solidFill>
                <a:effectLst/>
                <a:latin typeface="Segoe UI" panose="020B0502040204020203" pitchFamily="34" charset="0"/>
              </a:rPr>
              <a:t>There are several advantages to using streams:</a:t>
            </a:r>
          </a:p>
          <a:p>
            <a:pPr algn="l">
              <a:buNone/>
            </a:pPr>
            <a:endParaRPr lang="en-US" b="0" i="0" dirty="0">
              <a:solidFill>
                <a:srgbClr val="000000"/>
              </a:solidFill>
              <a:effectLst/>
              <a:latin typeface="Segoe UI" panose="020B0502040204020203" pitchFamily="34" charset="0"/>
            </a:endParaRPr>
          </a:p>
          <a:p>
            <a:pPr algn="l">
              <a:buFont typeface="Arial" panose="020B0604020202020204" pitchFamily="34" charset="0"/>
              <a:buChar char="•"/>
            </a:pPr>
            <a:r>
              <a:rPr lang="en-US" b="1" i="0" dirty="0">
                <a:solidFill>
                  <a:srgbClr val="000000"/>
                </a:solidFill>
                <a:effectLst/>
                <a:latin typeface="Segoe UI" panose="020B0502040204020203" pitchFamily="34" charset="0"/>
              </a:rPr>
              <a:t>Memory Efficiency:</a:t>
            </a:r>
            <a:r>
              <a:rPr lang="en-US" b="0" i="0" dirty="0">
                <a:solidFill>
                  <a:srgbClr val="000000"/>
                </a:solidFill>
                <a:effectLst/>
                <a:latin typeface="Segoe UI" panose="020B0502040204020203" pitchFamily="34" charset="0"/>
              </a:rPr>
              <a:t> Process large files without loading them entirely into memory</a:t>
            </a:r>
          </a:p>
          <a:p>
            <a:pPr algn="l">
              <a:buFont typeface="Arial" panose="020B0604020202020204" pitchFamily="34" charset="0"/>
              <a:buChar char="•"/>
            </a:pPr>
            <a:r>
              <a:rPr lang="en-US" b="1" i="0" dirty="0">
                <a:solidFill>
                  <a:srgbClr val="000000"/>
                </a:solidFill>
                <a:effectLst/>
                <a:latin typeface="Segoe UI" panose="020B0502040204020203" pitchFamily="34" charset="0"/>
              </a:rPr>
              <a:t>Time Efficiency:</a:t>
            </a:r>
            <a:r>
              <a:rPr lang="en-US" b="0" i="0" dirty="0">
                <a:solidFill>
                  <a:srgbClr val="000000"/>
                </a:solidFill>
                <a:effectLst/>
                <a:latin typeface="Segoe UI" panose="020B0502040204020203" pitchFamily="34" charset="0"/>
              </a:rPr>
              <a:t> Start processing data as soon as you have it, instead of waiting for all the data</a:t>
            </a:r>
          </a:p>
          <a:p>
            <a:pPr algn="l">
              <a:buFont typeface="Arial" panose="020B0604020202020204" pitchFamily="34" charset="0"/>
              <a:buChar char="•"/>
            </a:pPr>
            <a:r>
              <a:rPr lang="en-US" b="1" i="0" dirty="0">
                <a:solidFill>
                  <a:srgbClr val="000000"/>
                </a:solidFill>
                <a:effectLst/>
                <a:latin typeface="Segoe UI" panose="020B0502040204020203" pitchFamily="34" charset="0"/>
              </a:rPr>
              <a:t>Composability:</a:t>
            </a:r>
            <a:r>
              <a:rPr lang="en-US" b="0" i="0" dirty="0">
                <a:solidFill>
                  <a:srgbClr val="000000"/>
                </a:solidFill>
                <a:effectLst/>
                <a:latin typeface="Segoe UI" panose="020B0502040204020203" pitchFamily="34" charset="0"/>
              </a:rPr>
              <a:t> Build powerful data pipelines by connecting streams</a:t>
            </a:r>
          </a:p>
          <a:p>
            <a:pPr algn="l">
              <a:buFont typeface="Arial" panose="020B0604020202020204" pitchFamily="34" charset="0"/>
              <a:buChar char="•"/>
            </a:pPr>
            <a:r>
              <a:rPr lang="en-US" b="1" i="0" dirty="0">
                <a:solidFill>
                  <a:srgbClr val="000000"/>
                </a:solidFill>
                <a:effectLst/>
                <a:latin typeface="Segoe UI" panose="020B0502040204020203" pitchFamily="34" charset="0"/>
              </a:rPr>
              <a:t>Better User Experience:</a:t>
            </a:r>
            <a:r>
              <a:rPr lang="en-US" b="0" i="0" dirty="0">
                <a:solidFill>
                  <a:srgbClr val="000000"/>
                </a:solidFill>
                <a:effectLst/>
                <a:latin typeface="Segoe UI" panose="020B0502040204020203" pitchFamily="34" charset="0"/>
              </a:rPr>
              <a:t> Deliver data to users as it becomes available (e.g., video streaming)</a:t>
            </a:r>
          </a:p>
          <a:p>
            <a:pPr algn="l">
              <a:buFont typeface="Arial" panose="020B0604020202020204" pitchFamily="34" charset="0"/>
              <a:buChar char="•"/>
            </a:pPr>
            <a:endParaRPr lang="en-US" dirty="0">
              <a:solidFill>
                <a:srgbClr val="000000"/>
              </a:solidFill>
              <a:latin typeface="Segoe UI" panose="020B0502040204020203" pitchFamily="34" charset="0"/>
            </a:endParaRPr>
          </a:p>
          <a:p>
            <a:pPr algn="l">
              <a:buFont typeface="Arial" panose="020B0604020202020204" pitchFamily="34" charset="0"/>
              <a:buChar char="•"/>
            </a:pPr>
            <a:endParaRPr lang="en-US" b="0" i="0" dirty="0">
              <a:solidFill>
                <a:srgbClr val="000000"/>
              </a:solidFill>
              <a:effectLst/>
              <a:latin typeface="Segoe UI" panose="020B0502040204020203" pitchFamily="34" charset="0"/>
            </a:endParaRPr>
          </a:p>
          <a:p>
            <a:pPr algn="l">
              <a:buFont typeface="Arial" panose="020B0604020202020204" pitchFamily="34" charset="0"/>
              <a:buChar char="•"/>
            </a:pPr>
            <a:endParaRPr lang="en-US" dirty="0">
              <a:solidFill>
                <a:srgbClr val="000000"/>
              </a:solidFill>
              <a:latin typeface="Segoe UI" panose="020B0502040204020203" pitchFamily="34" charset="0"/>
            </a:endParaRPr>
          </a:p>
          <a:p>
            <a:pPr algn="l">
              <a:buFont typeface="Arial" panose="020B0604020202020204" pitchFamily="34" charset="0"/>
              <a:buChar char="•"/>
            </a:pPr>
            <a:endParaRPr lang="en-US" b="0" i="0" dirty="0">
              <a:solidFill>
                <a:srgbClr val="000000"/>
              </a:solidFill>
              <a:effectLst/>
              <a:latin typeface="Segoe UI" panose="020B0502040204020203" pitchFamily="34" charset="0"/>
            </a:endParaRPr>
          </a:p>
          <a:p>
            <a:pPr algn="l">
              <a:spcBef>
                <a:spcPts val="1800"/>
              </a:spcBef>
              <a:spcAft>
                <a:spcPts val="1800"/>
              </a:spcAft>
              <a:buNone/>
            </a:pPr>
            <a:r>
              <a:rPr lang="en-US" b="1" i="0" dirty="0">
                <a:solidFill>
                  <a:srgbClr val="FF0000"/>
                </a:solidFill>
                <a:effectLst/>
                <a:latin typeface="Segoe UI" panose="020B0502040204020203" pitchFamily="34" charset="0"/>
              </a:rPr>
              <a:t>Imagine reading a 1GB file on a server with 512MB of RAM:</a:t>
            </a:r>
          </a:p>
          <a:p>
            <a:pPr algn="l">
              <a:spcBef>
                <a:spcPts val="1800"/>
              </a:spcBef>
              <a:spcAft>
                <a:spcPts val="1800"/>
              </a:spcAft>
              <a:buFont typeface="Arial" panose="020B0604020202020204" pitchFamily="34" charset="0"/>
              <a:buChar char="•"/>
            </a:pPr>
            <a:r>
              <a:rPr lang="en-US" b="1" i="0" dirty="0">
                <a:solidFill>
                  <a:srgbClr val="000000"/>
                </a:solidFill>
                <a:effectLst/>
                <a:latin typeface="Segoe UI" panose="020B0502040204020203" pitchFamily="34" charset="0"/>
              </a:rPr>
              <a:t>Without streams:</a:t>
            </a:r>
            <a:r>
              <a:rPr lang="en-US" b="0" i="0" dirty="0">
                <a:solidFill>
                  <a:srgbClr val="000000"/>
                </a:solidFill>
                <a:effectLst/>
                <a:latin typeface="Segoe UI" panose="020B0502040204020203" pitchFamily="34" charset="0"/>
              </a:rPr>
              <a:t> You'd crash the process attempting to load the entire file into memory</a:t>
            </a:r>
          </a:p>
          <a:p>
            <a:pPr algn="l">
              <a:spcBef>
                <a:spcPts val="1800"/>
              </a:spcBef>
              <a:spcAft>
                <a:spcPts val="1800"/>
              </a:spcAft>
              <a:buFont typeface="Arial" panose="020B0604020202020204" pitchFamily="34" charset="0"/>
              <a:buChar char="•"/>
            </a:pPr>
            <a:r>
              <a:rPr lang="en-US" b="1" i="0" dirty="0">
                <a:solidFill>
                  <a:srgbClr val="000000"/>
                </a:solidFill>
                <a:effectLst/>
                <a:latin typeface="Segoe UI" panose="020B0502040204020203" pitchFamily="34" charset="0"/>
              </a:rPr>
              <a:t>With streams:</a:t>
            </a:r>
            <a:r>
              <a:rPr lang="en-US" b="0" i="0" dirty="0">
                <a:solidFill>
                  <a:srgbClr val="000000"/>
                </a:solidFill>
                <a:effectLst/>
                <a:latin typeface="Segoe UI" panose="020B0502040204020203" pitchFamily="34" charset="0"/>
              </a:rPr>
              <a:t> You process the file in small chunks (e.g., 64KB at a time)</a:t>
            </a:r>
          </a:p>
        </p:txBody>
      </p:sp>
    </p:spTree>
    <p:extLst>
      <p:ext uri="{BB962C8B-B14F-4D97-AF65-F5344CB8AC3E}">
        <p14:creationId xmlns:p14="http://schemas.microsoft.com/office/powerpoint/2010/main" val="1776866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TotalTime>
  <Words>2174</Words>
  <Application>Microsoft Office PowerPoint</Application>
  <PresentationFormat>Widescreen</PresentationFormat>
  <Paragraphs>241</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Cambria</vt:lpstr>
      <vt:lpstr>Consolas</vt:lpstr>
      <vt:lpstr>Garamond</vt:lpstr>
      <vt:lpstr>Segoe UI</vt:lpstr>
      <vt:lpstr>Verdana</vt:lpstr>
      <vt:lpstr>Office Theme</vt:lpstr>
      <vt:lpstr>PowerPoint Presentation</vt:lpstr>
      <vt:lpstr>Events in Node.js</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33</cp:revision>
  <dcterms:created xsi:type="dcterms:W3CDTF">2020-12-04T06:40:27Z</dcterms:created>
  <dcterms:modified xsi:type="dcterms:W3CDTF">2026-04-07T11:40:50Z</dcterms:modified>
</cp:coreProperties>
</file>